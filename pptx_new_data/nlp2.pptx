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420" r:id="rId2"/>
    <p:sldId id="421" r:id="rId3"/>
    <p:sldId id="422" r:id="rId4"/>
    <p:sldId id="423" r:id="rId5"/>
    <p:sldId id="424" r:id="rId6"/>
    <p:sldId id="425" r:id="rId7"/>
    <p:sldId id="426" r:id="rId8"/>
    <p:sldId id="427" r:id="rId9"/>
    <p:sldId id="428" r:id="rId10"/>
    <p:sldId id="439" r:id="rId11"/>
    <p:sldId id="440" r:id="rId12"/>
    <p:sldId id="441" r:id="rId13"/>
    <p:sldId id="442" r:id="rId14"/>
    <p:sldId id="430" r:id="rId15"/>
    <p:sldId id="431" r:id="rId16"/>
    <p:sldId id="432" r:id="rId17"/>
    <p:sldId id="433" r:id="rId18"/>
    <p:sldId id="434" r:id="rId19"/>
    <p:sldId id="435" r:id="rId20"/>
    <p:sldId id="436" r:id="rId21"/>
    <p:sldId id="437" r:id="rId22"/>
    <p:sldId id="438" r:id="rId23"/>
    <p:sldId id="443" r:id="rId24"/>
    <p:sldId id="444" r:id="rId25"/>
    <p:sldId id="445" r:id="rId26"/>
    <p:sldId id="446" r:id="rId27"/>
    <p:sldId id="447" r:id="rId28"/>
    <p:sldId id="448" r:id="rId29"/>
    <p:sldId id="449" r:id="rId30"/>
    <p:sldId id="450" r:id="rId31"/>
  </p:sldIdLst>
  <p:sldSz cx="9144000" cy="6858000" type="letter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>
          <p15:clr>
            <a:srgbClr val="A4A3A4"/>
          </p15:clr>
        </p15:guide>
        <p15:guide id="2" pos="28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824" y="66"/>
      </p:cViewPr>
      <p:guideLst>
        <p:guide orient="horz" pos="1680"/>
        <p:guide pos="2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86"/>
    </p:cViewPr>
  </p:sorterViewPr>
  <p:notesViewPr>
    <p:cSldViewPr>
      <p:cViewPr varScale="1">
        <p:scale>
          <a:sx n="60" d="100"/>
          <a:sy n="60" d="100"/>
        </p:scale>
        <p:origin x="-1590" y="-6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9944C542-AB86-4C02-94A8-29884686DE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13" tIns="44756" rIns="89513" bIns="44756" numCol="1" anchor="t" anchorCtr="0" compatLnSpc="1">
            <a:prstTxWarp prst="textNoShape">
              <a:avLst/>
            </a:prstTxWarp>
          </a:bodyPr>
          <a:lstStyle>
            <a:lvl1pPr defTabSz="896938"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98CE4B9A-D497-410A-B96F-C903AA42C9E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0638" y="0"/>
            <a:ext cx="29432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13" tIns="44756" rIns="89513" bIns="44756" numCol="1" anchor="t" anchorCtr="0" compatLnSpc="1">
            <a:prstTxWarp prst="textNoShape">
              <a:avLst/>
            </a:prstTxWarp>
          </a:bodyPr>
          <a:lstStyle>
            <a:lvl1pPr algn="r" defTabSz="896938"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fld id="{6566A1AE-46B4-4250-A07A-DC342D333212}" type="datetime4">
              <a:rPr lang="en-US"/>
              <a:pPr>
                <a:defRPr/>
              </a:pPr>
              <a:t>February 12, 2021</a:t>
            </a:fld>
            <a:endParaRPr lang="en-US"/>
          </a:p>
        </p:txBody>
      </p:sp>
      <p:sp>
        <p:nvSpPr>
          <p:cNvPr id="221188" name="Rectangle 4">
            <a:extLst>
              <a:ext uri="{FF2B5EF4-FFF2-40B4-BE49-F238E27FC236}">
                <a16:creationId xmlns:a16="http://schemas.microsoft.com/office/drawing/2014/main" id="{AAFEB02C-625C-4948-B475-B5D809BAE7A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7688"/>
            <a:ext cx="29448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13" tIns="44756" rIns="89513" bIns="44756" numCol="1" anchor="b" anchorCtr="0" compatLnSpc="1">
            <a:prstTxWarp prst="textNoShape">
              <a:avLst/>
            </a:prstTxWarp>
          </a:bodyPr>
          <a:lstStyle>
            <a:lvl1pPr defTabSz="896938"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1189" name="Rectangle 5">
            <a:extLst>
              <a:ext uri="{FF2B5EF4-FFF2-40B4-BE49-F238E27FC236}">
                <a16:creationId xmlns:a16="http://schemas.microsoft.com/office/drawing/2014/main" id="{834F1601-031B-4B60-B9D5-DC69F4C16C3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0638" y="9437688"/>
            <a:ext cx="29432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9513" tIns="44756" rIns="89513" bIns="44756" numCol="1" anchor="b" anchorCtr="0" compatLnSpc="1">
            <a:prstTxWarp prst="textNoShape">
              <a:avLst/>
            </a:prstTxWarp>
          </a:bodyPr>
          <a:lstStyle>
            <a:lvl1pPr algn="r" defTabSz="896938">
              <a:defRPr sz="1200"/>
            </a:lvl1pPr>
          </a:lstStyle>
          <a:p>
            <a:fld id="{AD0402AF-3F7D-4741-BD5C-FFDD5A79869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782D896-C969-4461-A67E-12A0F43A5E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48" tIns="45674" rIns="91348" bIns="45674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2EFD8F8-A2A3-47E3-949B-7F917AC012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48" tIns="45674" rIns="91348" bIns="45674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fld id="{83169322-B874-4A85-A79C-78C945B1CA70}" type="datetime4">
              <a:rPr lang="en-US"/>
              <a:pPr>
                <a:defRPr/>
              </a:pPr>
              <a:t>February 12, 2021</a:t>
            </a:fld>
            <a:endParaRPr lang="en-US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30D77FB6-D289-4708-86A8-E71509DF696F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20750" y="744538"/>
            <a:ext cx="4960938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71E2C088-4498-4D9B-A046-B4FCC6FBB16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8050"/>
            <a:ext cx="4984750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48" tIns="45674" rIns="91348" bIns="456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028E3DE2-ADA0-4ADB-ADC9-8752CA453C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48" tIns="45674" rIns="91348" bIns="45674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1AC9530F-7890-4F6B-9611-407BFDF8E6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429750"/>
            <a:ext cx="294481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48" tIns="45674" rIns="91348" bIns="45674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5AB4AE-BEAE-4422-874B-77BA35F39FE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031ED3C6-2A29-4B8B-9D18-94804E5ED7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2C8C330-4408-48E7-B4D4-57F463A86393}" type="datetime4">
              <a:rPr lang="en-US" altLang="en-US" sz="1200"/>
              <a:pPr/>
              <a:t>February 12, 2021</a:t>
            </a:fld>
            <a:endParaRPr lang="en-US" altLang="en-US" sz="1200"/>
          </a:p>
        </p:txBody>
      </p:sp>
      <p:sp>
        <p:nvSpPr>
          <p:cNvPr id="33795" name="Rectangle 7">
            <a:extLst>
              <a:ext uri="{FF2B5EF4-FFF2-40B4-BE49-F238E27FC236}">
                <a16:creationId xmlns:a16="http://schemas.microsoft.com/office/drawing/2014/main" id="{01DEB25E-50CB-4756-8514-B7C5EF6D7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5BA60A-D88F-474A-ABAF-7A8386D0F33A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CAB70B3F-E93B-4340-8782-946A5F0D25B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8A1811C4-9145-4065-96B1-A6A10514A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tr-TR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2BF04A-390A-4F4E-847C-6DE3C08789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3C79F6-C198-49F9-8124-DC49E58860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3DAAA7-9212-4532-A16D-FAE772447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8EA410-2D90-49AA-8954-78145908D9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561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36024B-4506-41BC-AAC0-1D36883EA3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91DFC5-DBB4-4430-80D6-10ECB3DF7D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22275C-D899-45CA-BE22-3825417248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69907C-9AFF-4B74-9242-FCF442F049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932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E38EB3-7001-4D61-BCAD-4720B10AAB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7666F2-2864-4871-8F07-35C7D2486D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62C1AF-C6CB-4CD4-B14C-E4B7FE3CDC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D4845D-31AE-4DE5-911C-07047DA541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323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425" y="1219200"/>
            <a:ext cx="424815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975" y="1219200"/>
            <a:ext cx="4249738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0DAEB4-0F8D-41DB-851F-CBE6DFBDE6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986728-211B-4CEF-B79D-6146E0F446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EF5996-A9EB-4EE5-9F85-D3A62690C3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975D46-C497-4CAF-A379-9C7B3E8B50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180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F02CB92-7AE4-41C4-BD04-1F26D53039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FE80D2-D0A1-4AE0-8171-8EF86AEC1F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F0E9B4D-42C5-4FC9-AB4E-E4E635487B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142169-1184-47B7-AA70-2FFD8E8AC4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8800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5233192-A1A4-47B4-887D-A96A86C8BA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7230182-8D15-4DEC-A3A6-1888AC66FD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656EB0-60E9-4060-B660-73CE6450F8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904482-BC97-4BB5-ABE1-A1ED643EF3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3412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2FE77C5-289E-42A6-858C-93952E6B35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5D5AC91-0525-4FA0-9E89-EF6E70AF6B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1008F71-2CBD-4511-B329-42A5B102A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1C9172-4DA6-4286-84FD-A56408BA02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239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7280C6-22F9-49ED-A385-1D97BE4047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2B51A3-93C2-4798-A069-CF48B29955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D56B6-8BAC-4E3B-AD2E-ECCC5B09B4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09FF52-627E-4128-AA52-232E54C86E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688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5F9D8-AC1F-4A50-BB1F-841CE3460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A4098A-1158-4CE4-81AD-97058F533D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09F1B3-80BD-45F0-B6EB-D4D0E809F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7C8EFE-DFD1-46BA-A30C-C559A08081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020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20AA35-C629-4AD4-A677-12DE2DDE70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82A533-ACB1-48B4-99A2-5DE0146AC4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69C598-9331-4301-A837-F92F98FB92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D93745-CE48-46EC-8E9C-0E22514AFF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232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0538" y="152400"/>
            <a:ext cx="21621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425" y="152400"/>
            <a:ext cx="6335713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CC5015-2558-47C7-A892-17979103A3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09C707-D612-4078-B2CA-41BB71134D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01043D-15F5-4378-B327-05B96FDA06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F9DF45-DE56-4040-AD77-5B0604DC9A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575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ACF31C-2AF1-4DD1-BCB6-CAD97FA4A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E7978B-222A-48C8-8081-68D3239B5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2425" y="1219200"/>
            <a:ext cx="865028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4DE76BE-2AA7-4DC3-BE90-E39F13A0534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 smtClean="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256905A-DE00-4AFB-B21B-589BD407F49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BİL711  Natural Language Processing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B572D53-0788-4D0E-BA4D-D902BB0352E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fld id="{4A4B1439-6959-4F4D-9637-C72E8B1DC2E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ooter Placeholder 4">
            <a:extLst>
              <a:ext uri="{FF2B5EF4-FFF2-40B4-BE49-F238E27FC236}">
                <a16:creationId xmlns:a16="http://schemas.microsoft.com/office/drawing/2014/main" id="{033AD584-E1A1-4A3C-9810-DD68E918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2051" name="Slide Number Placeholder 5">
            <a:extLst>
              <a:ext uri="{FF2B5EF4-FFF2-40B4-BE49-F238E27FC236}">
                <a16:creationId xmlns:a16="http://schemas.microsoft.com/office/drawing/2014/main" id="{C51FCD9A-A2C0-4B7A-9A6A-82238C58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E6A1835-E0DB-4A19-98C2-78693D2CC03C}" type="slidenum">
              <a:rPr lang="en-US" altLang="en-US" sz="800"/>
              <a:pPr/>
              <a:t>1</a:t>
            </a:fld>
            <a:endParaRPr lang="en-US" altLang="en-US" sz="800"/>
          </a:p>
        </p:txBody>
      </p:sp>
      <p:sp>
        <p:nvSpPr>
          <p:cNvPr id="2052" name="Rectangle 2">
            <a:extLst>
              <a:ext uri="{FF2B5EF4-FFF2-40B4-BE49-F238E27FC236}">
                <a16:creationId xmlns:a16="http://schemas.microsoft.com/office/drawing/2014/main" id="{EAD98871-CDAF-4065-B0A5-09DAB84E7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Natural Language Processing (NLP)</a:t>
            </a:r>
          </a:p>
        </p:txBody>
      </p:sp>
      <p:sp>
        <p:nvSpPr>
          <p:cNvPr id="2053" name="Rectangle 3">
            <a:extLst>
              <a:ext uri="{FF2B5EF4-FFF2-40B4-BE49-F238E27FC236}">
                <a16:creationId xmlns:a16="http://schemas.microsoft.com/office/drawing/2014/main" id="{45A8572E-9DCD-4BAB-B69E-ACAD2447D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process of computer analysis of input provided in a human language (natural language), and conversion of this input into                a useful form of representation.</a:t>
            </a:r>
          </a:p>
          <a:p>
            <a:r>
              <a:rPr lang="en-US" altLang="en-US"/>
              <a:t>The field of NLP is primarily concerned with getting computers to perform useful and interesting tasks with human languages.</a:t>
            </a:r>
          </a:p>
          <a:p>
            <a:r>
              <a:rPr lang="en-US" altLang="en-US"/>
              <a:t>The field of NLP is secondarily concerned with helping us come          to a better understanding of human language.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4">
            <a:extLst>
              <a:ext uri="{FF2B5EF4-FFF2-40B4-BE49-F238E27FC236}">
                <a16:creationId xmlns:a16="http://schemas.microsoft.com/office/drawing/2014/main" id="{21357841-4E58-45DA-932D-2F34501EE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3075" name="Slide Number Placeholder 5">
            <a:extLst>
              <a:ext uri="{FF2B5EF4-FFF2-40B4-BE49-F238E27FC236}">
                <a16:creationId xmlns:a16="http://schemas.microsoft.com/office/drawing/2014/main" id="{7C6BD390-3E71-4A63-8D0A-64B48052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C2CE7DD-895D-41E3-AFFD-1BE59AC35D1E}" type="slidenum">
              <a:rPr lang="en-US" altLang="en-US" sz="800"/>
              <a:pPr/>
              <a:t>2</a:t>
            </a:fld>
            <a:endParaRPr lang="en-US" altLang="en-US" sz="800"/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A1CF0DB1-B972-4AAF-8025-E01A15396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Forms of Natural Language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077AD4D9-3B0F-4871-87E3-CB47B4C51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input/output  of a NLP system can be:</a:t>
            </a:r>
          </a:p>
          <a:p>
            <a:pPr lvl="1"/>
            <a:r>
              <a:rPr lang="en-US" altLang="en-US" sz="2400" b="1"/>
              <a:t>written text</a:t>
            </a:r>
          </a:p>
          <a:p>
            <a:pPr lvl="1"/>
            <a:r>
              <a:rPr lang="en-US" altLang="en-US" sz="2400" b="1"/>
              <a:t>speech</a:t>
            </a:r>
          </a:p>
          <a:p>
            <a:r>
              <a:rPr lang="en-US" altLang="en-US"/>
              <a:t>We will mostly concerned with written text (not speech).</a:t>
            </a:r>
          </a:p>
          <a:p>
            <a:r>
              <a:rPr lang="en-US" altLang="en-US"/>
              <a:t>To process written text, we need:</a:t>
            </a:r>
          </a:p>
          <a:p>
            <a:pPr lvl="1"/>
            <a:r>
              <a:rPr lang="en-US" altLang="en-US" sz="2400" b="1"/>
              <a:t>lexical, syntactic, semantic knowledge about the language</a:t>
            </a:r>
          </a:p>
          <a:p>
            <a:pPr lvl="1"/>
            <a:r>
              <a:rPr lang="en-US" altLang="en-US" sz="2400" b="1"/>
              <a:t>discourse information, real world knowledge</a:t>
            </a:r>
          </a:p>
          <a:p>
            <a:r>
              <a:rPr lang="en-US" altLang="en-US"/>
              <a:t>To process spoken language, we need everything required                     to process written text, plus the challenges of speech recognition        and speech synthesis.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>
            <a:extLst>
              <a:ext uri="{FF2B5EF4-FFF2-40B4-BE49-F238E27FC236}">
                <a16:creationId xmlns:a16="http://schemas.microsoft.com/office/drawing/2014/main" id="{24957998-2441-455C-A9F1-5AE4669B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4099" name="Slide Number Placeholder 5">
            <a:extLst>
              <a:ext uri="{FF2B5EF4-FFF2-40B4-BE49-F238E27FC236}">
                <a16:creationId xmlns:a16="http://schemas.microsoft.com/office/drawing/2014/main" id="{0BE79EF0-4565-4CFC-848C-6979F1EB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4AC8A9F-4C32-4BC4-9FB7-5333CF65F868}" type="slidenum">
              <a:rPr lang="en-US" altLang="en-US" sz="800"/>
              <a:pPr/>
              <a:t>3</a:t>
            </a:fld>
            <a:endParaRPr lang="en-US" altLang="en-US" sz="800"/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E44D4ABA-55D5-43F7-9419-A4CA48A80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Components of NLP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F20D5FF1-2717-4310-9EAD-BBC48381CD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Natural Language Understanding</a:t>
            </a:r>
          </a:p>
          <a:p>
            <a:pPr lvl="1"/>
            <a:r>
              <a:rPr lang="en-US" altLang="en-US"/>
              <a:t>Mapping the given input in the natural language into a useful representation.</a:t>
            </a:r>
          </a:p>
          <a:p>
            <a:pPr lvl="1"/>
            <a:r>
              <a:rPr lang="en-US" altLang="en-US"/>
              <a:t>Different level of analysis required: </a:t>
            </a:r>
          </a:p>
          <a:p>
            <a:pPr lvl="1">
              <a:buFontTx/>
              <a:buNone/>
            </a:pPr>
            <a:r>
              <a:rPr lang="en-US" altLang="en-US"/>
              <a:t> 		</a:t>
            </a:r>
            <a:r>
              <a:rPr lang="en-US" altLang="en-US" b="1" i="1"/>
              <a:t>morphological analysis, </a:t>
            </a:r>
          </a:p>
          <a:p>
            <a:pPr lvl="1">
              <a:buFontTx/>
              <a:buNone/>
            </a:pPr>
            <a:r>
              <a:rPr lang="en-US" altLang="en-US" b="1" i="1"/>
              <a:t>		syntactic analysis, </a:t>
            </a:r>
          </a:p>
          <a:p>
            <a:pPr lvl="1">
              <a:buFontTx/>
              <a:buNone/>
            </a:pPr>
            <a:r>
              <a:rPr lang="en-US" altLang="en-US" b="1" i="1"/>
              <a:t>		semantic analysis, </a:t>
            </a:r>
          </a:p>
          <a:p>
            <a:pPr lvl="1">
              <a:buFontTx/>
              <a:buNone/>
            </a:pPr>
            <a:r>
              <a:rPr lang="en-US" altLang="en-US" b="1" i="1"/>
              <a:t>	 	discourse analysis</a:t>
            </a:r>
            <a:r>
              <a:rPr lang="en-US" altLang="en-US" i="1"/>
              <a:t>,</a:t>
            </a:r>
            <a:r>
              <a:rPr lang="en-US" altLang="en-US"/>
              <a:t> …</a:t>
            </a:r>
          </a:p>
          <a:p>
            <a:r>
              <a:rPr lang="en-US" altLang="en-US" b="1"/>
              <a:t>Natural Language Generation</a:t>
            </a:r>
          </a:p>
          <a:p>
            <a:pPr lvl="1"/>
            <a:r>
              <a:rPr lang="en-US" altLang="en-US"/>
              <a:t>Producing output in the natural language from some internal representation.</a:t>
            </a:r>
          </a:p>
          <a:p>
            <a:pPr lvl="1"/>
            <a:r>
              <a:rPr lang="en-US" altLang="en-US"/>
              <a:t>Different level of synthesis required:</a:t>
            </a:r>
          </a:p>
          <a:p>
            <a:pPr lvl="1">
              <a:buFontTx/>
              <a:buNone/>
            </a:pPr>
            <a:r>
              <a:rPr lang="en-US" altLang="en-US"/>
              <a:t>		</a:t>
            </a:r>
            <a:r>
              <a:rPr lang="en-US" altLang="en-US" b="1" i="1"/>
              <a:t>deep planning</a:t>
            </a:r>
            <a:r>
              <a:rPr lang="en-US" altLang="en-US"/>
              <a:t> (what to say),</a:t>
            </a:r>
          </a:p>
          <a:p>
            <a:pPr lvl="1">
              <a:buFontTx/>
              <a:buNone/>
            </a:pPr>
            <a:r>
              <a:rPr lang="en-US" altLang="en-US"/>
              <a:t>		</a:t>
            </a:r>
            <a:r>
              <a:rPr lang="en-US" altLang="en-US" b="1" i="1"/>
              <a:t>syntactic generation</a:t>
            </a:r>
          </a:p>
          <a:p>
            <a:r>
              <a:rPr lang="en-US" altLang="en-US"/>
              <a:t>NL Understanding is much harder than  NL Generation.                    But, still both of them are hard.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4">
            <a:extLst>
              <a:ext uri="{FF2B5EF4-FFF2-40B4-BE49-F238E27FC236}">
                <a16:creationId xmlns:a16="http://schemas.microsoft.com/office/drawing/2014/main" id="{C8E851D3-90FA-4450-9412-A1D44957A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AA57C3A3-B4E8-4C1D-9F4A-7ED09EA3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EB6331-A9FE-4E39-A909-E1432D251A4B}" type="slidenum">
              <a:rPr lang="en-US" altLang="en-US" sz="800"/>
              <a:pPr/>
              <a:t>4</a:t>
            </a:fld>
            <a:endParaRPr lang="en-US" altLang="en-US" sz="8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AAF5FF66-335F-495E-A33D-902C32F854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NL Understanding is hard?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6D6B5ABD-A454-4853-B170-D3E5C7093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Natural language is extremely rich in form and structure, and            </a:t>
            </a:r>
            <a:r>
              <a:rPr lang="en-US" altLang="en-US" b="1"/>
              <a:t>very ambiguous</a:t>
            </a:r>
            <a:r>
              <a:rPr lang="en-US" altLang="en-US" i="1"/>
              <a:t>.</a:t>
            </a:r>
          </a:p>
          <a:p>
            <a:pPr lvl="1"/>
            <a:r>
              <a:rPr lang="en-US" altLang="en-US"/>
              <a:t>How to represent meaning,</a:t>
            </a:r>
          </a:p>
          <a:p>
            <a:pPr lvl="1"/>
            <a:r>
              <a:rPr lang="en-US" altLang="en-US"/>
              <a:t>Which structures map to which meaning structures.</a:t>
            </a:r>
          </a:p>
          <a:p>
            <a:r>
              <a:rPr lang="en-US" altLang="en-US"/>
              <a:t>One input can mean many different things. Ambiguity can be at different levels.</a:t>
            </a:r>
          </a:p>
          <a:p>
            <a:pPr lvl="1"/>
            <a:r>
              <a:rPr lang="en-US" altLang="en-US"/>
              <a:t>Lexical (word level) ambiguity  -- different meanings of words</a:t>
            </a:r>
          </a:p>
          <a:p>
            <a:pPr lvl="1"/>
            <a:r>
              <a:rPr lang="en-US" altLang="en-US"/>
              <a:t>Syntactic ambiguity  --  different ways to parse the sentence</a:t>
            </a:r>
          </a:p>
          <a:p>
            <a:pPr lvl="1"/>
            <a:r>
              <a:rPr lang="en-US" altLang="en-US"/>
              <a:t>Interpreting partial information  --  how to interpret pronouns</a:t>
            </a:r>
          </a:p>
          <a:p>
            <a:pPr lvl="1"/>
            <a:r>
              <a:rPr lang="en-US" altLang="en-US"/>
              <a:t>Contextual information  --  context of the sentence may affect the meaning of that sentence.</a:t>
            </a:r>
          </a:p>
          <a:p>
            <a:r>
              <a:rPr lang="en-US" altLang="en-US"/>
              <a:t>Many input can mean the same thing.</a:t>
            </a:r>
          </a:p>
          <a:p>
            <a:r>
              <a:rPr lang="en-US" altLang="en-US"/>
              <a:t>Interaction among components of the input is not clear.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FE96ED23-4ECA-4F2F-B14A-AE6CBBECF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C4BC47B1-F298-4702-B0DC-1C59F069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30A3582-7369-4558-9D67-27A385E5C6F6}" type="slidenum">
              <a:rPr lang="en-US" altLang="en-US" sz="800"/>
              <a:pPr/>
              <a:t>5</a:t>
            </a:fld>
            <a:endParaRPr lang="en-US" altLang="en-US" sz="8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C987A391-AB86-4327-B71F-FD673C192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Knowledge of Language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0BE49C66-BA7B-4C99-925C-01E7577A6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Phonology</a:t>
            </a:r>
            <a:r>
              <a:rPr lang="en-US" altLang="en-US"/>
              <a:t> – concerns how words are related to the sounds that    realize them.</a:t>
            </a:r>
          </a:p>
          <a:p>
            <a:pPr>
              <a:buFontTx/>
              <a:buNone/>
            </a:pPr>
            <a:endParaRPr lang="en-US" altLang="en-US" sz="1400"/>
          </a:p>
          <a:p>
            <a:r>
              <a:rPr lang="en-US" altLang="en-US" b="1"/>
              <a:t>Morphology</a:t>
            </a:r>
            <a:r>
              <a:rPr lang="en-US" altLang="en-US"/>
              <a:t> – concerns how words are constructed from more       basic meaning units called morphemes. A morpheme is the primitive unit of meaning in a language.</a:t>
            </a:r>
          </a:p>
          <a:p>
            <a:endParaRPr lang="en-US" altLang="en-US" sz="1200"/>
          </a:p>
          <a:p>
            <a:r>
              <a:rPr lang="en-US" altLang="en-US" b="1"/>
              <a:t>Syntax</a:t>
            </a:r>
            <a:r>
              <a:rPr lang="en-US" altLang="en-US"/>
              <a:t> – concerns how can be put together to form correct sentences and determines what structural role each word plays in the sentence   and what phrases are subparts of other phrases.</a:t>
            </a:r>
          </a:p>
          <a:p>
            <a:pPr>
              <a:buFontTx/>
              <a:buNone/>
            </a:pPr>
            <a:endParaRPr lang="en-US" altLang="en-US" sz="1200"/>
          </a:p>
          <a:p>
            <a:r>
              <a:rPr lang="en-US" altLang="en-US" b="1"/>
              <a:t>Semantics</a:t>
            </a:r>
            <a:r>
              <a:rPr lang="en-US" altLang="en-US"/>
              <a:t> – concerns what words mean and how these meaning combine in sentences to form sentence meaning. The study of        context-independent meaning.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>
            <a:extLst>
              <a:ext uri="{FF2B5EF4-FFF2-40B4-BE49-F238E27FC236}">
                <a16:creationId xmlns:a16="http://schemas.microsoft.com/office/drawing/2014/main" id="{91AE289A-FF7E-49C3-82E5-C8493E4A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C82E1BE9-9073-4713-840F-ED3CFBFE1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27B9079-8241-4B5E-AC52-9758D9311F8C}" type="slidenum">
              <a:rPr lang="en-US" altLang="en-US" sz="800"/>
              <a:pPr/>
              <a:t>6</a:t>
            </a:fld>
            <a:endParaRPr lang="en-US" altLang="en-US" sz="8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76494C9F-F4F2-42C3-8A64-1FDF009A1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Knowledge of Language (cont.)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89315C0-578E-43E1-9598-A3E883492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Pragmatics</a:t>
            </a:r>
            <a:r>
              <a:rPr lang="en-US" altLang="en-US"/>
              <a:t> – concerns how sentences are used in different situations and how use affects the interpretation of the sentence.</a:t>
            </a:r>
          </a:p>
          <a:p>
            <a:endParaRPr lang="en-US" altLang="en-US"/>
          </a:p>
          <a:p>
            <a:r>
              <a:rPr lang="en-US" altLang="en-US" b="1"/>
              <a:t>Discourse</a:t>
            </a:r>
            <a:r>
              <a:rPr lang="en-US" altLang="en-US"/>
              <a:t> – concerns how the immediately preceding sentences     affect the interpretation of the next sentence.</a:t>
            </a:r>
            <a:r>
              <a:rPr lang="tr-TR" altLang="en-US"/>
              <a:t> </a:t>
            </a:r>
            <a:r>
              <a:rPr lang="en-US" altLang="en-US"/>
              <a:t>For example, interpreting pronouns and interpreting the temporal aspects of the information.</a:t>
            </a:r>
          </a:p>
          <a:p>
            <a:endParaRPr lang="en-US" altLang="en-US"/>
          </a:p>
          <a:p>
            <a:r>
              <a:rPr lang="en-US" altLang="en-US" b="1"/>
              <a:t>World Knowledge</a:t>
            </a:r>
            <a:r>
              <a:rPr lang="en-US" altLang="en-US"/>
              <a:t> – includes general knowledge about the world. What each language user must know about the other’s beliefs and goals.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>
            <a:extLst>
              <a:ext uri="{FF2B5EF4-FFF2-40B4-BE49-F238E27FC236}">
                <a16:creationId xmlns:a16="http://schemas.microsoft.com/office/drawing/2014/main" id="{948DEFC8-3246-4216-A182-1255E0AA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8195" name="Slide Number Placeholder 5">
            <a:extLst>
              <a:ext uri="{FF2B5EF4-FFF2-40B4-BE49-F238E27FC236}">
                <a16:creationId xmlns:a16="http://schemas.microsoft.com/office/drawing/2014/main" id="{57EF4385-9B87-4DF0-A3A7-E3DE7923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2B31363-CF5D-47F1-87C0-BC07F3A5F687}" type="slidenum">
              <a:rPr lang="en-US" altLang="en-US" sz="800"/>
              <a:pPr/>
              <a:t>7</a:t>
            </a:fld>
            <a:endParaRPr lang="en-US" altLang="en-US" sz="800"/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DB2ACAF6-3B9D-4C60-A90A-125E3364B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Ambiguity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55497524-73F4-4677-88A4-A3E69648A0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800" b="1">
                <a:latin typeface="Courier New" panose="02070309020205020404" pitchFamily="49" charset="0"/>
              </a:rPr>
              <a:t>		</a:t>
            </a:r>
            <a:r>
              <a:rPr lang="en-US" altLang="en-US" sz="2800" b="1" u="sng">
                <a:latin typeface="Courier New" panose="02070309020205020404" pitchFamily="49" charset="0"/>
              </a:rPr>
              <a:t>I made her duck.</a:t>
            </a:r>
          </a:p>
          <a:p>
            <a:pPr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r>
              <a:rPr lang="en-US" altLang="en-US"/>
              <a:t>How many different interpretations does this sentence have?</a:t>
            </a:r>
          </a:p>
          <a:p>
            <a:r>
              <a:rPr lang="en-US" altLang="en-US"/>
              <a:t>What are the reasons for the ambiguity?</a:t>
            </a:r>
          </a:p>
          <a:p>
            <a:r>
              <a:rPr lang="en-US" altLang="en-US"/>
              <a:t>The categories of knowledge of language can be thought of as ambiguity resolving components.</a:t>
            </a:r>
          </a:p>
          <a:p>
            <a:r>
              <a:rPr lang="en-US" altLang="en-US"/>
              <a:t>How can each ambiguous piece be resolved?</a:t>
            </a:r>
          </a:p>
          <a:p>
            <a:r>
              <a:rPr lang="en-US" altLang="en-US"/>
              <a:t>Does speech input make the sentence even more ambiguous?</a:t>
            </a:r>
          </a:p>
          <a:p>
            <a:pPr lvl="1"/>
            <a:r>
              <a:rPr lang="en-US" altLang="en-US"/>
              <a:t>Yes – deciding word boundaries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>
            <a:extLst>
              <a:ext uri="{FF2B5EF4-FFF2-40B4-BE49-F238E27FC236}">
                <a16:creationId xmlns:a16="http://schemas.microsoft.com/office/drawing/2014/main" id="{E65589B3-D71B-44BA-8F8D-13714DA30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46317C85-946B-4190-8635-AFD38180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F433906-F87B-4699-986B-BCFAA29CB7C6}" type="slidenum">
              <a:rPr lang="en-US" altLang="en-US" sz="800"/>
              <a:pPr/>
              <a:t>8</a:t>
            </a:fld>
            <a:endParaRPr lang="en-US" altLang="en-US" sz="8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B660F404-614F-4833-9DDD-D50E5DC0B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Ambiguity (cont.)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87670D3F-2565-4D2B-A49D-1484972A43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altLang="en-US"/>
              <a:t>Some interpretations of :   </a:t>
            </a:r>
            <a:r>
              <a:rPr lang="en-US" altLang="en-US" b="1">
                <a:latin typeface="Courier New" panose="02070309020205020404" pitchFamily="49" charset="0"/>
              </a:rPr>
              <a:t>I made her duck.</a:t>
            </a:r>
            <a:endParaRPr lang="en-US" altLang="en-US"/>
          </a:p>
          <a:p>
            <a:pPr marL="800100" lvl="1" indent="-342900">
              <a:lnSpc>
                <a:spcPct val="90000"/>
              </a:lnSpc>
              <a:buFontTx/>
              <a:buAutoNum type="arabicPeriod"/>
            </a:pPr>
            <a:r>
              <a:rPr lang="en-US" altLang="en-US"/>
              <a:t>I cooked </a:t>
            </a:r>
            <a:r>
              <a:rPr lang="en-US" altLang="en-US" i="1"/>
              <a:t>duck</a:t>
            </a:r>
            <a:r>
              <a:rPr lang="en-US" altLang="en-US"/>
              <a:t> for her.</a:t>
            </a:r>
          </a:p>
          <a:p>
            <a:pPr marL="800100" lvl="1" indent="-342900">
              <a:lnSpc>
                <a:spcPct val="90000"/>
              </a:lnSpc>
              <a:buFontTx/>
              <a:buAutoNum type="arabicPeriod"/>
            </a:pPr>
            <a:r>
              <a:rPr lang="en-US" altLang="en-US"/>
              <a:t>I cooked </a:t>
            </a:r>
            <a:r>
              <a:rPr lang="en-US" altLang="en-US" i="1"/>
              <a:t>duck</a:t>
            </a:r>
            <a:r>
              <a:rPr lang="en-US" altLang="en-US"/>
              <a:t> belonging to her.</a:t>
            </a:r>
          </a:p>
          <a:p>
            <a:pPr marL="800100" lvl="1" indent="-342900">
              <a:lnSpc>
                <a:spcPct val="90000"/>
              </a:lnSpc>
              <a:buFontTx/>
              <a:buAutoNum type="arabicPeriod"/>
            </a:pPr>
            <a:r>
              <a:rPr lang="en-US" altLang="en-US"/>
              <a:t>I created a toy duck which she owns.</a:t>
            </a:r>
          </a:p>
          <a:p>
            <a:pPr marL="800100" lvl="1" indent="-342900">
              <a:lnSpc>
                <a:spcPct val="90000"/>
              </a:lnSpc>
              <a:buFontTx/>
              <a:buAutoNum type="arabicPeriod"/>
            </a:pPr>
            <a:r>
              <a:rPr lang="en-US" altLang="en-US"/>
              <a:t>I caused her to quickly lower her head or body.</a:t>
            </a:r>
          </a:p>
          <a:p>
            <a:pPr marL="800100" lvl="1" indent="-342900">
              <a:lnSpc>
                <a:spcPct val="90000"/>
              </a:lnSpc>
              <a:buFontTx/>
              <a:buAutoNum type="arabicPeriod"/>
            </a:pPr>
            <a:r>
              <a:rPr lang="en-US" altLang="en-US"/>
              <a:t>I used magic and turned her into a </a:t>
            </a:r>
            <a:r>
              <a:rPr lang="en-US" altLang="en-US" i="1"/>
              <a:t>duck</a:t>
            </a:r>
            <a:r>
              <a:rPr lang="en-US" altLang="en-US"/>
              <a:t>.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en-US">
                <a:latin typeface="Courier New" panose="02070309020205020404" pitchFamily="49" charset="0"/>
              </a:rPr>
              <a:t>duck</a:t>
            </a:r>
            <a:r>
              <a:rPr lang="en-US" altLang="en-US"/>
              <a:t> – morphologically and syntactically ambiguous: 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r>
              <a:rPr lang="en-US" altLang="en-US"/>
              <a:t>		noun or verb.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en-US">
                <a:latin typeface="Courier New" panose="02070309020205020404" pitchFamily="49" charset="0"/>
              </a:rPr>
              <a:t>her</a:t>
            </a:r>
            <a:r>
              <a:rPr lang="en-US" altLang="en-US"/>
              <a:t> – syntactically ambiguous: dative or possessive.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en-US">
                <a:latin typeface="Courier New" panose="02070309020205020404" pitchFamily="49" charset="0"/>
              </a:rPr>
              <a:t>make</a:t>
            </a:r>
            <a:r>
              <a:rPr lang="en-US" altLang="en-US"/>
              <a:t> – semantically ambiguous:  cook or create.</a:t>
            </a:r>
          </a:p>
          <a:p>
            <a:pPr marL="457200" indent="-457200">
              <a:lnSpc>
                <a:spcPct val="90000"/>
              </a:lnSpc>
            </a:pPr>
            <a:r>
              <a:rPr lang="en-US" altLang="en-US">
                <a:latin typeface="Courier New" panose="02070309020205020404" pitchFamily="49" charset="0"/>
              </a:rPr>
              <a:t>make</a:t>
            </a:r>
            <a:r>
              <a:rPr lang="en-US" altLang="en-US"/>
              <a:t> – syntactically ambiguous: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/>
              <a:t>Transitive – takes a direct object.   =&gt;  2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/>
              <a:t>Di-transitive – takes two objects.   =&gt;  5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/>
              <a:t>Takes a direct object and a verb.    =&gt;  4</a:t>
            </a:r>
            <a:endParaRPr lang="en-US" altLang="en-US" b="1">
              <a:latin typeface="Courier New" panose="02070309020205020404" pitchFamily="49" charset="0"/>
            </a:endParaRPr>
          </a:p>
          <a:p>
            <a:pPr marL="457200" indent="-457200">
              <a:lnSpc>
                <a:spcPct val="90000"/>
              </a:lnSpc>
            </a:pPr>
            <a:endParaRPr lang="en-US" altLang="en-US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>
            <a:extLst>
              <a:ext uri="{FF2B5EF4-FFF2-40B4-BE49-F238E27FC236}">
                <a16:creationId xmlns:a16="http://schemas.microsoft.com/office/drawing/2014/main" id="{E8AAB07D-12FA-4B82-9F19-19AC4BBC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AB4BFA84-CA9B-40E8-9768-9C9996AA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143CB93-9823-4065-BEE3-57E765F58B3F}" type="slidenum">
              <a:rPr lang="en-US" altLang="en-US" sz="800"/>
              <a:pPr/>
              <a:t>9</a:t>
            </a:fld>
            <a:endParaRPr lang="en-US" altLang="en-US" sz="800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34941575-DAB1-42AE-B639-757CD7417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Ambiguity in a Turkish Sentence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167D620B-B095-49BB-A46B-F9ADA99856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tr-TR" altLang="en-US"/>
              <a:t>Some </a:t>
            </a:r>
            <a:r>
              <a:rPr lang="en-US" altLang="en-US"/>
              <a:t>interpretations of:</a:t>
            </a:r>
            <a:r>
              <a:rPr lang="tr-TR" altLang="en-US" b="1"/>
              <a:t>	</a:t>
            </a:r>
            <a:r>
              <a:rPr lang="en-US" altLang="en-US" b="1" u="sng">
                <a:latin typeface="Courier New" panose="02070309020205020404" pitchFamily="49" charset="0"/>
              </a:rPr>
              <a:t>Adam</a:t>
            </a:r>
            <a:r>
              <a:rPr lang="tr-TR" altLang="en-US" b="1" u="sng">
                <a:latin typeface="Courier New" panose="02070309020205020404" pitchFamily="49" charset="0"/>
              </a:rPr>
              <a:t>ı</a:t>
            </a:r>
            <a:r>
              <a:rPr lang="tr-TR" altLang="en-US" u="sng">
                <a:latin typeface="Courier New" panose="02070309020205020404" pitchFamily="49" charset="0"/>
              </a:rPr>
              <a:t> </a:t>
            </a:r>
            <a:r>
              <a:rPr lang="tr-TR" altLang="en-US" b="1" u="sng">
                <a:latin typeface="Courier New" panose="02070309020205020404" pitchFamily="49" charset="0"/>
              </a:rPr>
              <a:t>gördüm.</a:t>
            </a:r>
            <a:endParaRPr lang="tr-TR" altLang="en-US" u="sng">
              <a:latin typeface="Courier New" panose="02070309020205020404" pitchFamily="49" charset="0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en-US"/>
              <a:t>I saw the man.</a:t>
            </a:r>
          </a:p>
          <a:p>
            <a:pPr marL="800100" lvl="1" indent="-342900">
              <a:buFontTx/>
              <a:buAutoNum type="arabicPeriod"/>
            </a:pPr>
            <a:r>
              <a:rPr lang="en-US" altLang="en-US"/>
              <a:t>I saw my island.</a:t>
            </a:r>
          </a:p>
          <a:p>
            <a:pPr marL="800100" lvl="1" indent="-342900">
              <a:buFontTx/>
              <a:buAutoNum type="arabicPeriod"/>
            </a:pPr>
            <a:r>
              <a:rPr lang="en-US" altLang="en-US"/>
              <a:t>I visited my island.</a:t>
            </a:r>
          </a:p>
          <a:p>
            <a:pPr marL="800100" lvl="1" indent="-342900">
              <a:buFontTx/>
              <a:buAutoNum type="arabicPeriod"/>
            </a:pPr>
            <a:r>
              <a:rPr lang="en-US" altLang="en-US"/>
              <a:t>I bribed the man.</a:t>
            </a:r>
          </a:p>
          <a:p>
            <a:pPr marL="457200" indent="-457200"/>
            <a:r>
              <a:rPr lang="en-US" altLang="en-US"/>
              <a:t>Morphological Ambiguity: </a:t>
            </a:r>
            <a:endParaRPr lang="tr-TR" altLang="en-US"/>
          </a:p>
          <a:p>
            <a:pPr marL="800100" lvl="1" indent="-342900"/>
            <a:r>
              <a:rPr lang="en-US" altLang="en-US"/>
              <a:t>ada-m-</a:t>
            </a:r>
            <a:r>
              <a:rPr lang="tr-TR" altLang="en-US"/>
              <a:t>ı   </a:t>
            </a:r>
            <a:r>
              <a:rPr lang="en-US" altLang="en-US"/>
              <a:t>	ada+P1SG+ACC</a:t>
            </a:r>
            <a:r>
              <a:rPr lang="tr-TR" altLang="en-US"/>
              <a:t> </a:t>
            </a:r>
            <a:endParaRPr lang="en-US" altLang="en-US"/>
          </a:p>
          <a:p>
            <a:pPr marL="800100" lvl="1" indent="-342900"/>
            <a:r>
              <a:rPr lang="tr-TR" altLang="en-US"/>
              <a:t>adam-ı</a:t>
            </a:r>
            <a:r>
              <a:rPr lang="en-US" altLang="en-US"/>
              <a:t>	adam+ACC</a:t>
            </a:r>
            <a:endParaRPr lang="tr-TR" altLang="en-US"/>
          </a:p>
          <a:p>
            <a:pPr marL="457200" indent="-457200"/>
            <a:r>
              <a:rPr lang="en-US" altLang="en-US"/>
              <a:t>Semantic Ambiguity:</a:t>
            </a:r>
          </a:p>
          <a:p>
            <a:pPr marL="800100" lvl="1" indent="-342900"/>
            <a:r>
              <a:rPr lang="tr-TR" altLang="en-US"/>
              <a:t>gör	</a:t>
            </a:r>
            <a:r>
              <a:rPr lang="en-US" altLang="en-US"/>
              <a:t>to see</a:t>
            </a:r>
          </a:p>
          <a:p>
            <a:pPr marL="800100" lvl="1" indent="-342900"/>
            <a:r>
              <a:rPr lang="tr-TR" altLang="en-US"/>
              <a:t>gör	</a:t>
            </a:r>
            <a:r>
              <a:rPr lang="en-US" altLang="en-US"/>
              <a:t>to visit</a:t>
            </a:r>
            <a:endParaRPr lang="tr-TR" altLang="en-US"/>
          </a:p>
          <a:p>
            <a:pPr marL="800100" lvl="1" indent="-342900"/>
            <a:r>
              <a:rPr lang="tr-TR" altLang="en-US"/>
              <a:t>gör	</a:t>
            </a:r>
            <a:r>
              <a:rPr lang="en-US" altLang="en-US"/>
              <a:t>to bribe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>
            <a:extLst>
              <a:ext uri="{FF2B5EF4-FFF2-40B4-BE49-F238E27FC236}">
                <a16:creationId xmlns:a16="http://schemas.microsoft.com/office/drawing/2014/main" id="{15D84154-47DD-411A-BDD2-39DB9739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3614B518-9794-40BD-B47B-7CBBCB5B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D8212B6-501A-4BB6-9B03-3B261F37B592}" type="slidenum">
              <a:rPr lang="en-US" altLang="en-US" sz="800"/>
              <a:pPr/>
              <a:t>10</a:t>
            </a:fld>
            <a:endParaRPr lang="en-US" altLang="en-US" sz="800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7754EEE4-D626-4AA6-9A29-FD36B2B9C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Resolve Ambiguities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764D6C41-E4C5-4897-9403-F5648A68B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We will introduce </a:t>
            </a:r>
            <a:r>
              <a:rPr lang="en-US" altLang="en-US" i="1"/>
              <a:t>models</a:t>
            </a:r>
            <a:r>
              <a:rPr lang="en-US" altLang="en-US"/>
              <a:t> and </a:t>
            </a:r>
            <a:r>
              <a:rPr lang="en-US" altLang="en-US" i="1"/>
              <a:t>algorithms</a:t>
            </a:r>
            <a:r>
              <a:rPr lang="en-US" altLang="en-US"/>
              <a:t> to resolve ambiguities  at different levels.</a:t>
            </a:r>
          </a:p>
          <a:p>
            <a:r>
              <a:rPr lang="en-US" altLang="en-US" b="1"/>
              <a:t>par</a:t>
            </a:r>
            <a:r>
              <a:rPr lang="tr-TR" altLang="en-US" b="1"/>
              <a:t>t-of-speech tagging</a:t>
            </a:r>
            <a:r>
              <a:rPr lang="tr-TR" altLang="en-US"/>
              <a:t> -- </a:t>
            </a:r>
            <a:r>
              <a:rPr lang="en-US" altLang="en-US"/>
              <a:t>Deciding whether </a:t>
            </a:r>
            <a:r>
              <a:rPr lang="en-US" altLang="en-US">
                <a:latin typeface="Courier New" panose="02070309020205020404" pitchFamily="49" charset="0"/>
              </a:rPr>
              <a:t>duck</a:t>
            </a:r>
            <a:r>
              <a:rPr lang="en-US" altLang="en-US"/>
              <a:t> is verb or noun. </a:t>
            </a:r>
          </a:p>
          <a:p>
            <a:r>
              <a:rPr lang="tr-TR" altLang="en-US" b="1"/>
              <a:t>word-sense disambiguation</a:t>
            </a:r>
            <a:r>
              <a:rPr lang="tr-TR" altLang="en-US"/>
              <a:t> -- Deciding whether </a:t>
            </a:r>
            <a:r>
              <a:rPr lang="tr-TR" altLang="en-US">
                <a:latin typeface="Courier New" panose="02070309020205020404" pitchFamily="49" charset="0"/>
              </a:rPr>
              <a:t>make</a:t>
            </a:r>
            <a:r>
              <a:rPr lang="tr-TR" altLang="en-US"/>
              <a:t> is </a:t>
            </a:r>
            <a:r>
              <a:rPr lang="tr-TR" altLang="en-US">
                <a:latin typeface="Courier New" panose="02070309020205020404" pitchFamily="49" charset="0"/>
              </a:rPr>
              <a:t>create</a:t>
            </a:r>
            <a:r>
              <a:rPr lang="tr-TR" altLang="en-US"/>
              <a:t> or </a:t>
            </a:r>
            <a:r>
              <a:rPr lang="tr-TR" altLang="en-US">
                <a:latin typeface="Courier New" panose="02070309020205020404" pitchFamily="49" charset="0"/>
              </a:rPr>
              <a:t>cook</a:t>
            </a:r>
            <a:r>
              <a:rPr lang="tr-TR" altLang="en-US"/>
              <a:t>. </a:t>
            </a:r>
          </a:p>
          <a:p>
            <a:r>
              <a:rPr lang="tr-TR" altLang="en-US" b="1"/>
              <a:t>lexical disambiguation</a:t>
            </a:r>
            <a:r>
              <a:rPr lang="tr-TR" altLang="en-US"/>
              <a:t> -- Resolution of part-of-speech and            word-sense ambiguities are two important kinds of lexical disambiguation.</a:t>
            </a:r>
          </a:p>
          <a:p>
            <a:r>
              <a:rPr lang="tr-TR" altLang="en-US" b="1"/>
              <a:t>syntactic ambiguity</a:t>
            </a:r>
            <a:r>
              <a:rPr lang="tr-TR" altLang="en-US"/>
              <a:t> -- </a:t>
            </a:r>
            <a:r>
              <a:rPr lang="tr-TR" altLang="en-US">
                <a:latin typeface="Courier New" panose="02070309020205020404" pitchFamily="49" charset="0"/>
              </a:rPr>
              <a:t>her duck</a:t>
            </a:r>
            <a:r>
              <a:rPr lang="tr-TR" altLang="en-US"/>
              <a:t> is an example of syntactic ambiguity, and can be addressed by probabilistic parsing.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>
            <a:extLst>
              <a:ext uri="{FF2B5EF4-FFF2-40B4-BE49-F238E27FC236}">
                <a16:creationId xmlns:a16="http://schemas.microsoft.com/office/drawing/2014/main" id="{122960F2-496D-4244-B106-B61E9BAD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D8103450-1BE4-4077-B7F4-42FBDFF4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846386-D998-4C90-ABDE-E8EE0A990FDA}" type="slidenum">
              <a:rPr lang="en-US" altLang="en-US" sz="800"/>
              <a:pPr/>
              <a:t>11</a:t>
            </a:fld>
            <a:endParaRPr lang="en-US" altLang="en-US" sz="800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09E6D77A-0CDC-4E9A-99EB-A4B517666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Resolve Ambiguities (cont.)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C6A326FF-0B70-4C45-A967-563BA87CE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	</a:t>
            </a:r>
            <a:r>
              <a:rPr lang="en-US" altLang="en-US" sz="2000" b="1">
                <a:latin typeface="Courier New" panose="02070309020205020404" pitchFamily="49" charset="0"/>
              </a:rPr>
              <a:t>I made her duck</a:t>
            </a:r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	S					  S</a:t>
            </a:r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NP		VP			    NP	   VP</a:t>
            </a:r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I	V	NP	NP		    I	   V	   NP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	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	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	made	her   duck			  made   DET  N</a:t>
            </a:r>
          </a:p>
          <a:p>
            <a:pPr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							  her	duck</a:t>
            </a:r>
            <a:endParaRPr lang="en-US" altLang="en-US" sz="2000"/>
          </a:p>
        </p:txBody>
      </p:sp>
      <p:sp>
        <p:nvSpPr>
          <p:cNvPr id="12294" name="Line 4">
            <a:extLst>
              <a:ext uri="{FF2B5EF4-FFF2-40B4-BE49-F238E27FC236}">
                <a16:creationId xmlns:a16="http://schemas.microsoft.com/office/drawing/2014/main" id="{1FAC7D94-FFAF-4F30-83AE-D5A65CA180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2438400"/>
            <a:ext cx="352425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5">
            <a:extLst>
              <a:ext uri="{FF2B5EF4-FFF2-40B4-BE49-F238E27FC236}">
                <a16:creationId xmlns:a16="http://schemas.microsoft.com/office/drawing/2014/main" id="{331A13C8-C366-4D6B-978D-E7A4D7CEFA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6375" y="2514600"/>
            <a:ext cx="70485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Line 6">
            <a:extLst>
              <a:ext uri="{FF2B5EF4-FFF2-40B4-BE49-F238E27FC236}">
                <a16:creationId xmlns:a16="http://schemas.microsoft.com/office/drawing/2014/main" id="{FEDC02AF-5B1C-4C5D-9835-D0E74038A3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" y="3429000"/>
            <a:ext cx="63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Line 7">
            <a:extLst>
              <a:ext uri="{FF2B5EF4-FFF2-40B4-BE49-F238E27FC236}">
                <a16:creationId xmlns:a16="http://schemas.microsoft.com/office/drawing/2014/main" id="{3744AA04-3884-4EDC-90E1-62BB2B1FDF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429000"/>
            <a:ext cx="72707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Line 8">
            <a:extLst>
              <a:ext uri="{FF2B5EF4-FFF2-40B4-BE49-F238E27FC236}">
                <a16:creationId xmlns:a16="http://schemas.microsoft.com/office/drawing/2014/main" id="{35A7E146-7820-4960-9771-CB5A9391B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1075" y="3505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Line 9">
            <a:extLst>
              <a:ext uri="{FF2B5EF4-FFF2-40B4-BE49-F238E27FC236}">
                <a16:creationId xmlns:a16="http://schemas.microsoft.com/office/drawing/2014/main" id="{FAFBC7EC-E14C-4505-8D13-FF36CF43F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1075" y="3429000"/>
            <a:ext cx="84455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Line 10">
            <a:extLst>
              <a:ext uri="{FF2B5EF4-FFF2-40B4-BE49-F238E27FC236}">
                <a16:creationId xmlns:a16="http://schemas.microsoft.com/office/drawing/2014/main" id="{7C448C96-548A-453F-8274-48565462A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6675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1" name="Line 11">
            <a:extLst>
              <a:ext uri="{FF2B5EF4-FFF2-40B4-BE49-F238E27FC236}">
                <a16:creationId xmlns:a16="http://schemas.microsoft.com/office/drawing/2014/main" id="{4A94D9A9-FE73-4F85-AB90-899C6FE54A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0925" y="4267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2" name="Line 12">
            <a:extLst>
              <a:ext uri="{FF2B5EF4-FFF2-40B4-BE49-F238E27FC236}">
                <a16:creationId xmlns:a16="http://schemas.microsoft.com/office/drawing/2014/main" id="{ADBED522-3BA5-46D1-88D9-E2A0554EC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5475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Line 13">
            <a:extLst>
              <a:ext uri="{FF2B5EF4-FFF2-40B4-BE49-F238E27FC236}">
                <a16:creationId xmlns:a16="http://schemas.microsoft.com/office/drawing/2014/main" id="{8BBD3CB4-2BEE-4D76-9C55-FFEAAD3B5A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7388" y="2514600"/>
            <a:ext cx="633412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Line 14">
            <a:extLst>
              <a:ext uri="{FF2B5EF4-FFF2-40B4-BE49-F238E27FC236}">
                <a16:creationId xmlns:a16="http://schemas.microsoft.com/office/drawing/2014/main" id="{B97D4EFB-EC10-4A4D-9924-D018FF350F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5146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Line 15">
            <a:extLst>
              <a:ext uri="{FF2B5EF4-FFF2-40B4-BE49-F238E27FC236}">
                <a16:creationId xmlns:a16="http://schemas.microsoft.com/office/drawing/2014/main" id="{9B2316ED-0D33-4FB7-8727-1F89E3B38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7688" y="3429000"/>
            <a:ext cx="11112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6" name="Line 16">
            <a:extLst>
              <a:ext uri="{FF2B5EF4-FFF2-40B4-BE49-F238E27FC236}">
                <a16:creationId xmlns:a16="http://schemas.microsoft.com/office/drawing/2014/main" id="{B544654B-4DB2-46FA-AA8D-F6BFBDB925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33528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7" name="Line 17">
            <a:extLst>
              <a:ext uri="{FF2B5EF4-FFF2-40B4-BE49-F238E27FC236}">
                <a16:creationId xmlns:a16="http://schemas.microsoft.com/office/drawing/2014/main" id="{55871A8C-30EE-486F-A32E-DA48E87EDD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3528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8" name="Line 18">
            <a:extLst>
              <a:ext uri="{FF2B5EF4-FFF2-40B4-BE49-F238E27FC236}">
                <a16:creationId xmlns:a16="http://schemas.microsoft.com/office/drawing/2014/main" id="{B575CA24-FDAC-4684-B632-8F9F85DC0E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9" name="Line 19">
            <a:extLst>
              <a:ext uri="{FF2B5EF4-FFF2-40B4-BE49-F238E27FC236}">
                <a16:creationId xmlns:a16="http://schemas.microsoft.com/office/drawing/2014/main" id="{3C047FEC-BAFA-4F46-B907-11339CAF52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4267200"/>
            <a:ext cx="773113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0" name="Line 20">
            <a:extLst>
              <a:ext uri="{FF2B5EF4-FFF2-40B4-BE49-F238E27FC236}">
                <a16:creationId xmlns:a16="http://schemas.microsoft.com/office/drawing/2014/main" id="{5B32EC1F-2BAE-4EA9-92B3-BEFC7D309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1" name="Line 21">
            <a:extLst>
              <a:ext uri="{FF2B5EF4-FFF2-40B4-BE49-F238E27FC236}">
                <a16:creationId xmlns:a16="http://schemas.microsoft.com/office/drawing/2014/main" id="{3765E4FA-1947-477D-BA35-B395BCDE0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18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2" name="Line 22">
            <a:extLst>
              <a:ext uri="{FF2B5EF4-FFF2-40B4-BE49-F238E27FC236}">
                <a16:creationId xmlns:a16="http://schemas.microsoft.com/office/drawing/2014/main" id="{75C0437F-CBE8-4B45-A064-0F845C0B920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5181600"/>
            <a:ext cx="11113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>
            <a:extLst>
              <a:ext uri="{FF2B5EF4-FFF2-40B4-BE49-F238E27FC236}">
                <a16:creationId xmlns:a16="http://schemas.microsoft.com/office/drawing/2014/main" id="{A80425FA-C1AE-4974-A9DB-8F5B77C49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13315" name="Slide Number Placeholder 5">
            <a:extLst>
              <a:ext uri="{FF2B5EF4-FFF2-40B4-BE49-F238E27FC236}">
                <a16:creationId xmlns:a16="http://schemas.microsoft.com/office/drawing/2014/main" id="{C2D3B4E9-CCC5-414B-96A9-439362F4B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1AA4BEB-9542-4233-A518-792C5FFBCFDF}" type="slidenum">
              <a:rPr lang="en-US" altLang="en-US" sz="800"/>
              <a:pPr/>
              <a:t>12</a:t>
            </a:fld>
            <a:endParaRPr lang="en-US" altLang="en-US" sz="800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E64F5431-9E98-4BA3-9595-C45EA3CE0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Models to Represent Linguistic Knowledge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7271FADB-DA11-4A21-80B4-DCDFB0CBC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We will use certain formalisms (</a:t>
            </a:r>
            <a:r>
              <a:rPr lang="en-US" altLang="en-US" i="1"/>
              <a:t>models</a:t>
            </a:r>
            <a:r>
              <a:rPr lang="en-US" altLang="en-US"/>
              <a:t>) to represent the required linguistic knowledge.</a:t>
            </a:r>
          </a:p>
          <a:p>
            <a:r>
              <a:rPr lang="en-US" altLang="en-US" b="1"/>
              <a:t>State Machines</a:t>
            </a:r>
            <a:r>
              <a:rPr lang="en-US" altLang="en-US"/>
              <a:t> -- FSAs, FSTs, HMMs, ATNs, RTNs</a:t>
            </a:r>
          </a:p>
          <a:p>
            <a:r>
              <a:rPr lang="en-US" altLang="en-US" b="1"/>
              <a:t>Formal Rule Systems</a:t>
            </a:r>
            <a:r>
              <a:rPr lang="en-US" altLang="en-US"/>
              <a:t> -- Context Free Grammars, Unification Grammars, Probabilistic CFGs.</a:t>
            </a:r>
          </a:p>
          <a:p>
            <a:r>
              <a:rPr lang="en-US" altLang="en-US" b="1"/>
              <a:t>Logic-based Formalisms</a:t>
            </a:r>
            <a:r>
              <a:rPr lang="en-US" altLang="en-US"/>
              <a:t> -- first order predicate logic, some higher order logic.</a:t>
            </a:r>
          </a:p>
          <a:p>
            <a:r>
              <a:rPr lang="en-US" altLang="en-US" b="1"/>
              <a:t>Models of Uncertainty</a:t>
            </a:r>
            <a:r>
              <a:rPr lang="en-US" altLang="en-US"/>
              <a:t> -- Bayesian probability theory.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>
            <a:extLst>
              <a:ext uri="{FF2B5EF4-FFF2-40B4-BE49-F238E27FC236}">
                <a16:creationId xmlns:a16="http://schemas.microsoft.com/office/drawing/2014/main" id="{B140571C-8F15-45F2-BC9C-05CE4BB1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6FAC7CB4-891B-4ECC-BEE5-0E12F9BC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40EB8DE-BDE8-4CEB-9F0A-B3A64DB3BC0F}" type="slidenum">
              <a:rPr lang="en-US" altLang="en-US" sz="800"/>
              <a:pPr/>
              <a:t>13</a:t>
            </a:fld>
            <a:endParaRPr lang="en-US" altLang="en-US" sz="80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EBFB0BFA-0175-4146-BAE5-4B9E21C49E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Algorithms to Manipulate Linguistic Knowledge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60A2E527-4350-41DB-9442-49EC41B637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We will use </a:t>
            </a:r>
            <a:r>
              <a:rPr lang="en-US" altLang="en-US" i="1"/>
              <a:t>algorithms</a:t>
            </a:r>
            <a:r>
              <a:rPr lang="en-US" altLang="en-US"/>
              <a:t> to manipulate the models of linguistic knowledge to produce the desired behavior.</a:t>
            </a:r>
          </a:p>
          <a:p>
            <a:r>
              <a:rPr lang="en-US" altLang="en-US"/>
              <a:t>Most of the algorithms we will study are </a:t>
            </a:r>
            <a:r>
              <a:rPr lang="en-US" altLang="en-US" b="1"/>
              <a:t>transducers</a:t>
            </a:r>
            <a:r>
              <a:rPr lang="en-US" altLang="en-US"/>
              <a:t> and </a:t>
            </a:r>
            <a:r>
              <a:rPr lang="en-US" altLang="en-US" b="1"/>
              <a:t>parsers</a:t>
            </a:r>
            <a:r>
              <a:rPr lang="en-US" altLang="en-US"/>
              <a:t>.        </a:t>
            </a:r>
          </a:p>
          <a:p>
            <a:pPr lvl="1"/>
            <a:r>
              <a:rPr lang="en-US" altLang="en-US"/>
              <a:t>These algorithms construct some structure based on their input.</a:t>
            </a:r>
          </a:p>
          <a:p>
            <a:r>
              <a:rPr lang="en-US" altLang="en-US"/>
              <a:t>Since the language is ambiguous at all levels, </a:t>
            </a:r>
          </a:p>
          <a:p>
            <a:pPr>
              <a:buFontTx/>
              <a:buNone/>
            </a:pPr>
            <a:r>
              <a:rPr lang="en-US" altLang="en-US"/>
              <a:t>	these algorithms are never simple processes.</a:t>
            </a:r>
          </a:p>
          <a:p>
            <a:r>
              <a:rPr lang="en-US" altLang="en-US"/>
              <a:t>Categories of most algorithms that will be used can fall into following categories.</a:t>
            </a:r>
          </a:p>
          <a:p>
            <a:pPr lvl="1"/>
            <a:r>
              <a:rPr lang="en-US" altLang="en-US"/>
              <a:t>state space search</a:t>
            </a:r>
          </a:p>
          <a:p>
            <a:pPr lvl="1"/>
            <a:r>
              <a:rPr lang="en-US" altLang="en-US"/>
              <a:t>dynamic programming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>
            <a:extLst>
              <a:ext uri="{FF2B5EF4-FFF2-40B4-BE49-F238E27FC236}">
                <a16:creationId xmlns:a16="http://schemas.microsoft.com/office/drawing/2014/main" id="{18F4BBC1-494B-47F5-BF87-EB0B2A05E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15363" name="Slide Number Placeholder 5">
            <a:extLst>
              <a:ext uri="{FF2B5EF4-FFF2-40B4-BE49-F238E27FC236}">
                <a16:creationId xmlns:a16="http://schemas.microsoft.com/office/drawing/2014/main" id="{7F94B9FD-4FCF-4B12-A9ED-D66D573F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40F2EE9-405F-477D-9561-34EB83E6A266}" type="slidenum">
              <a:rPr lang="en-US" altLang="en-US" sz="800"/>
              <a:pPr/>
              <a:t>14</a:t>
            </a:fld>
            <a:endParaRPr lang="en-US" altLang="en-US" sz="800"/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22594B4A-F591-45E0-9487-AD9FE81CC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Language and Intelligence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3F1D36BD-D01A-4958-93E6-E466F8740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b="1" u="sng"/>
              <a:t>Turing Test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b="1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/>
              <a:t>				</a:t>
            </a:r>
            <a:r>
              <a:rPr lang="en-US" altLang="en-US" i="1"/>
              <a:t>Computer</a:t>
            </a:r>
            <a:r>
              <a:rPr lang="en-US" altLang="en-US" b="1"/>
              <a:t> </a:t>
            </a:r>
            <a:r>
              <a:rPr lang="en-US" altLang="en-US"/>
              <a:t>		</a:t>
            </a:r>
            <a:r>
              <a:rPr lang="en-US" altLang="en-US" i="1"/>
              <a:t>Human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/>
              <a:t>					</a:t>
            </a:r>
            <a:r>
              <a:rPr lang="en-US" altLang="en-US" i="1"/>
              <a:t>Human Judge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 i="1"/>
              <a:t>Human Judge</a:t>
            </a:r>
            <a:r>
              <a:rPr lang="en-US" altLang="en-US"/>
              <a:t> asks tele-typed questions to </a:t>
            </a:r>
            <a:r>
              <a:rPr lang="en-US" altLang="en-US" i="1"/>
              <a:t>Computer</a:t>
            </a:r>
            <a:r>
              <a:rPr lang="en-US" altLang="en-US"/>
              <a:t> and </a:t>
            </a:r>
            <a:r>
              <a:rPr lang="en-US" altLang="en-US" i="1"/>
              <a:t>Human.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Computer’s </a:t>
            </a:r>
            <a:r>
              <a:rPr lang="en-US" altLang="en-US"/>
              <a:t>job is to act like a human.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Human’s</a:t>
            </a:r>
            <a:r>
              <a:rPr lang="en-US" altLang="en-US"/>
              <a:t> job is to convince Judge that he is not machine.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Computer</a:t>
            </a:r>
            <a:r>
              <a:rPr lang="en-US" altLang="en-US"/>
              <a:t> is judged “intelligent” if it can fool the judge</a:t>
            </a:r>
          </a:p>
          <a:p>
            <a:pPr>
              <a:lnSpc>
                <a:spcPct val="90000"/>
              </a:lnSpc>
            </a:pPr>
            <a:r>
              <a:rPr lang="en-US" altLang="en-US"/>
              <a:t>Judgment of intelligence is linked to appropriate answers to questions from the system.</a:t>
            </a:r>
            <a:endParaRPr lang="en-US" altLang="en-US" i="1"/>
          </a:p>
          <a:p>
            <a:pPr>
              <a:lnSpc>
                <a:spcPct val="90000"/>
              </a:lnSpc>
              <a:buFontTx/>
              <a:buNone/>
            </a:pPr>
            <a:endParaRPr lang="en-US" altLang="en-US"/>
          </a:p>
        </p:txBody>
      </p:sp>
      <p:sp>
        <p:nvSpPr>
          <p:cNvPr id="15366" name="Line 7">
            <a:extLst>
              <a:ext uri="{FF2B5EF4-FFF2-40B4-BE49-F238E27FC236}">
                <a16:creationId xmlns:a16="http://schemas.microsoft.com/office/drawing/2014/main" id="{30EDF737-DFC9-48F0-85B4-95993861A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8888" y="2362200"/>
            <a:ext cx="561975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7" name="Line 8">
            <a:extLst>
              <a:ext uri="{FF2B5EF4-FFF2-40B4-BE49-F238E27FC236}">
                <a16:creationId xmlns:a16="http://schemas.microsoft.com/office/drawing/2014/main" id="{7899B088-C0D4-448A-A7FE-AFAE8A7813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3138" y="2438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>
            <a:extLst>
              <a:ext uri="{FF2B5EF4-FFF2-40B4-BE49-F238E27FC236}">
                <a16:creationId xmlns:a16="http://schemas.microsoft.com/office/drawing/2014/main" id="{ADE713BE-EFE3-4C71-84FF-B75225ED4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43497F6D-9438-4DF0-8BEF-3ECC5050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7931AB-3BE2-4BE6-8B01-DFC9D8D3B531}" type="slidenum">
              <a:rPr lang="en-US" altLang="en-US" sz="800"/>
              <a:pPr/>
              <a:t>15</a:t>
            </a:fld>
            <a:endParaRPr lang="en-US" altLang="en-US" sz="800"/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863C0FBB-53CE-4112-808C-A7A5A4BA5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NLP - an inter-disciplinary Field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7E2694A8-EEA1-442A-B028-58A09AF94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NLP borrows techniques and insights from several disciplines.</a:t>
            </a:r>
          </a:p>
          <a:p>
            <a:r>
              <a:rPr lang="en-US" altLang="en-US" b="1"/>
              <a:t>Linguistics</a:t>
            </a:r>
            <a:r>
              <a:rPr lang="en-US" altLang="en-US"/>
              <a:t>: How do words form phrases and sentences? What constraints the possible meaning for a sentence?</a:t>
            </a:r>
          </a:p>
          <a:p>
            <a:r>
              <a:rPr lang="en-US" altLang="en-US" b="1"/>
              <a:t>Computational</a:t>
            </a:r>
            <a:r>
              <a:rPr lang="en-US" altLang="en-US"/>
              <a:t> </a:t>
            </a:r>
            <a:r>
              <a:rPr lang="en-US" altLang="en-US" b="1"/>
              <a:t>Linguistics</a:t>
            </a:r>
            <a:r>
              <a:rPr lang="en-US" altLang="en-US"/>
              <a:t>: How is the structure of sentences are identified? How can knowledge and reasoning be modeled?</a:t>
            </a:r>
          </a:p>
          <a:p>
            <a:r>
              <a:rPr lang="en-US" altLang="en-US" b="1"/>
              <a:t>Computer</a:t>
            </a:r>
            <a:r>
              <a:rPr lang="en-US" altLang="en-US"/>
              <a:t> </a:t>
            </a:r>
            <a:r>
              <a:rPr lang="en-US" altLang="en-US" b="1"/>
              <a:t>Science</a:t>
            </a:r>
            <a:r>
              <a:rPr lang="en-US" altLang="en-US"/>
              <a:t>: Algorithms for automatons, parsers.</a:t>
            </a:r>
          </a:p>
          <a:p>
            <a:r>
              <a:rPr lang="en-US" altLang="en-US" b="1"/>
              <a:t>Engineering</a:t>
            </a:r>
            <a:r>
              <a:rPr lang="en-US" altLang="en-US"/>
              <a:t>: Stochastic techniques for ambiguity resolution.</a:t>
            </a:r>
          </a:p>
          <a:p>
            <a:r>
              <a:rPr lang="en-US" altLang="en-US" b="1"/>
              <a:t>Psychology</a:t>
            </a:r>
            <a:r>
              <a:rPr lang="en-US" altLang="en-US"/>
              <a:t>: What linguistic constructions are easy or difficult for people to learn to use?</a:t>
            </a:r>
          </a:p>
          <a:p>
            <a:r>
              <a:rPr lang="en-US" altLang="en-US" b="1"/>
              <a:t>Philosophy</a:t>
            </a:r>
            <a:r>
              <a:rPr lang="en-US" altLang="en-US"/>
              <a:t>: What is the meaning, and how do words and sentences acquire it?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>
            <a:extLst>
              <a:ext uri="{FF2B5EF4-FFF2-40B4-BE49-F238E27FC236}">
                <a16:creationId xmlns:a16="http://schemas.microsoft.com/office/drawing/2014/main" id="{4F566600-7DC4-49FA-A142-D49B73852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EB9BE057-D749-4015-B61D-B9230DA6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3F39572-3E31-4294-810B-0AE2F7D36A91}" type="slidenum">
              <a:rPr lang="en-US" altLang="en-US" sz="800"/>
              <a:pPr/>
              <a:t>16</a:t>
            </a:fld>
            <a:endParaRPr lang="en-US" altLang="en-US" sz="800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FB1637DA-FD17-48A0-A3B7-218273CE9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Some Buzz-Words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AB91EB3C-78A2-4925-8984-776F35A06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NLP – Natural Language Processing</a:t>
            </a:r>
          </a:p>
          <a:p>
            <a:r>
              <a:rPr lang="en-US" altLang="en-US"/>
              <a:t>CL – Computational Linguistics</a:t>
            </a:r>
          </a:p>
          <a:p>
            <a:r>
              <a:rPr lang="en-US" altLang="en-US"/>
              <a:t>SP – Speech Processing</a:t>
            </a:r>
          </a:p>
          <a:p>
            <a:r>
              <a:rPr lang="en-US" altLang="en-US"/>
              <a:t>HLT – Human Language Technology</a:t>
            </a:r>
          </a:p>
          <a:p>
            <a:r>
              <a:rPr lang="en-US" altLang="en-US"/>
              <a:t>NLE – Natural Language Engineering</a:t>
            </a:r>
          </a:p>
          <a:p>
            <a:r>
              <a:rPr lang="en-US" altLang="en-US"/>
              <a:t>SNLP – Statistical Natural Language Processing</a:t>
            </a:r>
          </a:p>
          <a:p>
            <a:r>
              <a:rPr lang="en-US" altLang="en-US"/>
              <a:t>Other Areas: </a:t>
            </a:r>
          </a:p>
          <a:p>
            <a:pPr lvl="1"/>
            <a:r>
              <a:rPr lang="en-US" altLang="en-US"/>
              <a:t>Speech Generation, Text Generation, Speech Understanding, Information Retrieval,</a:t>
            </a:r>
          </a:p>
          <a:p>
            <a:pPr lvl="1"/>
            <a:r>
              <a:rPr lang="en-US" altLang="en-US"/>
              <a:t>Dialogue Processing, Inference, Spelling Correction, Grammar Correction, </a:t>
            </a:r>
          </a:p>
          <a:p>
            <a:pPr lvl="1"/>
            <a:r>
              <a:rPr lang="en-US" altLang="en-US"/>
              <a:t>Text Summarization, Text Categorization,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>
            <a:extLst>
              <a:ext uri="{FF2B5EF4-FFF2-40B4-BE49-F238E27FC236}">
                <a16:creationId xmlns:a16="http://schemas.microsoft.com/office/drawing/2014/main" id="{DB3E7399-8C7C-4023-AEE7-6D3A2A300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80F6D051-1B9D-47F9-91A8-C6C774705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521220B-B28D-42E1-8DF0-21FCEC0DF27A}" type="slidenum">
              <a:rPr lang="en-US" altLang="en-US" sz="800"/>
              <a:pPr/>
              <a:t>17</a:t>
            </a:fld>
            <a:endParaRPr lang="en-US" altLang="en-US" sz="800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9CF6DB63-DC43-4B44-B0D1-711F3420A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Some NLP Applications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2DA3FEA8-CC1C-4BB3-8A5F-4D0024FD0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Machine Translation – Translation between two natural languages. </a:t>
            </a:r>
          </a:p>
          <a:p>
            <a:pPr lvl="1"/>
            <a:r>
              <a:rPr lang="en-US" altLang="en-US"/>
              <a:t>See the Babel Fish translations system on Alta Vista.</a:t>
            </a:r>
          </a:p>
          <a:p>
            <a:r>
              <a:rPr lang="en-US" altLang="en-US"/>
              <a:t>Information Retrieval – Web search (uni-lingual or multi-lingual).</a:t>
            </a:r>
          </a:p>
          <a:p>
            <a:r>
              <a:rPr lang="en-US" altLang="en-US"/>
              <a:t>Query Answering/Dialogue – Natural language interface with a database system, or a dialogue system.</a:t>
            </a:r>
          </a:p>
          <a:p>
            <a:r>
              <a:rPr lang="en-US" altLang="en-US"/>
              <a:t>Report Generation – Generation of reports such as weather reports.</a:t>
            </a:r>
          </a:p>
          <a:p>
            <a:r>
              <a:rPr lang="en-US" altLang="en-US"/>
              <a:t>Some Small Applications –</a:t>
            </a:r>
          </a:p>
          <a:p>
            <a:pPr lvl="1"/>
            <a:r>
              <a:rPr lang="en-US" altLang="en-US"/>
              <a:t> Grammar Checking, Spell Checking, Spell Corrector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>
            <a:extLst>
              <a:ext uri="{FF2B5EF4-FFF2-40B4-BE49-F238E27FC236}">
                <a16:creationId xmlns:a16="http://schemas.microsoft.com/office/drawing/2014/main" id="{058CB726-E56D-44FA-B783-8397C195A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72766647-7F12-482A-B091-E4369969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957A29-E3AF-4C12-BC85-F42D417BDF71}" type="slidenum">
              <a:rPr lang="en-US" altLang="en-US" sz="800"/>
              <a:pPr/>
              <a:t>18</a:t>
            </a:fld>
            <a:endParaRPr lang="en-US" altLang="en-US" sz="8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0F492041-39E8-4AE0-8547-7B5667389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Brief History of NLP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8EBF9112-CD15-46D0-BC6B-750FDA25C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1940s –1950s: Foundations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Development of formal language theory (Chomsky, Backus, Naur, Kleene)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Probabilities and information theory (Shannon)</a:t>
            </a:r>
          </a:p>
          <a:p>
            <a:pPr>
              <a:lnSpc>
                <a:spcPct val="90000"/>
              </a:lnSpc>
            </a:pPr>
            <a:r>
              <a:rPr lang="en-US" altLang="en-US"/>
              <a:t>1957 – 1970s: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Use of formal grammars as basis for natural language processing (Chomsky, Kaplan)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Use of logic and logic based programming (Minsky, Winograd, Colmerauer, Kay)</a:t>
            </a:r>
          </a:p>
          <a:p>
            <a:pPr>
              <a:lnSpc>
                <a:spcPct val="90000"/>
              </a:lnSpc>
            </a:pPr>
            <a:r>
              <a:rPr lang="en-US" altLang="en-US"/>
              <a:t>1970s – 1983: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Probabilistic methods for early speech recognition (Jelinek, Mercer)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Discourse modeling (Grosz, Sidner, Hobbs)</a:t>
            </a:r>
          </a:p>
          <a:p>
            <a:pPr>
              <a:lnSpc>
                <a:spcPct val="90000"/>
              </a:lnSpc>
            </a:pPr>
            <a:r>
              <a:rPr lang="en-US" altLang="en-US"/>
              <a:t>1983 – 1993: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Finite state models (morphology) (Kaplan, Kay)</a:t>
            </a:r>
          </a:p>
          <a:p>
            <a:pPr>
              <a:lnSpc>
                <a:spcPct val="90000"/>
              </a:lnSpc>
            </a:pPr>
            <a:r>
              <a:rPr lang="en-US" altLang="en-US"/>
              <a:t>1993 – present: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Strong integration of different techniques, different areas.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>
            <a:extLst>
              <a:ext uri="{FF2B5EF4-FFF2-40B4-BE49-F238E27FC236}">
                <a16:creationId xmlns:a16="http://schemas.microsoft.com/office/drawing/2014/main" id="{65425D8E-B279-476C-AE75-DB952430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873F47C5-E7BC-4062-A042-154ED9AD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E9BE766-2DDF-419A-899C-E5F4E3270268}" type="slidenum">
              <a:rPr lang="en-US" altLang="en-US" sz="800"/>
              <a:pPr/>
              <a:t>19</a:t>
            </a:fld>
            <a:endParaRPr lang="en-US" altLang="en-US" sz="800"/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011B7E32-D4AD-48AF-B252-E96CCFA3A7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Natural Language Understanding</a:t>
            </a: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55C14383-6DA7-409F-B47F-4160E9540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			</a:t>
            </a:r>
            <a:r>
              <a:rPr lang="en-US" altLang="en-US" sz="1800"/>
              <a:t>Words</a:t>
            </a:r>
          </a:p>
          <a:p>
            <a:pPr>
              <a:buFontTx/>
              <a:buNone/>
            </a:pPr>
            <a:r>
              <a:rPr lang="en-US" altLang="en-US"/>
              <a:t>	Morphological Analysis</a:t>
            </a:r>
          </a:p>
          <a:p>
            <a:pPr>
              <a:buFontTx/>
              <a:buNone/>
            </a:pPr>
            <a:r>
              <a:rPr lang="en-US" altLang="en-US"/>
              <a:t>			</a:t>
            </a:r>
            <a:r>
              <a:rPr lang="en-US" altLang="en-US" sz="1800"/>
              <a:t>Morphologically analyzed words</a:t>
            </a:r>
            <a:r>
              <a:rPr lang="en-US" altLang="en-US"/>
              <a:t>   </a:t>
            </a:r>
            <a:r>
              <a:rPr lang="en-US" altLang="en-US" sz="1800" i="1"/>
              <a:t>(another step: POS tagging)</a:t>
            </a:r>
          </a:p>
          <a:p>
            <a:pPr>
              <a:buFontTx/>
              <a:buNone/>
            </a:pPr>
            <a:r>
              <a:rPr lang="en-US" altLang="en-US"/>
              <a:t>	Syntactic Analysis</a:t>
            </a:r>
          </a:p>
          <a:p>
            <a:pPr>
              <a:buFontTx/>
              <a:buNone/>
            </a:pPr>
            <a:r>
              <a:rPr lang="en-US" altLang="en-US"/>
              <a:t>			</a:t>
            </a:r>
            <a:r>
              <a:rPr lang="en-US" altLang="en-US" sz="1800"/>
              <a:t>Syntactic Structure</a:t>
            </a:r>
          </a:p>
          <a:p>
            <a:pPr>
              <a:buFontTx/>
              <a:buNone/>
            </a:pPr>
            <a:r>
              <a:rPr lang="en-US" altLang="en-US"/>
              <a:t>	Semantic Analysis</a:t>
            </a:r>
          </a:p>
          <a:p>
            <a:pPr>
              <a:buFontTx/>
              <a:buNone/>
            </a:pPr>
            <a:r>
              <a:rPr lang="en-US" altLang="en-US"/>
              <a:t>			</a:t>
            </a:r>
            <a:r>
              <a:rPr lang="en-US" altLang="en-US" sz="1800"/>
              <a:t>Context-independent meaning representation</a:t>
            </a:r>
          </a:p>
          <a:p>
            <a:pPr>
              <a:buFontTx/>
              <a:buNone/>
            </a:pPr>
            <a:r>
              <a:rPr lang="en-US" altLang="en-US"/>
              <a:t>	Discourse Processing</a:t>
            </a:r>
          </a:p>
          <a:p>
            <a:pPr>
              <a:buFontTx/>
              <a:buNone/>
            </a:pPr>
            <a:r>
              <a:rPr lang="en-US" altLang="en-US"/>
              <a:t>			</a:t>
            </a:r>
            <a:r>
              <a:rPr lang="en-US" altLang="en-US" sz="1800"/>
              <a:t>Final meaning representation</a:t>
            </a:r>
          </a:p>
        </p:txBody>
      </p:sp>
      <p:sp>
        <p:nvSpPr>
          <p:cNvPr id="20486" name="Line 5">
            <a:extLst>
              <a:ext uri="{FF2B5EF4-FFF2-40B4-BE49-F238E27FC236}">
                <a16:creationId xmlns:a16="http://schemas.microsoft.com/office/drawing/2014/main" id="{99DB5D5C-AE74-424A-891C-A2D23534F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1676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Line 6">
            <a:extLst>
              <a:ext uri="{FF2B5EF4-FFF2-40B4-BE49-F238E27FC236}">
                <a16:creationId xmlns:a16="http://schemas.microsoft.com/office/drawing/2014/main" id="{4CEA51E2-B989-41A0-9334-0F4648C836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2514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Line 7">
            <a:extLst>
              <a:ext uri="{FF2B5EF4-FFF2-40B4-BE49-F238E27FC236}">
                <a16:creationId xmlns:a16="http://schemas.microsoft.com/office/drawing/2014/main" id="{C9804690-73E3-422A-ADD0-3F19E953D2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Line 8">
            <a:extLst>
              <a:ext uri="{FF2B5EF4-FFF2-40B4-BE49-F238E27FC236}">
                <a16:creationId xmlns:a16="http://schemas.microsoft.com/office/drawing/2014/main" id="{BD61978B-E5C5-45BA-B4F8-078D39B4A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5105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Line 9">
            <a:extLst>
              <a:ext uri="{FF2B5EF4-FFF2-40B4-BE49-F238E27FC236}">
                <a16:creationId xmlns:a16="http://schemas.microsoft.com/office/drawing/2014/main" id="{BFFB90DA-FF9E-4CC3-A240-58ACE421F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3429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22B827C2-C8DE-4E87-BB46-5CB26BA5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21507" name="Slide Number Placeholder 5">
            <a:extLst>
              <a:ext uri="{FF2B5EF4-FFF2-40B4-BE49-F238E27FC236}">
                <a16:creationId xmlns:a16="http://schemas.microsoft.com/office/drawing/2014/main" id="{F1AC6140-D992-488E-8EAA-A59474FE2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3C7A39-5F53-447D-B628-E93C2597F69E}" type="slidenum">
              <a:rPr lang="en-US" altLang="en-US" sz="800"/>
              <a:pPr/>
              <a:t>20</a:t>
            </a:fld>
            <a:endParaRPr lang="en-US" altLang="en-US" sz="800"/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3FC06A3E-1B13-4290-9E42-CED9FB781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Natural Language Generation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FDA71E1E-F3EC-487F-AD1F-9D31CB6C0D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			</a:t>
            </a:r>
            <a:r>
              <a:rPr lang="en-US" altLang="en-US" sz="1800"/>
              <a:t>Meaning representation</a:t>
            </a:r>
          </a:p>
          <a:p>
            <a:pPr>
              <a:buFontTx/>
              <a:buNone/>
            </a:pPr>
            <a:r>
              <a:rPr lang="en-US" altLang="en-US"/>
              <a:t>	Utterance Planning</a:t>
            </a:r>
          </a:p>
          <a:p>
            <a:pPr>
              <a:buFontTx/>
              <a:buNone/>
            </a:pPr>
            <a:r>
              <a:rPr lang="en-US" altLang="en-US"/>
              <a:t>			</a:t>
            </a:r>
            <a:r>
              <a:rPr lang="en-US" altLang="en-US" sz="1800"/>
              <a:t>Meaning representations for sentences</a:t>
            </a:r>
            <a:endParaRPr lang="en-US" altLang="en-US"/>
          </a:p>
          <a:p>
            <a:pPr>
              <a:buFontTx/>
              <a:buNone/>
            </a:pPr>
            <a:r>
              <a:rPr lang="en-US" altLang="en-US"/>
              <a:t>	Sentence Planning and Lexical Choice</a:t>
            </a:r>
          </a:p>
          <a:p>
            <a:pPr>
              <a:buFontTx/>
              <a:buNone/>
            </a:pPr>
            <a:r>
              <a:rPr lang="en-US" altLang="en-US"/>
              <a:t>			</a:t>
            </a:r>
            <a:r>
              <a:rPr lang="en-US" altLang="en-US" sz="1800"/>
              <a:t>Syntactic structures of sentences with lexical choices</a:t>
            </a:r>
          </a:p>
          <a:p>
            <a:pPr>
              <a:buFontTx/>
              <a:buNone/>
            </a:pPr>
            <a:r>
              <a:rPr lang="en-US" altLang="en-US"/>
              <a:t>	Sentence Generation</a:t>
            </a:r>
          </a:p>
          <a:p>
            <a:pPr>
              <a:buFontTx/>
              <a:buNone/>
            </a:pPr>
            <a:r>
              <a:rPr lang="en-US" altLang="en-US"/>
              <a:t>			</a:t>
            </a:r>
            <a:r>
              <a:rPr lang="en-US" altLang="en-US" sz="1800"/>
              <a:t>Morphologically analyzed words</a:t>
            </a:r>
            <a:r>
              <a:rPr lang="en-US" altLang="en-US"/>
              <a:t> </a:t>
            </a:r>
            <a:endParaRPr lang="en-US" altLang="en-US" sz="1800"/>
          </a:p>
          <a:p>
            <a:pPr>
              <a:buFontTx/>
              <a:buNone/>
            </a:pPr>
            <a:r>
              <a:rPr lang="en-US" altLang="en-US"/>
              <a:t>	Morphological Generation</a:t>
            </a:r>
          </a:p>
          <a:p>
            <a:pPr>
              <a:buFontTx/>
              <a:buNone/>
            </a:pPr>
            <a:r>
              <a:rPr lang="en-US" altLang="en-US"/>
              <a:t>			</a:t>
            </a:r>
            <a:r>
              <a:rPr lang="en-US" altLang="en-US" sz="1800"/>
              <a:t>Words</a:t>
            </a:r>
          </a:p>
        </p:txBody>
      </p:sp>
      <p:sp>
        <p:nvSpPr>
          <p:cNvPr id="21510" name="Line 4">
            <a:extLst>
              <a:ext uri="{FF2B5EF4-FFF2-40B4-BE49-F238E27FC236}">
                <a16:creationId xmlns:a16="http://schemas.microsoft.com/office/drawing/2014/main" id="{9625A5B7-D14F-44A6-97AA-D442A76A0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7513" y="472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Line 5">
            <a:extLst>
              <a:ext uri="{FF2B5EF4-FFF2-40B4-BE49-F238E27FC236}">
                <a16:creationId xmlns:a16="http://schemas.microsoft.com/office/drawing/2014/main" id="{422A1CF3-2912-4187-8A59-F2E3F8F555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7513" y="3886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Line 6">
            <a:extLst>
              <a:ext uri="{FF2B5EF4-FFF2-40B4-BE49-F238E27FC236}">
                <a16:creationId xmlns:a16="http://schemas.microsoft.com/office/drawing/2014/main" id="{2621A3C8-C71E-4D4C-AD02-A77EAAAB1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7513" y="2971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7">
            <a:extLst>
              <a:ext uri="{FF2B5EF4-FFF2-40B4-BE49-F238E27FC236}">
                <a16:creationId xmlns:a16="http://schemas.microsoft.com/office/drawing/2014/main" id="{8AFEEC1C-473F-4C4B-AB03-889F857F5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7513" y="2133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4" name="Line 8">
            <a:extLst>
              <a:ext uri="{FF2B5EF4-FFF2-40B4-BE49-F238E27FC236}">
                <a16:creationId xmlns:a16="http://schemas.microsoft.com/office/drawing/2014/main" id="{51F6D5E7-8A81-4846-B1C1-F912B8D61A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7513" y="1219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>
            <a:extLst>
              <a:ext uri="{FF2B5EF4-FFF2-40B4-BE49-F238E27FC236}">
                <a16:creationId xmlns:a16="http://schemas.microsoft.com/office/drawing/2014/main" id="{9E355687-9AFA-4D94-A382-95501FA12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53001548-C01A-4B16-AF1D-811AB3BE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CCD92D7-17FB-4CE0-A3AF-D76128419744}" type="slidenum">
              <a:rPr lang="en-US" altLang="en-US" sz="800"/>
              <a:pPr/>
              <a:t>21</a:t>
            </a:fld>
            <a:endParaRPr lang="en-US" altLang="en-US" sz="800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945F70D1-727B-4A28-B7C5-D7375E778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Morphological Analysis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24F3D3C5-1AE3-4471-A7CB-894A12085C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/>
              <a:t>Analyzing words into their linguistic components (morphemes).</a:t>
            </a:r>
          </a:p>
          <a:p>
            <a:r>
              <a:rPr lang="en-US" altLang="en-US" sz="2000"/>
              <a:t>Morphemes are the smallest meaningful units of language.</a:t>
            </a:r>
          </a:p>
          <a:p>
            <a:pPr>
              <a:buFontTx/>
              <a:buNone/>
            </a:pPr>
            <a:r>
              <a:rPr lang="en-US" altLang="en-US" sz="2000"/>
              <a:t>		cars			car+PLU	</a:t>
            </a:r>
          </a:p>
          <a:p>
            <a:pPr>
              <a:buFontTx/>
              <a:buNone/>
            </a:pPr>
            <a:r>
              <a:rPr lang="en-US" altLang="en-US" sz="2000"/>
              <a:t>		giving			give+PROG</a:t>
            </a:r>
          </a:p>
          <a:p>
            <a:pPr>
              <a:buFontTx/>
              <a:buNone/>
            </a:pPr>
            <a:r>
              <a:rPr lang="en-US" altLang="en-US" sz="2000"/>
              <a:t>		geliyordum		gel+PROG+PAST+1SG  	</a:t>
            </a:r>
            <a:r>
              <a:rPr lang="en-US" altLang="en-US" sz="1600"/>
              <a:t>- I was coming</a:t>
            </a:r>
          </a:p>
          <a:p>
            <a:r>
              <a:rPr lang="en-US" altLang="en-US" sz="2000"/>
              <a:t>Ambiguity: More than one alternatives</a:t>
            </a:r>
          </a:p>
          <a:p>
            <a:pPr>
              <a:buFontTx/>
              <a:buNone/>
            </a:pPr>
            <a:r>
              <a:rPr lang="en-US" altLang="en-US" sz="2000"/>
              <a:t>		flies			fly</a:t>
            </a:r>
            <a:r>
              <a:rPr lang="en-US" altLang="en-US" sz="2000" baseline="-25000"/>
              <a:t>VERB</a:t>
            </a:r>
            <a:r>
              <a:rPr lang="en-US" altLang="en-US" sz="2000"/>
              <a:t>+PROG</a:t>
            </a:r>
          </a:p>
          <a:p>
            <a:pPr>
              <a:buFontTx/>
              <a:buNone/>
            </a:pPr>
            <a:r>
              <a:rPr lang="en-US" altLang="en-US" sz="2000"/>
              <a:t>					fly</a:t>
            </a:r>
            <a:r>
              <a:rPr lang="en-US" altLang="en-US" sz="2000" baseline="-25000"/>
              <a:t>NOUN</a:t>
            </a:r>
            <a:r>
              <a:rPr lang="en-US" altLang="en-US" sz="2000"/>
              <a:t>+PLU</a:t>
            </a:r>
            <a:endParaRPr lang="tr-TR" altLang="en-US" sz="2000"/>
          </a:p>
          <a:p>
            <a:pPr>
              <a:buFontTx/>
              <a:buNone/>
            </a:pPr>
            <a:endParaRPr lang="en-US" altLang="en-US" sz="2000"/>
          </a:p>
          <a:p>
            <a:pPr>
              <a:buFontTx/>
              <a:buNone/>
            </a:pPr>
            <a:r>
              <a:rPr lang="en-US" altLang="en-US" sz="2000"/>
              <a:t>		adam</a:t>
            </a:r>
            <a:r>
              <a:rPr lang="tr-TR" altLang="en-US" sz="2000"/>
              <a:t>ı			adam</a:t>
            </a:r>
            <a:r>
              <a:rPr lang="en-US" altLang="en-US" sz="2000"/>
              <a:t>+ACC		</a:t>
            </a:r>
            <a:r>
              <a:rPr lang="en-US" altLang="en-US" sz="1600"/>
              <a:t>- the man (accusative) </a:t>
            </a:r>
            <a:endParaRPr lang="en-US" altLang="en-US" sz="2000"/>
          </a:p>
          <a:p>
            <a:pPr>
              <a:buFontTx/>
              <a:buNone/>
            </a:pPr>
            <a:r>
              <a:rPr lang="en-US" altLang="en-US" sz="2000"/>
              <a:t>					adam+P1SG		</a:t>
            </a:r>
            <a:r>
              <a:rPr lang="en-US" altLang="en-US" sz="1600"/>
              <a:t>- my man</a:t>
            </a:r>
            <a:endParaRPr lang="en-US" altLang="en-US" sz="2000"/>
          </a:p>
          <a:p>
            <a:pPr>
              <a:buFontTx/>
              <a:buNone/>
            </a:pPr>
            <a:r>
              <a:rPr lang="en-US" altLang="en-US" sz="2000"/>
              <a:t>					ada+P1SG+ACC	      	</a:t>
            </a:r>
            <a:r>
              <a:rPr lang="en-US" altLang="en-US" sz="1600"/>
              <a:t>- my island (accusative)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68B13B82-37B3-417C-B31F-42D796778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23555" name="Slide Number Placeholder 5">
            <a:extLst>
              <a:ext uri="{FF2B5EF4-FFF2-40B4-BE49-F238E27FC236}">
                <a16:creationId xmlns:a16="http://schemas.microsoft.com/office/drawing/2014/main" id="{EAB34971-981B-493E-8DBD-A1B3316AE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40C596E-1F41-4466-AEA9-D0E387BBC368}" type="slidenum">
              <a:rPr lang="en-US" altLang="en-US" sz="800"/>
              <a:pPr/>
              <a:t>22</a:t>
            </a:fld>
            <a:endParaRPr lang="en-US" altLang="en-US" sz="800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0B994ACD-E383-4B48-A68D-0822E2868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Morphological Analysis (cont.)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087A1F8F-131E-4188-810C-ABCCF69329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Relatively simple for English. But for some languages such as Turkish, it is more difficult.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/>
              <a:t>	   uygarla</a:t>
            </a:r>
            <a:r>
              <a:rPr lang="tr-TR" altLang="en-US"/>
              <a:t>ştıramadıklarımızdanmışsınızcasına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/>
              <a:t>	   </a:t>
            </a:r>
            <a:r>
              <a:rPr lang="en-US" altLang="en-US"/>
              <a:t>uygar-la</a:t>
            </a:r>
            <a:r>
              <a:rPr lang="tr-TR" altLang="en-US"/>
              <a:t>ş-tır-ama-dık-lar-ımız-dan-mış-sınız-casına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tr-TR" altLang="en-US"/>
              <a:t>	   </a:t>
            </a:r>
            <a:r>
              <a:rPr lang="en-US" altLang="en-US"/>
              <a:t>uygar </a:t>
            </a:r>
            <a:r>
              <a:rPr lang="en-US" altLang="en-US" sz="1600"/>
              <a:t>+BEC +CAUS +NEGABLE +PPART +PL +P1PL +ABL +PAST +2PL +AsIf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800"/>
              <a:t>	   </a:t>
            </a:r>
            <a:r>
              <a:rPr lang="en-US" altLang="en-US" sz="1600"/>
              <a:t>“(behaving) as if you are among those whom we could not </a:t>
            </a:r>
            <a:r>
              <a:rPr lang="en-US" altLang="en-US" sz="1600" u="sng"/>
              <a:t>civilize</a:t>
            </a:r>
            <a:r>
              <a:rPr lang="en-US" altLang="en-US" sz="1600"/>
              <a:t>/</a:t>
            </a:r>
            <a:r>
              <a:rPr lang="en-US" altLang="en-US" sz="1600" u="sng"/>
              <a:t>cause to become civilized</a:t>
            </a:r>
            <a:r>
              <a:rPr lang="en-US" altLang="en-US" sz="1600"/>
              <a:t>”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400"/>
              <a:t>	+BEC	is “become” in English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400"/>
              <a:t>	+CAUS	is the causative voice marker on a verb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400"/>
              <a:t>	+PPART	marks a past participle form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400"/>
              <a:t>	+P1PL	is 1</a:t>
            </a:r>
            <a:r>
              <a:rPr lang="en-US" altLang="en-US" sz="1400" baseline="30000"/>
              <a:t>st</a:t>
            </a:r>
            <a:r>
              <a:rPr lang="en-US" altLang="en-US" sz="1400"/>
              <a:t> person plural possessive marker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400"/>
              <a:t>	+2PL	is 2</a:t>
            </a:r>
            <a:r>
              <a:rPr lang="en-US" altLang="en-US" sz="1400" baseline="30000"/>
              <a:t>nd</a:t>
            </a:r>
            <a:r>
              <a:rPr lang="en-US" altLang="en-US" sz="1400"/>
              <a:t> person plural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400"/>
              <a:t>	+ABL	is the ablative (from/among) case marker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400"/>
              <a:t>	+AsIf	is a derivational marker that forms an adverb from a finite verb form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400"/>
              <a:t>	+NEGABLE	is “not able” in English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Inflectional and Derivational Morphology.</a:t>
            </a:r>
          </a:p>
          <a:p>
            <a:pPr>
              <a:lnSpc>
                <a:spcPct val="90000"/>
              </a:lnSpc>
            </a:pPr>
            <a:r>
              <a:rPr lang="en-US" altLang="en-US"/>
              <a:t>Common tools: Finite-state transducers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>
            <a:extLst>
              <a:ext uri="{FF2B5EF4-FFF2-40B4-BE49-F238E27FC236}">
                <a16:creationId xmlns:a16="http://schemas.microsoft.com/office/drawing/2014/main" id="{505A072D-4E03-4FBB-8941-68222A77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D315986C-958D-40AA-867A-7F765CA40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AAEAAA2-5208-4E6F-B74E-52A5744179C1}" type="slidenum">
              <a:rPr lang="en-US" altLang="en-US" sz="800"/>
              <a:pPr/>
              <a:t>23</a:t>
            </a:fld>
            <a:endParaRPr lang="en-US" altLang="en-US" sz="800"/>
          </a:p>
        </p:txBody>
      </p:sp>
      <p:sp>
        <p:nvSpPr>
          <p:cNvPr id="24580" name="Rectangle 1026">
            <a:extLst>
              <a:ext uri="{FF2B5EF4-FFF2-40B4-BE49-F238E27FC236}">
                <a16:creationId xmlns:a16="http://schemas.microsoft.com/office/drawing/2014/main" id="{A1ECE9F8-55B9-4371-A7B6-200496B0DE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Part-of-Speech (POS) Tagging </a:t>
            </a:r>
          </a:p>
        </p:txBody>
      </p:sp>
      <p:sp>
        <p:nvSpPr>
          <p:cNvPr id="24581" name="Rectangle 1027">
            <a:extLst>
              <a:ext uri="{FF2B5EF4-FFF2-40B4-BE49-F238E27FC236}">
                <a16:creationId xmlns:a16="http://schemas.microsoft.com/office/drawing/2014/main" id="{F5C28E77-C812-444A-84EF-6CF06B3F59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Each word has a part-of-speech tag to describe its category.</a:t>
            </a:r>
          </a:p>
          <a:p>
            <a:r>
              <a:rPr lang="en-US" altLang="en-US"/>
              <a:t>Part-of-speech tag of a word is one of major word groups </a:t>
            </a:r>
          </a:p>
          <a:p>
            <a:pPr>
              <a:buFontTx/>
              <a:buNone/>
            </a:pPr>
            <a:r>
              <a:rPr lang="en-US" altLang="en-US"/>
              <a:t>	(or its subgroups).</a:t>
            </a:r>
          </a:p>
          <a:p>
            <a:pPr lvl="1"/>
            <a:r>
              <a:rPr lang="en-US" altLang="en-US" b="1"/>
              <a:t>open classes</a:t>
            </a:r>
            <a:r>
              <a:rPr lang="en-US" altLang="en-US"/>
              <a:t> -- noun, verb, adjective, adverb </a:t>
            </a:r>
          </a:p>
          <a:p>
            <a:pPr lvl="1"/>
            <a:r>
              <a:rPr lang="en-US" altLang="en-US" b="1"/>
              <a:t>closed classes</a:t>
            </a:r>
            <a:r>
              <a:rPr lang="en-US" altLang="en-US"/>
              <a:t> </a:t>
            </a:r>
            <a:r>
              <a:rPr lang="tr-TR" altLang="en-US"/>
              <a:t>-- prepositions, determiners, conjuctions, pronouns, particples</a:t>
            </a:r>
          </a:p>
          <a:p>
            <a:r>
              <a:rPr lang="en-US" altLang="en-US"/>
              <a:t>POS Taggers try to find POS tags for the words.</a:t>
            </a:r>
          </a:p>
          <a:p>
            <a:r>
              <a:rPr lang="en-US" altLang="en-US">
                <a:latin typeface="Courier New" panose="02070309020205020404" pitchFamily="49" charset="0"/>
              </a:rPr>
              <a:t>duck</a:t>
            </a:r>
            <a:r>
              <a:rPr lang="en-US" altLang="en-US"/>
              <a:t> is a verb or noun? (morphological analyzer cannot make decision).</a:t>
            </a:r>
          </a:p>
          <a:p>
            <a:r>
              <a:rPr lang="en-US" altLang="en-US"/>
              <a:t>A POS tagger may make that decision by looking the surrounding words.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Duck!</a:t>
            </a:r>
            <a:r>
              <a:rPr lang="en-US" altLang="en-US"/>
              <a:t>  (verb)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Duck is delicious for dinner.</a:t>
            </a:r>
            <a:r>
              <a:rPr lang="en-US" altLang="en-US"/>
              <a:t>  (noun)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>
            <a:extLst>
              <a:ext uri="{FF2B5EF4-FFF2-40B4-BE49-F238E27FC236}">
                <a16:creationId xmlns:a16="http://schemas.microsoft.com/office/drawing/2014/main" id="{148B5D85-ADEF-4CA0-ABEE-998685EDA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25603" name="Slide Number Placeholder 5">
            <a:extLst>
              <a:ext uri="{FF2B5EF4-FFF2-40B4-BE49-F238E27FC236}">
                <a16:creationId xmlns:a16="http://schemas.microsoft.com/office/drawing/2014/main" id="{8583015D-93E2-4D30-89C8-356A6667E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C20A271-7810-4116-95A4-2721D377564B}" type="slidenum">
              <a:rPr lang="en-US" altLang="en-US" sz="800"/>
              <a:pPr/>
              <a:t>24</a:t>
            </a:fld>
            <a:endParaRPr lang="en-US" altLang="en-US" sz="800"/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BB00050C-90E9-48A1-8D0D-EBAFF473A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Processing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C5304E31-33AA-451D-8E96-D235929BE4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purpose of lexical processing is to determine meanings of individual words.</a:t>
            </a:r>
          </a:p>
          <a:p>
            <a:r>
              <a:rPr lang="en-US" altLang="en-US"/>
              <a:t>Basic methods is to lookup in a database of meanings -- </a:t>
            </a:r>
            <a:r>
              <a:rPr lang="en-US" altLang="en-US" b="1"/>
              <a:t>lexicon</a:t>
            </a:r>
          </a:p>
          <a:p>
            <a:r>
              <a:rPr lang="en-US" altLang="en-US"/>
              <a:t>We should also identify non-words such as punctuation marks.</a:t>
            </a:r>
          </a:p>
          <a:p>
            <a:r>
              <a:rPr lang="en-US" altLang="en-US"/>
              <a:t>Word-level ambiguity -- words may have several meanings, and the correct one cannot be chosen based solely on the word itself.</a:t>
            </a:r>
          </a:p>
          <a:p>
            <a:pPr lvl="1"/>
            <a:r>
              <a:rPr lang="en-US" altLang="en-US"/>
              <a:t>bank in English</a:t>
            </a:r>
          </a:p>
          <a:p>
            <a:pPr lvl="1"/>
            <a:r>
              <a:rPr lang="en-US" altLang="en-US"/>
              <a:t>yüz in Turkish</a:t>
            </a:r>
          </a:p>
          <a:p>
            <a:r>
              <a:rPr lang="en-US" altLang="en-US"/>
              <a:t>Solution -- resolve the ambiguity on the spot by POS tagging               (if possible) or pass-on the ambiguity to the other levels.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>
            <a:extLst>
              <a:ext uri="{FF2B5EF4-FFF2-40B4-BE49-F238E27FC236}">
                <a16:creationId xmlns:a16="http://schemas.microsoft.com/office/drawing/2014/main" id="{EB54F333-1579-4B84-A141-4AFAD200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EB0CD5C9-90FF-4C27-AAD8-7435F0ED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83EC829-9859-45F6-BCD9-CE53359080CD}" type="slidenum">
              <a:rPr lang="en-US" altLang="en-US" sz="800"/>
              <a:pPr/>
              <a:t>25</a:t>
            </a:fld>
            <a:endParaRPr lang="en-US" altLang="en-US" sz="800"/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DEF09137-115A-4ABB-A7E7-E6BC8EE9D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Syntactic Processing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7BB08892-2A46-42FE-9708-86B0E19E83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Parsing</a:t>
            </a:r>
            <a:r>
              <a:rPr lang="en-US" altLang="en-US"/>
              <a:t> -- converting a flat input sentence into a hierarchical structure that corresponds to the units of meaning in the sentence.</a:t>
            </a:r>
          </a:p>
          <a:p>
            <a:r>
              <a:rPr lang="en-US" altLang="en-US"/>
              <a:t>There are different parsing formalisms and algorithms.</a:t>
            </a:r>
          </a:p>
          <a:p>
            <a:r>
              <a:rPr lang="en-US" altLang="en-US"/>
              <a:t>Most formalisms have two main components:</a:t>
            </a:r>
          </a:p>
          <a:p>
            <a:pPr lvl="1"/>
            <a:r>
              <a:rPr lang="en-US" altLang="en-US" b="1"/>
              <a:t>grammar</a:t>
            </a:r>
            <a:r>
              <a:rPr lang="en-US" altLang="en-US"/>
              <a:t> -- a declarative representation describing the syntactic structure of sentences in the language.</a:t>
            </a:r>
          </a:p>
          <a:p>
            <a:pPr lvl="1"/>
            <a:r>
              <a:rPr lang="en-US" altLang="en-US" b="1"/>
              <a:t>parser</a:t>
            </a:r>
            <a:r>
              <a:rPr lang="en-US" altLang="en-US"/>
              <a:t> -- an algorithm that analyzes the input and outputs its structural representation (its parse) consistent with the grammar specification.</a:t>
            </a:r>
          </a:p>
          <a:p>
            <a:r>
              <a:rPr lang="en-US" altLang="en-US"/>
              <a:t>CFGs are in the center of many of the parsing mechanisms. But they are complemented by some additional features that make the formalism more suitable to handle natural languages.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>
            <a:extLst>
              <a:ext uri="{FF2B5EF4-FFF2-40B4-BE49-F238E27FC236}">
                <a16:creationId xmlns:a16="http://schemas.microsoft.com/office/drawing/2014/main" id="{50FFAFFA-5228-4D27-93DC-14C3D2AB5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198C3D68-46C4-4E29-826F-4EF86D91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3D6F555-2090-487A-9EC0-37CD9D915362}" type="slidenum">
              <a:rPr lang="en-US" altLang="en-US" sz="800"/>
              <a:pPr/>
              <a:t>26</a:t>
            </a:fld>
            <a:endParaRPr lang="en-US" altLang="en-US" sz="800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EFE479C5-8295-4167-AAC8-EFA2251717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Semantic Analysis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C01E71B5-01C4-40F9-A060-25F735130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Assigning meanings to the structures created by syntactic analysis.</a:t>
            </a:r>
          </a:p>
          <a:p>
            <a:r>
              <a:rPr lang="en-US" altLang="en-US"/>
              <a:t>Mapping words and structures to particular domain objects in way consistent with our knowledge of the world.</a:t>
            </a:r>
          </a:p>
          <a:p>
            <a:r>
              <a:rPr lang="en-US" altLang="en-US"/>
              <a:t>Semantic can play an import role in selecting among competing syntactic analyses and discarding illogical analyses.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I robbed the bank</a:t>
            </a:r>
            <a:r>
              <a:rPr lang="en-US" altLang="en-US"/>
              <a:t>    -- bank is a river bank or a financial institution </a:t>
            </a:r>
          </a:p>
          <a:p>
            <a:r>
              <a:rPr lang="en-US" altLang="en-US"/>
              <a:t>We have to decide the formalisms which will be used in the meaning representation.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>
            <a:extLst>
              <a:ext uri="{FF2B5EF4-FFF2-40B4-BE49-F238E27FC236}">
                <a16:creationId xmlns:a16="http://schemas.microsoft.com/office/drawing/2014/main" id="{BFBD8EA9-AB01-446F-8AA1-A715A250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1E83F4D0-3939-4C9E-875D-CCCFF1CF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CD3FDB1-12AC-4EE1-87E8-880D85E127BA}" type="slidenum">
              <a:rPr lang="en-US" altLang="en-US" sz="800"/>
              <a:pPr/>
              <a:t>27</a:t>
            </a:fld>
            <a:endParaRPr lang="en-US" altLang="en-US" sz="800"/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3C364C47-1E6E-43B6-8D9C-904139BE5C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Knowledge Representation for NLP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B6C81D44-82DB-4D9D-970C-0F134F866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Which knowledge representation will be used depends on the application -- Machine Translation, Database Query System.</a:t>
            </a:r>
          </a:p>
          <a:p>
            <a:r>
              <a:rPr lang="en-US" altLang="en-US"/>
              <a:t>Requires the choice of representational framework, as well as the specific meaning vocabulary  (what are concepts and relationship between these concepts -- ontology)</a:t>
            </a:r>
          </a:p>
          <a:p>
            <a:r>
              <a:rPr lang="en-US" altLang="en-US"/>
              <a:t>Must be computationally effective.</a:t>
            </a:r>
          </a:p>
          <a:p>
            <a:r>
              <a:rPr lang="en-US" altLang="en-US"/>
              <a:t>Common representational formalisms:</a:t>
            </a:r>
          </a:p>
          <a:p>
            <a:pPr lvl="1"/>
            <a:r>
              <a:rPr lang="en-US" altLang="en-US" sz="2400"/>
              <a:t>first order predicate logic</a:t>
            </a:r>
          </a:p>
          <a:p>
            <a:pPr lvl="1"/>
            <a:r>
              <a:rPr lang="en-US" altLang="en-US" sz="2400"/>
              <a:t>conceptual dependency graphs</a:t>
            </a:r>
          </a:p>
          <a:p>
            <a:pPr lvl="1"/>
            <a:r>
              <a:rPr lang="en-US" altLang="en-US" sz="2400"/>
              <a:t>semantic networks</a:t>
            </a:r>
          </a:p>
          <a:p>
            <a:pPr lvl="1"/>
            <a:r>
              <a:rPr lang="en-US" altLang="en-US" sz="2400"/>
              <a:t>Frame-based representations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>
            <a:extLst>
              <a:ext uri="{FF2B5EF4-FFF2-40B4-BE49-F238E27FC236}">
                <a16:creationId xmlns:a16="http://schemas.microsoft.com/office/drawing/2014/main" id="{6AF2FE33-2CBA-40F1-A814-4D970BB8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29699" name="Slide Number Placeholder 5">
            <a:extLst>
              <a:ext uri="{FF2B5EF4-FFF2-40B4-BE49-F238E27FC236}">
                <a16:creationId xmlns:a16="http://schemas.microsoft.com/office/drawing/2014/main" id="{326B536B-7F57-46E3-A7A8-33A37AA4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FED230E-A4B4-422F-81C7-B5FF76AE3D5F}" type="slidenum">
              <a:rPr lang="en-US" altLang="en-US" sz="800"/>
              <a:pPr/>
              <a:t>28</a:t>
            </a:fld>
            <a:endParaRPr lang="en-US" altLang="en-US" sz="800"/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72C8E343-CBB1-4383-8015-5C80E3FC6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Discourse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81D5C0B5-1622-47F2-9BD5-4A27C68F1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Discourses are collection of coherent sentences (not arbitrary set of sentences)</a:t>
            </a:r>
          </a:p>
          <a:p>
            <a:r>
              <a:rPr lang="en-US" altLang="en-US"/>
              <a:t>Discourses have also hierarchical structures (similar to sentences)</a:t>
            </a:r>
          </a:p>
          <a:p>
            <a:r>
              <a:rPr lang="en-US" altLang="en-US" b="1"/>
              <a:t>anaphora resolution</a:t>
            </a:r>
            <a:r>
              <a:rPr lang="en-US" altLang="en-US"/>
              <a:t> -- to resolve referring expression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Mary bought a book for Kelly. </a:t>
            </a:r>
            <a:r>
              <a:rPr lang="en-US" altLang="en-US" b="1" u="sng">
                <a:latin typeface="Courier New" panose="02070309020205020404" pitchFamily="49" charset="0"/>
              </a:rPr>
              <a:t>She</a:t>
            </a:r>
            <a:r>
              <a:rPr lang="en-US" altLang="en-US">
                <a:latin typeface="Courier New" panose="02070309020205020404" pitchFamily="49" charset="0"/>
              </a:rPr>
              <a:t> didn’t like </a:t>
            </a:r>
            <a:r>
              <a:rPr lang="en-US" altLang="en-US" b="1" u="sng">
                <a:latin typeface="Courier New" panose="02070309020205020404" pitchFamily="49" charset="0"/>
              </a:rPr>
              <a:t>it</a:t>
            </a:r>
            <a:r>
              <a:rPr lang="en-US" altLang="en-US">
                <a:latin typeface="Courier New" panose="02070309020205020404" pitchFamily="49" charset="0"/>
              </a:rPr>
              <a:t>.</a:t>
            </a:r>
            <a:endParaRPr lang="en-US" altLang="en-US"/>
          </a:p>
          <a:p>
            <a:pPr lvl="2"/>
            <a:r>
              <a:rPr lang="en-US" altLang="en-US" b="1"/>
              <a:t>She</a:t>
            </a:r>
            <a:r>
              <a:rPr lang="en-US" altLang="en-US"/>
              <a:t> refers to Mary or Kelly. -- possibly Kelly</a:t>
            </a:r>
          </a:p>
          <a:p>
            <a:pPr lvl="2"/>
            <a:r>
              <a:rPr lang="en-US" altLang="en-US" b="1"/>
              <a:t>It</a:t>
            </a:r>
            <a:r>
              <a:rPr lang="en-US" altLang="en-US"/>
              <a:t> refers to what -- book.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</a:rPr>
              <a:t>Mary had to lie for Kelly. </a:t>
            </a:r>
            <a:r>
              <a:rPr lang="en-US" altLang="en-US" b="1" u="sng">
                <a:latin typeface="Courier New" panose="02070309020205020404" pitchFamily="49" charset="0"/>
              </a:rPr>
              <a:t>She</a:t>
            </a:r>
            <a:r>
              <a:rPr lang="en-US" altLang="en-US">
                <a:latin typeface="Courier New" panose="02070309020205020404" pitchFamily="49" charset="0"/>
              </a:rPr>
              <a:t> didn’t like </a:t>
            </a:r>
            <a:r>
              <a:rPr lang="en-US" altLang="en-US" b="1" u="sng">
                <a:latin typeface="Courier New" panose="02070309020205020404" pitchFamily="49" charset="0"/>
              </a:rPr>
              <a:t>it</a:t>
            </a:r>
            <a:r>
              <a:rPr lang="en-US" altLang="en-US">
                <a:latin typeface="Courier New" panose="02070309020205020404" pitchFamily="49" charset="0"/>
              </a:rPr>
              <a:t>.</a:t>
            </a:r>
          </a:p>
          <a:p>
            <a:r>
              <a:rPr lang="en-US" altLang="en-US"/>
              <a:t>Discourse structure may depend on application.</a:t>
            </a:r>
          </a:p>
          <a:p>
            <a:pPr lvl="1"/>
            <a:r>
              <a:rPr lang="en-US" altLang="en-US"/>
              <a:t>Monologue</a:t>
            </a:r>
          </a:p>
          <a:p>
            <a:pPr lvl="1"/>
            <a:r>
              <a:rPr lang="en-US" altLang="en-US"/>
              <a:t>Dialogue</a:t>
            </a:r>
          </a:p>
          <a:p>
            <a:pPr lvl="1"/>
            <a:r>
              <a:rPr lang="en-US" altLang="en-US"/>
              <a:t>Human-Computer Interaction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>
            <a:extLst>
              <a:ext uri="{FF2B5EF4-FFF2-40B4-BE49-F238E27FC236}">
                <a16:creationId xmlns:a16="http://schemas.microsoft.com/office/drawing/2014/main" id="{DF8363A5-E14E-442C-B945-F550014F7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06141EF6-F5D1-41C2-AEA2-3BBC8E78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402DF8-B0EF-45DC-A9E3-B11AA17A1AF2}" type="slidenum">
              <a:rPr lang="en-US" altLang="en-US" sz="800"/>
              <a:pPr/>
              <a:t>29</a:t>
            </a:fld>
            <a:endParaRPr lang="en-US" altLang="en-US" sz="800"/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0BD68B5B-D5F1-4973-84F6-925558C03D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Natural Language Generation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BEF1D492-8E1C-4A2F-91A0-601D278F4C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NLG is the process of constructing natural language outputs from    non-linguistic inputs.</a:t>
            </a:r>
          </a:p>
          <a:p>
            <a:r>
              <a:rPr lang="en-US" altLang="en-US"/>
              <a:t>NLG can be viewed as the reverse process of NL understanding.</a:t>
            </a:r>
          </a:p>
          <a:p>
            <a:r>
              <a:rPr lang="en-US" altLang="en-US"/>
              <a:t>A NLG system may have two main parts:</a:t>
            </a:r>
          </a:p>
          <a:p>
            <a:pPr lvl="1"/>
            <a:r>
              <a:rPr lang="en-US" altLang="en-US" sz="2400" b="1"/>
              <a:t>Discourse Planner</a:t>
            </a:r>
            <a:r>
              <a:rPr lang="en-US" altLang="en-US" sz="2400"/>
              <a:t> -- what will be generated. which sentences.</a:t>
            </a:r>
          </a:p>
          <a:p>
            <a:pPr lvl="1"/>
            <a:r>
              <a:rPr lang="en-US" altLang="en-US" sz="2400" b="1"/>
              <a:t>Surface Realizer</a:t>
            </a:r>
            <a:r>
              <a:rPr lang="en-US" altLang="en-US" sz="2400"/>
              <a:t> -- realizes a sentence from its internal representation.</a:t>
            </a:r>
          </a:p>
          <a:p>
            <a:r>
              <a:rPr lang="en-US" altLang="en-US" b="1"/>
              <a:t>Lexical Selection</a:t>
            </a:r>
            <a:r>
              <a:rPr lang="en-US" altLang="en-US"/>
              <a:t> -- selecting the correct words describing the concepts.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>
            <a:extLst>
              <a:ext uri="{FF2B5EF4-FFF2-40B4-BE49-F238E27FC236}">
                <a16:creationId xmlns:a16="http://schemas.microsoft.com/office/drawing/2014/main" id="{D1AF8659-E0B1-42F0-B24D-53433328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/>
              <a:t>BİL711  Natural Language Processing</a:t>
            </a:r>
          </a:p>
        </p:txBody>
      </p:sp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BF6E6778-A59F-40F6-9D51-F1A60452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E186950-2B52-4189-8001-F3E2FA29B717}" type="slidenum">
              <a:rPr lang="en-US" altLang="en-US" sz="800"/>
              <a:pPr/>
              <a:t>30</a:t>
            </a:fld>
            <a:endParaRPr lang="en-US" altLang="en-US" sz="800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2F7C5A42-20E7-4F45-8C78-FE5F17AE6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Machine Translation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A7C8C2C6-065F-4444-86FE-772DF7CCE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Machine Translation -- converting a text in language A into the corresponding text in language B (or speech).</a:t>
            </a:r>
          </a:p>
          <a:p>
            <a:r>
              <a:rPr lang="en-US" altLang="en-US"/>
              <a:t>Different Machine Translation architectures:</a:t>
            </a:r>
          </a:p>
          <a:p>
            <a:pPr lvl="1"/>
            <a:r>
              <a:rPr lang="en-US" altLang="en-US"/>
              <a:t>interlingua based systems</a:t>
            </a:r>
          </a:p>
          <a:p>
            <a:pPr lvl="1"/>
            <a:r>
              <a:rPr lang="en-US" altLang="en-US"/>
              <a:t>transfer based systems</a:t>
            </a:r>
          </a:p>
          <a:p>
            <a:r>
              <a:rPr lang="en-US" altLang="en-US"/>
              <a:t>How to acquire the required knowledge resources such as mapping rules and bi-lingual dictionary?  By hand or acquire them automatically from corpora.</a:t>
            </a:r>
          </a:p>
          <a:p>
            <a:r>
              <a:rPr lang="en-US" altLang="en-US"/>
              <a:t>Example Based Machine Translation acquires the required knowledge (some of it or all of it) from corpora.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2967</TotalTime>
  <Words>2758</Words>
  <Application>Microsoft Office PowerPoint</Application>
  <PresentationFormat>Letter Paper (8.5x11 in)</PresentationFormat>
  <Paragraphs>357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Times New Roman</vt:lpstr>
      <vt:lpstr>Arial</vt:lpstr>
      <vt:lpstr>Courier New</vt:lpstr>
      <vt:lpstr>Default Design</vt:lpstr>
      <vt:lpstr>What is Natural Language Processing (NLP)</vt:lpstr>
      <vt:lpstr>Forms of Natural Language</vt:lpstr>
      <vt:lpstr>Components of NLP</vt:lpstr>
      <vt:lpstr>Why NL Understanding is hard?</vt:lpstr>
      <vt:lpstr>Knowledge of Language</vt:lpstr>
      <vt:lpstr>Knowledge of Language (cont.)</vt:lpstr>
      <vt:lpstr>Ambiguity</vt:lpstr>
      <vt:lpstr>Ambiguity (cont.)</vt:lpstr>
      <vt:lpstr>Ambiguity in a Turkish Sentence</vt:lpstr>
      <vt:lpstr>Resolve Ambiguities</vt:lpstr>
      <vt:lpstr>Resolve Ambiguities (cont.)</vt:lpstr>
      <vt:lpstr>Models to Represent Linguistic Knowledge</vt:lpstr>
      <vt:lpstr>Algorithms to Manipulate Linguistic Knowledge</vt:lpstr>
      <vt:lpstr>Language and Intelligence</vt:lpstr>
      <vt:lpstr>NLP - an inter-disciplinary Field</vt:lpstr>
      <vt:lpstr>Some Buzz-Words</vt:lpstr>
      <vt:lpstr>Some NLP Applications</vt:lpstr>
      <vt:lpstr>Brief History of NLP</vt:lpstr>
      <vt:lpstr>Natural Language Understanding</vt:lpstr>
      <vt:lpstr>Natural Language Generation</vt:lpstr>
      <vt:lpstr>Morphological Analysis</vt:lpstr>
      <vt:lpstr>Morphological Analysis (cont.)</vt:lpstr>
      <vt:lpstr>Part-of-Speech (POS) Tagging </vt:lpstr>
      <vt:lpstr>Lexical Processing</vt:lpstr>
      <vt:lpstr>Syntactic Processing</vt:lpstr>
      <vt:lpstr>Semantic Analysis</vt:lpstr>
      <vt:lpstr>Knowledge Representation for NLP</vt:lpstr>
      <vt:lpstr>Discourse</vt:lpstr>
      <vt:lpstr>Natural Language Generation</vt:lpstr>
      <vt:lpstr>Machine Translation</vt:lpstr>
    </vt:vector>
  </TitlesOfParts>
  <Company>Bilkent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CS578: Natural Language Processing</dc:title>
  <dc:creator>Ilyas Cicekli</dc:creator>
  <cp:lastModifiedBy>kiritdani57@gmail.com</cp:lastModifiedBy>
  <cp:revision>162</cp:revision>
  <cp:lastPrinted>1999-09-09T03:15:50Z</cp:lastPrinted>
  <dcterms:created xsi:type="dcterms:W3CDTF">1999-01-20T19:57:44Z</dcterms:created>
  <dcterms:modified xsi:type="dcterms:W3CDTF">2021-02-12T07:10:31Z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radev@cs.columbia.edu</vt:lpwstr>
  </property>
  <property fmtid="{D5CDD505-2E9C-101B-9397-08002B2CF9AE}" pid="8" name="HomePage">
    <vt:lpwstr>http://www.cs.columbia.edu/~radev/cs4705/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F:\html\cs4705</vt:lpwstr>
  </property>
</Properties>
</file>