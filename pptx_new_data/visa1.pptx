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Lst>
  <p:notesMasterIdLst>
    <p:notesMasterId r:id="rId6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Lst>
  <p:sldSz cx="9144000" cy="6858000" type="screen4x3"/>
  <p:notesSz cx="6997700" cy="9269413"/>
  <p:defaultTextStyle>
    <a:defPPr>
      <a:defRPr lang="en-GB"/>
    </a:defPPr>
    <a:lvl1pPr algn="l" defTabSz="457200" rtl="0" fontAlgn="base">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n-ea"/>
        <a:cs typeface="Arial" panose="020B0604020202020204" pitchFamily="34" charset="0"/>
      </a:defRPr>
    </a:lvl1pPr>
    <a:lvl2pPr marL="742950" indent="-285750" algn="l" defTabSz="457200" rtl="0" fontAlgn="base">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n-ea"/>
        <a:cs typeface="Arial" panose="020B0604020202020204" pitchFamily="34" charset="0"/>
      </a:defRPr>
    </a:lvl2pPr>
    <a:lvl3pPr marL="1143000" indent="-228600" algn="l" defTabSz="457200" rtl="0" fontAlgn="base">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n-ea"/>
        <a:cs typeface="Arial" panose="020B0604020202020204" pitchFamily="34" charset="0"/>
      </a:defRPr>
    </a:lvl3pPr>
    <a:lvl4pPr marL="1600200" indent="-228600" algn="l" defTabSz="457200" rtl="0" fontAlgn="base">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n-ea"/>
        <a:cs typeface="Arial" panose="020B0604020202020204" pitchFamily="34" charset="0"/>
      </a:defRPr>
    </a:lvl4pPr>
    <a:lvl5pPr marL="2057400" indent="-228600" algn="l" defTabSz="457200" rtl="0" fontAlgn="base">
      <a:spcBef>
        <a:spcPct val="0"/>
      </a:spcBef>
      <a:spcAft>
        <a:spcPct val="0"/>
      </a:spcAft>
      <a:buClr>
        <a:srgbClr val="000000"/>
      </a:buClr>
      <a:buSzPct val="100000"/>
      <a:buFont typeface="Times New Roman" panose="02020603050405020304" pitchFamily="18" charset="0"/>
      <a:defRPr kern="1200">
        <a:solidFill>
          <a:schemeClr val="bg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bg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bg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bg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bg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566" y="66"/>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AutoShape 1">
            <a:extLst>
              <a:ext uri="{FF2B5EF4-FFF2-40B4-BE49-F238E27FC236}">
                <a16:creationId xmlns:a16="http://schemas.microsoft.com/office/drawing/2014/main" id="{2865A826-9E40-4C56-BDB0-2B53DCD56CFF}"/>
              </a:ext>
            </a:extLst>
          </p:cNvPr>
          <p:cNvSpPr>
            <a:spLocks noChangeArrowheads="1"/>
          </p:cNvSpPr>
          <p:nvPr/>
        </p:nvSpPr>
        <p:spPr bwMode="auto">
          <a:xfrm>
            <a:off x="0" y="0"/>
            <a:ext cx="6997700" cy="9269413"/>
          </a:xfrm>
          <a:prstGeom prst="roundRect">
            <a:avLst>
              <a:gd name="adj" fmla="val 19"/>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74" name="Rectangle 2">
            <a:extLst>
              <a:ext uri="{FF2B5EF4-FFF2-40B4-BE49-F238E27FC236}">
                <a16:creationId xmlns:a16="http://schemas.microsoft.com/office/drawing/2014/main" id="{98FB9390-A2F9-48AF-907F-977156825665}"/>
              </a:ext>
            </a:extLst>
          </p:cNvPr>
          <p:cNvSpPr>
            <a:spLocks noGrp="1" noChangeArrowheads="1"/>
          </p:cNvSpPr>
          <p:nvPr>
            <p:ph type="hdr"/>
          </p:nvPr>
        </p:nvSpPr>
        <p:spPr bwMode="auto">
          <a:xfrm>
            <a:off x="0" y="0"/>
            <a:ext cx="3030538" cy="46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a:buSzPct val="45000"/>
              <a:buFont typeface="Wingdings" panose="05000000000000000000" pitchFamily="2" charset="2"/>
              <a:buNone/>
              <a:tabLst>
                <a:tab pos="723900" algn="l"/>
                <a:tab pos="1447800" algn="l"/>
                <a:tab pos="2171700" algn="l"/>
                <a:tab pos="2895600" algn="l"/>
              </a:tabLst>
              <a:defRPr sz="1200">
                <a:solidFill>
                  <a:srgbClr val="000000"/>
                </a:solidFill>
                <a:latin typeface="Times New Roman" panose="02020603050405020304" pitchFamily="18" charset="0"/>
                <a:cs typeface="Lucida Sans Unicode" panose="020B0602030504020204" pitchFamily="34" charset="0"/>
              </a:defRPr>
            </a:lvl1pPr>
          </a:lstStyle>
          <a:p>
            <a:endParaRPr lang="en-US" altLang="en-US"/>
          </a:p>
        </p:txBody>
      </p:sp>
      <p:sp>
        <p:nvSpPr>
          <p:cNvPr id="3075" name="Rectangle 3">
            <a:extLst>
              <a:ext uri="{FF2B5EF4-FFF2-40B4-BE49-F238E27FC236}">
                <a16:creationId xmlns:a16="http://schemas.microsoft.com/office/drawing/2014/main" id="{16878B23-CA2C-4709-B839-970314101914}"/>
              </a:ext>
            </a:extLst>
          </p:cNvPr>
          <p:cNvSpPr>
            <a:spLocks noGrp="1" noChangeArrowheads="1"/>
          </p:cNvSpPr>
          <p:nvPr>
            <p:ph type="dt"/>
          </p:nvPr>
        </p:nvSpPr>
        <p:spPr bwMode="auto">
          <a:xfrm>
            <a:off x="3963988" y="0"/>
            <a:ext cx="3030537" cy="46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algn="r">
              <a:buSzPct val="45000"/>
              <a:buFont typeface="Wingdings" panose="05000000000000000000" pitchFamily="2" charset="2"/>
              <a:buNone/>
              <a:tabLst>
                <a:tab pos="723900" algn="l"/>
                <a:tab pos="1447800" algn="l"/>
                <a:tab pos="2171700" algn="l"/>
                <a:tab pos="2895600" algn="l"/>
              </a:tabLst>
              <a:defRPr sz="1200">
                <a:solidFill>
                  <a:srgbClr val="000000"/>
                </a:solidFill>
                <a:latin typeface="Times New Roman" panose="02020603050405020304" pitchFamily="18" charset="0"/>
                <a:cs typeface="Lucida Sans Unicode" panose="020B0602030504020204" pitchFamily="34" charset="0"/>
              </a:defRPr>
            </a:lvl1pPr>
          </a:lstStyle>
          <a:p>
            <a:endParaRPr lang="en-US" altLang="en-US"/>
          </a:p>
        </p:txBody>
      </p:sp>
      <p:sp>
        <p:nvSpPr>
          <p:cNvPr id="3076" name="Rectangle 4">
            <a:extLst>
              <a:ext uri="{FF2B5EF4-FFF2-40B4-BE49-F238E27FC236}">
                <a16:creationId xmlns:a16="http://schemas.microsoft.com/office/drawing/2014/main" id="{1F60B727-1F07-413F-AC67-A2A9D8E86BC4}"/>
              </a:ext>
            </a:extLst>
          </p:cNvPr>
          <p:cNvSpPr>
            <a:spLocks noGrp="1" noChangeArrowheads="1"/>
          </p:cNvSpPr>
          <p:nvPr>
            <p:ph type="sldImg"/>
          </p:nvPr>
        </p:nvSpPr>
        <p:spPr bwMode="auto">
          <a:xfrm>
            <a:off x="1181100" y="695325"/>
            <a:ext cx="4633913" cy="3475038"/>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7" name="Rectangle 5">
            <a:extLst>
              <a:ext uri="{FF2B5EF4-FFF2-40B4-BE49-F238E27FC236}">
                <a16:creationId xmlns:a16="http://schemas.microsoft.com/office/drawing/2014/main" id="{2AB7AEFE-0283-40B5-8E75-F8CD6BD9A118}"/>
              </a:ext>
            </a:extLst>
          </p:cNvPr>
          <p:cNvSpPr>
            <a:spLocks noGrp="1" noChangeArrowheads="1"/>
          </p:cNvSpPr>
          <p:nvPr>
            <p:ph type="body"/>
          </p:nvPr>
        </p:nvSpPr>
        <p:spPr bwMode="auto">
          <a:xfrm>
            <a:off x="700088" y="4403725"/>
            <a:ext cx="5595937" cy="4170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endParaRPr lang="en-US" altLang="en-US"/>
          </a:p>
        </p:txBody>
      </p:sp>
      <p:sp>
        <p:nvSpPr>
          <p:cNvPr id="3078" name="Rectangle 6">
            <a:extLst>
              <a:ext uri="{FF2B5EF4-FFF2-40B4-BE49-F238E27FC236}">
                <a16:creationId xmlns:a16="http://schemas.microsoft.com/office/drawing/2014/main" id="{3F6A4C88-DF2F-43E5-9B14-11A4F1C7ED4D}"/>
              </a:ext>
            </a:extLst>
          </p:cNvPr>
          <p:cNvSpPr>
            <a:spLocks noGrp="1" noChangeArrowheads="1"/>
          </p:cNvSpPr>
          <p:nvPr>
            <p:ph type="ftr"/>
          </p:nvPr>
        </p:nvSpPr>
        <p:spPr bwMode="auto">
          <a:xfrm>
            <a:off x="0" y="8805863"/>
            <a:ext cx="3030538"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lvl1pPr>
              <a:buSzPct val="45000"/>
              <a:buFont typeface="Wingdings" panose="05000000000000000000" pitchFamily="2" charset="2"/>
              <a:buNone/>
              <a:tabLst>
                <a:tab pos="723900" algn="l"/>
                <a:tab pos="1447800" algn="l"/>
                <a:tab pos="2171700" algn="l"/>
                <a:tab pos="2895600" algn="l"/>
              </a:tabLst>
              <a:defRPr sz="1200">
                <a:solidFill>
                  <a:srgbClr val="000000"/>
                </a:solidFill>
                <a:latin typeface="Times New Roman" panose="02020603050405020304" pitchFamily="18" charset="0"/>
                <a:cs typeface="Lucida Sans Unicode" panose="020B0602030504020204" pitchFamily="34" charset="0"/>
              </a:defRPr>
            </a:lvl1pPr>
          </a:lstStyle>
          <a:p>
            <a:endParaRPr lang="en-US" altLang="en-US"/>
          </a:p>
        </p:txBody>
      </p:sp>
      <p:sp>
        <p:nvSpPr>
          <p:cNvPr id="3079" name="Rectangle 7">
            <a:extLst>
              <a:ext uri="{FF2B5EF4-FFF2-40B4-BE49-F238E27FC236}">
                <a16:creationId xmlns:a16="http://schemas.microsoft.com/office/drawing/2014/main" id="{80DC0983-065D-4BF5-BDF1-BE47B7D58426}"/>
              </a:ext>
            </a:extLst>
          </p:cNvPr>
          <p:cNvSpPr>
            <a:spLocks noGrp="1" noChangeArrowheads="1"/>
          </p:cNvSpPr>
          <p:nvPr>
            <p:ph type="sldNum"/>
          </p:nvPr>
        </p:nvSpPr>
        <p:spPr bwMode="auto">
          <a:xfrm>
            <a:off x="3963988" y="8805863"/>
            <a:ext cx="3030537"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lvl1pPr algn="r">
              <a:buSzPct val="45000"/>
              <a:buFont typeface="Wingdings" panose="05000000000000000000" pitchFamily="2" charset="2"/>
              <a:buNone/>
              <a:tabLst>
                <a:tab pos="723900" algn="l"/>
                <a:tab pos="1447800" algn="l"/>
                <a:tab pos="2171700" algn="l"/>
                <a:tab pos="2895600" algn="l"/>
              </a:tabLst>
              <a:defRPr sz="1200">
                <a:solidFill>
                  <a:srgbClr val="000000"/>
                </a:solidFill>
                <a:latin typeface="Times New Roman" panose="02020603050405020304" pitchFamily="18" charset="0"/>
                <a:cs typeface="Lucida Sans Unicode" panose="020B0602030504020204" pitchFamily="34" charset="0"/>
              </a:defRPr>
            </a:lvl1pPr>
          </a:lstStyle>
          <a:p>
            <a:fld id="{1E23EA27-65A9-4954-9594-2D1374517CA6}"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9641579-7807-4294-B5F1-96E0B70296AA}"/>
              </a:ext>
            </a:extLst>
          </p:cNvPr>
          <p:cNvSpPr>
            <a:spLocks noGrp="1" noChangeArrowheads="1"/>
          </p:cNvSpPr>
          <p:nvPr>
            <p:ph type="sldNum"/>
          </p:nvPr>
        </p:nvSpPr>
        <p:spPr>
          <a:ln/>
        </p:spPr>
        <p:txBody>
          <a:bodyPr/>
          <a:lstStyle/>
          <a:p>
            <a:fld id="{97406842-00B8-418A-B2A2-A30DF3B97999}" type="slidenum">
              <a:rPr lang="en-US" altLang="en-US"/>
              <a:pPr/>
              <a:t>1</a:t>
            </a:fld>
            <a:endParaRPr lang="en-US" altLang="en-US"/>
          </a:p>
        </p:txBody>
      </p:sp>
      <p:sp>
        <p:nvSpPr>
          <p:cNvPr id="63489" name="Rectangle 1">
            <a:extLst>
              <a:ext uri="{FF2B5EF4-FFF2-40B4-BE49-F238E27FC236}">
                <a16:creationId xmlns:a16="http://schemas.microsoft.com/office/drawing/2014/main" id="{E216C173-D610-48B5-AD71-571F8C113717}"/>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3490" name="Text Box 2">
            <a:extLst>
              <a:ext uri="{FF2B5EF4-FFF2-40B4-BE49-F238E27FC236}">
                <a16:creationId xmlns:a16="http://schemas.microsoft.com/office/drawing/2014/main" id="{0494DAE3-18D1-47F1-B876-4A278D4817D5}"/>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Since this is the admissions season, I have been asked to talk with you about how and where our new incoming international students come from.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BBC324E-6FAD-40EB-BAE9-58074E7C51D1}"/>
              </a:ext>
            </a:extLst>
          </p:cNvPr>
          <p:cNvSpPr>
            <a:spLocks noGrp="1" noChangeArrowheads="1"/>
          </p:cNvSpPr>
          <p:nvPr>
            <p:ph type="sldNum"/>
          </p:nvPr>
        </p:nvSpPr>
        <p:spPr>
          <a:ln/>
        </p:spPr>
        <p:txBody>
          <a:bodyPr/>
          <a:lstStyle/>
          <a:p>
            <a:fld id="{B4273BDE-8885-42E7-B589-179A21F7EC77}" type="slidenum">
              <a:rPr lang="en-US" altLang="en-US"/>
              <a:pPr/>
              <a:t>2</a:t>
            </a:fld>
            <a:endParaRPr lang="en-US" altLang="en-US"/>
          </a:p>
        </p:txBody>
      </p:sp>
      <p:sp>
        <p:nvSpPr>
          <p:cNvPr id="64513" name="Rectangle 1">
            <a:extLst>
              <a:ext uri="{FF2B5EF4-FFF2-40B4-BE49-F238E27FC236}">
                <a16:creationId xmlns:a16="http://schemas.microsoft.com/office/drawing/2014/main" id="{AC96A6FB-4940-444D-8042-F4F4DA5D3C61}"/>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4514" name="Text Box 2">
            <a:extLst>
              <a:ext uri="{FF2B5EF4-FFF2-40B4-BE49-F238E27FC236}">
                <a16:creationId xmlns:a16="http://schemas.microsoft.com/office/drawing/2014/main" id="{A3DBB4BD-0A0B-472A-BDD4-B799FA5497AE}"/>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2 data points don’t make a trend</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New international students are DOWN in the College, especially life sciences</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Among our professional schools, new international students are down in Nursing as well as Ed and IS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1FDCEDA-7898-4E78-AA38-F4CA7AF3737B}"/>
              </a:ext>
            </a:extLst>
          </p:cNvPr>
          <p:cNvSpPr>
            <a:spLocks noGrp="1" noChangeArrowheads="1"/>
          </p:cNvSpPr>
          <p:nvPr>
            <p:ph type="sldNum"/>
          </p:nvPr>
        </p:nvSpPr>
        <p:spPr>
          <a:ln/>
        </p:spPr>
        <p:txBody>
          <a:bodyPr/>
          <a:lstStyle/>
          <a:p>
            <a:fld id="{DCE6517F-BCDB-40C3-9E37-D826FEF60405}" type="slidenum">
              <a:rPr lang="en-US" altLang="en-US"/>
              <a:pPr/>
              <a:t>3</a:t>
            </a:fld>
            <a:endParaRPr lang="en-US" altLang="en-US"/>
          </a:p>
        </p:txBody>
      </p:sp>
      <p:sp>
        <p:nvSpPr>
          <p:cNvPr id="65537" name="Rectangle 1">
            <a:extLst>
              <a:ext uri="{FF2B5EF4-FFF2-40B4-BE49-F238E27FC236}">
                <a16:creationId xmlns:a16="http://schemas.microsoft.com/office/drawing/2014/main" id="{EFBCB71E-8639-43C5-80CB-026BC4A21BE5}"/>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5538" name="Text Box 2">
            <a:extLst>
              <a:ext uri="{FF2B5EF4-FFF2-40B4-BE49-F238E27FC236}">
                <a16:creationId xmlns:a16="http://schemas.microsoft.com/office/drawing/2014/main" id="{5A1FC59A-4172-4CD1-B5F0-378B6531E5AD}"/>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2 data points don’t make a trend, so what going at present with applications?</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For some programs which have hundreds of applications for a few slots/seats, this decline may not be all bad…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6AAD289-BE2B-4090-B69A-AC6B1A3A30BD}"/>
              </a:ext>
            </a:extLst>
          </p:cNvPr>
          <p:cNvSpPr>
            <a:spLocks noGrp="1" noChangeArrowheads="1"/>
          </p:cNvSpPr>
          <p:nvPr>
            <p:ph type="sldNum"/>
          </p:nvPr>
        </p:nvSpPr>
        <p:spPr>
          <a:ln/>
        </p:spPr>
        <p:txBody>
          <a:bodyPr/>
          <a:lstStyle/>
          <a:p>
            <a:fld id="{FFCE4A6D-2711-4B2F-97C6-DF1905785C5E}" type="slidenum">
              <a:rPr lang="en-US" altLang="en-US"/>
              <a:pPr/>
              <a:t>4</a:t>
            </a:fld>
            <a:endParaRPr lang="en-US" altLang="en-US"/>
          </a:p>
        </p:txBody>
      </p:sp>
      <p:sp>
        <p:nvSpPr>
          <p:cNvPr id="66561" name="Rectangle 1">
            <a:extLst>
              <a:ext uri="{FF2B5EF4-FFF2-40B4-BE49-F238E27FC236}">
                <a16:creationId xmlns:a16="http://schemas.microsoft.com/office/drawing/2014/main" id="{5DB2461B-1AAC-4219-B68D-A47688034AFD}"/>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6562" name="Text Box 2">
            <a:extLst>
              <a:ext uri="{FF2B5EF4-FFF2-40B4-BE49-F238E27FC236}">
                <a16:creationId xmlns:a16="http://schemas.microsoft.com/office/drawing/2014/main" id="{62417ECC-C3B7-4FFF-A99E-5215D03E2B43}"/>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Whether it is good or bad may depend upon further analysis—for instance, has the actual quality of the applications dropped</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But without a doubt there is:</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Pull—leading universities in the world</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Push—slow/poor economies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4C66081-F412-4593-A8F3-09334C0E23F5}"/>
              </a:ext>
            </a:extLst>
          </p:cNvPr>
          <p:cNvSpPr>
            <a:spLocks noGrp="1" noChangeArrowheads="1"/>
          </p:cNvSpPr>
          <p:nvPr>
            <p:ph type="sldNum"/>
          </p:nvPr>
        </p:nvSpPr>
        <p:spPr>
          <a:ln/>
        </p:spPr>
        <p:txBody>
          <a:bodyPr/>
          <a:lstStyle/>
          <a:p>
            <a:fld id="{E8597EE7-4FA5-4E94-B085-F983DA336C6E}" type="slidenum">
              <a:rPr lang="en-US" altLang="en-US"/>
              <a:pPr/>
              <a:t>5</a:t>
            </a:fld>
            <a:endParaRPr lang="en-US" altLang="en-US"/>
          </a:p>
        </p:txBody>
      </p:sp>
      <p:sp>
        <p:nvSpPr>
          <p:cNvPr id="67585" name="Rectangle 1">
            <a:extLst>
              <a:ext uri="{FF2B5EF4-FFF2-40B4-BE49-F238E27FC236}">
                <a16:creationId xmlns:a16="http://schemas.microsoft.com/office/drawing/2014/main" id="{CEEFCBDD-4149-4F57-88A4-9B21AC02E9D4}"/>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7586" name="Text Box 2">
            <a:extLst>
              <a:ext uri="{FF2B5EF4-FFF2-40B4-BE49-F238E27FC236}">
                <a16:creationId xmlns:a16="http://schemas.microsoft.com/office/drawing/2014/main" id="{8ACEEA66-107F-4F39-8F17-6911AD83AAA1}"/>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Life is a multi-variate analysis.  No one single reason accounts for all of the decline</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So, let’s look at some of the possibilities…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BB5718E-1BF4-4232-B798-8573C68220CD}"/>
              </a:ext>
            </a:extLst>
          </p:cNvPr>
          <p:cNvSpPr>
            <a:spLocks noGrp="1" noChangeArrowheads="1"/>
          </p:cNvSpPr>
          <p:nvPr>
            <p:ph type="sldNum"/>
          </p:nvPr>
        </p:nvSpPr>
        <p:spPr>
          <a:ln/>
        </p:spPr>
        <p:txBody>
          <a:bodyPr/>
          <a:lstStyle/>
          <a:p>
            <a:fld id="{9745E003-F3EB-48B3-BE84-4960C05C06F7}" type="slidenum">
              <a:rPr lang="en-US" altLang="en-US"/>
              <a:pPr/>
              <a:t>6</a:t>
            </a:fld>
            <a:endParaRPr lang="en-US" altLang="en-US"/>
          </a:p>
        </p:txBody>
      </p:sp>
      <p:sp>
        <p:nvSpPr>
          <p:cNvPr id="68609" name="Rectangle 1">
            <a:extLst>
              <a:ext uri="{FF2B5EF4-FFF2-40B4-BE49-F238E27FC236}">
                <a16:creationId xmlns:a16="http://schemas.microsoft.com/office/drawing/2014/main" id="{6A2A55D0-E675-428C-9F7F-D72928C9B4EA}"/>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8610" name="Text Box 2">
            <a:extLst>
              <a:ext uri="{FF2B5EF4-FFF2-40B4-BE49-F238E27FC236}">
                <a16:creationId xmlns:a16="http://schemas.microsoft.com/office/drawing/2014/main" id="{DC7C274F-DA91-4863-A7F5-8D1F12E6BAE3}"/>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California ED Code says that NRT is to be “gradual, moderate, and predictable.”</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Arial" panose="020B0604020202020204" pitchFamily="34" charset="0"/>
            </a:endParaRP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Regents can waive according to CA Educational Code 68050 </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NRT alone may not be the explanation because the exchange rate is very favorable for foreigners</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Somebody is paying for NRT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79E8DD9-BB85-46D4-965B-21D53CD003F9}"/>
              </a:ext>
            </a:extLst>
          </p:cNvPr>
          <p:cNvSpPr>
            <a:spLocks noGrp="1" noChangeArrowheads="1"/>
          </p:cNvSpPr>
          <p:nvPr>
            <p:ph type="sldNum"/>
          </p:nvPr>
        </p:nvSpPr>
        <p:spPr>
          <a:ln/>
        </p:spPr>
        <p:txBody>
          <a:bodyPr/>
          <a:lstStyle/>
          <a:p>
            <a:fld id="{A286D86C-7439-4015-97A7-5ECDA1230677}" type="slidenum">
              <a:rPr lang="en-US" altLang="en-US"/>
              <a:pPr/>
              <a:t>7</a:t>
            </a:fld>
            <a:endParaRPr lang="en-US" altLang="en-US"/>
          </a:p>
        </p:txBody>
      </p:sp>
      <p:sp>
        <p:nvSpPr>
          <p:cNvPr id="69633" name="Rectangle 1">
            <a:extLst>
              <a:ext uri="{FF2B5EF4-FFF2-40B4-BE49-F238E27FC236}">
                <a16:creationId xmlns:a16="http://schemas.microsoft.com/office/drawing/2014/main" id="{DCE927F6-8BD7-4CC4-BF2D-772774542665}"/>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9634" name="Text Box 2">
            <a:extLst>
              <a:ext uri="{FF2B5EF4-FFF2-40B4-BE49-F238E27FC236}">
                <a16:creationId xmlns:a16="http://schemas.microsoft.com/office/drawing/2014/main" id="{4B921245-FD6D-462A-A818-FC220FCC25CF}"/>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Another reason is that some students may be staying home</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European Union has 25 members as of 2004.  Its GDP is $11 trillion the same as the US… </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In the 1990s, EU universities were awarding more doctorates in science/engineering than the US was…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46EB03A-AEC6-460B-876E-7EA7AC2C3946}"/>
              </a:ext>
            </a:extLst>
          </p:cNvPr>
          <p:cNvSpPr>
            <a:spLocks noGrp="1" noChangeArrowheads="1"/>
          </p:cNvSpPr>
          <p:nvPr>
            <p:ph type="sldNum"/>
          </p:nvPr>
        </p:nvSpPr>
        <p:spPr>
          <a:ln/>
        </p:spPr>
        <p:txBody>
          <a:bodyPr/>
          <a:lstStyle/>
          <a:p>
            <a:fld id="{7E12859D-355C-44A8-AC9D-207C3619CF6B}" type="slidenum">
              <a:rPr lang="en-US" altLang="en-US"/>
              <a:pPr/>
              <a:t>8</a:t>
            </a:fld>
            <a:endParaRPr lang="en-US" altLang="en-US"/>
          </a:p>
        </p:txBody>
      </p:sp>
      <p:sp>
        <p:nvSpPr>
          <p:cNvPr id="70657" name="Rectangle 1">
            <a:extLst>
              <a:ext uri="{FF2B5EF4-FFF2-40B4-BE49-F238E27FC236}">
                <a16:creationId xmlns:a16="http://schemas.microsoft.com/office/drawing/2014/main" id="{2C00178A-7798-4713-BAC0-D4FC2CB35FF6}"/>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0658" name="Text Box 2">
            <a:extLst>
              <a:ext uri="{FF2B5EF4-FFF2-40B4-BE49-F238E27FC236}">
                <a16:creationId xmlns:a16="http://schemas.microsoft.com/office/drawing/2014/main" id="{0C58A836-E40C-4AA1-9BF7-DF22966D32B2}"/>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Visas in Britain, 500L—which may account for the 5.3% decline in the number of foreign students in 2003; I will talk more about our costs in the later slides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06B959F-0301-4D30-84BE-43947A10F934}"/>
              </a:ext>
            </a:extLst>
          </p:cNvPr>
          <p:cNvSpPr>
            <a:spLocks noGrp="1" noChangeArrowheads="1"/>
          </p:cNvSpPr>
          <p:nvPr>
            <p:ph type="sldNum"/>
          </p:nvPr>
        </p:nvSpPr>
        <p:spPr>
          <a:ln/>
        </p:spPr>
        <p:txBody>
          <a:bodyPr/>
          <a:lstStyle/>
          <a:p>
            <a:fld id="{EF9C9DD2-DD6D-4FF0-A950-3D4599C1DDD0}" type="slidenum">
              <a:rPr lang="en-US" altLang="en-US"/>
              <a:pPr/>
              <a:t>9</a:t>
            </a:fld>
            <a:endParaRPr lang="en-US" altLang="en-US"/>
          </a:p>
        </p:txBody>
      </p:sp>
      <p:sp>
        <p:nvSpPr>
          <p:cNvPr id="71681" name="Rectangle 1">
            <a:extLst>
              <a:ext uri="{FF2B5EF4-FFF2-40B4-BE49-F238E27FC236}">
                <a16:creationId xmlns:a16="http://schemas.microsoft.com/office/drawing/2014/main" id="{2AA26328-9A45-45B0-AC5F-A6302244BC91}"/>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682" name="Text Box 2">
            <a:extLst>
              <a:ext uri="{FF2B5EF4-FFF2-40B4-BE49-F238E27FC236}">
                <a16:creationId xmlns:a16="http://schemas.microsoft.com/office/drawing/2014/main" id="{870270D0-6322-4F7E-BBA5-4FDA550E0283}"/>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Here’s a reason to stay home…The lingua franc will be English language instruction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2A43500-1F6B-4815-BB5D-E887950C2E50}"/>
              </a:ext>
            </a:extLst>
          </p:cNvPr>
          <p:cNvSpPr>
            <a:spLocks noGrp="1" noChangeArrowheads="1"/>
          </p:cNvSpPr>
          <p:nvPr>
            <p:ph type="sldNum"/>
          </p:nvPr>
        </p:nvSpPr>
        <p:spPr>
          <a:ln/>
        </p:spPr>
        <p:txBody>
          <a:bodyPr/>
          <a:lstStyle/>
          <a:p>
            <a:fld id="{3EAA1890-45F2-4025-A27F-A5DAADEA991E}" type="slidenum">
              <a:rPr lang="en-US" altLang="en-US"/>
              <a:pPr/>
              <a:t>10</a:t>
            </a:fld>
            <a:endParaRPr lang="en-US" altLang="en-US"/>
          </a:p>
        </p:txBody>
      </p:sp>
      <p:sp>
        <p:nvSpPr>
          <p:cNvPr id="72705" name="Rectangle 1">
            <a:extLst>
              <a:ext uri="{FF2B5EF4-FFF2-40B4-BE49-F238E27FC236}">
                <a16:creationId xmlns:a16="http://schemas.microsoft.com/office/drawing/2014/main" id="{1C5C65F3-1D56-43B4-9865-58D1A704487C}"/>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2706" name="Text Box 2">
            <a:extLst>
              <a:ext uri="{FF2B5EF4-FFF2-40B4-BE49-F238E27FC236}">
                <a16:creationId xmlns:a16="http://schemas.microsoft.com/office/drawing/2014/main" id="{42098A13-C468-43EB-B879-F68A1166EA90}"/>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HK is 7</a:t>
            </a:r>
            <a:r>
              <a:rPr lang="en-US" altLang="en-US" baseline="30000">
                <a:latin typeface="Arial" panose="020B0604020202020204" pitchFamily="34" charset="0"/>
                <a:cs typeface="Arial" panose="020B0604020202020204" pitchFamily="34" charset="0"/>
              </a:rPr>
              <a:t>th</a:t>
            </a:r>
            <a:r>
              <a:rPr lang="en-US" altLang="en-US">
                <a:latin typeface="Arial" panose="020B0604020202020204" pitchFamily="34" charset="0"/>
                <a:cs typeface="Arial" panose="020B0604020202020204" pitchFamily="34" charset="0"/>
              </a:rPr>
              <a:t> in the world in its ability to leverage ICT, according to the World Economic Forum, (Economist, March 2005, p. 104).</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HK universities have spin-off companies and market-oriented courses for additional income; “While the Commission's report largely focuses upon the benefits of bringing university research into industry, it has stated that it would not address the changes required in the education system to produce the human capital to drive innovation” (para 9.3). </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Arial" panose="020B0604020202020204" pitchFamily="34" charset="0"/>
            </a:endParaRP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You’ve hear/read about Bill Gates’ criticism of Am students?  HK 15-year old students mathematical skills are impressive (OECD)</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7A81B6D-6179-483D-8930-F112CEC32EBC}"/>
              </a:ext>
            </a:extLst>
          </p:cNvPr>
          <p:cNvSpPr>
            <a:spLocks noGrp="1" noChangeArrowheads="1"/>
          </p:cNvSpPr>
          <p:nvPr>
            <p:ph type="sldNum"/>
          </p:nvPr>
        </p:nvSpPr>
        <p:spPr>
          <a:ln/>
        </p:spPr>
        <p:txBody>
          <a:bodyPr/>
          <a:lstStyle/>
          <a:p>
            <a:fld id="{92A12929-2DDC-4D79-BB51-F45EBE32C946}" type="slidenum">
              <a:rPr lang="en-US" altLang="en-US"/>
              <a:pPr/>
              <a:t>11</a:t>
            </a:fld>
            <a:endParaRPr lang="en-US" altLang="en-US"/>
          </a:p>
        </p:txBody>
      </p:sp>
      <p:sp>
        <p:nvSpPr>
          <p:cNvPr id="73729" name="Rectangle 1">
            <a:extLst>
              <a:ext uri="{FF2B5EF4-FFF2-40B4-BE49-F238E27FC236}">
                <a16:creationId xmlns:a16="http://schemas.microsoft.com/office/drawing/2014/main" id="{D430A0C8-58DA-48FB-93AB-44A5F55D89C5}"/>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3730" name="Text Box 2">
            <a:extLst>
              <a:ext uri="{FF2B5EF4-FFF2-40B4-BE49-F238E27FC236}">
                <a16:creationId xmlns:a16="http://schemas.microsoft.com/office/drawing/2014/main" id="{A377BCBD-44F9-4A9C-937F-620322FCDB16}"/>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Other countries are building infrastructure; Singapore is “best positioned to exploit information and communication technologies, according to the World Economic Forum (Economist, March 2005, p. 104).   </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Anyone have Saudi students?  In the early ’80s, I had two doctoral students who were competing to finish first—one would become the national librarian and the other would become head of the IS program.  They now train all of their own students at home.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0F21E3A-2889-406E-AD85-CB80992CFFEE}"/>
              </a:ext>
            </a:extLst>
          </p:cNvPr>
          <p:cNvSpPr>
            <a:spLocks noGrp="1" noChangeArrowheads="1"/>
          </p:cNvSpPr>
          <p:nvPr>
            <p:ph type="sldNum"/>
          </p:nvPr>
        </p:nvSpPr>
        <p:spPr>
          <a:ln/>
        </p:spPr>
        <p:txBody>
          <a:bodyPr/>
          <a:lstStyle/>
          <a:p>
            <a:fld id="{9705EACA-BA88-450D-9B3D-74911B374005}" type="slidenum">
              <a:rPr lang="en-US" altLang="en-US"/>
              <a:pPr/>
              <a:t>12</a:t>
            </a:fld>
            <a:endParaRPr lang="en-US" altLang="en-US"/>
          </a:p>
        </p:txBody>
      </p:sp>
      <p:sp>
        <p:nvSpPr>
          <p:cNvPr id="74753" name="Rectangle 1">
            <a:extLst>
              <a:ext uri="{FF2B5EF4-FFF2-40B4-BE49-F238E27FC236}">
                <a16:creationId xmlns:a16="http://schemas.microsoft.com/office/drawing/2014/main" id="{3E557B2F-5EF8-44F1-8018-D01FC0FC6944}"/>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4754" name="Rectangle 2">
            <a:extLst>
              <a:ext uri="{FF2B5EF4-FFF2-40B4-BE49-F238E27FC236}">
                <a16:creationId xmlns:a16="http://schemas.microsoft.com/office/drawing/2014/main" id="{0C62EBF3-5FEF-40D4-B054-93F38F5DE7D3}"/>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CB27481-BAB2-428E-9E07-3A75FAB635C0}"/>
              </a:ext>
            </a:extLst>
          </p:cNvPr>
          <p:cNvSpPr>
            <a:spLocks noGrp="1" noChangeArrowheads="1"/>
          </p:cNvSpPr>
          <p:nvPr>
            <p:ph type="sldNum"/>
          </p:nvPr>
        </p:nvSpPr>
        <p:spPr>
          <a:ln/>
        </p:spPr>
        <p:txBody>
          <a:bodyPr/>
          <a:lstStyle/>
          <a:p>
            <a:fld id="{754B1101-0447-46C6-A027-832A407DBCB5}" type="slidenum">
              <a:rPr lang="en-US" altLang="en-US"/>
              <a:pPr/>
              <a:t>13</a:t>
            </a:fld>
            <a:endParaRPr lang="en-US" altLang="en-US"/>
          </a:p>
        </p:txBody>
      </p:sp>
      <p:sp>
        <p:nvSpPr>
          <p:cNvPr id="75777" name="Rectangle 1">
            <a:extLst>
              <a:ext uri="{FF2B5EF4-FFF2-40B4-BE49-F238E27FC236}">
                <a16:creationId xmlns:a16="http://schemas.microsoft.com/office/drawing/2014/main" id="{AB278182-09ED-4264-990E-DB02A5F12D7E}"/>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78" name="Text Box 2">
            <a:extLst>
              <a:ext uri="{FF2B5EF4-FFF2-40B4-BE49-F238E27FC236}">
                <a16:creationId xmlns:a16="http://schemas.microsoft.com/office/drawing/2014/main" id="{2FB599D2-9D5B-4648-9C94-AD8128948802}"/>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Some countries make it easy--Online visa application for study in Australia at http://www.immi.gov.au/e_visa/</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Australia has a $5B higher education industry see http://www.theaustralian.news.com.au/common/story_page/0,5744,11851738%255E12332,00.html</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Distance education or online education is a big deal in Australia…</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B7A58BD-871B-4A76-B16A-614772F5FFED}"/>
              </a:ext>
            </a:extLst>
          </p:cNvPr>
          <p:cNvSpPr>
            <a:spLocks noGrp="1" noChangeArrowheads="1"/>
          </p:cNvSpPr>
          <p:nvPr>
            <p:ph type="sldNum"/>
          </p:nvPr>
        </p:nvSpPr>
        <p:spPr>
          <a:ln/>
        </p:spPr>
        <p:txBody>
          <a:bodyPr/>
          <a:lstStyle/>
          <a:p>
            <a:fld id="{2E6B3ED9-DB2B-4473-94CB-00F90EA6965C}" type="slidenum">
              <a:rPr lang="en-US" altLang="en-US"/>
              <a:pPr/>
              <a:t>14</a:t>
            </a:fld>
            <a:endParaRPr lang="en-US" altLang="en-US"/>
          </a:p>
        </p:txBody>
      </p:sp>
      <p:sp>
        <p:nvSpPr>
          <p:cNvPr id="76801" name="Rectangle 1">
            <a:extLst>
              <a:ext uri="{FF2B5EF4-FFF2-40B4-BE49-F238E27FC236}">
                <a16:creationId xmlns:a16="http://schemas.microsoft.com/office/drawing/2014/main" id="{6DA779A4-5927-4149-89A4-4AEFF803B8C9}"/>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6802" name="Text Box 2">
            <a:extLst>
              <a:ext uri="{FF2B5EF4-FFF2-40B4-BE49-F238E27FC236}">
                <a16:creationId xmlns:a16="http://schemas.microsoft.com/office/drawing/2014/main" id="{D3F8C673-89ED-47A6-9962-4B37E9604501}"/>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That’s not to say it has been everywhere locally, but nationally.  Across town, USC has seen increasing numbers of international students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CB55539-85E2-4BD5-A70F-FAB65CE479E4}"/>
              </a:ext>
            </a:extLst>
          </p:cNvPr>
          <p:cNvSpPr>
            <a:spLocks noGrp="1" noChangeArrowheads="1"/>
          </p:cNvSpPr>
          <p:nvPr>
            <p:ph type="sldNum"/>
          </p:nvPr>
        </p:nvSpPr>
        <p:spPr>
          <a:ln/>
        </p:spPr>
        <p:txBody>
          <a:bodyPr/>
          <a:lstStyle/>
          <a:p>
            <a:fld id="{96BE8932-B678-405B-AB63-1B8C2F79E769}" type="slidenum">
              <a:rPr lang="en-US" altLang="en-US"/>
              <a:pPr/>
              <a:t>15</a:t>
            </a:fld>
            <a:endParaRPr lang="en-US" altLang="en-US"/>
          </a:p>
        </p:txBody>
      </p:sp>
      <p:sp>
        <p:nvSpPr>
          <p:cNvPr id="77825" name="Rectangle 1">
            <a:extLst>
              <a:ext uri="{FF2B5EF4-FFF2-40B4-BE49-F238E27FC236}">
                <a16:creationId xmlns:a16="http://schemas.microsoft.com/office/drawing/2014/main" id="{F4B33468-63BF-4C33-A256-ACF874DC2837}"/>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7826" name="Text Box 2">
            <a:extLst>
              <a:ext uri="{FF2B5EF4-FFF2-40B4-BE49-F238E27FC236}">
                <a16:creationId xmlns:a16="http://schemas.microsoft.com/office/drawing/2014/main" id="{37C19E98-58E2-409C-B205-A65F4D4AD992}"/>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The ETS tests were changed monthly, so that by the end of the month the scores would be 100 points higher than at the beginning, but then drop at the beginning of the next month, rise, and then drop again at the next month and so on.</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Computer science drops for other reasons:  DMCA and travel to the US</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The number of Chinese students taking the test dropped by 50%; Taiwanese by 43%; and India by 37%.</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9262956-C775-4A06-9B3E-823A18610C4A}"/>
              </a:ext>
            </a:extLst>
          </p:cNvPr>
          <p:cNvSpPr>
            <a:spLocks noGrp="1" noChangeArrowheads="1"/>
          </p:cNvSpPr>
          <p:nvPr>
            <p:ph type="sldNum"/>
          </p:nvPr>
        </p:nvSpPr>
        <p:spPr>
          <a:ln/>
        </p:spPr>
        <p:txBody>
          <a:bodyPr/>
          <a:lstStyle/>
          <a:p>
            <a:fld id="{56C4797C-1F61-483E-8C42-1D03E588FFE6}" type="slidenum">
              <a:rPr lang="en-US" altLang="en-US"/>
              <a:pPr/>
              <a:t>16</a:t>
            </a:fld>
            <a:endParaRPr lang="en-US" altLang="en-US"/>
          </a:p>
        </p:txBody>
      </p:sp>
      <p:sp>
        <p:nvSpPr>
          <p:cNvPr id="78849" name="Rectangle 1">
            <a:extLst>
              <a:ext uri="{FF2B5EF4-FFF2-40B4-BE49-F238E27FC236}">
                <a16:creationId xmlns:a16="http://schemas.microsoft.com/office/drawing/2014/main" id="{51A858B1-9E7A-4336-AD57-5CC80CA544C8}"/>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8850" name="Text Box 2">
            <a:extLst>
              <a:ext uri="{FF2B5EF4-FFF2-40B4-BE49-F238E27FC236}">
                <a16:creationId xmlns:a16="http://schemas.microsoft.com/office/drawing/2014/main" id="{76AE4880-EE28-4451-A3FB-C5B7B20E5EA8}"/>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Obviously, fewer students taking the test could mean fewer applicants for US graduate schools</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FF0FE59-46C4-4658-AC1F-16933C8732C9}"/>
              </a:ext>
            </a:extLst>
          </p:cNvPr>
          <p:cNvSpPr>
            <a:spLocks noGrp="1" noChangeArrowheads="1"/>
          </p:cNvSpPr>
          <p:nvPr>
            <p:ph type="sldNum"/>
          </p:nvPr>
        </p:nvSpPr>
        <p:spPr>
          <a:ln/>
        </p:spPr>
        <p:txBody>
          <a:bodyPr/>
          <a:lstStyle/>
          <a:p>
            <a:fld id="{CE34EDD0-DE59-4F61-8FE7-B0253E9796AB}" type="slidenum">
              <a:rPr lang="en-US" altLang="en-US"/>
              <a:pPr/>
              <a:t>17</a:t>
            </a:fld>
            <a:endParaRPr lang="en-US" altLang="en-US"/>
          </a:p>
        </p:txBody>
      </p:sp>
      <p:sp>
        <p:nvSpPr>
          <p:cNvPr id="79873" name="Rectangle 1">
            <a:extLst>
              <a:ext uri="{FF2B5EF4-FFF2-40B4-BE49-F238E27FC236}">
                <a16:creationId xmlns:a16="http://schemas.microsoft.com/office/drawing/2014/main" id="{1228205E-4881-4FCA-B122-AA7E8F0EC035}"/>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9874" name="Text Box 2">
            <a:extLst>
              <a:ext uri="{FF2B5EF4-FFF2-40B4-BE49-F238E27FC236}">
                <a16:creationId xmlns:a16="http://schemas.microsoft.com/office/drawing/2014/main" id="{09FFA88B-959B-48A9-AEAC-66411AC48DDE}"/>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Bill likes to say: “Rumor and Reality; Fact and fiction; but what is the Common wisdom out there?</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One of my first Russian students told me “No one will speak…”</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Arial" panose="020B0604020202020204" pitchFamily="34" charset="0"/>
            </a:endParaRPr>
          </a:p>
          <a:p>
            <a:pPr eaLnBrk="1" hangingPunct="1">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SOURCE: “It’s not worth…”, see </a:t>
            </a:r>
            <a:r>
              <a:rPr lang="en-US" altLang="en-US" sz="800">
                <a:latin typeface="Arial" panose="020B0604020202020204" pitchFamily="34" charset="0"/>
                <a:cs typeface="Arial" panose="020B0604020202020204" pitchFamily="34" charset="0"/>
              </a:rPr>
              <a:t>“U.S. Slips in Status as Global Hub of Higher Education,” </a:t>
            </a:r>
            <a:r>
              <a:rPr lang="en-US" altLang="en-US" sz="800" u="sng">
                <a:latin typeface="Arial" panose="020B0604020202020204" pitchFamily="34" charset="0"/>
                <a:cs typeface="Arial" panose="020B0604020202020204" pitchFamily="34" charset="0"/>
              </a:rPr>
              <a:t>New York Times</a:t>
            </a:r>
            <a:r>
              <a:rPr lang="en-US" altLang="en-US" sz="800">
                <a:latin typeface="Arial" panose="020B0604020202020204" pitchFamily="34" charset="0"/>
                <a:cs typeface="Arial" panose="020B0604020202020204" pitchFamily="34" charset="0"/>
              </a:rPr>
              <a:t>, 21 December 2004, p. A19.</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615D25F-ED90-4030-A0E4-7ED4CCF1F741}"/>
              </a:ext>
            </a:extLst>
          </p:cNvPr>
          <p:cNvSpPr>
            <a:spLocks noGrp="1" noChangeArrowheads="1"/>
          </p:cNvSpPr>
          <p:nvPr>
            <p:ph type="sldNum"/>
          </p:nvPr>
        </p:nvSpPr>
        <p:spPr>
          <a:ln/>
        </p:spPr>
        <p:txBody>
          <a:bodyPr/>
          <a:lstStyle/>
          <a:p>
            <a:fld id="{43FE5A61-1C71-4B5E-9F4E-6D00A659517E}" type="slidenum">
              <a:rPr lang="en-US" altLang="en-US"/>
              <a:pPr/>
              <a:t>18</a:t>
            </a:fld>
            <a:endParaRPr lang="en-US" altLang="en-US"/>
          </a:p>
        </p:txBody>
      </p:sp>
      <p:sp>
        <p:nvSpPr>
          <p:cNvPr id="80897" name="Rectangle 1">
            <a:extLst>
              <a:ext uri="{FF2B5EF4-FFF2-40B4-BE49-F238E27FC236}">
                <a16:creationId xmlns:a16="http://schemas.microsoft.com/office/drawing/2014/main" id="{626D93C5-ECCD-4816-847B-3623A1B435FC}"/>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0898" name="Text Box 2">
            <a:extLst>
              <a:ext uri="{FF2B5EF4-FFF2-40B4-BE49-F238E27FC236}">
                <a16:creationId xmlns:a16="http://schemas.microsoft.com/office/drawing/2014/main" id="{364CB79F-E6AD-457C-90D9-4D21FAD62791}"/>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I’m working on getting the data for China, India, Korea, and Taiwan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2E5506F-E6B7-4F55-A751-9D3B2D190419}"/>
              </a:ext>
            </a:extLst>
          </p:cNvPr>
          <p:cNvSpPr>
            <a:spLocks noGrp="1" noChangeArrowheads="1"/>
          </p:cNvSpPr>
          <p:nvPr>
            <p:ph type="sldNum"/>
          </p:nvPr>
        </p:nvSpPr>
        <p:spPr>
          <a:ln/>
        </p:spPr>
        <p:txBody>
          <a:bodyPr/>
          <a:lstStyle/>
          <a:p>
            <a:fld id="{DD0E65B0-4F61-4E9D-8B6E-58CD19A6E43C}" type="slidenum">
              <a:rPr lang="en-US" altLang="en-US"/>
              <a:pPr/>
              <a:t>19</a:t>
            </a:fld>
            <a:endParaRPr lang="en-US" altLang="en-US"/>
          </a:p>
        </p:txBody>
      </p:sp>
      <p:sp>
        <p:nvSpPr>
          <p:cNvPr id="81921" name="Rectangle 1">
            <a:extLst>
              <a:ext uri="{FF2B5EF4-FFF2-40B4-BE49-F238E27FC236}">
                <a16:creationId xmlns:a16="http://schemas.microsoft.com/office/drawing/2014/main" id="{AFA110AB-C1ED-4D8E-B3CD-FC14E7DE3AD2}"/>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1922" name="Text Box 2">
            <a:extLst>
              <a:ext uri="{FF2B5EF4-FFF2-40B4-BE49-F238E27FC236}">
                <a16:creationId xmlns:a16="http://schemas.microsoft.com/office/drawing/2014/main" id="{A83E2A40-CA9D-4716-BCB5-E63189BE4A69}"/>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Here’s the process…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050CF11-9B25-4181-97FA-6BB4C84B253F}"/>
              </a:ext>
            </a:extLst>
          </p:cNvPr>
          <p:cNvSpPr>
            <a:spLocks noGrp="1" noChangeArrowheads="1"/>
          </p:cNvSpPr>
          <p:nvPr>
            <p:ph type="sldNum"/>
          </p:nvPr>
        </p:nvSpPr>
        <p:spPr>
          <a:ln/>
        </p:spPr>
        <p:txBody>
          <a:bodyPr/>
          <a:lstStyle/>
          <a:p>
            <a:fld id="{E595458C-F9D3-47CE-8204-A94BB6D4692C}" type="slidenum">
              <a:rPr lang="en-US" altLang="en-US"/>
              <a:pPr/>
              <a:t>20</a:t>
            </a:fld>
            <a:endParaRPr lang="en-US" altLang="en-US"/>
          </a:p>
        </p:txBody>
      </p:sp>
      <p:sp>
        <p:nvSpPr>
          <p:cNvPr id="82945" name="Rectangle 1">
            <a:extLst>
              <a:ext uri="{FF2B5EF4-FFF2-40B4-BE49-F238E27FC236}">
                <a16:creationId xmlns:a16="http://schemas.microsoft.com/office/drawing/2014/main" id="{1967C440-9685-4527-834B-628FD0B339AD}"/>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2946" name="Text Box 2">
            <a:extLst>
              <a:ext uri="{FF2B5EF4-FFF2-40B4-BE49-F238E27FC236}">
                <a16:creationId xmlns:a16="http://schemas.microsoft.com/office/drawing/2014/main" id="{AE00E69E-9A8C-4C77-8189-4E25630CAD44}"/>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China, #1; Korea, #2; Taiwan, #3; India, #4; and Japan, 5</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3021609-13D3-44ED-86E2-ECA306EED9AD}"/>
              </a:ext>
            </a:extLst>
          </p:cNvPr>
          <p:cNvSpPr>
            <a:spLocks noGrp="1" noChangeArrowheads="1"/>
          </p:cNvSpPr>
          <p:nvPr>
            <p:ph type="sldNum"/>
          </p:nvPr>
        </p:nvSpPr>
        <p:spPr>
          <a:ln/>
        </p:spPr>
        <p:txBody>
          <a:bodyPr/>
          <a:lstStyle/>
          <a:p>
            <a:fld id="{DCD8F488-1CE8-42CA-BFA2-40811A73DE0D}" type="slidenum">
              <a:rPr lang="en-US" altLang="en-US"/>
              <a:pPr/>
              <a:t>21</a:t>
            </a:fld>
            <a:endParaRPr lang="en-US" altLang="en-US"/>
          </a:p>
        </p:txBody>
      </p:sp>
      <p:sp>
        <p:nvSpPr>
          <p:cNvPr id="83969" name="Rectangle 1">
            <a:extLst>
              <a:ext uri="{FF2B5EF4-FFF2-40B4-BE49-F238E27FC236}">
                <a16:creationId xmlns:a16="http://schemas.microsoft.com/office/drawing/2014/main" id="{0209E1B3-A7A6-44CF-8B68-EECE888BAF89}"/>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3970" name="Text Box 2">
            <a:extLst>
              <a:ext uri="{FF2B5EF4-FFF2-40B4-BE49-F238E27FC236}">
                <a16:creationId xmlns:a16="http://schemas.microsoft.com/office/drawing/2014/main" id="{2792D60D-9019-4185-8F70-3AF85E195709}"/>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Top 3 areas which count on international students: Engineering, social sciences, and then management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11AD427-7D48-44A4-8587-7265B6BBC641}"/>
              </a:ext>
            </a:extLst>
          </p:cNvPr>
          <p:cNvSpPr>
            <a:spLocks noGrp="1" noChangeArrowheads="1"/>
          </p:cNvSpPr>
          <p:nvPr>
            <p:ph type="sldNum"/>
          </p:nvPr>
        </p:nvSpPr>
        <p:spPr>
          <a:ln/>
        </p:spPr>
        <p:txBody>
          <a:bodyPr/>
          <a:lstStyle/>
          <a:p>
            <a:fld id="{856C8933-096A-4AC6-9ABA-1A2F568C597B}" type="slidenum">
              <a:rPr lang="en-US" altLang="en-US"/>
              <a:pPr/>
              <a:t>22</a:t>
            </a:fld>
            <a:endParaRPr lang="en-US" altLang="en-US"/>
          </a:p>
        </p:txBody>
      </p:sp>
      <p:sp>
        <p:nvSpPr>
          <p:cNvPr id="84993" name="Rectangle 1">
            <a:extLst>
              <a:ext uri="{FF2B5EF4-FFF2-40B4-BE49-F238E27FC236}">
                <a16:creationId xmlns:a16="http://schemas.microsoft.com/office/drawing/2014/main" id="{E3920EAD-B27F-472E-B1C4-4D884437C578}"/>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4994" name="Text Box 2">
            <a:extLst>
              <a:ext uri="{FF2B5EF4-FFF2-40B4-BE49-F238E27FC236}">
                <a16:creationId xmlns:a16="http://schemas.microsoft.com/office/drawing/2014/main" id="{B4C1AE75-BAA3-4776-9160-9961D86B18D1}"/>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So, how does our applicant get here?  The State department plans an important role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347FD74-907E-4325-BFD2-69BA3DD2F85A}"/>
              </a:ext>
            </a:extLst>
          </p:cNvPr>
          <p:cNvSpPr>
            <a:spLocks noGrp="1" noChangeArrowheads="1"/>
          </p:cNvSpPr>
          <p:nvPr>
            <p:ph type="sldNum"/>
          </p:nvPr>
        </p:nvSpPr>
        <p:spPr>
          <a:ln/>
        </p:spPr>
        <p:txBody>
          <a:bodyPr/>
          <a:lstStyle/>
          <a:p>
            <a:fld id="{AAC05E67-081B-474C-93D7-33C0F2416E08}" type="slidenum">
              <a:rPr lang="en-US" altLang="en-US"/>
              <a:pPr/>
              <a:t>23</a:t>
            </a:fld>
            <a:endParaRPr lang="en-US" altLang="en-US"/>
          </a:p>
        </p:txBody>
      </p:sp>
      <p:sp>
        <p:nvSpPr>
          <p:cNvPr id="86017" name="Rectangle 1">
            <a:extLst>
              <a:ext uri="{FF2B5EF4-FFF2-40B4-BE49-F238E27FC236}">
                <a16:creationId xmlns:a16="http://schemas.microsoft.com/office/drawing/2014/main" id="{DD9CE9D5-5DA4-4AEE-87FF-0E53E06269D4}"/>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6018" name="Text Box 2">
            <a:extLst>
              <a:ext uri="{FF2B5EF4-FFF2-40B4-BE49-F238E27FC236}">
                <a16:creationId xmlns:a16="http://schemas.microsoft.com/office/drawing/2014/main" id="{0F77AA66-C0EB-430E-976E-DC715CACB317}"/>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VISAs—I’d always thought they get you into the country, but technically that’s not so…</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C68F425-4136-4CF3-9B8D-FAEB1578ADEA}"/>
              </a:ext>
            </a:extLst>
          </p:cNvPr>
          <p:cNvSpPr>
            <a:spLocks noGrp="1" noChangeArrowheads="1"/>
          </p:cNvSpPr>
          <p:nvPr>
            <p:ph type="sldNum"/>
          </p:nvPr>
        </p:nvSpPr>
        <p:spPr>
          <a:ln/>
        </p:spPr>
        <p:txBody>
          <a:bodyPr/>
          <a:lstStyle/>
          <a:p>
            <a:fld id="{2457EF37-3EED-41FF-91D7-23B8D347E01E}" type="slidenum">
              <a:rPr lang="en-US" altLang="en-US"/>
              <a:pPr/>
              <a:t>24</a:t>
            </a:fld>
            <a:endParaRPr lang="en-US" altLang="en-US"/>
          </a:p>
        </p:txBody>
      </p:sp>
      <p:sp>
        <p:nvSpPr>
          <p:cNvPr id="87041" name="Rectangle 1">
            <a:extLst>
              <a:ext uri="{FF2B5EF4-FFF2-40B4-BE49-F238E27FC236}">
                <a16:creationId xmlns:a16="http://schemas.microsoft.com/office/drawing/2014/main" id="{FADFC0D7-3ABC-436B-8E03-87D9ECED5C2C}"/>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7042" name="Text Box 2">
            <a:extLst>
              <a:ext uri="{FF2B5EF4-FFF2-40B4-BE49-F238E27FC236}">
                <a16:creationId xmlns:a16="http://schemas.microsoft.com/office/drawing/2014/main" id="{CC560192-54A0-41F2-B7D4-BE2440AA08B6}"/>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The vast majority of these are B-1 and B-2 visas</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Peaks in 2001 and then drops for next two years; 2004 starts back up…perception is important here…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C64F1ED-2C70-49B9-9238-EA9DC130F730}"/>
              </a:ext>
            </a:extLst>
          </p:cNvPr>
          <p:cNvSpPr>
            <a:spLocks noGrp="1" noChangeArrowheads="1"/>
          </p:cNvSpPr>
          <p:nvPr>
            <p:ph type="sldNum"/>
          </p:nvPr>
        </p:nvSpPr>
        <p:spPr>
          <a:ln/>
        </p:spPr>
        <p:txBody>
          <a:bodyPr/>
          <a:lstStyle/>
          <a:p>
            <a:fld id="{EFB3A8AC-17EB-4C37-A15D-2640CB18579C}" type="slidenum">
              <a:rPr lang="en-US" altLang="en-US"/>
              <a:pPr/>
              <a:t>25</a:t>
            </a:fld>
            <a:endParaRPr lang="en-US" altLang="en-US"/>
          </a:p>
        </p:txBody>
      </p:sp>
      <p:sp>
        <p:nvSpPr>
          <p:cNvPr id="88065" name="Rectangle 1">
            <a:extLst>
              <a:ext uri="{FF2B5EF4-FFF2-40B4-BE49-F238E27FC236}">
                <a16:creationId xmlns:a16="http://schemas.microsoft.com/office/drawing/2014/main" id="{75D5AEDC-4935-4F9C-BA68-FAA5109787B2}"/>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8066" name="Text Box 2">
            <a:extLst>
              <a:ext uri="{FF2B5EF4-FFF2-40B4-BE49-F238E27FC236}">
                <a16:creationId xmlns:a16="http://schemas.microsoft.com/office/drawing/2014/main" id="{FEFEDF6B-D8EB-4581-A0A9-A5A600798461}"/>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“a division of U.S. Immigration and Customs Enforcement (ICE), the largest investigative arm of the Department of Homeland Security (DHS).”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1AAC380-4BDB-40FA-9121-87A7FE16C77F}"/>
              </a:ext>
            </a:extLst>
          </p:cNvPr>
          <p:cNvSpPr>
            <a:spLocks noGrp="1" noChangeArrowheads="1"/>
          </p:cNvSpPr>
          <p:nvPr>
            <p:ph type="sldNum"/>
          </p:nvPr>
        </p:nvSpPr>
        <p:spPr>
          <a:ln/>
        </p:spPr>
        <p:txBody>
          <a:bodyPr/>
          <a:lstStyle/>
          <a:p>
            <a:fld id="{E9997D08-169C-46CE-B4BA-505587A0F0AC}" type="slidenum">
              <a:rPr lang="en-US" altLang="en-US"/>
              <a:pPr/>
              <a:t>26</a:t>
            </a:fld>
            <a:endParaRPr lang="en-US" altLang="en-US"/>
          </a:p>
        </p:txBody>
      </p:sp>
      <p:sp>
        <p:nvSpPr>
          <p:cNvPr id="89089" name="Rectangle 1">
            <a:extLst>
              <a:ext uri="{FF2B5EF4-FFF2-40B4-BE49-F238E27FC236}">
                <a16:creationId xmlns:a16="http://schemas.microsoft.com/office/drawing/2014/main" id="{CDF0CC6C-F85C-442F-8098-C68BE9413AE3}"/>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9090" name="Text Box 2">
            <a:extLst>
              <a:ext uri="{FF2B5EF4-FFF2-40B4-BE49-F238E27FC236}">
                <a16:creationId xmlns:a16="http://schemas.microsoft.com/office/drawing/2014/main" id="{E48D8F8B-803F-4FA9-9C09-CA7E4D2C2BBB}"/>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Where you permanently reside…</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Tom Ridge, outgoing DHS secretary, says “US passports should have fingerprints,”  too, according to Boston Globe, 1.13.05, p. A3</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D39DC3E-F3C0-4F8C-8D98-B4B8C0FD54BD}"/>
              </a:ext>
            </a:extLst>
          </p:cNvPr>
          <p:cNvSpPr>
            <a:spLocks noGrp="1" noChangeArrowheads="1"/>
          </p:cNvSpPr>
          <p:nvPr>
            <p:ph type="sldNum"/>
          </p:nvPr>
        </p:nvSpPr>
        <p:spPr>
          <a:ln/>
        </p:spPr>
        <p:txBody>
          <a:bodyPr/>
          <a:lstStyle/>
          <a:p>
            <a:fld id="{C38D4A9D-78DE-4AC7-A46F-F576226A6FA0}" type="slidenum">
              <a:rPr lang="en-US" altLang="en-US"/>
              <a:pPr/>
              <a:t>27</a:t>
            </a:fld>
            <a:endParaRPr lang="en-US" altLang="en-US"/>
          </a:p>
        </p:txBody>
      </p:sp>
      <p:sp>
        <p:nvSpPr>
          <p:cNvPr id="90113" name="Rectangle 1">
            <a:extLst>
              <a:ext uri="{FF2B5EF4-FFF2-40B4-BE49-F238E27FC236}">
                <a16:creationId xmlns:a16="http://schemas.microsoft.com/office/drawing/2014/main" id="{605AB4D4-ADF8-4165-B27A-87D517CEE1CF}"/>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0114" name="Text Box 2">
            <a:extLst>
              <a:ext uri="{FF2B5EF4-FFF2-40B4-BE49-F238E27FC236}">
                <a16:creationId xmlns:a16="http://schemas.microsoft.com/office/drawing/2014/main" id="{00773BEB-0E65-4355-9A2D-6DA4C279BCF0}"/>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One of the items you will have to bring to the consular office is a passport</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Prior to the French Revolution, passports didn’t exist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BFEE2AE-AEDE-4A15-AF74-3E9977F55926}"/>
              </a:ext>
            </a:extLst>
          </p:cNvPr>
          <p:cNvSpPr>
            <a:spLocks noGrp="1" noChangeArrowheads="1"/>
          </p:cNvSpPr>
          <p:nvPr>
            <p:ph type="sldNum"/>
          </p:nvPr>
        </p:nvSpPr>
        <p:spPr>
          <a:ln/>
        </p:spPr>
        <p:txBody>
          <a:bodyPr/>
          <a:lstStyle/>
          <a:p>
            <a:fld id="{BDF91D16-0FC8-474C-8AA4-BEBC753BA2D9}" type="slidenum">
              <a:rPr lang="en-US" altLang="en-US"/>
              <a:pPr/>
              <a:t>28</a:t>
            </a:fld>
            <a:endParaRPr lang="en-US" altLang="en-US"/>
          </a:p>
        </p:txBody>
      </p:sp>
      <p:sp>
        <p:nvSpPr>
          <p:cNvPr id="91137" name="Rectangle 1">
            <a:extLst>
              <a:ext uri="{FF2B5EF4-FFF2-40B4-BE49-F238E27FC236}">
                <a16:creationId xmlns:a16="http://schemas.microsoft.com/office/drawing/2014/main" id="{F409EB28-B2EE-41D2-BDA3-4D7C1AB83C4B}"/>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1138" name="Rectangle 2">
            <a:extLst>
              <a:ext uri="{FF2B5EF4-FFF2-40B4-BE49-F238E27FC236}">
                <a16:creationId xmlns:a16="http://schemas.microsoft.com/office/drawing/2014/main" id="{8C411D65-179B-4BB0-854A-6F324290A14B}"/>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5F775E5-779E-425C-AB54-3850E4EB7813}"/>
              </a:ext>
            </a:extLst>
          </p:cNvPr>
          <p:cNvSpPr>
            <a:spLocks noGrp="1" noChangeArrowheads="1"/>
          </p:cNvSpPr>
          <p:nvPr>
            <p:ph type="sldNum"/>
          </p:nvPr>
        </p:nvSpPr>
        <p:spPr>
          <a:ln/>
        </p:spPr>
        <p:txBody>
          <a:bodyPr/>
          <a:lstStyle/>
          <a:p>
            <a:fld id="{F77899D9-0585-4DFC-95C3-31675E503EAB}" type="slidenum">
              <a:rPr lang="en-US" altLang="en-US"/>
              <a:pPr/>
              <a:t>29</a:t>
            </a:fld>
            <a:endParaRPr lang="en-US" altLang="en-US"/>
          </a:p>
        </p:txBody>
      </p:sp>
      <p:sp>
        <p:nvSpPr>
          <p:cNvPr id="92161" name="Rectangle 1">
            <a:extLst>
              <a:ext uri="{FF2B5EF4-FFF2-40B4-BE49-F238E27FC236}">
                <a16:creationId xmlns:a16="http://schemas.microsoft.com/office/drawing/2014/main" id="{B1DBDA8A-6313-4A41-971B-8B5DC86CE003}"/>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162" name="Text Box 2">
            <a:extLst>
              <a:ext uri="{FF2B5EF4-FFF2-40B4-BE49-F238E27FC236}">
                <a16:creationId xmlns:a16="http://schemas.microsoft.com/office/drawing/2014/main" id="{8EFE09C1-D3D6-40FE-A241-A8D743ECD352}"/>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FAM means Foreign Affairs Manual; see details for why at http://www.infoplease.com/spot/terrorism4.html</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8C3ED20-C5E3-4099-8A24-82662EA8171D}"/>
              </a:ext>
            </a:extLst>
          </p:cNvPr>
          <p:cNvSpPr>
            <a:spLocks noGrp="1" noChangeArrowheads="1"/>
          </p:cNvSpPr>
          <p:nvPr>
            <p:ph type="sldNum"/>
          </p:nvPr>
        </p:nvSpPr>
        <p:spPr>
          <a:ln/>
        </p:spPr>
        <p:txBody>
          <a:bodyPr/>
          <a:lstStyle/>
          <a:p>
            <a:fld id="{EA6D5111-EC33-4B5B-BDCB-64E306E683C6}" type="slidenum">
              <a:rPr lang="en-US" altLang="en-US"/>
              <a:pPr/>
              <a:t>30</a:t>
            </a:fld>
            <a:endParaRPr lang="en-US" altLang="en-US"/>
          </a:p>
        </p:txBody>
      </p:sp>
      <p:sp>
        <p:nvSpPr>
          <p:cNvPr id="93185" name="Rectangle 1">
            <a:extLst>
              <a:ext uri="{FF2B5EF4-FFF2-40B4-BE49-F238E27FC236}">
                <a16:creationId xmlns:a16="http://schemas.microsoft.com/office/drawing/2014/main" id="{D5EBC452-F073-49C8-858A-EAA4F81C5BD1}"/>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3186" name="Text Box 2">
            <a:extLst>
              <a:ext uri="{FF2B5EF4-FFF2-40B4-BE49-F238E27FC236}">
                <a16:creationId xmlns:a16="http://schemas.microsoft.com/office/drawing/2014/main" id="{C2A038B5-7705-40E4-AEE6-699C8E72694C}"/>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The applicant really needs to look online…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071C5C8-8F9B-414F-B698-4B8F0EE4C1FE}"/>
              </a:ext>
            </a:extLst>
          </p:cNvPr>
          <p:cNvSpPr>
            <a:spLocks noGrp="1" noChangeArrowheads="1"/>
          </p:cNvSpPr>
          <p:nvPr>
            <p:ph type="sldNum"/>
          </p:nvPr>
        </p:nvSpPr>
        <p:spPr>
          <a:ln/>
        </p:spPr>
        <p:txBody>
          <a:bodyPr/>
          <a:lstStyle/>
          <a:p>
            <a:fld id="{054F7F77-2F92-4C47-8864-BEB73F7DCC24}" type="slidenum">
              <a:rPr lang="en-US" altLang="en-US"/>
              <a:pPr/>
              <a:t>31</a:t>
            </a:fld>
            <a:endParaRPr lang="en-US" altLang="en-US"/>
          </a:p>
        </p:txBody>
      </p:sp>
      <p:sp>
        <p:nvSpPr>
          <p:cNvPr id="94209" name="Rectangle 1">
            <a:extLst>
              <a:ext uri="{FF2B5EF4-FFF2-40B4-BE49-F238E27FC236}">
                <a16:creationId xmlns:a16="http://schemas.microsoft.com/office/drawing/2014/main" id="{A1FB8B24-9602-47A4-A7C8-AF6AD3F14F82}"/>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4210" name="Text Box 2">
            <a:extLst>
              <a:ext uri="{FF2B5EF4-FFF2-40B4-BE49-F238E27FC236}">
                <a16:creationId xmlns:a16="http://schemas.microsoft.com/office/drawing/2014/main" id="{14E15C43-F19B-4932-8941-85C5293AA793}"/>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Management, Consular, Economic, Political and Public Diplomacy – are the tracks</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Tourist visa and wanted to work</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Arial" panose="020B0604020202020204" pitchFamily="34" charset="0"/>
            </a:endParaRP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Arial" panose="020B0604020202020204" pitchFamily="34" charset="0"/>
            </a:endParaRP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Arial" panose="020B0604020202020204" pitchFamily="34" charset="0"/>
            </a:endParaRP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Arial" panose="020B0604020202020204" pitchFamily="34" charset="0"/>
            </a:endParaRP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Hardship posts; Will ask: can you speak English?</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60EE66-3934-4CB1-B25B-575878BF9661}"/>
              </a:ext>
            </a:extLst>
          </p:cNvPr>
          <p:cNvSpPr>
            <a:spLocks noGrp="1" noChangeArrowheads="1"/>
          </p:cNvSpPr>
          <p:nvPr>
            <p:ph type="sldNum"/>
          </p:nvPr>
        </p:nvSpPr>
        <p:spPr>
          <a:ln/>
        </p:spPr>
        <p:txBody>
          <a:bodyPr/>
          <a:lstStyle/>
          <a:p>
            <a:fld id="{43FDC50B-32BE-4639-8D87-9D39684FDA69}" type="slidenum">
              <a:rPr lang="en-US" altLang="en-US"/>
              <a:pPr/>
              <a:t>32</a:t>
            </a:fld>
            <a:endParaRPr lang="en-US" altLang="en-US"/>
          </a:p>
        </p:txBody>
      </p:sp>
      <p:sp>
        <p:nvSpPr>
          <p:cNvPr id="95233" name="Rectangle 1">
            <a:extLst>
              <a:ext uri="{FF2B5EF4-FFF2-40B4-BE49-F238E27FC236}">
                <a16:creationId xmlns:a16="http://schemas.microsoft.com/office/drawing/2014/main" id="{8CC46B06-87C8-45B5-A64E-40B165981D64}"/>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5234" name="Text Box 2">
            <a:extLst>
              <a:ext uri="{FF2B5EF4-FFF2-40B4-BE49-F238E27FC236}">
                <a16:creationId xmlns:a16="http://schemas.microsoft.com/office/drawing/2014/main" id="{04739273-C76C-4A9A-8955-575B3138C509}"/>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The interview is the most important part of this process</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“consular officers should rely primarily on the interview itself and only minimally on supporting documentation,” according to 9 FAM 41.121 PN1.2(h)(3), for non-immigrant intent</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Arial" panose="020B0604020202020204" pitchFamily="34" charset="0"/>
            </a:endParaRP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Arial" panose="020B0604020202020204" pitchFamily="34" charset="0"/>
            </a:endParaRP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There are at least 3 points where the applicant could have given more information which would convince the consular officer to issue a visa</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B6400F4-BD9D-4B60-B2DD-CA09E9CA2383}"/>
              </a:ext>
            </a:extLst>
          </p:cNvPr>
          <p:cNvSpPr>
            <a:spLocks noGrp="1" noChangeArrowheads="1"/>
          </p:cNvSpPr>
          <p:nvPr>
            <p:ph type="sldNum"/>
          </p:nvPr>
        </p:nvSpPr>
        <p:spPr>
          <a:ln/>
        </p:spPr>
        <p:txBody>
          <a:bodyPr/>
          <a:lstStyle/>
          <a:p>
            <a:fld id="{C928765D-1269-4FC7-8E57-2178FC1F83AD}" type="slidenum">
              <a:rPr lang="en-US" altLang="en-US"/>
              <a:pPr/>
              <a:t>33</a:t>
            </a:fld>
            <a:endParaRPr lang="en-US" altLang="en-US"/>
          </a:p>
        </p:txBody>
      </p:sp>
      <p:sp>
        <p:nvSpPr>
          <p:cNvPr id="96257" name="Rectangle 1">
            <a:extLst>
              <a:ext uri="{FF2B5EF4-FFF2-40B4-BE49-F238E27FC236}">
                <a16:creationId xmlns:a16="http://schemas.microsoft.com/office/drawing/2014/main" id="{EED740BB-3A9C-4BCA-A142-8C04D57DA52A}"/>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6258" name="Text Box 2">
            <a:extLst>
              <a:ext uri="{FF2B5EF4-FFF2-40B4-BE49-F238E27FC236}">
                <a16:creationId xmlns:a16="http://schemas.microsoft.com/office/drawing/2014/main" id="{8151F3AF-88A7-4C6A-BADA-0D2B064537F5}"/>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The linguistic algorithm reduces Arabic names to their consonantal roots and then searches on all variations.  So, for example, Qadaffi which can have 60 variations, will retrieve on all those permutations.</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F35F551-8128-403E-AD93-05686193A886}"/>
              </a:ext>
            </a:extLst>
          </p:cNvPr>
          <p:cNvSpPr>
            <a:spLocks noGrp="1" noChangeArrowheads="1"/>
          </p:cNvSpPr>
          <p:nvPr>
            <p:ph type="sldNum"/>
          </p:nvPr>
        </p:nvSpPr>
        <p:spPr>
          <a:ln/>
        </p:spPr>
        <p:txBody>
          <a:bodyPr/>
          <a:lstStyle/>
          <a:p>
            <a:fld id="{E61C7F9F-E18F-47B2-BF14-0383FB64FCB0}" type="slidenum">
              <a:rPr lang="en-US" altLang="en-US"/>
              <a:pPr/>
              <a:t>34</a:t>
            </a:fld>
            <a:endParaRPr lang="en-US" altLang="en-US"/>
          </a:p>
        </p:txBody>
      </p:sp>
      <p:sp>
        <p:nvSpPr>
          <p:cNvPr id="97281" name="Rectangle 1">
            <a:extLst>
              <a:ext uri="{FF2B5EF4-FFF2-40B4-BE49-F238E27FC236}">
                <a16:creationId xmlns:a16="http://schemas.microsoft.com/office/drawing/2014/main" id="{822BB0BC-F1A6-4CDC-8AFB-1BD6AFB7F630}"/>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7282" name="Text Box 2">
            <a:extLst>
              <a:ext uri="{FF2B5EF4-FFF2-40B4-BE49-F238E27FC236}">
                <a16:creationId xmlns:a16="http://schemas.microsoft.com/office/drawing/2014/main" id="{215582FE-E38D-4EFF-9FD1-445C72C1E073}"/>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ISO SC 37 Standards for biometrics, face and fingerprint images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3005119-8752-4F52-AF32-928C72A3FD40}"/>
              </a:ext>
            </a:extLst>
          </p:cNvPr>
          <p:cNvSpPr>
            <a:spLocks noGrp="1" noChangeArrowheads="1"/>
          </p:cNvSpPr>
          <p:nvPr>
            <p:ph type="sldNum"/>
          </p:nvPr>
        </p:nvSpPr>
        <p:spPr>
          <a:ln/>
        </p:spPr>
        <p:txBody>
          <a:bodyPr/>
          <a:lstStyle/>
          <a:p>
            <a:fld id="{04B1015D-6581-4A1C-A15E-47CE2DD68E35}" type="slidenum">
              <a:rPr lang="en-US" altLang="en-US"/>
              <a:pPr/>
              <a:t>35</a:t>
            </a:fld>
            <a:endParaRPr lang="en-US" altLang="en-US"/>
          </a:p>
        </p:txBody>
      </p:sp>
      <p:sp>
        <p:nvSpPr>
          <p:cNvPr id="98305" name="Rectangle 1">
            <a:extLst>
              <a:ext uri="{FF2B5EF4-FFF2-40B4-BE49-F238E27FC236}">
                <a16:creationId xmlns:a16="http://schemas.microsoft.com/office/drawing/2014/main" id="{934B3C2F-3370-41A0-BD4C-74E09F90DDBA}"/>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8306" name="Rectangle 2">
            <a:extLst>
              <a:ext uri="{FF2B5EF4-FFF2-40B4-BE49-F238E27FC236}">
                <a16:creationId xmlns:a16="http://schemas.microsoft.com/office/drawing/2014/main" id="{F633C5DD-2EAA-4901-B1A8-D0F6C5CCD35C}"/>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001AB78-79EF-4A9B-A5F9-4C45D9FAE11F}"/>
              </a:ext>
            </a:extLst>
          </p:cNvPr>
          <p:cNvSpPr>
            <a:spLocks noGrp="1" noChangeArrowheads="1"/>
          </p:cNvSpPr>
          <p:nvPr>
            <p:ph type="sldNum"/>
          </p:nvPr>
        </p:nvSpPr>
        <p:spPr>
          <a:ln/>
        </p:spPr>
        <p:txBody>
          <a:bodyPr/>
          <a:lstStyle/>
          <a:p>
            <a:fld id="{9F23FA9C-79B4-4113-A88C-149992A30FC6}" type="slidenum">
              <a:rPr lang="en-US" altLang="en-US"/>
              <a:pPr/>
              <a:t>36</a:t>
            </a:fld>
            <a:endParaRPr lang="en-US" altLang="en-US"/>
          </a:p>
        </p:txBody>
      </p:sp>
      <p:sp>
        <p:nvSpPr>
          <p:cNvPr id="99329" name="Rectangle 1">
            <a:extLst>
              <a:ext uri="{FF2B5EF4-FFF2-40B4-BE49-F238E27FC236}">
                <a16:creationId xmlns:a16="http://schemas.microsoft.com/office/drawing/2014/main" id="{2C232E7D-2593-448F-B04F-A486BADDBA40}"/>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9330" name="Text Box 2">
            <a:extLst>
              <a:ext uri="{FF2B5EF4-FFF2-40B4-BE49-F238E27FC236}">
                <a16:creationId xmlns:a16="http://schemas.microsoft.com/office/drawing/2014/main" id="{E1E2F6F3-630F-47CF-9F05-7E0D4B2DDBF5}"/>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Now, you begin to understand why it might take awhile to get an SAO approval</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For example, GPS research will likely involve the Defense Department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3D7B3BE-5532-4FDB-A912-BC0259044553}"/>
              </a:ext>
            </a:extLst>
          </p:cNvPr>
          <p:cNvSpPr>
            <a:spLocks noGrp="1" noChangeArrowheads="1"/>
          </p:cNvSpPr>
          <p:nvPr>
            <p:ph type="sldNum"/>
          </p:nvPr>
        </p:nvSpPr>
        <p:spPr>
          <a:ln/>
        </p:spPr>
        <p:txBody>
          <a:bodyPr/>
          <a:lstStyle/>
          <a:p>
            <a:fld id="{E9E4A48E-D465-4180-AA06-955027F9084C}" type="slidenum">
              <a:rPr lang="en-US" altLang="en-US"/>
              <a:pPr/>
              <a:t>37</a:t>
            </a:fld>
            <a:endParaRPr lang="en-US" altLang="en-US"/>
          </a:p>
        </p:txBody>
      </p:sp>
      <p:sp>
        <p:nvSpPr>
          <p:cNvPr id="100353" name="Rectangle 1">
            <a:extLst>
              <a:ext uri="{FF2B5EF4-FFF2-40B4-BE49-F238E27FC236}">
                <a16:creationId xmlns:a16="http://schemas.microsoft.com/office/drawing/2014/main" id="{73C393DD-2ED4-4FBF-A36B-3B552240BE1F}"/>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0354" name="Text Box 2">
            <a:extLst>
              <a:ext uri="{FF2B5EF4-FFF2-40B4-BE49-F238E27FC236}">
                <a16:creationId xmlns:a16="http://schemas.microsoft.com/office/drawing/2014/main" id="{16D09052-0F84-4578-BB91-B4494F3C8196}"/>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“Illegal technology transfer”</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See Office of IA at University of Tennessee Health Science Center</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And Texas A&amp;M University’s “Heightened Security” at http://ifss.tamu.edu/pdf/Heightened_security.pdf</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184A6D8-4C6A-40AB-958F-6AB66773CA60}"/>
              </a:ext>
            </a:extLst>
          </p:cNvPr>
          <p:cNvSpPr>
            <a:spLocks noGrp="1" noChangeArrowheads="1"/>
          </p:cNvSpPr>
          <p:nvPr>
            <p:ph type="sldNum"/>
          </p:nvPr>
        </p:nvSpPr>
        <p:spPr>
          <a:ln/>
        </p:spPr>
        <p:txBody>
          <a:bodyPr/>
          <a:lstStyle/>
          <a:p>
            <a:fld id="{71A3F5A1-9057-4702-AE2D-694CD298A6F1}" type="slidenum">
              <a:rPr lang="en-US" altLang="en-US"/>
              <a:pPr/>
              <a:t>38</a:t>
            </a:fld>
            <a:endParaRPr lang="en-US" altLang="en-US"/>
          </a:p>
        </p:txBody>
      </p:sp>
      <p:sp>
        <p:nvSpPr>
          <p:cNvPr id="101377" name="Rectangle 1">
            <a:extLst>
              <a:ext uri="{FF2B5EF4-FFF2-40B4-BE49-F238E27FC236}">
                <a16:creationId xmlns:a16="http://schemas.microsoft.com/office/drawing/2014/main" id="{EBD812B3-68BD-4DCE-AA46-563FBFACA116}"/>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1378" name="Rectangle 2">
            <a:extLst>
              <a:ext uri="{FF2B5EF4-FFF2-40B4-BE49-F238E27FC236}">
                <a16:creationId xmlns:a16="http://schemas.microsoft.com/office/drawing/2014/main" id="{D59E312F-321F-4D6A-8834-617F69C42E3A}"/>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8254D42-ED7A-4B1A-A2ED-D5B5FD1823DA}"/>
              </a:ext>
            </a:extLst>
          </p:cNvPr>
          <p:cNvSpPr>
            <a:spLocks noGrp="1" noChangeArrowheads="1"/>
          </p:cNvSpPr>
          <p:nvPr>
            <p:ph type="sldNum"/>
          </p:nvPr>
        </p:nvSpPr>
        <p:spPr>
          <a:ln/>
        </p:spPr>
        <p:txBody>
          <a:bodyPr/>
          <a:lstStyle/>
          <a:p>
            <a:fld id="{4AF727E2-4576-40DD-84D0-B07123DA99E2}" type="slidenum">
              <a:rPr lang="en-US" altLang="en-US"/>
              <a:pPr/>
              <a:t>39</a:t>
            </a:fld>
            <a:endParaRPr lang="en-US" altLang="en-US"/>
          </a:p>
        </p:txBody>
      </p:sp>
      <p:sp>
        <p:nvSpPr>
          <p:cNvPr id="102401" name="Rectangle 1">
            <a:extLst>
              <a:ext uri="{FF2B5EF4-FFF2-40B4-BE49-F238E27FC236}">
                <a16:creationId xmlns:a16="http://schemas.microsoft.com/office/drawing/2014/main" id="{BE530E41-CE86-4F1E-A2E8-17D49DBD071A}"/>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2402" name="Rectangle 2">
            <a:extLst>
              <a:ext uri="{FF2B5EF4-FFF2-40B4-BE49-F238E27FC236}">
                <a16:creationId xmlns:a16="http://schemas.microsoft.com/office/drawing/2014/main" id="{D0A7C4F2-24EC-446A-B216-A516445A5ED6}"/>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81200D6-894F-4C32-9095-433809F32B86}"/>
              </a:ext>
            </a:extLst>
          </p:cNvPr>
          <p:cNvSpPr>
            <a:spLocks noGrp="1" noChangeArrowheads="1"/>
          </p:cNvSpPr>
          <p:nvPr>
            <p:ph type="sldNum"/>
          </p:nvPr>
        </p:nvSpPr>
        <p:spPr>
          <a:ln/>
        </p:spPr>
        <p:txBody>
          <a:bodyPr/>
          <a:lstStyle/>
          <a:p>
            <a:fld id="{F673D476-8306-47BD-AD66-468D40E484CA}" type="slidenum">
              <a:rPr lang="en-US" altLang="en-US"/>
              <a:pPr/>
              <a:t>40</a:t>
            </a:fld>
            <a:endParaRPr lang="en-US" altLang="en-US"/>
          </a:p>
        </p:txBody>
      </p:sp>
      <p:sp>
        <p:nvSpPr>
          <p:cNvPr id="103425" name="Rectangle 1">
            <a:extLst>
              <a:ext uri="{FF2B5EF4-FFF2-40B4-BE49-F238E27FC236}">
                <a16:creationId xmlns:a16="http://schemas.microsoft.com/office/drawing/2014/main" id="{3CD969F4-2446-45F3-9DDD-D881A45E0733}"/>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3426" name="Rectangle 2">
            <a:extLst>
              <a:ext uri="{FF2B5EF4-FFF2-40B4-BE49-F238E27FC236}">
                <a16:creationId xmlns:a16="http://schemas.microsoft.com/office/drawing/2014/main" id="{9D534EBE-97EC-4692-B79E-F5F9ED7F4884}"/>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1EDE505-8111-40FC-8859-F2793803FFC6}"/>
              </a:ext>
            </a:extLst>
          </p:cNvPr>
          <p:cNvSpPr>
            <a:spLocks noGrp="1" noChangeArrowheads="1"/>
          </p:cNvSpPr>
          <p:nvPr>
            <p:ph type="sldNum"/>
          </p:nvPr>
        </p:nvSpPr>
        <p:spPr>
          <a:ln/>
        </p:spPr>
        <p:txBody>
          <a:bodyPr/>
          <a:lstStyle/>
          <a:p>
            <a:fld id="{A4CC08A2-7367-4D88-9EAD-85FC9D514705}" type="slidenum">
              <a:rPr lang="en-US" altLang="en-US"/>
              <a:pPr/>
              <a:t>41</a:t>
            </a:fld>
            <a:endParaRPr lang="en-US" altLang="en-US"/>
          </a:p>
        </p:txBody>
      </p:sp>
      <p:sp>
        <p:nvSpPr>
          <p:cNvPr id="104449" name="Rectangle 1">
            <a:extLst>
              <a:ext uri="{FF2B5EF4-FFF2-40B4-BE49-F238E27FC236}">
                <a16:creationId xmlns:a16="http://schemas.microsoft.com/office/drawing/2014/main" id="{AD536736-64E5-4CE6-80AA-1E86F856FB2F}"/>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4450" name="Text Box 2">
            <a:extLst>
              <a:ext uri="{FF2B5EF4-FFF2-40B4-BE49-F238E27FC236}">
                <a16:creationId xmlns:a16="http://schemas.microsoft.com/office/drawing/2014/main" id="{2607FCFA-7925-424E-9966-987BD85B534A}"/>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INA authorizes AG and Secretary of State (immigration officers and consular officers) and defines their powers</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DHS establishes visa policy</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State manages the process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08A6B8E-BC98-4B90-8477-E02B70E662DA}"/>
              </a:ext>
            </a:extLst>
          </p:cNvPr>
          <p:cNvSpPr>
            <a:spLocks noGrp="1" noChangeArrowheads="1"/>
          </p:cNvSpPr>
          <p:nvPr>
            <p:ph type="sldNum"/>
          </p:nvPr>
        </p:nvSpPr>
        <p:spPr>
          <a:ln/>
        </p:spPr>
        <p:txBody>
          <a:bodyPr/>
          <a:lstStyle/>
          <a:p>
            <a:fld id="{70E4F43B-EC85-4AAA-A033-E30A90350074}" type="slidenum">
              <a:rPr lang="en-US" altLang="en-US"/>
              <a:pPr/>
              <a:t>42</a:t>
            </a:fld>
            <a:endParaRPr lang="en-US" altLang="en-US"/>
          </a:p>
        </p:txBody>
      </p:sp>
      <p:sp>
        <p:nvSpPr>
          <p:cNvPr id="105473" name="Rectangle 1">
            <a:extLst>
              <a:ext uri="{FF2B5EF4-FFF2-40B4-BE49-F238E27FC236}">
                <a16:creationId xmlns:a16="http://schemas.microsoft.com/office/drawing/2014/main" id="{EF156D38-61F7-4D5E-818B-E75CDEB085DE}"/>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5474" name="Rectangle 2">
            <a:extLst>
              <a:ext uri="{FF2B5EF4-FFF2-40B4-BE49-F238E27FC236}">
                <a16:creationId xmlns:a16="http://schemas.microsoft.com/office/drawing/2014/main" id="{5064D7AA-5D42-401F-B38B-D346C5883B69}"/>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2FBAD13-0392-4D3B-854B-D48BE308A48E}"/>
              </a:ext>
            </a:extLst>
          </p:cNvPr>
          <p:cNvSpPr>
            <a:spLocks noGrp="1" noChangeArrowheads="1"/>
          </p:cNvSpPr>
          <p:nvPr>
            <p:ph type="sldNum"/>
          </p:nvPr>
        </p:nvSpPr>
        <p:spPr>
          <a:ln/>
        </p:spPr>
        <p:txBody>
          <a:bodyPr/>
          <a:lstStyle/>
          <a:p>
            <a:fld id="{F48B840E-3A0A-401D-B4D6-5C7AA685D8C3}" type="slidenum">
              <a:rPr lang="en-US" altLang="en-US"/>
              <a:pPr/>
              <a:t>43</a:t>
            </a:fld>
            <a:endParaRPr lang="en-US" altLang="en-US"/>
          </a:p>
        </p:txBody>
      </p:sp>
      <p:sp>
        <p:nvSpPr>
          <p:cNvPr id="106497" name="Rectangle 1">
            <a:extLst>
              <a:ext uri="{FF2B5EF4-FFF2-40B4-BE49-F238E27FC236}">
                <a16:creationId xmlns:a16="http://schemas.microsoft.com/office/drawing/2014/main" id="{4DD629ED-027F-43D7-8281-B2EC47276E5F}"/>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6498" name="Text Box 2">
            <a:extLst>
              <a:ext uri="{FF2B5EF4-FFF2-40B4-BE49-F238E27FC236}">
                <a16:creationId xmlns:a16="http://schemas.microsoft.com/office/drawing/2014/main" id="{5C9901DE-3889-4DE6-9F07-880EC76ACDAE}"/>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Arial" panose="020B0604020202020204" pitchFamily="34" charset="0"/>
            </a:endParaRP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4237548-6781-49DE-AC75-2D3C4C1831E1}"/>
              </a:ext>
            </a:extLst>
          </p:cNvPr>
          <p:cNvSpPr>
            <a:spLocks noGrp="1" noChangeArrowheads="1"/>
          </p:cNvSpPr>
          <p:nvPr>
            <p:ph type="sldNum"/>
          </p:nvPr>
        </p:nvSpPr>
        <p:spPr>
          <a:ln/>
        </p:spPr>
        <p:txBody>
          <a:bodyPr/>
          <a:lstStyle/>
          <a:p>
            <a:fld id="{D7812777-2C90-4B63-832A-B2BE67EC065A}" type="slidenum">
              <a:rPr lang="en-US" altLang="en-US"/>
              <a:pPr/>
              <a:t>44</a:t>
            </a:fld>
            <a:endParaRPr lang="en-US" altLang="en-US"/>
          </a:p>
        </p:txBody>
      </p:sp>
      <p:sp>
        <p:nvSpPr>
          <p:cNvPr id="107521" name="Rectangle 1">
            <a:extLst>
              <a:ext uri="{FF2B5EF4-FFF2-40B4-BE49-F238E27FC236}">
                <a16:creationId xmlns:a16="http://schemas.microsoft.com/office/drawing/2014/main" id="{EEEF04AF-2560-4463-ABB1-7DD72619A51B}"/>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7522" name="Rectangle 2">
            <a:extLst>
              <a:ext uri="{FF2B5EF4-FFF2-40B4-BE49-F238E27FC236}">
                <a16:creationId xmlns:a16="http://schemas.microsoft.com/office/drawing/2014/main" id="{7D829F9A-F16C-480A-82DE-281E33A34435}"/>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3B799F2-4248-448D-B83C-E6FD5A4F48B8}"/>
              </a:ext>
            </a:extLst>
          </p:cNvPr>
          <p:cNvSpPr>
            <a:spLocks noGrp="1" noChangeArrowheads="1"/>
          </p:cNvSpPr>
          <p:nvPr>
            <p:ph type="sldNum"/>
          </p:nvPr>
        </p:nvSpPr>
        <p:spPr>
          <a:ln/>
        </p:spPr>
        <p:txBody>
          <a:bodyPr/>
          <a:lstStyle/>
          <a:p>
            <a:fld id="{2615919F-FC8C-4CA1-97A7-AA616F0D1BEA}" type="slidenum">
              <a:rPr lang="en-US" altLang="en-US"/>
              <a:pPr/>
              <a:t>45</a:t>
            </a:fld>
            <a:endParaRPr lang="en-US" altLang="en-US"/>
          </a:p>
        </p:txBody>
      </p:sp>
      <p:sp>
        <p:nvSpPr>
          <p:cNvPr id="108545" name="Rectangle 1">
            <a:extLst>
              <a:ext uri="{FF2B5EF4-FFF2-40B4-BE49-F238E27FC236}">
                <a16:creationId xmlns:a16="http://schemas.microsoft.com/office/drawing/2014/main" id="{D3454124-701B-451C-929D-5F5C4F041BA4}"/>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8546" name="Text Box 2">
            <a:extLst>
              <a:ext uri="{FF2B5EF4-FFF2-40B4-BE49-F238E27FC236}">
                <a16:creationId xmlns:a16="http://schemas.microsoft.com/office/drawing/2014/main" id="{DF96752F-67CB-49A9-8AA6-420D08678451}"/>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On page 9, “Border Security: Improvements Needed…” Table 1 from GAO 04 371 (February 2004).</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9DC6BF4-1FBA-4941-8E08-6CC8E768CEB3}"/>
              </a:ext>
            </a:extLst>
          </p:cNvPr>
          <p:cNvSpPr>
            <a:spLocks noGrp="1" noChangeArrowheads="1"/>
          </p:cNvSpPr>
          <p:nvPr>
            <p:ph type="sldNum"/>
          </p:nvPr>
        </p:nvSpPr>
        <p:spPr>
          <a:ln/>
        </p:spPr>
        <p:txBody>
          <a:bodyPr/>
          <a:lstStyle/>
          <a:p>
            <a:fld id="{8CF7F31F-30F3-4BCA-9901-6BA63F1AA875}" type="slidenum">
              <a:rPr lang="en-US" altLang="en-US"/>
              <a:pPr/>
              <a:t>46</a:t>
            </a:fld>
            <a:endParaRPr lang="en-US" altLang="en-US"/>
          </a:p>
        </p:txBody>
      </p:sp>
      <p:sp>
        <p:nvSpPr>
          <p:cNvPr id="109569" name="Rectangle 1">
            <a:extLst>
              <a:ext uri="{FF2B5EF4-FFF2-40B4-BE49-F238E27FC236}">
                <a16:creationId xmlns:a16="http://schemas.microsoft.com/office/drawing/2014/main" id="{D94A4063-C23F-4363-8D75-C78A7197D3E0}"/>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9570" name="Text Box 2">
            <a:extLst>
              <a:ext uri="{FF2B5EF4-FFF2-40B4-BE49-F238E27FC236}">
                <a16:creationId xmlns:a16="http://schemas.microsoft.com/office/drawing/2014/main" id="{CB94ECDA-E3BB-4B90-9565-2924580CAB47}"/>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J-1 are our postdoctoral scholars (N=1100 of them)</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J-1s are easier to obtain; On page 9, “Border Security: Improvements Needed…” Table 1 from GAO 04 371 (February 2004).</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7EB243D-3FF6-45CF-BD93-C7D3ECEB236C}"/>
              </a:ext>
            </a:extLst>
          </p:cNvPr>
          <p:cNvSpPr>
            <a:spLocks noGrp="1" noChangeArrowheads="1"/>
          </p:cNvSpPr>
          <p:nvPr>
            <p:ph type="sldNum"/>
          </p:nvPr>
        </p:nvSpPr>
        <p:spPr>
          <a:ln/>
        </p:spPr>
        <p:txBody>
          <a:bodyPr/>
          <a:lstStyle/>
          <a:p>
            <a:fld id="{0EE472E2-D47D-4FF3-9367-CDF00B71AE7F}" type="slidenum">
              <a:rPr lang="en-US" altLang="en-US"/>
              <a:pPr/>
              <a:t>47</a:t>
            </a:fld>
            <a:endParaRPr lang="en-US" altLang="en-US"/>
          </a:p>
        </p:txBody>
      </p:sp>
      <p:sp>
        <p:nvSpPr>
          <p:cNvPr id="110593" name="Rectangle 1">
            <a:extLst>
              <a:ext uri="{FF2B5EF4-FFF2-40B4-BE49-F238E27FC236}">
                <a16:creationId xmlns:a16="http://schemas.microsoft.com/office/drawing/2014/main" id="{735BA2A3-4F8D-4C9D-9921-2C2736EA9AD6}"/>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0594" name="Text Box 2">
            <a:extLst>
              <a:ext uri="{FF2B5EF4-FFF2-40B4-BE49-F238E27FC236}">
                <a16:creationId xmlns:a16="http://schemas.microsoft.com/office/drawing/2014/main" id="{795771F2-3D04-4284-9E1B-15F4D063842B}"/>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Identification (who you say you are) versus authentication (you are who you say you are) validation</a:t>
            </a:r>
          </a:p>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Hackers have already broken into Acxiom; Acxiom's Web site says the company serves 14 of the top 15 credit card companies, seven of the top 10 auto manufacturers and five of the top six retail banks.  </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2E8D4D1-1E32-410C-A11F-EB7611FD8F17}"/>
              </a:ext>
            </a:extLst>
          </p:cNvPr>
          <p:cNvSpPr>
            <a:spLocks noGrp="1" noChangeArrowheads="1"/>
          </p:cNvSpPr>
          <p:nvPr>
            <p:ph type="sldNum"/>
          </p:nvPr>
        </p:nvSpPr>
        <p:spPr>
          <a:ln/>
        </p:spPr>
        <p:txBody>
          <a:bodyPr/>
          <a:lstStyle/>
          <a:p>
            <a:fld id="{F0DA9270-95DE-42B1-A494-CB6B240748AC}" type="slidenum">
              <a:rPr lang="en-US" altLang="en-US"/>
              <a:pPr/>
              <a:t>48</a:t>
            </a:fld>
            <a:endParaRPr lang="en-US" altLang="en-US"/>
          </a:p>
        </p:txBody>
      </p:sp>
      <p:sp>
        <p:nvSpPr>
          <p:cNvPr id="111617" name="Rectangle 1">
            <a:extLst>
              <a:ext uri="{FF2B5EF4-FFF2-40B4-BE49-F238E27FC236}">
                <a16:creationId xmlns:a16="http://schemas.microsoft.com/office/drawing/2014/main" id="{53AC0471-1292-4BDC-89F7-526DFFA00B51}"/>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1618" name="Rectangle 2">
            <a:extLst>
              <a:ext uri="{FF2B5EF4-FFF2-40B4-BE49-F238E27FC236}">
                <a16:creationId xmlns:a16="http://schemas.microsoft.com/office/drawing/2014/main" id="{D8212498-546A-4CAE-A666-9103DD69A955}"/>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F0B9942-0AFE-4EB4-A158-780AC6D6068F}"/>
              </a:ext>
            </a:extLst>
          </p:cNvPr>
          <p:cNvSpPr>
            <a:spLocks noGrp="1" noChangeArrowheads="1"/>
          </p:cNvSpPr>
          <p:nvPr>
            <p:ph type="sldNum"/>
          </p:nvPr>
        </p:nvSpPr>
        <p:spPr>
          <a:ln/>
        </p:spPr>
        <p:txBody>
          <a:bodyPr/>
          <a:lstStyle/>
          <a:p>
            <a:fld id="{5A07666E-70DB-4293-A742-F32EB1CF3092}" type="slidenum">
              <a:rPr lang="en-US" altLang="en-US"/>
              <a:pPr/>
              <a:t>49</a:t>
            </a:fld>
            <a:endParaRPr lang="en-US" altLang="en-US"/>
          </a:p>
        </p:txBody>
      </p:sp>
      <p:sp>
        <p:nvSpPr>
          <p:cNvPr id="112641" name="Rectangle 1">
            <a:extLst>
              <a:ext uri="{FF2B5EF4-FFF2-40B4-BE49-F238E27FC236}">
                <a16:creationId xmlns:a16="http://schemas.microsoft.com/office/drawing/2014/main" id="{8F436614-F523-4CDA-96E5-CA9A5097855C}"/>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42" name="Text Box 2">
            <a:extLst>
              <a:ext uri="{FF2B5EF4-FFF2-40B4-BE49-F238E27FC236}">
                <a16:creationId xmlns:a16="http://schemas.microsoft.com/office/drawing/2014/main" id="{FCF2AB0D-5426-4364-BA4E-1F0040BC09BD}"/>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This system is in place at the 50 largest land based PoE—2 in western Canada and all across southern CA, Arizona, NM, and Texas…</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968E4B2-AB7D-4D50-8B59-14F6EAA841BD}"/>
              </a:ext>
            </a:extLst>
          </p:cNvPr>
          <p:cNvSpPr>
            <a:spLocks noGrp="1" noChangeArrowheads="1"/>
          </p:cNvSpPr>
          <p:nvPr>
            <p:ph type="sldNum"/>
          </p:nvPr>
        </p:nvSpPr>
        <p:spPr>
          <a:ln/>
        </p:spPr>
        <p:txBody>
          <a:bodyPr/>
          <a:lstStyle/>
          <a:p>
            <a:fld id="{5F6D348E-67DD-4A17-B358-ADE842C99284}" type="slidenum">
              <a:rPr lang="en-US" altLang="en-US"/>
              <a:pPr/>
              <a:t>50</a:t>
            </a:fld>
            <a:endParaRPr lang="en-US" altLang="en-US"/>
          </a:p>
        </p:txBody>
      </p:sp>
      <p:sp>
        <p:nvSpPr>
          <p:cNvPr id="113665" name="Rectangle 1">
            <a:extLst>
              <a:ext uri="{FF2B5EF4-FFF2-40B4-BE49-F238E27FC236}">
                <a16:creationId xmlns:a16="http://schemas.microsoft.com/office/drawing/2014/main" id="{53ADC12C-6E02-4542-80AF-573D6725536C}"/>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3666" name="Rectangle 2">
            <a:extLst>
              <a:ext uri="{FF2B5EF4-FFF2-40B4-BE49-F238E27FC236}">
                <a16:creationId xmlns:a16="http://schemas.microsoft.com/office/drawing/2014/main" id="{D44B239C-0FF5-4EAB-979B-09358E55CA1E}"/>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84DAC70-F72F-4C10-9A6A-2E3C25EA8F8F}"/>
              </a:ext>
            </a:extLst>
          </p:cNvPr>
          <p:cNvSpPr>
            <a:spLocks noGrp="1" noChangeArrowheads="1"/>
          </p:cNvSpPr>
          <p:nvPr>
            <p:ph type="sldNum"/>
          </p:nvPr>
        </p:nvSpPr>
        <p:spPr>
          <a:ln/>
        </p:spPr>
        <p:txBody>
          <a:bodyPr/>
          <a:lstStyle/>
          <a:p>
            <a:fld id="{D283F06B-3408-41EA-BD60-96509523FA3B}" type="slidenum">
              <a:rPr lang="en-US" altLang="en-US"/>
              <a:pPr/>
              <a:t>51</a:t>
            </a:fld>
            <a:endParaRPr lang="en-US" altLang="en-US"/>
          </a:p>
        </p:txBody>
      </p:sp>
      <p:sp>
        <p:nvSpPr>
          <p:cNvPr id="114689" name="Rectangle 1">
            <a:extLst>
              <a:ext uri="{FF2B5EF4-FFF2-40B4-BE49-F238E27FC236}">
                <a16:creationId xmlns:a16="http://schemas.microsoft.com/office/drawing/2014/main" id="{131E4243-A03B-4CB3-9DDF-2A8ECAA68474}"/>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4690" name="Text Box 2">
            <a:extLst>
              <a:ext uri="{FF2B5EF4-FFF2-40B4-BE49-F238E27FC236}">
                <a16:creationId xmlns:a16="http://schemas.microsoft.com/office/drawing/2014/main" id="{BFAF55D2-B295-45E2-AC1F-1E0A84248695}"/>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At one point, only 30% of our GRE TOEFL scores matched our applications</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4F4E69C-F95D-4C36-A145-FD25EBD4655D}"/>
              </a:ext>
            </a:extLst>
          </p:cNvPr>
          <p:cNvSpPr>
            <a:spLocks noGrp="1" noChangeArrowheads="1"/>
          </p:cNvSpPr>
          <p:nvPr>
            <p:ph type="sldNum"/>
          </p:nvPr>
        </p:nvSpPr>
        <p:spPr>
          <a:ln/>
        </p:spPr>
        <p:txBody>
          <a:bodyPr/>
          <a:lstStyle/>
          <a:p>
            <a:fld id="{68AE4BB9-885A-4B28-BE36-41A85E4DAA4D}" type="slidenum">
              <a:rPr lang="en-US" altLang="en-US"/>
              <a:pPr/>
              <a:t>52</a:t>
            </a:fld>
            <a:endParaRPr lang="en-US" altLang="en-US"/>
          </a:p>
        </p:txBody>
      </p:sp>
      <p:sp>
        <p:nvSpPr>
          <p:cNvPr id="115713" name="Rectangle 1">
            <a:extLst>
              <a:ext uri="{FF2B5EF4-FFF2-40B4-BE49-F238E27FC236}">
                <a16:creationId xmlns:a16="http://schemas.microsoft.com/office/drawing/2014/main" id="{0F817561-49E5-44C5-BDAE-1D8BD2480822}"/>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5714" name="Text Box 2">
            <a:extLst>
              <a:ext uri="{FF2B5EF4-FFF2-40B4-BE49-F238E27FC236}">
                <a16:creationId xmlns:a16="http://schemas.microsoft.com/office/drawing/2014/main" id="{9C4FEC77-DC70-42C7-A7DC-4983E4066910}"/>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latin typeface="Arial" panose="020B0604020202020204" pitchFamily="34" charset="0"/>
                <a:cs typeface="Arial" panose="020B0604020202020204" pitchFamily="34" charset="0"/>
              </a:rPr>
              <a:t>USC, international recruitment offices</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F6FA74C-FD16-471A-9D51-2B01FD48903D}"/>
              </a:ext>
            </a:extLst>
          </p:cNvPr>
          <p:cNvSpPr>
            <a:spLocks noGrp="1" noChangeArrowheads="1"/>
          </p:cNvSpPr>
          <p:nvPr>
            <p:ph type="sldNum"/>
          </p:nvPr>
        </p:nvSpPr>
        <p:spPr>
          <a:ln/>
        </p:spPr>
        <p:txBody>
          <a:bodyPr/>
          <a:lstStyle/>
          <a:p>
            <a:fld id="{BCD125B2-192B-464D-9473-88FF67443B5E}" type="slidenum">
              <a:rPr lang="en-US" altLang="en-US"/>
              <a:pPr/>
              <a:t>53</a:t>
            </a:fld>
            <a:endParaRPr lang="en-US" altLang="en-US"/>
          </a:p>
        </p:txBody>
      </p:sp>
      <p:sp>
        <p:nvSpPr>
          <p:cNvPr id="116737" name="Rectangle 1">
            <a:extLst>
              <a:ext uri="{FF2B5EF4-FFF2-40B4-BE49-F238E27FC236}">
                <a16:creationId xmlns:a16="http://schemas.microsoft.com/office/drawing/2014/main" id="{C85AE99F-82AD-4326-9524-D166B42D941C}"/>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6738" name="Rectangle 2">
            <a:extLst>
              <a:ext uri="{FF2B5EF4-FFF2-40B4-BE49-F238E27FC236}">
                <a16:creationId xmlns:a16="http://schemas.microsoft.com/office/drawing/2014/main" id="{226F4808-B461-4DC8-8767-3C615B3BFD51}"/>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C9EE219-4038-4EE1-8BCB-B14FBB7C2A67}"/>
              </a:ext>
            </a:extLst>
          </p:cNvPr>
          <p:cNvSpPr>
            <a:spLocks noGrp="1" noChangeArrowheads="1"/>
          </p:cNvSpPr>
          <p:nvPr>
            <p:ph type="sldNum"/>
          </p:nvPr>
        </p:nvSpPr>
        <p:spPr>
          <a:ln/>
        </p:spPr>
        <p:txBody>
          <a:bodyPr/>
          <a:lstStyle/>
          <a:p>
            <a:fld id="{77149E68-B0E3-4DB9-9B1C-1A43DE192F3C}" type="slidenum">
              <a:rPr lang="en-US" altLang="en-US"/>
              <a:pPr/>
              <a:t>54</a:t>
            </a:fld>
            <a:endParaRPr lang="en-US" altLang="en-US"/>
          </a:p>
        </p:txBody>
      </p:sp>
      <p:sp>
        <p:nvSpPr>
          <p:cNvPr id="117761" name="Rectangle 1">
            <a:extLst>
              <a:ext uri="{FF2B5EF4-FFF2-40B4-BE49-F238E27FC236}">
                <a16:creationId xmlns:a16="http://schemas.microsoft.com/office/drawing/2014/main" id="{ED7531BD-FC9C-4180-B029-89EF8A66D0DB}"/>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7762" name="Rectangle 2">
            <a:extLst>
              <a:ext uri="{FF2B5EF4-FFF2-40B4-BE49-F238E27FC236}">
                <a16:creationId xmlns:a16="http://schemas.microsoft.com/office/drawing/2014/main" id="{EEA46C65-DB27-472D-9099-F2D40405B24F}"/>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83D86A6-4700-401A-A302-8BEE13E68A69}"/>
              </a:ext>
            </a:extLst>
          </p:cNvPr>
          <p:cNvSpPr>
            <a:spLocks noGrp="1" noChangeArrowheads="1"/>
          </p:cNvSpPr>
          <p:nvPr>
            <p:ph type="sldNum"/>
          </p:nvPr>
        </p:nvSpPr>
        <p:spPr>
          <a:ln/>
        </p:spPr>
        <p:txBody>
          <a:bodyPr/>
          <a:lstStyle/>
          <a:p>
            <a:fld id="{0D1FAB3C-3616-4B94-BFFB-1021F37113A5}" type="slidenum">
              <a:rPr lang="en-US" altLang="en-US"/>
              <a:pPr/>
              <a:t>55</a:t>
            </a:fld>
            <a:endParaRPr lang="en-US" altLang="en-US"/>
          </a:p>
        </p:txBody>
      </p:sp>
      <p:sp>
        <p:nvSpPr>
          <p:cNvPr id="118785" name="Rectangle 1">
            <a:extLst>
              <a:ext uri="{FF2B5EF4-FFF2-40B4-BE49-F238E27FC236}">
                <a16:creationId xmlns:a16="http://schemas.microsoft.com/office/drawing/2014/main" id="{534A3778-3D2F-4DCF-83AE-286898211748}"/>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8786" name="Rectangle 2">
            <a:extLst>
              <a:ext uri="{FF2B5EF4-FFF2-40B4-BE49-F238E27FC236}">
                <a16:creationId xmlns:a16="http://schemas.microsoft.com/office/drawing/2014/main" id="{9E066092-F73D-45B3-81D9-16AC53C2485E}"/>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350EC6B-71E9-41A8-8DBE-902C16C086F7}"/>
              </a:ext>
            </a:extLst>
          </p:cNvPr>
          <p:cNvSpPr>
            <a:spLocks noGrp="1" noChangeArrowheads="1"/>
          </p:cNvSpPr>
          <p:nvPr>
            <p:ph type="sldNum"/>
          </p:nvPr>
        </p:nvSpPr>
        <p:spPr>
          <a:ln/>
        </p:spPr>
        <p:txBody>
          <a:bodyPr/>
          <a:lstStyle/>
          <a:p>
            <a:fld id="{5823FDE7-BEC7-42DE-8F48-C0CCABF40127}" type="slidenum">
              <a:rPr lang="en-US" altLang="en-US"/>
              <a:pPr/>
              <a:t>56</a:t>
            </a:fld>
            <a:endParaRPr lang="en-US" altLang="en-US"/>
          </a:p>
        </p:txBody>
      </p:sp>
      <p:sp>
        <p:nvSpPr>
          <p:cNvPr id="119809" name="Rectangle 1">
            <a:extLst>
              <a:ext uri="{FF2B5EF4-FFF2-40B4-BE49-F238E27FC236}">
                <a16:creationId xmlns:a16="http://schemas.microsoft.com/office/drawing/2014/main" id="{64181BE4-D08D-44EE-9609-A6ABAC89C812}"/>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9810" name="Rectangle 2">
            <a:extLst>
              <a:ext uri="{FF2B5EF4-FFF2-40B4-BE49-F238E27FC236}">
                <a16:creationId xmlns:a16="http://schemas.microsoft.com/office/drawing/2014/main" id="{E9F01F64-9BBF-4E6F-9CA1-B4D679127BDE}"/>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428D5E3-6690-4DFF-9FE9-BD0C29428719}"/>
              </a:ext>
            </a:extLst>
          </p:cNvPr>
          <p:cNvSpPr>
            <a:spLocks noGrp="1" noChangeArrowheads="1"/>
          </p:cNvSpPr>
          <p:nvPr>
            <p:ph type="sldNum"/>
          </p:nvPr>
        </p:nvSpPr>
        <p:spPr>
          <a:ln/>
        </p:spPr>
        <p:txBody>
          <a:bodyPr/>
          <a:lstStyle/>
          <a:p>
            <a:fld id="{E466EBE5-CC42-4CA9-AE94-9D091DEB28A9}" type="slidenum">
              <a:rPr lang="en-US" altLang="en-US"/>
              <a:pPr/>
              <a:t>57</a:t>
            </a:fld>
            <a:endParaRPr lang="en-US" altLang="en-US"/>
          </a:p>
        </p:txBody>
      </p:sp>
      <p:sp>
        <p:nvSpPr>
          <p:cNvPr id="120833" name="Rectangle 1">
            <a:extLst>
              <a:ext uri="{FF2B5EF4-FFF2-40B4-BE49-F238E27FC236}">
                <a16:creationId xmlns:a16="http://schemas.microsoft.com/office/drawing/2014/main" id="{86DDD16E-B323-4F9F-8DEC-CA9FDD33AB1A}"/>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0834" name="Rectangle 2">
            <a:extLst>
              <a:ext uri="{FF2B5EF4-FFF2-40B4-BE49-F238E27FC236}">
                <a16:creationId xmlns:a16="http://schemas.microsoft.com/office/drawing/2014/main" id="{A7DF5C91-92EA-4CA4-B635-DDD9F941F7B1}"/>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08088EF-15EA-4D83-BAE2-326C86F7BC5C}"/>
              </a:ext>
            </a:extLst>
          </p:cNvPr>
          <p:cNvSpPr>
            <a:spLocks noGrp="1" noChangeArrowheads="1"/>
          </p:cNvSpPr>
          <p:nvPr>
            <p:ph type="sldNum"/>
          </p:nvPr>
        </p:nvSpPr>
        <p:spPr>
          <a:ln/>
        </p:spPr>
        <p:txBody>
          <a:bodyPr/>
          <a:lstStyle/>
          <a:p>
            <a:fld id="{7693661C-18FA-43B5-AF32-85A85F0EE637}" type="slidenum">
              <a:rPr lang="en-US" altLang="en-US"/>
              <a:pPr/>
              <a:t>58</a:t>
            </a:fld>
            <a:endParaRPr lang="en-US" altLang="en-US"/>
          </a:p>
        </p:txBody>
      </p:sp>
      <p:sp>
        <p:nvSpPr>
          <p:cNvPr id="121857" name="Rectangle 1">
            <a:extLst>
              <a:ext uri="{FF2B5EF4-FFF2-40B4-BE49-F238E27FC236}">
                <a16:creationId xmlns:a16="http://schemas.microsoft.com/office/drawing/2014/main" id="{4133FE4D-84B7-4E60-A311-536BC25B352D}"/>
              </a:ext>
            </a:extLst>
          </p:cNvPr>
          <p:cNvSpPr txBox="1">
            <a:spLocks noChangeArrowheads="1"/>
          </p:cNvSpPr>
          <p:nvPr>
            <p:ph type="sldImg"/>
          </p:nvPr>
        </p:nvSpPr>
        <p:spPr bwMode="auto">
          <a:xfrm>
            <a:off x="1181100" y="695325"/>
            <a:ext cx="4635500" cy="3476625"/>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1858" name="Rectangle 2">
            <a:extLst>
              <a:ext uri="{FF2B5EF4-FFF2-40B4-BE49-F238E27FC236}">
                <a16:creationId xmlns:a16="http://schemas.microsoft.com/office/drawing/2014/main" id="{99F545B3-B10F-4779-9886-E8EF20039546}"/>
              </a:ext>
            </a:extLst>
          </p:cNvPr>
          <p:cNvSpPr txBox="1">
            <a:spLocks noChangeArrowheads="1"/>
          </p:cNvSpPr>
          <p:nvPr>
            <p:ph type="body" idx="1"/>
          </p:nvPr>
        </p:nvSpPr>
        <p:spPr bwMode="auto">
          <a:xfrm>
            <a:off x="700088" y="4403725"/>
            <a:ext cx="5597525" cy="41719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DD050-A0E9-4936-8144-3CFAAAC9099A}"/>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DFBB78-FA9B-43D2-BE89-B6AED8685DB2}"/>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C27B81-9CA8-4500-B0E2-E630DA320B84}"/>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376CD304-3E77-47EF-A454-DB39177E6C2F}"/>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65852455-35B6-4D00-B940-A00A9BAD40DE}"/>
              </a:ext>
            </a:extLst>
          </p:cNvPr>
          <p:cNvSpPr>
            <a:spLocks noGrp="1"/>
          </p:cNvSpPr>
          <p:nvPr>
            <p:ph type="sldNum" idx="12"/>
          </p:nvPr>
        </p:nvSpPr>
        <p:spPr/>
        <p:txBody>
          <a:bodyPr/>
          <a:lstStyle>
            <a:lvl1pPr>
              <a:defRPr/>
            </a:lvl1pPr>
          </a:lstStyle>
          <a:p>
            <a:fld id="{7FC659E0-37AD-4125-BBC3-1331C3ECB197}" type="slidenum">
              <a:rPr lang="en-US" altLang="en-US"/>
              <a:pPr/>
              <a:t>‹#›</a:t>
            </a:fld>
            <a:endParaRPr lang="en-US" altLang="en-US"/>
          </a:p>
        </p:txBody>
      </p:sp>
    </p:spTree>
    <p:extLst>
      <p:ext uri="{BB962C8B-B14F-4D97-AF65-F5344CB8AC3E}">
        <p14:creationId xmlns:p14="http://schemas.microsoft.com/office/powerpoint/2010/main" val="875636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032ED-A91A-44C4-B701-1A7F6A7D14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1385E6-B5DC-4DA4-BB08-865F403A34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30B8-20D7-49CC-9812-E2CB36C2F5D6}"/>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923C672E-685A-485A-90BB-4074BFE84F66}"/>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ABAB488A-9AD1-4179-A09E-25E5038C9F9B}"/>
              </a:ext>
            </a:extLst>
          </p:cNvPr>
          <p:cNvSpPr>
            <a:spLocks noGrp="1"/>
          </p:cNvSpPr>
          <p:nvPr>
            <p:ph type="sldNum" idx="12"/>
          </p:nvPr>
        </p:nvSpPr>
        <p:spPr/>
        <p:txBody>
          <a:bodyPr/>
          <a:lstStyle>
            <a:lvl1pPr>
              <a:defRPr/>
            </a:lvl1pPr>
          </a:lstStyle>
          <a:p>
            <a:fld id="{D6EA079C-9F47-482D-A530-9966D907AF47}" type="slidenum">
              <a:rPr lang="en-US" altLang="en-US"/>
              <a:pPr/>
              <a:t>‹#›</a:t>
            </a:fld>
            <a:endParaRPr lang="en-US" altLang="en-US"/>
          </a:p>
        </p:txBody>
      </p:sp>
    </p:spTree>
    <p:extLst>
      <p:ext uri="{BB962C8B-B14F-4D97-AF65-F5344CB8AC3E}">
        <p14:creationId xmlns:p14="http://schemas.microsoft.com/office/powerpoint/2010/main" val="1299608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E38F9-72E5-4F8B-A5C2-A1A9FDC25E75}"/>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35F8A36-072B-4DB5-A0BF-ADD8BF543931}"/>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4F472351-F2BF-47CB-80A5-A00B7D871051}"/>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7EF14ADE-5D7D-49BB-9F16-EA20D995AFCB}"/>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CC6EF024-0EBD-4C80-933B-6983115AC10C}"/>
              </a:ext>
            </a:extLst>
          </p:cNvPr>
          <p:cNvSpPr>
            <a:spLocks noGrp="1"/>
          </p:cNvSpPr>
          <p:nvPr>
            <p:ph type="sldNum" idx="12"/>
          </p:nvPr>
        </p:nvSpPr>
        <p:spPr/>
        <p:txBody>
          <a:bodyPr/>
          <a:lstStyle>
            <a:lvl1pPr>
              <a:defRPr/>
            </a:lvl1pPr>
          </a:lstStyle>
          <a:p>
            <a:fld id="{407AED4B-0773-4860-B275-39A35BC9385A}" type="slidenum">
              <a:rPr lang="en-US" altLang="en-US"/>
              <a:pPr/>
              <a:t>‹#›</a:t>
            </a:fld>
            <a:endParaRPr lang="en-US" altLang="en-US"/>
          </a:p>
        </p:txBody>
      </p:sp>
    </p:spTree>
    <p:extLst>
      <p:ext uri="{BB962C8B-B14F-4D97-AF65-F5344CB8AC3E}">
        <p14:creationId xmlns:p14="http://schemas.microsoft.com/office/powerpoint/2010/main" val="164724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2E8F5-C065-48D6-8879-1AC3C58CF4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F84668-E9D5-45E6-BE3E-B5FD19A17518}"/>
              </a:ext>
            </a:extLst>
          </p:cNvPr>
          <p:cNvSpPr>
            <a:spLocks noGrp="1"/>
          </p:cNvSpPr>
          <p:nvPr>
            <p:ph sz="half" idx="1"/>
          </p:nvPr>
        </p:nvSpPr>
        <p:spPr>
          <a:xfrm>
            <a:off x="1371600" y="1295400"/>
            <a:ext cx="3160713" cy="47228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E2D4346-A370-440E-9620-6EB277AB618A}"/>
              </a:ext>
            </a:extLst>
          </p:cNvPr>
          <p:cNvSpPr>
            <a:spLocks noGrp="1"/>
          </p:cNvSpPr>
          <p:nvPr>
            <p:ph sz="half" idx="2"/>
          </p:nvPr>
        </p:nvSpPr>
        <p:spPr>
          <a:xfrm>
            <a:off x="4684713" y="1295400"/>
            <a:ext cx="3162300" cy="47228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96C8A0-A0D6-4995-BCC3-A3C4C68BF572}"/>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E1545B7E-CA36-472A-8138-B6EB9711F273}"/>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358498F5-8521-4F8C-828F-745E6627E95E}"/>
              </a:ext>
            </a:extLst>
          </p:cNvPr>
          <p:cNvSpPr>
            <a:spLocks noGrp="1"/>
          </p:cNvSpPr>
          <p:nvPr>
            <p:ph type="sldNum" idx="12"/>
          </p:nvPr>
        </p:nvSpPr>
        <p:spPr/>
        <p:txBody>
          <a:bodyPr/>
          <a:lstStyle>
            <a:lvl1pPr>
              <a:defRPr/>
            </a:lvl1pPr>
          </a:lstStyle>
          <a:p>
            <a:fld id="{1A70AEA6-7E03-44BD-8D98-35F230BD5CBC}" type="slidenum">
              <a:rPr lang="en-US" altLang="en-US"/>
              <a:pPr/>
              <a:t>‹#›</a:t>
            </a:fld>
            <a:endParaRPr lang="en-US" altLang="en-US"/>
          </a:p>
        </p:txBody>
      </p:sp>
    </p:spTree>
    <p:extLst>
      <p:ext uri="{BB962C8B-B14F-4D97-AF65-F5344CB8AC3E}">
        <p14:creationId xmlns:p14="http://schemas.microsoft.com/office/powerpoint/2010/main" val="2091188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31AFF-0DA5-4A09-A360-83D427D6A08B}"/>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5A345F-F8A6-4C78-8EE4-FAA1A3404AB4}"/>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D36713-DBA9-42E7-921E-DC84B86ABC6A}"/>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4E1C350-E7F0-4388-AFE6-6AAB8FFFC0EE}"/>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93707F-9B53-4EA0-8D5E-E92C50A8733F}"/>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A2DF9EE-5184-4C04-9839-F982A0A70693}"/>
              </a:ext>
            </a:extLst>
          </p:cNvPr>
          <p:cNvSpPr>
            <a:spLocks noGrp="1"/>
          </p:cNvSpPr>
          <p:nvPr>
            <p:ph type="dt"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FB254BB2-2AAF-4021-B2C5-5724C8FBDF02}"/>
              </a:ext>
            </a:extLst>
          </p:cNvPr>
          <p:cNvSpPr>
            <a:spLocks noGrp="1"/>
          </p:cNvSpPr>
          <p:nvPr>
            <p:ph type="ft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4EE264FE-DE3E-49E5-92B1-8690F559AC7E}"/>
              </a:ext>
            </a:extLst>
          </p:cNvPr>
          <p:cNvSpPr>
            <a:spLocks noGrp="1"/>
          </p:cNvSpPr>
          <p:nvPr>
            <p:ph type="sldNum" idx="12"/>
          </p:nvPr>
        </p:nvSpPr>
        <p:spPr/>
        <p:txBody>
          <a:bodyPr/>
          <a:lstStyle>
            <a:lvl1pPr>
              <a:defRPr/>
            </a:lvl1pPr>
          </a:lstStyle>
          <a:p>
            <a:fld id="{CB9215CF-79B6-4F2B-A922-21D2891F1C83}" type="slidenum">
              <a:rPr lang="en-US" altLang="en-US"/>
              <a:pPr/>
              <a:t>‹#›</a:t>
            </a:fld>
            <a:endParaRPr lang="en-US" altLang="en-US"/>
          </a:p>
        </p:txBody>
      </p:sp>
    </p:spTree>
    <p:extLst>
      <p:ext uri="{BB962C8B-B14F-4D97-AF65-F5344CB8AC3E}">
        <p14:creationId xmlns:p14="http://schemas.microsoft.com/office/powerpoint/2010/main" val="4088460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D7205-F308-4A24-8E7A-99927B464F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DF92E9-C267-473E-A9C2-05463828648E}"/>
              </a:ext>
            </a:extLst>
          </p:cNvPr>
          <p:cNvSpPr>
            <a:spLocks noGrp="1"/>
          </p:cNvSpPr>
          <p:nvPr>
            <p:ph type="dt"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52479651-2FD8-46E5-8D75-1980675A7409}"/>
              </a:ext>
            </a:extLst>
          </p:cNvPr>
          <p:cNvSpPr>
            <a:spLocks noGrp="1"/>
          </p:cNvSpPr>
          <p:nvPr>
            <p:ph type="ft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DF21621B-C5B7-4C77-9EF7-00A210A9715F}"/>
              </a:ext>
            </a:extLst>
          </p:cNvPr>
          <p:cNvSpPr>
            <a:spLocks noGrp="1"/>
          </p:cNvSpPr>
          <p:nvPr>
            <p:ph type="sldNum" idx="12"/>
          </p:nvPr>
        </p:nvSpPr>
        <p:spPr/>
        <p:txBody>
          <a:bodyPr/>
          <a:lstStyle>
            <a:lvl1pPr>
              <a:defRPr/>
            </a:lvl1pPr>
          </a:lstStyle>
          <a:p>
            <a:fld id="{C2507471-0C75-40BE-885F-56A5195CE51E}" type="slidenum">
              <a:rPr lang="en-US" altLang="en-US"/>
              <a:pPr/>
              <a:t>‹#›</a:t>
            </a:fld>
            <a:endParaRPr lang="en-US" altLang="en-US"/>
          </a:p>
        </p:txBody>
      </p:sp>
    </p:spTree>
    <p:extLst>
      <p:ext uri="{BB962C8B-B14F-4D97-AF65-F5344CB8AC3E}">
        <p14:creationId xmlns:p14="http://schemas.microsoft.com/office/powerpoint/2010/main" val="1448864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A2B7F7-BE5F-41ED-9B4D-672C085B0239}"/>
              </a:ext>
            </a:extLst>
          </p:cNvPr>
          <p:cNvSpPr>
            <a:spLocks noGrp="1"/>
          </p:cNvSpPr>
          <p:nvPr>
            <p:ph type="dt"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709692F7-F8CA-40AD-8273-52B03087249D}"/>
              </a:ext>
            </a:extLst>
          </p:cNvPr>
          <p:cNvSpPr>
            <a:spLocks noGrp="1"/>
          </p:cNvSpPr>
          <p:nvPr>
            <p:ph type="ft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3416EDD5-FE4E-4AD0-934F-DBF5E71ED1A5}"/>
              </a:ext>
            </a:extLst>
          </p:cNvPr>
          <p:cNvSpPr>
            <a:spLocks noGrp="1"/>
          </p:cNvSpPr>
          <p:nvPr>
            <p:ph type="sldNum" idx="12"/>
          </p:nvPr>
        </p:nvSpPr>
        <p:spPr/>
        <p:txBody>
          <a:bodyPr/>
          <a:lstStyle>
            <a:lvl1pPr>
              <a:defRPr/>
            </a:lvl1pPr>
          </a:lstStyle>
          <a:p>
            <a:fld id="{51296F1D-B04F-4F3B-A63F-2887CC55C3C1}" type="slidenum">
              <a:rPr lang="en-US" altLang="en-US"/>
              <a:pPr/>
              <a:t>‹#›</a:t>
            </a:fld>
            <a:endParaRPr lang="en-US" altLang="en-US"/>
          </a:p>
        </p:txBody>
      </p:sp>
    </p:spTree>
    <p:extLst>
      <p:ext uri="{BB962C8B-B14F-4D97-AF65-F5344CB8AC3E}">
        <p14:creationId xmlns:p14="http://schemas.microsoft.com/office/powerpoint/2010/main" val="2050419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76C54-285D-47FF-A93F-F8A6AF66E514}"/>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9E7E9A-8DA4-41A4-BC14-683C89B4D6B7}"/>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861E47-5447-429C-870C-2C07D82A839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945803-F406-462C-8480-5CBC841F1253}"/>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F6E716D4-0CB7-4D91-9F02-ABFE7CACFAC5}"/>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FBB59EBE-007E-4F66-A568-04CD90125A97}"/>
              </a:ext>
            </a:extLst>
          </p:cNvPr>
          <p:cNvSpPr>
            <a:spLocks noGrp="1"/>
          </p:cNvSpPr>
          <p:nvPr>
            <p:ph type="sldNum" idx="12"/>
          </p:nvPr>
        </p:nvSpPr>
        <p:spPr/>
        <p:txBody>
          <a:bodyPr/>
          <a:lstStyle>
            <a:lvl1pPr>
              <a:defRPr/>
            </a:lvl1pPr>
          </a:lstStyle>
          <a:p>
            <a:fld id="{6C06E57D-915E-4021-9211-27AD439CFCC8}" type="slidenum">
              <a:rPr lang="en-US" altLang="en-US"/>
              <a:pPr/>
              <a:t>‹#›</a:t>
            </a:fld>
            <a:endParaRPr lang="en-US" altLang="en-US"/>
          </a:p>
        </p:txBody>
      </p:sp>
    </p:spTree>
    <p:extLst>
      <p:ext uri="{BB962C8B-B14F-4D97-AF65-F5344CB8AC3E}">
        <p14:creationId xmlns:p14="http://schemas.microsoft.com/office/powerpoint/2010/main" val="806911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01B74-F692-4238-9860-523829C53E4A}"/>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6AFD2E2-A172-4CEE-A0BF-8880B0395A0A}"/>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892FD67-6787-4F66-8E99-6D1DE7619FA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65879D-A317-405A-8807-92641CADC519}"/>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F442C678-34F7-4D95-92B2-79030C7627F7}"/>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BC7CBF08-A3AA-496A-B697-03376B1F538B}"/>
              </a:ext>
            </a:extLst>
          </p:cNvPr>
          <p:cNvSpPr>
            <a:spLocks noGrp="1"/>
          </p:cNvSpPr>
          <p:nvPr>
            <p:ph type="sldNum" idx="12"/>
          </p:nvPr>
        </p:nvSpPr>
        <p:spPr/>
        <p:txBody>
          <a:bodyPr/>
          <a:lstStyle>
            <a:lvl1pPr>
              <a:defRPr/>
            </a:lvl1pPr>
          </a:lstStyle>
          <a:p>
            <a:fld id="{6029ADDD-5459-4481-B3D5-49E37B410A22}" type="slidenum">
              <a:rPr lang="en-US" altLang="en-US"/>
              <a:pPr/>
              <a:t>‹#›</a:t>
            </a:fld>
            <a:endParaRPr lang="en-US" altLang="en-US"/>
          </a:p>
        </p:txBody>
      </p:sp>
    </p:spTree>
    <p:extLst>
      <p:ext uri="{BB962C8B-B14F-4D97-AF65-F5344CB8AC3E}">
        <p14:creationId xmlns:p14="http://schemas.microsoft.com/office/powerpoint/2010/main" val="1385819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21297-3CEA-4D8C-91AE-4F1DBF2731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C82E9F-D2AC-44BB-B784-D044FA14D3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35044E-FF70-475D-B183-B5F265A7DD4C}"/>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DA9E5D6D-7932-4088-9DF2-03921F39EED7}"/>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7188DB4-1751-4BD0-9F50-8C86FD8F36D1}"/>
              </a:ext>
            </a:extLst>
          </p:cNvPr>
          <p:cNvSpPr>
            <a:spLocks noGrp="1"/>
          </p:cNvSpPr>
          <p:nvPr>
            <p:ph type="sldNum" idx="12"/>
          </p:nvPr>
        </p:nvSpPr>
        <p:spPr/>
        <p:txBody>
          <a:bodyPr/>
          <a:lstStyle>
            <a:lvl1pPr>
              <a:defRPr/>
            </a:lvl1pPr>
          </a:lstStyle>
          <a:p>
            <a:fld id="{A11C2C7A-B8C9-4F2F-BAD1-F97E6CBEF14D}" type="slidenum">
              <a:rPr lang="en-US" altLang="en-US"/>
              <a:pPr/>
              <a:t>‹#›</a:t>
            </a:fld>
            <a:endParaRPr lang="en-US" altLang="en-US"/>
          </a:p>
        </p:txBody>
      </p:sp>
    </p:spTree>
    <p:extLst>
      <p:ext uri="{BB962C8B-B14F-4D97-AF65-F5344CB8AC3E}">
        <p14:creationId xmlns:p14="http://schemas.microsoft.com/office/powerpoint/2010/main" val="2716538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FD1F15-4000-4C30-A84F-0855998405F4}"/>
              </a:ext>
            </a:extLst>
          </p:cNvPr>
          <p:cNvSpPr>
            <a:spLocks noGrp="1"/>
          </p:cNvSpPr>
          <p:nvPr>
            <p:ph type="title" orient="vert"/>
          </p:nvPr>
        </p:nvSpPr>
        <p:spPr>
          <a:xfrm>
            <a:off x="6324600" y="152400"/>
            <a:ext cx="1751013" cy="586581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2C87371-1AAF-4CCC-A83A-82A6413B2D64}"/>
              </a:ext>
            </a:extLst>
          </p:cNvPr>
          <p:cNvSpPr>
            <a:spLocks noGrp="1"/>
          </p:cNvSpPr>
          <p:nvPr>
            <p:ph type="body" orient="vert" idx="1"/>
          </p:nvPr>
        </p:nvSpPr>
        <p:spPr>
          <a:xfrm>
            <a:off x="1066800" y="152400"/>
            <a:ext cx="5105400" cy="58658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75179B-4D10-431E-9BB6-4C2A6AAD199A}"/>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E8105196-56A3-449B-A9C5-95DBAD323EB6}"/>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BFBFB08F-E81F-45FF-A54C-1E3CCB6C3BF8}"/>
              </a:ext>
            </a:extLst>
          </p:cNvPr>
          <p:cNvSpPr>
            <a:spLocks noGrp="1"/>
          </p:cNvSpPr>
          <p:nvPr>
            <p:ph type="sldNum" idx="12"/>
          </p:nvPr>
        </p:nvSpPr>
        <p:spPr/>
        <p:txBody>
          <a:bodyPr/>
          <a:lstStyle>
            <a:lvl1pPr>
              <a:defRPr/>
            </a:lvl1pPr>
          </a:lstStyle>
          <a:p>
            <a:fld id="{FCAD2561-51D5-4A5F-8C14-431034EC5A0D}" type="slidenum">
              <a:rPr lang="en-US" altLang="en-US"/>
              <a:pPr/>
              <a:t>‹#›</a:t>
            </a:fld>
            <a:endParaRPr lang="en-US" altLang="en-US"/>
          </a:p>
        </p:txBody>
      </p:sp>
    </p:spTree>
    <p:extLst>
      <p:ext uri="{BB962C8B-B14F-4D97-AF65-F5344CB8AC3E}">
        <p14:creationId xmlns:p14="http://schemas.microsoft.com/office/powerpoint/2010/main" val="20701662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A1F23-27BF-4C5C-BC63-88C1EA880A8A}"/>
              </a:ext>
            </a:extLst>
          </p:cNvPr>
          <p:cNvSpPr>
            <a:spLocks noGrp="1"/>
          </p:cNvSpPr>
          <p:nvPr>
            <p:ph type="title"/>
          </p:nvPr>
        </p:nvSpPr>
        <p:spPr>
          <a:xfrm>
            <a:off x="1066800" y="152400"/>
            <a:ext cx="7008813" cy="912813"/>
          </a:xfrm>
        </p:spPr>
        <p:txBody>
          <a:bodyPr/>
          <a:lstStyle/>
          <a:p>
            <a:r>
              <a:rPr lang="en-US"/>
              <a:t>Click to edit Master title style</a:t>
            </a:r>
          </a:p>
        </p:txBody>
      </p:sp>
      <p:sp>
        <p:nvSpPr>
          <p:cNvPr id="3" name="Table Placeholder 2">
            <a:extLst>
              <a:ext uri="{FF2B5EF4-FFF2-40B4-BE49-F238E27FC236}">
                <a16:creationId xmlns:a16="http://schemas.microsoft.com/office/drawing/2014/main" id="{34497097-9748-4FC9-9990-07AD2DC16F60}"/>
              </a:ext>
            </a:extLst>
          </p:cNvPr>
          <p:cNvSpPr>
            <a:spLocks noGrp="1"/>
          </p:cNvSpPr>
          <p:nvPr>
            <p:ph type="tbl" idx="1"/>
          </p:nvPr>
        </p:nvSpPr>
        <p:spPr>
          <a:xfrm>
            <a:off x="1371600" y="1295400"/>
            <a:ext cx="6475413" cy="4722813"/>
          </a:xfrm>
        </p:spPr>
        <p:txBody>
          <a:bodyPr/>
          <a:lstStyle/>
          <a:p>
            <a:endParaRPr lang="en-US"/>
          </a:p>
        </p:txBody>
      </p:sp>
      <p:sp>
        <p:nvSpPr>
          <p:cNvPr id="4" name="Date Placeholder 3">
            <a:extLst>
              <a:ext uri="{FF2B5EF4-FFF2-40B4-BE49-F238E27FC236}">
                <a16:creationId xmlns:a16="http://schemas.microsoft.com/office/drawing/2014/main" id="{169F0375-4FB6-491E-A767-7E351FB45674}"/>
              </a:ext>
            </a:extLst>
          </p:cNvPr>
          <p:cNvSpPr>
            <a:spLocks noGrp="1"/>
          </p:cNvSpPr>
          <p:nvPr>
            <p:ph type="dt" idx="10"/>
          </p:nvPr>
        </p:nvSpPr>
        <p:spPr>
          <a:xfrm>
            <a:off x="457200" y="6248400"/>
            <a:ext cx="2132013" cy="455613"/>
          </a:xfrm>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4FCBB2CF-766D-4B69-8A1C-E74EA30EFA13}"/>
              </a:ext>
            </a:extLst>
          </p:cNvPr>
          <p:cNvSpPr>
            <a:spLocks noGrp="1"/>
          </p:cNvSpPr>
          <p:nvPr>
            <p:ph type="ftr" idx="11"/>
          </p:nvPr>
        </p:nvSpPr>
        <p:spPr>
          <a:xfrm>
            <a:off x="3124200" y="6248400"/>
            <a:ext cx="2894013" cy="455613"/>
          </a:xfrm>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68D1C39E-FD03-48B1-9FE8-7F765032AD15}"/>
              </a:ext>
            </a:extLst>
          </p:cNvPr>
          <p:cNvSpPr>
            <a:spLocks noGrp="1"/>
          </p:cNvSpPr>
          <p:nvPr>
            <p:ph type="sldNum" idx="12"/>
          </p:nvPr>
        </p:nvSpPr>
        <p:spPr>
          <a:xfrm>
            <a:off x="6553200" y="6248400"/>
            <a:ext cx="2132013" cy="455613"/>
          </a:xfrm>
        </p:spPr>
        <p:txBody>
          <a:bodyPr/>
          <a:lstStyle>
            <a:lvl1pPr>
              <a:defRPr/>
            </a:lvl1pPr>
          </a:lstStyle>
          <a:p>
            <a:fld id="{4989AF5C-141A-4FB0-BB74-FF40BD8C20F3}" type="slidenum">
              <a:rPr lang="en-US" altLang="en-US"/>
              <a:pPr/>
              <a:t>‹#›</a:t>
            </a:fld>
            <a:endParaRPr lang="en-US" altLang="en-US"/>
          </a:p>
        </p:txBody>
      </p:sp>
    </p:spTree>
    <p:extLst>
      <p:ext uri="{BB962C8B-B14F-4D97-AF65-F5344CB8AC3E}">
        <p14:creationId xmlns:p14="http://schemas.microsoft.com/office/powerpoint/2010/main" val="18875357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FEF94-C1C6-4D63-9384-614F180B2AE8}"/>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F5AE10-9CBC-43AF-8DFD-E70529C87C63}"/>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6786F7-6159-4BC1-BE7F-7310491A50D4}"/>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7A78FAD4-9C31-44EB-A2CE-7FDDF4AB52ED}"/>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F70EC5FC-DDBE-445A-97CD-D390DEA58A70}"/>
              </a:ext>
            </a:extLst>
          </p:cNvPr>
          <p:cNvSpPr>
            <a:spLocks noGrp="1"/>
          </p:cNvSpPr>
          <p:nvPr>
            <p:ph type="sldNum" idx="12"/>
          </p:nvPr>
        </p:nvSpPr>
        <p:spPr/>
        <p:txBody>
          <a:bodyPr/>
          <a:lstStyle>
            <a:lvl1pPr>
              <a:defRPr/>
            </a:lvl1pPr>
          </a:lstStyle>
          <a:p>
            <a:fld id="{8DB25893-1B0C-4592-B5A7-75E8CEA00D0F}" type="slidenum">
              <a:rPr lang="en-US" altLang="en-US"/>
              <a:pPr/>
              <a:t>‹#›</a:t>
            </a:fld>
            <a:endParaRPr lang="en-US" altLang="en-US"/>
          </a:p>
        </p:txBody>
      </p:sp>
    </p:spTree>
    <p:extLst>
      <p:ext uri="{BB962C8B-B14F-4D97-AF65-F5344CB8AC3E}">
        <p14:creationId xmlns:p14="http://schemas.microsoft.com/office/powerpoint/2010/main" val="19609832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834FE-2B20-4A6B-97CE-98EF993205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114ED4-E792-4CF8-A05B-D87ABE94AB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ECDF35-3A46-4B5D-9CAF-87F7CCE5C61E}"/>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8D7B6B4D-AE39-4536-9C94-471D0364766E}"/>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2CDE42D8-E0C0-4620-AD1E-F86750DD096F}"/>
              </a:ext>
            </a:extLst>
          </p:cNvPr>
          <p:cNvSpPr>
            <a:spLocks noGrp="1"/>
          </p:cNvSpPr>
          <p:nvPr>
            <p:ph type="sldNum" idx="12"/>
          </p:nvPr>
        </p:nvSpPr>
        <p:spPr/>
        <p:txBody>
          <a:bodyPr/>
          <a:lstStyle>
            <a:lvl1pPr>
              <a:defRPr/>
            </a:lvl1pPr>
          </a:lstStyle>
          <a:p>
            <a:fld id="{838616A3-6D64-46E6-9556-7CDB917CA650}" type="slidenum">
              <a:rPr lang="en-US" altLang="en-US"/>
              <a:pPr/>
              <a:t>‹#›</a:t>
            </a:fld>
            <a:endParaRPr lang="en-US" altLang="en-US"/>
          </a:p>
        </p:txBody>
      </p:sp>
    </p:spTree>
    <p:extLst>
      <p:ext uri="{BB962C8B-B14F-4D97-AF65-F5344CB8AC3E}">
        <p14:creationId xmlns:p14="http://schemas.microsoft.com/office/powerpoint/2010/main" val="32737458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5556F-29B0-4882-86AB-22D180ACA724}"/>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D7130F-98C4-4533-9881-6B8068AF0F77}"/>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0CC2D4DA-886B-449E-A685-F8D0946E4CE3}"/>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873F4222-D7AE-438C-B472-6913214FFC66}"/>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73FA902C-1615-44DB-9244-DAD84907C2A0}"/>
              </a:ext>
            </a:extLst>
          </p:cNvPr>
          <p:cNvSpPr>
            <a:spLocks noGrp="1"/>
          </p:cNvSpPr>
          <p:nvPr>
            <p:ph type="sldNum" idx="12"/>
          </p:nvPr>
        </p:nvSpPr>
        <p:spPr/>
        <p:txBody>
          <a:bodyPr/>
          <a:lstStyle>
            <a:lvl1pPr>
              <a:defRPr/>
            </a:lvl1pPr>
          </a:lstStyle>
          <a:p>
            <a:fld id="{FCBF3187-CE32-4C6F-87EB-FADB4C6152A0}" type="slidenum">
              <a:rPr lang="en-US" altLang="en-US"/>
              <a:pPr/>
              <a:t>‹#›</a:t>
            </a:fld>
            <a:endParaRPr lang="en-US" altLang="en-US"/>
          </a:p>
        </p:txBody>
      </p:sp>
    </p:spTree>
    <p:extLst>
      <p:ext uri="{BB962C8B-B14F-4D97-AF65-F5344CB8AC3E}">
        <p14:creationId xmlns:p14="http://schemas.microsoft.com/office/powerpoint/2010/main" val="42128590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8B07A-5AEF-412B-B738-A759936742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04ACA7-5982-42C6-8FD8-553E9BE6EF7F}"/>
              </a:ext>
            </a:extLst>
          </p:cNvPr>
          <p:cNvSpPr>
            <a:spLocks noGrp="1"/>
          </p:cNvSpPr>
          <p:nvPr>
            <p:ph sz="half" idx="1"/>
          </p:nvPr>
        </p:nvSpPr>
        <p:spPr>
          <a:xfrm>
            <a:off x="457200" y="1604963"/>
            <a:ext cx="4037013" cy="452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83C59B4-E95D-4B85-BBCF-9661E87B3A27}"/>
              </a:ext>
            </a:extLst>
          </p:cNvPr>
          <p:cNvSpPr>
            <a:spLocks noGrp="1"/>
          </p:cNvSpPr>
          <p:nvPr>
            <p:ph sz="half" idx="2"/>
          </p:nvPr>
        </p:nvSpPr>
        <p:spPr>
          <a:xfrm>
            <a:off x="4646613" y="1604963"/>
            <a:ext cx="4038600" cy="452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54F8CAF-8C9A-4A81-879B-0F13C96DE829}"/>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AEEFD452-ACEF-4F95-B04F-B86B237DEE70}"/>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453B20E2-F759-48D9-972C-4BE98B2DEC18}"/>
              </a:ext>
            </a:extLst>
          </p:cNvPr>
          <p:cNvSpPr>
            <a:spLocks noGrp="1"/>
          </p:cNvSpPr>
          <p:nvPr>
            <p:ph type="sldNum" idx="12"/>
          </p:nvPr>
        </p:nvSpPr>
        <p:spPr/>
        <p:txBody>
          <a:bodyPr/>
          <a:lstStyle>
            <a:lvl1pPr>
              <a:defRPr/>
            </a:lvl1pPr>
          </a:lstStyle>
          <a:p>
            <a:fld id="{93B01B69-D91A-40D0-910E-25438ED1E6E1}" type="slidenum">
              <a:rPr lang="en-US" altLang="en-US"/>
              <a:pPr/>
              <a:t>‹#›</a:t>
            </a:fld>
            <a:endParaRPr lang="en-US" altLang="en-US"/>
          </a:p>
        </p:txBody>
      </p:sp>
    </p:spTree>
    <p:extLst>
      <p:ext uri="{BB962C8B-B14F-4D97-AF65-F5344CB8AC3E}">
        <p14:creationId xmlns:p14="http://schemas.microsoft.com/office/powerpoint/2010/main" val="6371297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911BF-6943-4F8E-9D8A-6D7B5A135829}"/>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61DBADC-ED70-472F-B292-143ACC047D03}"/>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CC753B-6C8E-4814-A49F-09E0368E2F96}"/>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0C8D6E7-67EB-46DC-8020-A26A25B6F27F}"/>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AE210B-43E7-4D1E-B557-9AA80B3394B1}"/>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12E4F36-2412-43EC-8798-C83A418B0298}"/>
              </a:ext>
            </a:extLst>
          </p:cNvPr>
          <p:cNvSpPr>
            <a:spLocks noGrp="1"/>
          </p:cNvSpPr>
          <p:nvPr>
            <p:ph type="dt"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0E7BBF43-2401-468E-A5AC-C7A0F334CB8E}"/>
              </a:ext>
            </a:extLst>
          </p:cNvPr>
          <p:cNvSpPr>
            <a:spLocks noGrp="1"/>
          </p:cNvSpPr>
          <p:nvPr>
            <p:ph type="ft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B138831B-C54A-4954-83D6-965AEA165AE0}"/>
              </a:ext>
            </a:extLst>
          </p:cNvPr>
          <p:cNvSpPr>
            <a:spLocks noGrp="1"/>
          </p:cNvSpPr>
          <p:nvPr>
            <p:ph type="sldNum" idx="12"/>
          </p:nvPr>
        </p:nvSpPr>
        <p:spPr/>
        <p:txBody>
          <a:bodyPr/>
          <a:lstStyle>
            <a:lvl1pPr>
              <a:defRPr/>
            </a:lvl1pPr>
          </a:lstStyle>
          <a:p>
            <a:fld id="{8CEE29B3-C121-45F7-8170-A0C560692581}" type="slidenum">
              <a:rPr lang="en-US" altLang="en-US"/>
              <a:pPr/>
              <a:t>‹#›</a:t>
            </a:fld>
            <a:endParaRPr lang="en-US" altLang="en-US"/>
          </a:p>
        </p:txBody>
      </p:sp>
    </p:spTree>
    <p:extLst>
      <p:ext uri="{BB962C8B-B14F-4D97-AF65-F5344CB8AC3E}">
        <p14:creationId xmlns:p14="http://schemas.microsoft.com/office/powerpoint/2010/main" val="20563461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BCC35-A9E1-4B51-8293-24D8E097C87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44062A9-B953-40DA-A07D-C253367CF663}"/>
              </a:ext>
            </a:extLst>
          </p:cNvPr>
          <p:cNvSpPr>
            <a:spLocks noGrp="1"/>
          </p:cNvSpPr>
          <p:nvPr>
            <p:ph type="dt"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9FDBA579-8825-4C7B-9EE4-C9C1BB9693B7}"/>
              </a:ext>
            </a:extLst>
          </p:cNvPr>
          <p:cNvSpPr>
            <a:spLocks noGrp="1"/>
          </p:cNvSpPr>
          <p:nvPr>
            <p:ph type="ft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C07FE744-3970-4B86-A779-64C38865F0B6}"/>
              </a:ext>
            </a:extLst>
          </p:cNvPr>
          <p:cNvSpPr>
            <a:spLocks noGrp="1"/>
          </p:cNvSpPr>
          <p:nvPr>
            <p:ph type="sldNum" idx="12"/>
          </p:nvPr>
        </p:nvSpPr>
        <p:spPr/>
        <p:txBody>
          <a:bodyPr/>
          <a:lstStyle>
            <a:lvl1pPr>
              <a:defRPr/>
            </a:lvl1pPr>
          </a:lstStyle>
          <a:p>
            <a:fld id="{4CF12FB3-876E-48BE-A847-285C5FC29068}" type="slidenum">
              <a:rPr lang="en-US" altLang="en-US"/>
              <a:pPr/>
              <a:t>‹#›</a:t>
            </a:fld>
            <a:endParaRPr lang="en-US" altLang="en-US"/>
          </a:p>
        </p:txBody>
      </p:sp>
    </p:spTree>
    <p:extLst>
      <p:ext uri="{BB962C8B-B14F-4D97-AF65-F5344CB8AC3E}">
        <p14:creationId xmlns:p14="http://schemas.microsoft.com/office/powerpoint/2010/main" val="37192116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A828F3-5582-46AC-81AF-5A70A783C275}"/>
              </a:ext>
            </a:extLst>
          </p:cNvPr>
          <p:cNvSpPr>
            <a:spLocks noGrp="1"/>
          </p:cNvSpPr>
          <p:nvPr>
            <p:ph type="dt"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9476879F-A735-4D6B-95B5-91E3AC18A327}"/>
              </a:ext>
            </a:extLst>
          </p:cNvPr>
          <p:cNvSpPr>
            <a:spLocks noGrp="1"/>
          </p:cNvSpPr>
          <p:nvPr>
            <p:ph type="ft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04FA522E-F94B-46FE-A5CC-A47F534A2E2F}"/>
              </a:ext>
            </a:extLst>
          </p:cNvPr>
          <p:cNvSpPr>
            <a:spLocks noGrp="1"/>
          </p:cNvSpPr>
          <p:nvPr>
            <p:ph type="sldNum" idx="12"/>
          </p:nvPr>
        </p:nvSpPr>
        <p:spPr/>
        <p:txBody>
          <a:bodyPr/>
          <a:lstStyle>
            <a:lvl1pPr>
              <a:defRPr/>
            </a:lvl1pPr>
          </a:lstStyle>
          <a:p>
            <a:fld id="{771A69DA-C154-4A7B-A423-31DE4EB942CD}" type="slidenum">
              <a:rPr lang="en-US" altLang="en-US"/>
              <a:pPr/>
              <a:t>‹#›</a:t>
            </a:fld>
            <a:endParaRPr lang="en-US" altLang="en-US"/>
          </a:p>
        </p:txBody>
      </p:sp>
    </p:spTree>
    <p:extLst>
      <p:ext uri="{BB962C8B-B14F-4D97-AF65-F5344CB8AC3E}">
        <p14:creationId xmlns:p14="http://schemas.microsoft.com/office/powerpoint/2010/main" val="25393104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6A942-5814-4D48-BDB1-D2EAD1181C52}"/>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050DFE-D534-4816-93FD-B836330A3989}"/>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3332A1-AE26-4774-95D4-8644F9C1730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9BCF9E-5B53-4D6E-9595-FC69597ED8B7}"/>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38AC6E14-37F4-44E5-80CC-38CAA34A0A40}"/>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42B08A93-FF3C-41A1-B2DD-EAE29EF02CFB}"/>
              </a:ext>
            </a:extLst>
          </p:cNvPr>
          <p:cNvSpPr>
            <a:spLocks noGrp="1"/>
          </p:cNvSpPr>
          <p:nvPr>
            <p:ph type="sldNum" idx="12"/>
          </p:nvPr>
        </p:nvSpPr>
        <p:spPr/>
        <p:txBody>
          <a:bodyPr/>
          <a:lstStyle>
            <a:lvl1pPr>
              <a:defRPr/>
            </a:lvl1pPr>
          </a:lstStyle>
          <a:p>
            <a:fld id="{1107D0BD-C019-4086-9D9E-6C579DE2E9AA}" type="slidenum">
              <a:rPr lang="en-US" altLang="en-US"/>
              <a:pPr/>
              <a:t>‹#›</a:t>
            </a:fld>
            <a:endParaRPr lang="en-US" altLang="en-US"/>
          </a:p>
        </p:txBody>
      </p:sp>
    </p:spTree>
    <p:extLst>
      <p:ext uri="{BB962C8B-B14F-4D97-AF65-F5344CB8AC3E}">
        <p14:creationId xmlns:p14="http://schemas.microsoft.com/office/powerpoint/2010/main" val="6153297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B4422-59E5-45D0-8DB6-24B146D202B5}"/>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40C2493-8F3B-4A15-80B3-7B30C2F89AC1}"/>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0F5B8CF-BF4B-4694-8270-A42B78DA9516}"/>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1E18C5-008B-4CEC-B5A5-54353E4B5764}"/>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32605ECA-08B3-4548-A536-2684F111FDB4}"/>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65830D0F-FB16-41A9-AF28-03F465A5A9E7}"/>
              </a:ext>
            </a:extLst>
          </p:cNvPr>
          <p:cNvSpPr>
            <a:spLocks noGrp="1"/>
          </p:cNvSpPr>
          <p:nvPr>
            <p:ph type="sldNum" idx="12"/>
          </p:nvPr>
        </p:nvSpPr>
        <p:spPr/>
        <p:txBody>
          <a:bodyPr/>
          <a:lstStyle>
            <a:lvl1pPr>
              <a:defRPr/>
            </a:lvl1pPr>
          </a:lstStyle>
          <a:p>
            <a:fld id="{1F9BB0DF-2495-4C1C-BE05-AC2B945663A4}" type="slidenum">
              <a:rPr lang="en-US" altLang="en-US"/>
              <a:pPr/>
              <a:t>‹#›</a:t>
            </a:fld>
            <a:endParaRPr lang="en-US" altLang="en-US"/>
          </a:p>
        </p:txBody>
      </p:sp>
    </p:spTree>
    <p:extLst>
      <p:ext uri="{BB962C8B-B14F-4D97-AF65-F5344CB8AC3E}">
        <p14:creationId xmlns:p14="http://schemas.microsoft.com/office/powerpoint/2010/main" val="19290168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8C228-5301-46E2-BE1E-9D125A6F5A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F5A354-36E6-47C0-A994-F193B35DFE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34C2C-F506-4DA0-BE29-F7EA66969A6C}"/>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14F267EF-1E6A-44E5-93C5-2117010F168E}"/>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FD75D712-6968-4B00-8C00-53115E25DBC2}"/>
              </a:ext>
            </a:extLst>
          </p:cNvPr>
          <p:cNvSpPr>
            <a:spLocks noGrp="1"/>
          </p:cNvSpPr>
          <p:nvPr>
            <p:ph type="sldNum" idx="12"/>
          </p:nvPr>
        </p:nvSpPr>
        <p:spPr/>
        <p:txBody>
          <a:bodyPr/>
          <a:lstStyle>
            <a:lvl1pPr>
              <a:defRPr/>
            </a:lvl1pPr>
          </a:lstStyle>
          <a:p>
            <a:fld id="{934BB273-0B5D-43F5-BA49-2848C08CD662}" type="slidenum">
              <a:rPr lang="en-US" altLang="en-US"/>
              <a:pPr/>
              <a:t>‹#›</a:t>
            </a:fld>
            <a:endParaRPr lang="en-US" altLang="en-US"/>
          </a:p>
        </p:txBody>
      </p:sp>
    </p:spTree>
    <p:extLst>
      <p:ext uri="{BB962C8B-B14F-4D97-AF65-F5344CB8AC3E}">
        <p14:creationId xmlns:p14="http://schemas.microsoft.com/office/powerpoint/2010/main" val="41322470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4F8798-04A6-4D34-BCA0-3014EB8D6BF1}"/>
              </a:ext>
            </a:extLst>
          </p:cNvPr>
          <p:cNvSpPr>
            <a:spLocks noGrp="1"/>
          </p:cNvSpPr>
          <p:nvPr>
            <p:ph type="title" orient="vert"/>
          </p:nvPr>
        </p:nvSpPr>
        <p:spPr>
          <a:xfrm>
            <a:off x="6686550" y="1604963"/>
            <a:ext cx="2074863" cy="452437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127732-128F-4CF1-9132-406BDDB1714F}"/>
              </a:ext>
            </a:extLst>
          </p:cNvPr>
          <p:cNvSpPr>
            <a:spLocks noGrp="1"/>
          </p:cNvSpPr>
          <p:nvPr>
            <p:ph type="body" orient="vert" idx="1"/>
          </p:nvPr>
        </p:nvSpPr>
        <p:spPr>
          <a:xfrm>
            <a:off x="457200" y="1604963"/>
            <a:ext cx="6076950" cy="45243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F0C6E5-5CCE-4859-AA86-572092287123}"/>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D17D844D-DDA7-4163-AE4B-90FCC707F331}"/>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7942A3F5-B826-405B-B01B-C68F4302DA17}"/>
              </a:ext>
            </a:extLst>
          </p:cNvPr>
          <p:cNvSpPr>
            <a:spLocks noGrp="1"/>
          </p:cNvSpPr>
          <p:nvPr>
            <p:ph type="sldNum" idx="12"/>
          </p:nvPr>
        </p:nvSpPr>
        <p:spPr/>
        <p:txBody>
          <a:bodyPr/>
          <a:lstStyle>
            <a:lvl1pPr>
              <a:defRPr/>
            </a:lvl1pPr>
          </a:lstStyle>
          <a:p>
            <a:fld id="{13BE6F5B-92E4-4005-A9F4-74B41A6A437F}" type="slidenum">
              <a:rPr lang="en-US" altLang="en-US"/>
              <a:pPr/>
              <a:t>‹#›</a:t>
            </a:fld>
            <a:endParaRPr lang="en-US" altLang="en-US"/>
          </a:p>
        </p:txBody>
      </p:sp>
    </p:spTree>
    <p:extLst>
      <p:ext uri="{BB962C8B-B14F-4D97-AF65-F5344CB8AC3E}">
        <p14:creationId xmlns:p14="http://schemas.microsoft.com/office/powerpoint/2010/main" val="24758032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764A2-A6B5-484D-B3C5-2A87E060491F}"/>
              </a:ext>
            </a:extLst>
          </p:cNvPr>
          <p:cNvSpPr>
            <a:spLocks noGrp="1"/>
          </p:cNvSpPr>
          <p:nvPr>
            <p:ph type="title"/>
          </p:nvPr>
        </p:nvSpPr>
        <p:spPr>
          <a:xfrm>
            <a:off x="685800" y="2057400"/>
            <a:ext cx="8075613" cy="1608138"/>
          </a:xfrm>
        </p:spPr>
        <p:txBody>
          <a:bodyPr/>
          <a:lstStyle/>
          <a:p>
            <a:r>
              <a:rPr lang="en-US"/>
              <a:t>Click to edit Master title style</a:t>
            </a:r>
          </a:p>
        </p:txBody>
      </p:sp>
      <p:sp>
        <p:nvSpPr>
          <p:cNvPr id="3" name="Date Placeholder 2">
            <a:extLst>
              <a:ext uri="{FF2B5EF4-FFF2-40B4-BE49-F238E27FC236}">
                <a16:creationId xmlns:a16="http://schemas.microsoft.com/office/drawing/2014/main" id="{97454A01-B004-4C6D-A571-F7E7328480E0}"/>
              </a:ext>
            </a:extLst>
          </p:cNvPr>
          <p:cNvSpPr>
            <a:spLocks noGrp="1"/>
          </p:cNvSpPr>
          <p:nvPr>
            <p:ph type="dt" idx="10"/>
          </p:nvPr>
        </p:nvSpPr>
        <p:spPr>
          <a:xfrm>
            <a:off x="457200" y="6248400"/>
            <a:ext cx="2132013" cy="469900"/>
          </a:xfrm>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AC578C8F-1657-4FBB-89FE-04FA2479B604}"/>
              </a:ext>
            </a:extLst>
          </p:cNvPr>
          <p:cNvSpPr>
            <a:spLocks noGrp="1"/>
          </p:cNvSpPr>
          <p:nvPr>
            <p:ph type="ftr" idx="11"/>
          </p:nvPr>
        </p:nvSpPr>
        <p:spPr>
          <a:xfrm>
            <a:off x="3124200" y="6253163"/>
            <a:ext cx="2894013" cy="455612"/>
          </a:xfrm>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839E51AE-91A1-4179-9D2D-EFEAE7130BD7}"/>
              </a:ext>
            </a:extLst>
          </p:cNvPr>
          <p:cNvSpPr>
            <a:spLocks noGrp="1"/>
          </p:cNvSpPr>
          <p:nvPr>
            <p:ph type="sldNum" idx="12"/>
          </p:nvPr>
        </p:nvSpPr>
        <p:spPr>
          <a:xfrm>
            <a:off x="6553200" y="6248400"/>
            <a:ext cx="2132013" cy="469900"/>
          </a:xfrm>
        </p:spPr>
        <p:txBody>
          <a:bodyPr/>
          <a:lstStyle>
            <a:lvl1pPr>
              <a:defRPr/>
            </a:lvl1pPr>
          </a:lstStyle>
          <a:p>
            <a:fld id="{62CE2FA5-9979-4EED-AFC2-0B6D087075A7}" type="slidenum">
              <a:rPr lang="en-US" altLang="en-US"/>
              <a:pPr/>
              <a:t>‹#›</a:t>
            </a:fld>
            <a:endParaRPr lang="en-US" altLang="en-US"/>
          </a:p>
        </p:txBody>
      </p:sp>
    </p:spTree>
    <p:extLst>
      <p:ext uri="{BB962C8B-B14F-4D97-AF65-F5344CB8AC3E}">
        <p14:creationId xmlns:p14="http://schemas.microsoft.com/office/powerpoint/2010/main" val="3448633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5" name="Rectangle 1">
            <a:extLst>
              <a:ext uri="{FF2B5EF4-FFF2-40B4-BE49-F238E27FC236}">
                <a16:creationId xmlns:a16="http://schemas.microsoft.com/office/drawing/2014/main" id="{8CCC6AAB-D019-46DB-9E1A-84979CA9CB47}"/>
              </a:ext>
            </a:extLst>
          </p:cNvPr>
          <p:cNvSpPr>
            <a:spLocks noChangeArrowheads="1"/>
          </p:cNvSpPr>
          <p:nvPr/>
        </p:nvSpPr>
        <p:spPr bwMode="auto">
          <a:xfrm>
            <a:off x="1409700" y="304800"/>
            <a:ext cx="6324600" cy="609600"/>
          </a:xfrm>
          <a:prstGeom prst="rect">
            <a:avLst/>
          </a:prstGeom>
          <a:solidFill>
            <a:srgbClr val="99CCFF">
              <a:alpha val="50999"/>
            </a:srgbClr>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26" name="Rectangle 2">
            <a:extLst>
              <a:ext uri="{FF2B5EF4-FFF2-40B4-BE49-F238E27FC236}">
                <a16:creationId xmlns:a16="http://schemas.microsoft.com/office/drawing/2014/main" id="{D23B9232-17E1-4920-B64E-3B508ED0264E}"/>
              </a:ext>
            </a:extLst>
          </p:cNvPr>
          <p:cNvSpPr>
            <a:spLocks noGrp="1" noChangeArrowheads="1"/>
          </p:cNvSpPr>
          <p:nvPr>
            <p:ph type="title"/>
          </p:nvPr>
        </p:nvSpPr>
        <p:spPr bwMode="auto">
          <a:xfrm>
            <a:off x="1066800" y="152400"/>
            <a:ext cx="7008813" cy="912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en-US"/>
              <a:t>Click to edit the title text format</a:t>
            </a:r>
          </a:p>
        </p:txBody>
      </p:sp>
      <p:sp>
        <p:nvSpPr>
          <p:cNvPr id="1027" name="Rectangle 3">
            <a:extLst>
              <a:ext uri="{FF2B5EF4-FFF2-40B4-BE49-F238E27FC236}">
                <a16:creationId xmlns:a16="http://schemas.microsoft.com/office/drawing/2014/main" id="{247D3765-C1EE-464A-9803-874BACC1621A}"/>
              </a:ext>
            </a:extLst>
          </p:cNvPr>
          <p:cNvSpPr>
            <a:spLocks noGrp="1" noChangeArrowheads="1"/>
          </p:cNvSpPr>
          <p:nvPr>
            <p:ph type="body" idx="1"/>
          </p:nvPr>
        </p:nvSpPr>
        <p:spPr bwMode="auto">
          <a:xfrm>
            <a:off x="1371600" y="1295400"/>
            <a:ext cx="6475413" cy="4722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4"/>
            <a:r>
              <a:rPr lang="en-GB" altLang="en-US"/>
              <a:t>Ninth Outline Level</a:t>
            </a:r>
          </a:p>
        </p:txBody>
      </p:sp>
      <p:sp>
        <p:nvSpPr>
          <p:cNvPr id="1028" name="Rectangle 4">
            <a:extLst>
              <a:ext uri="{FF2B5EF4-FFF2-40B4-BE49-F238E27FC236}">
                <a16:creationId xmlns:a16="http://schemas.microsoft.com/office/drawing/2014/main" id="{60BADD8B-2051-49FE-8648-11B143654205}"/>
              </a:ext>
            </a:extLst>
          </p:cNvPr>
          <p:cNvSpPr>
            <a:spLocks noGrp="1" noChangeArrowheads="1"/>
          </p:cNvSpPr>
          <p:nvPr>
            <p:ph type="dt"/>
          </p:nvPr>
        </p:nvSpPr>
        <p:spPr bwMode="auto">
          <a:xfrm>
            <a:off x="457200" y="6248400"/>
            <a:ext cx="2132013"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lvl1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defRPr>
            </a:lvl1pPr>
          </a:lstStyle>
          <a:p>
            <a:endParaRPr lang="en-US" altLang="en-US"/>
          </a:p>
        </p:txBody>
      </p:sp>
      <p:sp>
        <p:nvSpPr>
          <p:cNvPr id="1029" name="Rectangle 5">
            <a:extLst>
              <a:ext uri="{FF2B5EF4-FFF2-40B4-BE49-F238E27FC236}">
                <a16:creationId xmlns:a16="http://schemas.microsoft.com/office/drawing/2014/main" id="{1EBD6B69-262D-4419-A86B-F32C1C2278B9}"/>
              </a:ext>
            </a:extLst>
          </p:cNvPr>
          <p:cNvSpPr>
            <a:spLocks noGrp="1" noChangeArrowheads="1"/>
          </p:cNvSpPr>
          <p:nvPr>
            <p:ph type="ftr"/>
          </p:nvPr>
        </p:nvSpPr>
        <p:spPr bwMode="auto">
          <a:xfrm>
            <a:off x="3124200" y="6248400"/>
            <a:ext cx="2894013"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lvl1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defRPr>
            </a:lvl1pPr>
          </a:lstStyle>
          <a:p>
            <a:endParaRPr lang="en-US" altLang="en-US"/>
          </a:p>
        </p:txBody>
      </p:sp>
      <p:sp>
        <p:nvSpPr>
          <p:cNvPr id="1030" name="Rectangle 6">
            <a:extLst>
              <a:ext uri="{FF2B5EF4-FFF2-40B4-BE49-F238E27FC236}">
                <a16:creationId xmlns:a16="http://schemas.microsoft.com/office/drawing/2014/main" id="{431A9D31-E977-49AF-B54E-815C9C2349CC}"/>
              </a:ext>
            </a:extLst>
          </p:cNvPr>
          <p:cNvSpPr>
            <a:spLocks noGrp="1" noChangeArrowheads="1"/>
          </p:cNvSpPr>
          <p:nvPr>
            <p:ph type="sldNum"/>
          </p:nvPr>
        </p:nvSpPr>
        <p:spPr bwMode="auto">
          <a:xfrm>
            <a:off x="6553200" y="6248400"/>
            <a:ext cx="2132013"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lvl1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defRPr>
            </a:lvl1pPr>
          </a:lstStyle>
          <a:p>
            <a:fld id="{40E1E861-5612-4403-BD6D-32E83C0035C4}"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73" r:id="rId12"/>
  </p:sldLayoutIdLst>
  <p:txStyles>
    <p:titleStyle>
      <a:lvl1pPr algn="ctr" defTabSz="457200" rtl="0" fontAlgn="base">
        <a:spcBef>
          <a:spcPct val="0"/>
        </a:spcBef>
        <a:spcAft>
          <a:spcPct val="0"/>
        </a:spcAft>
        <a:buClr>
          <a:srgbClr val="000000"/>
        </a:buClr>
        <a:buSzPct val="100000"/>
        <a:buFont typeface="Times New Roman" panose="02020603050405020304" pitchFamily="18" charset="0"/>
        <a:defRPr sz="2400" kern="1200">
          <a:solidFill>
            <a:srgbClr val="FFFFCC"/>
          </a:solidFill>
          <a:latin typeface="+mj-lt"/>
          <a:ea typeface="+mj-ea"/>
          <a:cs typeface="+mj-cs"/>
        </a:defRPr>
      </a:lvl1pPr>
      <a:lvl2pPr marL="742950" indent="-285750" algn="ctr" defTabSz="457200" rtl="0" fontAlgn="base">
        <a:spcBef>
          <a:spcPct val="0"/>
        </a:spcBef>
        <a:spcAft>
          <a:spcPct val="0"/>
        </a:spcAft>
        <a:buClr>
          <a:srgbClr val="000000"/>
        </a:buClr>
        <a:buSzPct val="100000"/>
        <a:buFont typeface="Times New Roman" panose="02020603050405020304" pitchFamily="18" charset="0"/>
        <a:defRPr sz="2400">
          <a:solidFill>
            <a:srgbClr val="FFFFCC"/>
          </a:solidFill>
          <a:latin typeface="Gill Sans MT" panose="020B0502020104020203" pitchFamily="34" charset="0"/>
          <a:cs typeface="Arial" panose="020B0604020202020204" pitchFamily="34" charset="0"/>
        </a:defRPr>
      </a:lvl2pPr>
      <a:lvl3pPr marL="1143000" indent="-228600" algn="ctr" defTabSz="457200" rtl="0" fontAlgn="base">
        <a:spcBef>
          <a:spcPct val="0"/>
        </a:spcBef>
        <a:spcAft>
          <a:spcPct val="0"/>
        </a:spcAft>
        <a:buClr>
          <a:srgbClr val="000000"/>
        </a:buClr>
        <a:buSzPct val="100000"/>
        <a:buFont typeface="Times New Roman" panose="02020603050405020304" pitchFamily="18" charset="0"/>
        <a:defRPr sz="2400">
          <a:solidFill>
            <a:srgbClr val="FFFFCC"/>
          </a:solidFill>
          <a:latin typeface="Gill Sans MT" panose="020B0502020104020203" pitchFamily="34" charset="0"/>
          <a:cs typeface="Arial" panose="020B0604020202020204" pitchFamily="34" charset="0"/>
        </a:defRPr>
      </a:lvl3pPr>
      <a:lvl4pPr marL="1600200" indent="-228600" algn="ctr" defTabSz="457200" rtl="0" fontAlgn="base">
        <a:spcBef>
          <a:spcPct val="0"/>
        </a:spcBef>
        <a:spcAft>
          <a:spcPct val="0"/>
        </a:spcAft>
        <a:buClr>
          <a:srgbClr val="000000"/>
        </a:buClr>
        <a:buSzPct val="100000"/>
        <a:buFont typeface="Times New Roman" panose="02020603050405020304" pitchFamily="18" charset="0"/>
        <a:defRPr sz="2400">
          <a:solidFill>
            <a:srgbClr val="FFFFCC"/>
          </a:solidFill>
          <a:latin typeface="Gill Sans MT" panose="020B0502020104020203" pitchFamily="34" charset="0"/>
          <a:cs typeface="Arial" panose="020B0604020202020204" pitchFamily="34" charset="0"/>
        </a:defRPr>
      </a:lvl4pPr>
      <a:lvl5pPr marL="2057400" indent="-228600" algn="ctr" defTabSz="457200" rtl="0" fontAlgn="base">
        <a:spcBef>
          <a:spcPct val="0"/>
        </a:spcBef>
        <a:spcAft>
          <a:spcPct val="0"/>
        </a:spcAft>
        <a:buClr>
          <a:srgbClr val="000000"/>
        </a:buClr>
        <a:buSzPct val="100000"/>
        <a:buFont typeface="Times New Roman" panose="02020603050405020304" pitchFamily="18" charset="0"/>
        <a:defRPr sz="2400">
          <a:solidFill>
            <a:srgbClr val="FFFFCC"/>
          </a:solidFill>
          <a:latin typeface="Gill Sans MT" panose="020B0502020104020203" pitchFamily="34" charset="0"/>
          <a:cs typeface="Arial" panose="020B0604020202020204" pitchFamily="34" charset="0"/>
        </a:defRPr>
      </a:lvl5pPr>
      <a:lvl6pPr marL="2514600" indent="-228600" algn="ctr" defTabSz="457200" rtl="0" fontAlgn="base">
        <a:spcBef>
          <a:spcPct val="0"/>
        </a:spcBef>
        <a:spcAft>
          <a:spcPct val="0"/>
        </a:spcAft>
        <a:buClr>
          <a:srgbClr val="000000"/>
        </a:buClr>
        <a:buSzPct val="100000"/>
        <a:buFont typeface="Times New Roman" panose="02020603050405020304" pitchFamily="18" charset="0"/>
        <a:defRPr sz="2400">
          <a:solidFill>
            <a:srgbClr val="FFFFCC"/>
          </a:solidFill>
          <a:latin typeface="Gill Sans MT" panose="020B0502020104020203" pitchFamily="34" charset="0"/>
          <a:cs typeface="Arial" panose="020B0604020202020204" pitchFamily="34" charset="0"/>
        </a:defRPr>
      </a:lvl6pPr>
      <a:lvl7pPr marL="2971800" indent="-228600" algn="ctr" defTabSz="457200" rtl="0" fontAlgn="base">
        <a:spcBef>
          <a:spcPct val="0"/>
        </a:spcBef>
        <a:spcAft>
          <a:spcPct val="0"/>
        </a:spcAft>
        <a:buClr>
          <a:srgbClr val="000000"/>
        </a:buClr>
        <a:buSzPct val="100000"/>
        <a:buFont typeface="Times New Roman" panose="02020603050405020304" pitchFamily="18" charset="0"/>
        <a:defRPr sz="2400">
          <a:solidFill>
            <a:srgbClr val="FFFFCC"/>
          </a:solidFill>
          <a:latin typeface="Gill Sans MT" panose="020B0502020104020203" pitchFamily="34" charset="0"/>
          <a:cs typeface="Arial" panose="020B0604020202020204" pitchFamily="34" charset="0"/>
        </a:defRPr>
      </a:lvl7pPr>
      <a:lvl8pPr marL="3429000" indent="-228600" algn="ctr" defTabSz="457200" rtl="0" fontAlgn="base">
        <a:spcBef>
          <a:spcPct val="0"/>
        </a:spcBef>
        <a:spcAft>
          <a:spcPct val="0"/>
        </a:spcAft>
        <a:buClr>
          <a:srgbClr val="000000"/>
        </a:buClr>
        <a:buSzPct val="100000"/>
        <a:buFont typeface="Times New Roman" panose="02020603050405020304" pitchFamily="18" charset="0"/>
        <a:defRPr sz="2400">
          <a:solidFill>
            <a:srgbClr val="FFFFCC"/>
          </a:solidFill>
          <a:latin typeface="Gill Sans MT" panose="020B0502020104020203" pitchFamily="34" charset="0"/>
          <a:cs typeface="Arial" panose="020B0604020202020204" pitchFamily="34" charset="0"/>
        </a:defRPr>
      </a:lvl8pPr>
      <a:lvl9pPr marL="3886200" indent="-228600" algn="ctr" defTabSz="457200" rtl="0" fontAlgn="base">
        <a:spcBef>
          <a:spcPct val="0"/>
        </a:spcBef>
        <a:spcAft>
          <a:spcPct val="0"/>
        </a:spcAft>
        <a:buClr>
          <a:srgbClr val="000000"/>
        </a:buClr>
        <a:buSzPct val="100000"/>
        <a:buFont typeface="Times New Roman" panose="02020603050405020304" pitchFamily="18" charset="0"/>
        <a:defRPr sz="2400">
          <a:solidFill>
            <a:srgbClr val="FFFFCC"/>
          </a:solidFill>
          <a:latin typeface="Gill Sans MT" panose="020B0502020104020203" pitchFamily="34" charset="0"/>
          <a:cs typeface="Arial" panose="020B0604020202020204" pitchFamily="34" charset="0"/>
        </a:defRPr>
      </a:lvl9pPr>
    </p:titleStyle>
    <p:bodyStyle>
      <a:lvl1pPr marL="342900" indent="-342900" algn="l" defTabSz="457200" rtl="0" fontAlgn="base">
        <a:spcBef>
          <a:spcPts val="600"/>
        </a:spcBef>
        <a:spcAft>
          <a:spcPct val="0"/>
        </a:spcAft>
        <a:buClr>
          <a:srgbClr val="000000"/>
        </a:buClr>
        <a:buSzPct val="100000"/>
        <a:buFont typeface="Times New Roman" panose="02020603050405020304" pitchFamily="18" charset="0"/>
        <a:defRPr sz="2400" kern="1200">
          <a:solidFill>
            <a:srgbClr val="FFFFFF"/>
          </a:solidFill>
          <a:latin typeface="+mn-lt"/>
          <a:ea typeface="+mn-ea"/>
          <a:cs typeface="+mn-cs"/>
        </a:defRPr>
      </a:lvl1pPr>
      <a:lvl2pPr marL="742950" indent="-285750" algn="l" defTabSz="457200" rtl="0" fontAlgn="base">
        <a:spcBef>
          <a:spcPts val="500"/>
        </a:spcBef>
        <a:spcAft>
          <a:spcPct val="0"/>
        </a:spcAft>
        <a:buClr>
          <a:srgbClr val="000000"/>
        </a:buClr>
        <a:buSzPct val="100000"/>
        <a:buFont typeface="Times New Roman" panose="02020603050405020304" pitchFamily="18" charset="0"/>
        <a:defRPr sz="2000" kern="1200">
          <a:solidFill>
            <a:srgbClr val="FFFFFF"/>
          </a:solidFill>
          <a:latin typeface="+mn-lt"/>
          <a:ea typeface="+mn-ea"/>
          <a:cs typeface="+mn-cs"/>
        </a:defRPr>
      </a:lvl2pPr>
      <a:lvl3pPr marL="1143000" indent="-228600" algn="l" defTabSz="457200" rtl="0" fontAlgn="base">
        <a:spcBef>
          <a:spcPts val="450"/>
        </a:spcBef>
        <a:spcAft>
          <a:spcPct val="0"/>
        </a:spcAft>
        <a:buClr>
          <a:srgbClr val="000000"/>
        </a:buClr>
        <a:buSzPct val="100000"/>
        <a:buFont typeface="Times New Roman" panose="02020603050405020304" pitchFamily="18" charset="0"/>
        <a:defRPr kern="1200">
          <a:solidFill>
            <a:srgbClr val="FFFFFF"/>
          </a:solidFill>
          <a:latin typeface="+mn-lt"/>
          <a:ea typeface="+mn-ea"/>
          <a:cs typeface="+mn-cs"/>
        </a:defRPr>
      </a:lvl3pPr>
      <a:lvl4pPr marL="1600200" indent="-228600" algn="l" defTabSz="457200" rtl="0" fontAlgn="base">
        <a:spcBef>
          <a:spcPts val="400"/>
        </a:spcBef>
        <a:spcAft>
          <a:spcPct val="0"/>
        </a:spcAft>
        <a:buClr>
          <a:srgbClr val="000000"/>
        </a:buClr>
        <a:buSzPct val="100000"/>
        <a:buFont typeface="Times New Roman" panose="02020603050405020304" pitchFamily="18" charset="0"/>
        <a:defRPr sz="1600" kern="1200">
          <a:solidFill>
            <a:srgbClr val="FFFFFF"/>
          </a:solidFill>
          <a:latin typeface="+mn-lt"/>
          <a:ea typeface="+mn-ea"/>
          <a:cs typeface="+mn-cs"/>
        </a:defRPr>
      </a:lvl4pPr>
      <a:lvl5pPr marL="2057400" indent="-228600" algn="l" defTabSz="457200" rtl="0" fontAlgn="base">
        <a:spcBef>
          <a:spcPts val="350"/>
        </a:spcBef>
        <a:spcAft>
          <a:spcPct val="0"/>
        </a:spcAft>
        <a:buClr>
          <a:srgbClr val="000000"/>
        </a:buClr>
        <a:buSzPct val="100000"/>
        <a:buFont typeface="Times New Roman" panose="02020603050405020304" pitchFamily="18" charset="0"/>
        <a:defRPr sz="14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2049" name="Rectangle 1">
            <a:extLst>
              <a:ext uri="{FF2B5EF4-FFF2-40B4-BE49-F238E27FC236}">
                <a16:creationId xmlns:a16="http://schemas.microsoft.com/office/drawing/2014/main" id="{6349BE4E-81C9-49E9-B8C4-30BDD7B416ED}"/>
              </a:ext>
            </a:extLst>
          </p:cNvPr>
          <p:cNvSpPr>
            <a:spLocks noGrp="1" noChangeArrowheads="1"/>
          </p:cNvSpPr>
          <p:nvPr>
            <p:ph type="title"/>
          </p:nvPr>
        </p:nvSpPr>
        <p:spPr bwMode="auto">
          <a:xfrm>
            <a:off x="685800" y="2057400"/>
            <a:ext cx="8075613" cy="1608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en-US"/>
              <a:t>Click to edit the title text format</a:t>
            </a:r>
          </a:p>
        </p:txBody>
      </p:sp>
      <p:sp>
        <p:nvSpPr>
          <p:cNvPr id="2050" name="Rectangle 2">
            <a:extLst>
              <a:ext uri="{FF2B5EF4-FFF2-40B4-BE49-F238E27FC236}">
                <a16:creationId xmlns:a16="http://schemas.microsoft.com/office/drawing/2014/main" id="{1EE304C2-52C6-4553-8D2D-DF316D12D2B8}"/>
              </a:ext>
            </a:extLst>
          </p:cNvPr>
          <p:cNvSpPr>
            <a:spLocks noGrp="1" noChangeArrowheads="1"/>
          </p:cNvSpPr>
          <p:nvPr>
            <p:ph type="dt"/>
          </p:nvPr>
        </p:nvSpPr>
        <p:spPr bwMode="auto">
          <a:xfrm>
            <a:off x="457200" y="6248400"/>
            <a:ext cx="2132013"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lvl1pPr>
              <a:buSzPct val="45000"/>
              <a:buFont typeface="Wingdings" panose="05000000000000000000" pitchFamily="2" charset="2"/>
              <a:buNone/>
              <a:tabLst>
                <a:tab pos="723900" algn="l"/>
                <a:tab pos="1447800" algn="l"/>
              </a:tabLst>
              <a:defRPr sz="1200">
                <a:solidFill>
                  <a:srgbClr val="000000"/>
                </a:solidFill>
                <a:latin typeface="Times New Roman" panose="02020603050405020304" pitchFamily="18" charset="0"/>
                <a:cs typeface="Lucida Sans Unicode" panose="020B0602030504020204" pitchFamily="34" charset="0"/>
              </a:defRPr>
            </a:lvl1pPr>
          </a:lstStyle>
          <a:p>
            <a:endParaRPr lang="en-US" altLang="en-US"/>
          </a:p>
        </p:txBody>
      </p:sp>
      <p:sp>
        <p:nvSpPr>
          <p:cNvPr id="2051" name="Rectangle 3">
            <a:extLst>
              <a:ext uri="{FF2B5EF4-FFF2-40B4-BE49-F238E27FC236}">
                <a16:creationId xmlns:a16="http://schemas.microsoft.com/office/drawing/2014/main" id="{22D07F99-461E-4E60-8F6C-A4114277E695}"/>
              </a:ext>
            </a:extLst>
          </p:cNvPr>
          <p:cNvSpPr>
            <a:spLocks noGrp="1" noChangeArrowheads="1"/>
          </p:cNvSpPr>
          <p:nvPr>
            <p:ph type="ftr"/>
          </p:nvPr>
        </p:nvSpPr>
        <p:spPr bwMode="auto">
          <a:xfrm>
            <a:off x="3124200" y="6253163"/>
            <a:ext cx="2894013"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lvl1pPr algn="ctr">
              <a:buSzPct val="45000"/>
              <a:buFont typeface="Wingdings" panose="05000000000000000000" pitchFamily="2" charset="2"/>
              <a:buNone/>
              <a:tabLst>
                <a:tab pos="723900" algn="l"/>
                <a:tab pos="1447800" algn="l"/>
                <a:tab pos="2171700" algn="l"/>
                <a:tab pos="2895600" algn="l"/>
              </a:tabLst>
              <a:defRPr sz="1200">
                <a:solidFill>
                  <a:srgbClr val="000000"/>
                </a:solidFill>
                <a:latin typeface="Times New Roman" panose="02020603050405020304" pitchFamily="18" charset="0"/>
                <a:cs typeface="Lucida Sans Unicode" panose="020B0602030504020204" pitchFamily="34" charset="0"/>
              </a:defRPr>
            </a:lvl1pPr>
          </a:lstStyle>
          <a:p>
            <a:endParaRPr lang="en-US" altLang="en-US"/>
          </a:p>
        </p:txBody>
      </p:sp>
      <p:sp>
        <p:nvSpPr>
          <p:cNvPr id="2052" name="Rectangle 4">
            <a:extLst>
              <a:ext uri="{FF2B5EF4-FFF2-40B4-BE49-F238E27FC236}">
                <a16:creationId xmlns:a16="http://schemas.microsoft.com/office/drawing/2014/main" id="{AEA4321F-9B19-4F44-A5F1-25353C2EF0E5}"/>
              </a:ext>
            </a:extLst>
          </p:cNvPr>
          <p:cNvSpPr>
            <a:spLocks noGrp="1" noChangeArrowheads="1"/>
          </p:cNvSpPr>
          <p:nvPr>
            <p:ph type="sldNum"/>
          </p:nvPr>
        </p:nvSpPr>
        <p:spPr bwMode="auto">
          <a:xfrm>
            <a:off x="6553200" y="6248400"/>
            <a:ext cx="2132013"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lvl1pPr algn="r">
              <a:buClrTx/>
              <a:buFontTx/>
              <a:buNone/>
              <a:tabLst>
                <a:tab pos="723900" algn="l"/>
                <a:tab pos="1447800" algn="l"/>
              </a:tabLst>
              <a:defRPr sz="1200">
                <a:solidFill>
                  <a:srgbClr val="000000"/>
                </a:solidFill>
                <a:latin typeface="Arial Black" panose="020B0A04020102020204" pitchFamily="34" charset="0"/>
                <a:cs typeface="Lucida Sans Unicode" panose="020B0602030504020204" pitchFamily="34" charset="0"/>
              </a:defRPr>
            </a:lvl1pPr>
          </a:lstStyle>
          <a:p>
            <a:fld id="{37ECA7A5-3DB4-4556-9307-F94189A89826}" type="slidenum">
              <a:rPr lang="en-US" altLang="en-US"/>
              <a:pPr/>
              <a:t>‹#›</a:t>
            </a:fld>
            <a:endParaRPr lang="en-US" altLang="en-US"/>
          </a:p>
        </p:txBody>
      </p:sp>
      <p:sp>
        <p:nvSpPr>
          <p:cNvPr id="2053" name="Rectangle 5">
            <a:extLst>
              <a:ext uri="{FF2B5EF4-FFF2-40B4-BE49-F238E27FC236}">
                <a16:creationId xmlns:a16="http://schemas.microsoft.com/office/drawing/2014/main" id="{011809EC-2EAB-4BF1-8BFB-E1959F645398}"/>
              </a:ext>
            </a:extLst>
          </p:cNvPr>
          <p:cNvSpPr>
            <a:spLocks noGrp="1" noChangeArrowheads="1"/>
          </p:cNvSpPr>
          <p:nvPr>
            <p:ph type="body" idx="1"/>
          </p:nvPr>
        </p:nvSpPr>
        <p:spPr bwMode="auto">
          <a:xfrm>
            <a:off x="457200" y="1604963"/>
            <a:ext cx="8228013" cy="452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4"/>
            <a:r>
              <a:rPr lang="en-GB" altLang="en-US"/>
              <a:t>Ninth Outline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457200" rtl="0" fontAlgn="base">
        <a:spcBef>
          <a:spcPct val="0"/>
        </a:spcBef>
        <a:spcAft>
          <a:spcPct val="0"/>
        </a:spcAft>
        <a:buClr>
          <a:srgbClr val="000000"/>
        </a:buClr>
        <a:buSzPct val="100000"/>
        <a:buFont typeface="Times New Roman" panose="02020603050405020304" pitchFamily="18" charset="0"/>
        <a:defRPr sz="2400" kern="1200">
          <a:solidFill>
            <a:srgbClr val="FFFFCC"/>
          </a:solidFill>
          <a:latin typeface="+mj-lt"/>
          <a:ea typeface="+mj-ea"/>
          <a:cs typeface="+mj-cs"/>
        </a:defRPr>
      </a:lvl1pPr>
      <a:lvl2pPr marL="742950" indent="-285750" algn="ctr" defTabSz="457200" rtl="0" fontAlgn="base">
        <a:spcBef>
          <a:spcPct val="0"/>
        </a:spcBef>
        <a:spcAft>
          <a:spcPct val="0"/>
        </a:spcAft>
        <a:buClr>
          <a:srgbClr val="000000"/>
        </a:buClr>
        <a:buSzPct val="100000"/>
        <a:buFont typeface="Times New Roman" panose="02020603050405020304" pitchFamily="18" charset="0"/>
        <a:defRPr sz="2400">
          <a:solidFill>
            <a:srgbClr val="FFFFCC"/>
          </a:solidFill>
          <a:latin typeface="Gill Sans MT" panose="020B0502020104020203" pitchFamily="34" charset="0"/>
          <a:cs typeface="Arial" panose="020B0604020202020204" pitchFamily="34" charset="0"/>
        </a:defRPr>
      </a:lvl2pPr>
      <a:lvl3pPr marL="1143000" indent="-228600" algn="ctr" defTabSz="457200" rtl="0" fontAlgn="base">
        <a:spcBef>
          <a:spcPct val="0"/>
        </a:spcBef>
        <a:spcAft>
          <a:spcPct val="0"/>
        </a:spcAft>
        <a:buClr>
          <a:srgbClr val="000000"/>
        </a:buClr>
        <a:buSzPct val="100000"/>
        <a:buFont typeface="Times New Roman" panose="02020603050405020304" pitchFamily="18" charset="0"/>
        <a:defRPr sz="2400">
          <a:solidFill>
            <a:srgbClr val="FFFFCC"/>
          </a:solidFill>
          <a:latin typeface="Gill Sans MT" panose="020B0502020104020203" pitchFamily="34" charset="0"/>
          <a:cs typeface="Arial" panose="020B0604020202020204" pitchFamily="34" charset="0"/>
        </a:defRPr>
      </a:lvl3pPr>
      <a:lvl4pPr marL="1600200" indent="-228600" algn="ctr" defTabSz="457200" rtl="0" fontAlgn="base">
        <a:spcBef>
          <a:spcPct val="0"/>
        </a:spcBef>
        <a:spcAft>
          <a:spcPct val="0"/>
        </a:spcAft>
        <a:buClr>
          <a:srgbClr val="000000"/>
        </a:buClr>
        <a:buSzPct val="100000"/>
        <a:buFont typeface="Times New Roman" panose="02020603050405020304" pitchFamily="18" charset="0"/>
        <a:defRPr sz="2400">
          <a:solidFill>
            <a:srgbClr val="FFFFCC"/>
          </a:solidFill>
          <a:latin typeface="Gill Sans MT" panose="020B0502020104020203" pitchFamily="34" charset="0"/>
          <a:cs typeface="Arial" panose="020B0604020202020204" pitchFamily="34" charset="0"/>
        </a:defRPr>
      </a:lvl4pPr>
      <a:lvl5pPr marL="2057400" indent="-228600" algn="ctr" defTabSz="457200" rtl="0" fontAlgn="base">
        <a:spcBef>
          <a:spcPct val="0"/>
        </a:spcBef>
        <a:spcAft>
          <a:spcPct val="0"/>
        </a:spcAft>
        <a:buClr>
          <a:srgbClr val="000000"/>
        </a:buClr>
        <a:buSzPct val="100000"/>
        <a:buFont typeface="Times New Roman" panose="02020603050405020304" pitchFamily="18" charset="0"/>
        <a:defRPr sz="2400">
          <a:solidFill>
            <a:srgbClr val="FFFFCC"/>
          </a:solidFill>
          <a:latin typeface="Gill Sans MT" panose="020B0502020104020203" pitchFamily="34" charset="0"/>
          <a:cs typeface="Arial" panose="020B0604020202020204" pitchFamily="34" charset="0"/>
        </a:defRPr>
      </a:lvl5pPr>
      <a:lvl6pPr marL="2514600" indent="-228600" algn="ctr" defTabSz="457200" rtl="0" fontAlgn="base">
        <a:spcBef>
          <a:spcPct val="0"/>
        </a:spcBef>
        <a:spcAft>
          <a:spcPct val="0"/>
        </a:spcAft>
        <a:buClr>
          <a:srgbClr val="000000"/>
        </a:buClr>
        <a:buSzPct val="100000"/>
        <a:buFont typeface="Times New Roman" panose="02020603050405020304" pitchFamily="18" charset="0"/>
        <a:defRPr sz="2400">
          <a:solidFill>
            <a:srgbClr val="FFFFCC"/>
          </a:solidFill>
          <a:latin typeface="Gill Sans MT" panose="020B0502020104020203" pitchFamily="34" charset="0"/>
          <a:cs typeface="Arial" panose="020B0604020202020204" pitchFamily="34" charset="0"/>
        </a:defRPr>
      </a:lvl6pPr>
      <a:lvl7pPr marL="2971800" indent="-228600" algn="ctr" defTabSz="457200" rtl="0" fontAlgn="base">
        <a:spcBef>
          <a:spcPct val="0"/>
        </a:spcBef>
        <a:spcAft>
          <a:spcPct val="0"/>
        </a:spcAft>
        <a:buClr>
          <a:srgbClr val="000000"/>
        </a:buClr>
        <a:buSzPct val="100000"/>
        <a:buFont typeface="Times New Roman" panose="02020603050405020304" pitchFamily="18" charset="0"/>
        <a:defRPr sz="2400">
          <a:solidFill>
            <a:srgbClr val="FFFFCC"/>
          </a:solidFill>
          <a:latin typeface="Gill Sans MT" panose="020B0502020104020203" pitchFamily="34" charset="0"/>
          <a:cs typeface="Arial" panose="020B0604020202020204" pitchFamily="34" charset="0"/>
        </a:defRPr>
      </a:lvl7pPr>
      <a:lvl8pPr marL="3429000" indent="-228600" algn="ctr" defTabSz="457200" rtl="0" fontAlgn="base">
        <a:spcBef>
          <a:spcPct val="0"/>
        </a:spcBef>
        <a:spcAft>
          <a:spcPct val="0"/>
        </a:spcAft>
        <a:buClr>
          <a:srgbClr val="000000"/>
        </a:buClr>
        <a:buSzPct val="100000"/>
        <a:buFont typeface="Times New Roman" panose="02020603050405020304" pitchFamily="18" charset="0"/>
        <a:defRPr sz="2400">
          <a:solidFill>
            <a:srgbClr val="FFFFCC"/>
          </a:solidFill>
          <a:latin typeface="Gill Sans MT" panose="020B0502020104020203" pitchFamily="34" charset="0"/>
          <a:cs typeface="Arial" panose="020B0604020202020204" pitchFamily="34" charset="0"/>
        </a:defRPr>
      </a:lvl8pPr>
      <a:lvl9pPr marL="3886200" indent="-228600" algn="ctr" defTabSz="457200" rtl="0" fontAlgn="base">
        <a:spcBef>
          <a:spcPct val="0"/>
        </a:spcBef>
        <a:spcAft>
          <a:spcPct val="0"/>
        </a:spcAft>
        <a:buClr>
          <a:srgbClr val="000000"/>
        </a:buClr>
        <a:buSzPct val="100000"/>
        <a:buFont typeface="Times New Roman" panose="02020603050405020304" pitchFamily="18" charset="0"/>
        <a:defRPr sz="2400">
          <a:solidFill>
            <a:srgbClr val="FFFFCC"/>
          </a:solidFill>
          <a:latin typeface="Gill Sans MT" panose="020B0502020104020203" pitchFamily="34" charset="0"/>
          <a:cs typeface="Arial" panose="020B0604020202020204" pitchFamily="34" charset="0"/>
        </a:defRPr>
      </a:lvl9pPr>
    </p:titleStyle>
    <p:bodyStyle>
      <a:lvl1pPr marL="342900" indent="-342900" algn="l" defTabSz="457200" rtl="0" fontAlgn="base">
        <a:spcBef>
          <a:spcPts val="600"/>
        </a:spcBef>
        <a:spcAft>
          <a:spcPct val="0"/>
        </a:spcAft>
        <a:buClr>
          <a:srgbClr val="000000"/>
        </a:buClr>
        <a:buSzPct val="100000"/>
        <a:buFont typeface="Times New Roman" panose="02020603050405020304" pitchFamily="18" charset="0"/>
        <a:defRPr sz="2400" kern="1200">
          <a:solidFill>
            <a:srgbClr val="FFFFFF"/>
          </a:solidFill>
          <a:latin typeface="+mn-lt"/>
          <a:ea typeface="+mn-ea"/>
          <a:cs typeface="+mn-cs"/>
        </a:defRPr>
      </a:lvl1pPr>
      <a:lvl2pPr marL="742950" indent="-285750" algn="l" defTabSz="457200" rtl="0" fontAlgn="base">
        <a:spcBef>
          <a:spcPts val="500"/>
        </a:spcBef>
        <a:spcAft>
          <a:spcPct val="0"/>
        </a:spcAft>
        <a:buClr>
          <a:srgbClr val="000000"/>
        </a:buClr>
        <a:buSzPct val="100000"/>
        <a:buFont typeface="Times New Roman" panose="02020603050405020304" pitchFamily="18" charset="0"/>
        <a:defRPr sz="2000" kern="1200">
          <a:solidFill>
            <a:srgbClr val="FFFFFF"/>
          </a:solidFill>
          <a:latin typeface="+mn-lt"/>
          <a:ea typeface="+mn-ea"/>
          <a:cs typeface="+mn-cs"/>
        </a:defRPr>
      </a:lvl2pPr>
      <a:lvl3pPr marL="1143000" indent="-228600" algn="l" defTabSz="457200" rtl="0" fontAlgn="base">
        <a:spcBef>
          <a:spcPts val="450"/>
        </a:spcBef>
        <a:spcAft>
          <a:spcPct val="0"/>
        </a:spcAft>
        <a:buClr>
          <a:srgbClr val="000000"/>
        </a:buClr>
        <a:buSzPct val="100000"/>
        <a:buFont typeface="Times New Roman" panose="02020603050405020304" pitchFamily="18" charset="0"/>
        <a:defRPr kern="1200">
          <a:solidFill>
            <a:srgbClr val="FFFFFF"/>
          </a:solidFill>
          <a:latin typeface="+mn-lt"/>
          <a:ea typeface="+mn-ea"/>
          <a:cs typeface="+mn-cs"/>
        </a:defRPr>
      </a:lvl3pPr>
      <a:lvl4pPr marL="1600200" indent="-228600" algn="l" defTabSz="457200" rtl="0" fontAlgn="base">
        <a:spcBef>
          <a:spcPts val="400"/>
        </a:spcBef>
        <a:spcAft>
          <a:spcPct val="0"/>
        </a:spcAft>
        <a:buClr>
          <a:srgbClr val="000000"/>
        </a:buClr>
        <a:buSzPct val="100000"/>
        <a:buFont typeface="Times New Roman" panose="02020603050405020304" pitchFamily="18" charset="0"/>
        <a:defRPr sz="1600" kern="1200">
          <a:solidFill>
            <a:srgbClr val="FFFFFF"/>
          </a:solidFill>
          <a:latin typeface="+mn-lt"/>
          <a:ea typeface="+mn-ea"/>
          <a:cs typeface="+mn-cs"/>
        </a:defRPr>
      </a:lvl4pPr>
      <a:lvl5pPr marL="2057400" indent="-228600" algn="l" defTabSz="457200" rtl="0" fontAlgn="base">
        <a:spcBef>
          <a:spcPts val="350"/>
        </a:spcBef>
        <a:spcAft>
          <a:spcPct val="0"/>
        </a:spcAft>
        <a:buClr>
          <a:srgbClr val="000000"/>
        </a:buClr>
        <a:buSzPct val="100000"/>
        <a:buFont typeface="Times New Roman" panose="02020603050405020304" pitchFamily="18" charset="0"/>
        <a:defRPr sz="14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studyinkorea.go.kr/"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8.emf"/><Relationship Id="rId4" Type="http://schemas.openxmlformats.org/officeDocument/2006/relationships/oleObject" Target="../embeddings/oleObject3.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9.emf"/><Relationship Id="rId4" Type="http://schemas.openxmlformats.org/officeDocument/2006/relationships/oleObject" Target="../embeddings/oleObject4.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3.emf"/><Relationship Id="rId4" Type="http://schemas.openxmlformats.org/officeDocument/2006/relationships/oleObject" Target="../embeddings/oleObject5.bin"/></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6A0F057F-1D33-4E4F-A5DE-FE333056694A}"/>
              </a:ext>
            </a:extLst>
          </p:cNvPr>
          <p:cNvSpPr>
            <a:spLocks noGrp="1"/>
          </p:cNvSpPr>
          <p:nvPr>
            <p:ph type="sldNum" idx="12"/>
          </p:nvPr>
        </p:nvSpPr>
        <p:spPr/>
        <p:txBody>
          <a:bodyPr/>
          <a:lstStyle/>
          <a:p>
            <a:fld id="{DBAECF44-AAF1-463F-9D31-BE300991D659}" type="slidenum">
              <a:rPr lang="en-US" altLang="en-US"/>
              <a:pPr/>
              <a:t>1</a:t>
            </a:fld>
            <a:endParaRPr lang="en-US" altLang="en-US"/>
          </a:p>
        </p:txBody>
      </p:sp>
      <p:sp>
        <p:nvSpPr>
          <p:cNvPr id="4097" name="Rectangle 1">
            <a:extLst>
              <a:ext uri="{FF2B5EF4-FFF2-40B4-BE49-F238E27FC236}">
                <a16:creationId xmlns:a16="http://schemas.microsoft.com/office/drawing/2014/main" id="{067D31AE-BA9D-497A-902C-0844C5A84917}"/>
              </a:ext>
            </a:extLst>
          </p:cNvPr>
          <p:cNvSpPr>
            <a:spLocks noGrp="1" noChangeArrowheads="1"/>
          </p:cNvSpPr>
          <p:nvPr>
            <p:ph type="title"/>
          </p:nvPr>
        </p:nvSpPr>
        <p:spPr>
          <a:xfrm>
            <a:off x="1066800" y="1905000"/>
            <a:ext cx="7086600" cy="21336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2000" b="1">
                <a:solidFill>
                  <a:srgbClr val="CCCCFF"/>
                </a:solidFill>
              </a:rPr>
              <a:t>INTERNATIONAL GRADUATE STUDENTS:</a:t>
            </a:r>
            <a:br>
              <a:rPr lang="en-US" altLang="en-US" sz="2000" b="1">
                <a:solidFill>
                  <a:srgbClr val="CCCCFF"/>
                </a:solidFill>
              </a:rPr>
            </a:br>
            <a:r>
              <a:rPr lang="en-US" altLang="en-US" sz="1900"/>
              <a:t>Conflicts between Security and Science in the Issuing of Visas</a:t>
            </a:r>
          </a:p>
        </p:txBody>
      </p:sp>
      <p:sp>
        <p:nvSpPr>
          <p:cNvPr id="4098" name="Rectangle 2">
            <a:extLst>
              <a:ext uri="{FF2B5EF4-FFF2-40B4-BE49-F238E27FC236}">
                <a16:creationId xmlns:a16="http://schemas.microsoft.com/office/drawing/2014/main" id="{4F81EC03-DFA1-431A-8A08-21F2E35E49F5}"/>
              </a:ext>
            </a:extLst>
          </p:cNvPr>
          <p:cNvSpPr>
            <a:spLocks noGrp="1" noChangeArrowheads="1"/>
          </p:cNvSpPr>
          <p:nvPr>
            <p:ph type="subTitle" idx="4294967295"/>
          </p:nvPr>
        </p:nvSpPr>
        <p:spPr bwMode="auto">
          <a:xfrm>
            <a:off x="990600" y="3886200"/>
            <a:ext cx="7086600" cy="22447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marL="0" indent="0" algn="ctr">
              <a:spcBef>
                <a:spcPts val="450"/>
              </a:spcBef>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1800"/>
              <a:t>Dr. John V. Richardson Jr.</a:t>
            </a:r>
          </a:p>
          <a:p>
            <a:pPr marL="0" indent="0" algn="ctr">
              <a:spcBef>
                <a:spcPts val="450"/>
              </a:spcBef>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1800"/>
              <a:t>Associate Dean, UCLA Graduate Division</a:t>
            </a:r>
          </a:p>
          <a:p>
            <a:pPr marL="0" indent="0" algn="ctr">
              <a:spcBef>
                <a:spcPts val="450"/>
              </a:spcBef>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1800"/>
              <a:t>Winter 2005</a:t>
            </a:r>
          </a:p>
          <a:p>
            <a:pPr marL="0" indent="0">
              <a:spcBef>
                <a:spcPts val="450"/>
              </a:spcBef>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sz="1800"/>
          </a:p>
          <a:p>
            <a:pPr marL="0" indent="0">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p>
          <a:p>
            <a:pPr marL="0" indent="0">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p>
        </p:txBody>
      </p:sp>
      <p:pic>
        <p:nvPicPr>
          <p:cNvPr id="4099" name="Picture 3">
            <a:extLst>
              <a:ext uri="{FF2B5EF4-FFF2-40B4-BE49-F238E27FC236}">
                <a16:creationId xmlns:a16="http://schemas.microsoft.com/office/drawing/2014/main" id="{C89A7DED-AAFA-4466-8AE2-8C9CCED4C2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6096000"/>
            <a:ext cx="2952750" cy="2333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2E980EF-3729-4F21-A8C5-9BC492A13B82}"/>
              </a:ext>
            </a:extLst>
          </p:cNvPr>
          <p:cNvSpPr>
            <a:spLocks noGrp="1"/>
          </p:cNvSpPr>
          <p:nvPr>
            <p:ph type="sldNum" idx="12"/>
          </p:nvPr>
        </p:nvSpPr>
        <p:spPr/>
        <p:txBody>
          <a:bodyPr/>
          <a:lstStyle/>
          <a:p>
            <a:fld id="{CE13C2D5-C180-4126-83F2-1BAD9ABEAE3A}" type="slidenum">
              <a:rPr lang="en-US" altLang="en-US"/>
              <a:pPr/>
              <a:t>2</a:t>
            </a:fld>
            <a:endParaRPr lang="en-US" altLang="en-US"/>
          </a:p>
        </p:txBody>
      </p:sp>
      <p:sp>
        <p:nvSpPr>
          <p:cNvPr id="5121" name="Rectangle 1">
            <a:extLst>
              <a:ext uri="{FF2B5EF4-FFF2-40B4-BE49-F238E27FC236}">
                <a16:creationId xmlns:a16="http://schemas.microsoft.com/office/drawing/2014/main" id="{ED5253F2-0301-4838-BDFF-C2B5345314DD}"/>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2000"/>
              <a:t>INTERNATIONAL STUDENT ENROLLMENT DECLINES</a:t>
            </a:r>
          </a:p>
        </p:txBody>
      </p:sp>
      <p:graphicFrame>
        <p:nvGraphicFramePr>
          <p:cNvPr id="5122" name="Object 2">
            <a:extLst>
              <a:ext uri="{FF2B5EF4-FFF2-40B4-BE49-F238E27FC236}">
                <a16:creationId xmlns:a16="http://schemas.microsoft.com/office/drawing/2014/main" id="{441A0ADA-E00E-4452-842B-9AE55039BE83}"/>
              </a:ext>
            </a:extLst>
          </p:cNvPr>
          <p:cNvGraphicFramePr>
            <a:graphicFrameLocks noChangeAspect="1"/>
          </p:cNvGraphicFramePr>
          <p:nvPr/>
        </p:nvGraphicFramePr>
        <p:xfrm>
          <a:off x="1447800" y="1752600"/>
          <a:ext cx="6477000" cy="4157663"/>
        </p:xfrm>
        <a:graphic>
          <a:graphicData uri="http://schemas.openxmlformats.org/presentationml/2006/ole">
            <mc:AlternateContent xmlns:mc="http://schemas.openxmlformats.org/markup-compatibility/2006">
              <mc:Choice xmlns:v="urn:schemas-microsoft-com:vml" Requires="v">
                <p:oleObj spid="_x0000_s5126" r:id="rId4" imgW="9248760" imgH="5876640" progId="">
                  <p:embed/>
                </p:oleObj>
              </mc:Choice>
              <mc:Fallback>
                <p:oleObj r:id="rId4" imgW="9248760" imgH="5876640"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1752600"/>
                        <a:ext cx="6477000" cy="4157663"/>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3" name="Text Box 3">
            <a:extLst>
              <a:ext uri="{FF2B5EF4-FFF2-40B4-BE49-F238E27FC236}">
                <a16:creationId xmlns:a16="http://schemas.microsoft.com/office/drawing/2014/main" id="{48359ADE-5173-40B6-B348-12706B681CE4}"/>
              </a:ext>
            </a:extLst>
          </p:cNvPr>
          <p:cNvSpPr txBox="1">
            <a:spLocks noChangeArrowheads="1"/>
          </p:cNvSpPr>
          <p:nvPr/>
        </p:nvSpPr>
        <p:spPr bwMode="auto">
          <a:xfrm>
            <a:off x="1333500" y="1066800"/>
            <a:ext cx="64770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9pPr>
          </a:lstStyle>
          <a:p>
            <a:pPr algn="ctr">
              <a:spcBef>
                <a:spcPts val="1000"/>
              </a:spcBef>
              <a:buClrTx/>
              <a:buFontTx/>
              <a:buNone/>
            </a:pPr>
            <a:r>
              <a:rPr lang="en-US" altLang="en-US" sz="1600" b="1">
                <a:solidFill>
                  <a:srgbClr val="CCCCFF"/>
                </a:solidFill>
                <a:latin typeface="Gill Sans MT" panose="020B0502020104020203" pitchFamily="34" charset="0"/>
              </a:rPr>
              <a:t>Comparison of Fall 2004 and Fall 2003 Graduate Enrollment International Students by School/Division</a:t>
            </a:r>
          </a:p>
        </p:txBody>
      </p:sp>
      <p:sp>
        <p:nvSpPr>
          <p:cNvPr id="5124" name="Text Box 4">
            <a:extLst>
              <a:ext uri="{FF2B5EF4-FFF2-40B4-BE49-F238E27FC236}">
                <a16:creationId xmlns:a16="http://schemas.microsoft.com/office/drawing/2014/main" id="{08D66753-3540-454B-9301-F3FE83EA2B0F}"/>
              </a:ext>
            </a:extLst>
          </p:cNvPr>
          <p:cNvSpPr txBox="1">
            <a:spLocks noChangeArrowheads="1"/>
          </p:cNvSpPr>
          <p:nvPr/>
        </p:nvSpPr>
        <p:spPr bwMode="auto">
          <a:xfrm>
            <a:off x="1409700" y="6172200"/>
            <a:ext cx="6324600"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9pPr>
          </a:lstStyle>
          <a:p>
            <a:pPr algn="ctr">
              <a:spcBef>
                <a:spcPts val="750"/>
              </a:spcBef>
              <a:buClrTx/>
              <a:buFontTx/>
              <a:buNone/>
            </a:pPr>
            <a:r>
              <a:rPr lang="en-US" altLang="en-US" sz="1200">
                <a:solidFill>
                  <a:srgbClr val="FFFFCC"/>
                </a:solidFill>
                <a:latin typeface="Gill Sans MT" panose="020B0502020104020203" pitchFamily="34" charset="0"/>
              </a:rPr>
              <a:t>SOURCE: UCLA Graduate Division, IRIS (Dr. Pamela Taylor, 310.825.6453)</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5">
            <a:extLst>
              <a:ext uri="{FF2B5EF4-FFF2-40B4-BE49-F238E27FC236}">
                <a16:creationId xmlns:a16="http://schemas.microsoft.com/office/drawing/2014/main" id="{C1D24FC3-B92D-4FA1-AA6F-108BB804FC8A}"/>
              </a:ext>
            </a:extLst>
          </p:cNvPr>
          <p:cNvSpPr>
            <a:spLocks noGrp="1"/>
          </p:cNvSpPr>
          <p:nvPr>
            <p:ph type="sldNum" idx="12"/>
          </p:nvPr>
        </p:nvSpPr>
        <p:spPr/>
        <p:txBody>
          <a:bodyPr/>
          <a:lstStyle/>
          <a:p>
            <a:fld id="{1A129598-ADDC-46CC-A6C6-FF3672F8BEF7}" type="slidenum">
              <a:rPr lang="en-US" altLang="en-US"/>
              <a:pPr/>
              <a:t>3</a:t>
            </a:fld>
            <a:endParaRPr lang="en-US" altLang="en-US"/>
          </a:p>
        </p:txBody>
      </p:sp>
      <p:sp>
        <p:nvSpPr>
          <p:cNvPr id="6145" name="Rectangle 1">
            <a:extLst>
              <a:ext uri="{FF2B5EF4-FFF2-40B4-BE49-F238E27FC236}">
                <a16:creationId xmlns:a16="http://schemas.microsoft.com/office/drawing/2014/main" id="{840E0E5C-6878-4509-8660-F421DB445E34}"/>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GRADUATE APPLICATIONS DECLINE</a:t>
            </a:r>
          </a:p>
        </p:txBody>
      </p:sp>
      <p:sp>
        <p:nvSpPr>
          <p:cNvPr id="6146" name="Rectangle 2">
            <a:extLst>
              <a:ext uri="{FF2B5EF4-FFF2-40B4-BE49-F238E27FC236}">
                <a16:creationId xmlns:a16="http://schemas.microsoft.com/office/drawing/2014/main" id="{56824958-0159-400D-9B7B-EFBD4244248E}"/>
              </a:ext>
            </a:extLst>
          </p:cNvPr>
          <p:cNvSpPr>
            <a:spLocks noGrp="1" noChangeArrowheads="1"/>
          </p:cNvSpPr>
          <p:nvPr>
            <p:ph type="body" idx="4294967295"/>
          </p:nvPr>
        </p:nvSpPr>
        <p:spPr>
          <a:xfrm>
            <a:off x="1371600" y="3124200"/>
            <a:ext cx="6477000" cy="3370263"/>
          </a:xfrm>
          <a:ln/>
        </p:spPr>
        <p:txBody>
          <a:bodyPr/>
          <a:lstStyle/>
          <a:p>
            <a:pPr indent="-341313">
              <a:lnSpc>
                <a:spcPct val="80000"/>
              </a:lnSpc>
              <a:spcBef>
                <a:spcPts val="45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800">
                <a:solidFill>
                  <a:srgbClr val="CCCCFF"/>
                </a:solidFill>
              </a:rPr>
              <a:t>Total Applications</a:t>
            </a:r>
            <a:r>
              <a:rPr lang="en-US" altLang="en-US" sz="1800"/>
              <a:t> are down by 9.1% </a:t>
            </a:r>
          </a:p>
          <a:p>
            <a:pPr indent="-341313">
              <a:lnSpc>
                <a:spcPct val="80000"/>
              </a:lnSpc>
              <a:spcBef>
                <a:spcPts val="45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800">
                <a:solidFill>
                  <a:srgbClr val="CCCCFF"/>
                </a:solidFill>
              </a:rPr>
              <a:t>Domestic Applications</a:t>
            </a:r>
            <a:r>
              <a:rPr lang="en-US" altLang="en-US" sz="1800"/>
              <a:t> are down by 9.3% </a:t>
            </a:r>
          </a:p>
          <a:p>
            <a:pPr indent="-341313">
              <a:lnSpc>
                <a:spcPct val="80000"/>
              </a:lnSpc>
              <a:spcBef>
                <a:spcPts val="45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800">
                <a:solidFill>
                  <a:srgbClr val="CCCCFF"/>
                </a:solidFill>
              </a:rPr>
              <a:t>International Applications</a:t>
            </a:r>
            <a:r>
              <a:rPr lang="en-US" altLang="en-US" sz="1800"/>
              <a:t> are down by 8.7% </a:t>
            </a:r>
          </a:p>
          <a:p>
            <a:pPr indent="-341313">
              <a:lnSpc>
                <a:spcPct val="80000"/>
              </a:lnSpc>
              <a:spcBef>
                <a:spcPts val="45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800"/>
              <a:t> </a:t>
            </a:r>
          </a:p>
          <a:p>
            <a:pPr indent="-341313">
              <a:lnSpc>
                <a:spcPct val="80000"/>
              </a:lnSpc>
              <a:spcBef>
                <a:spcPts val="45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800"/>
              <a:t>Applications from: </a:t>
            </a:r>
          </a:p>
          <a:p>
            <a:pPr marL="741363" lvl="1" indent="-284163">
              <a:lnSpc>
                <a:spcPct val="80000"/>
              </a:lnSpc>
              <a:spcBef>
                <a:spcPts val="400"/>
              </a:spcBef>
              <a:buClr>
                <a:srgbClr val="FFFFCC"/>
              </a:buClr>
              <a:buFont typeface="Gill Sans MT" panose="020B0502020104020203" pitchFamily="34"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600"/>
              <a:t>the </a:t>
            </a:r>
            <a:r>
              <a:rPr lang="en-US" altLang="en-US" sz="1600" b="1">
                <a:solidFill>
                  <a:srgbClr val="CCCCFF"/>
                </a:solidFill>
              </a:rPr>
              <a:t>PRC</a:t>
            </a:r>
            <a:r>
              <a:rPr lang="en-US" altLang="en-US" sz="1600"/>
              <a:t> are down by 19% (1694 to 1371) </a:t>
            </a:r>
          </a:p>
          <a:p>
            <a:pPr marL="741363" lvl="1" indent="-284163">
              <a:lnSpc>
                <a:spcPct val="80000"/>
              </a:lnSpc>
              <a:spcBef>
                <a:spcPts val="400"/>
              </a:spcBef>
              <a:buClr>
                <a:srgbClr val="FFFFCC"/>
              </a:buClr>
              <a:buFont typeface="Gill Sans MT" panose="020B0502020104020203" pitchFamily="34"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600" b="1">
                <a:solidFill>
                  <a:srgbClr val="CCCCFF"/>
                </a:solidFill>
              </a:rPr>
              <a:t>Taiwan</a:t>
            </a:r>
            <a:r>
              <a:rPr lang="en-US" altLang="en-US" sz="1600"/>
              <a:t> are down by 3% (789 to 763) </a:t>
            </a:r>
          </a:p>
          <a:p>
            <a:pPr marL="741363" lvl="1" indent="-284163">
              <a:lnSpc>
                <a:spcPct val="80000"/>
              </a:lnSpc>
              <a:spcBef>
                <a:spcPts val="400"/>
              </a:spcBef>
              <a:buClr>
                <a:srgbClr val="FFFFCC"/>
              </a:buClr>
              <a:buFont typeface="Gill Sans MT" panose="020B0502020104020203" pitchFamily="34"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600" b="1">
                <a:solidFill>
                  <a:srgbClr val="CCCCFF"/>
                </a:solidFill>
              </a:rPr>
              <a:t>India</a:t>
            </a:r>
            <a:r>
              <a:rPr lang="en-US" altLang="en-US" sz="1600">
                <a:solidFill>
                  <a:srgbClr val="CCCCFF"/>
                </a:solidFill>
              </a:rPr>
              <a:t> </a:t>
            </a:r>
            <a:r>
              <a:rPr lang="en-US" altLang="en-US" sz="1600"/>
              <a:t>are down by 15% (826 to 702) </a:t>
            </a:r>
          </a:p>
          <a:p>
            <a:pPr marL="741363" lvl="1" indent="-284163">
              <a:lnSpc>
                <a:spcPct val="80000"/>
              </a:lnSpc>
              <a:spcBef>
                <a:spcPts val="400"/>
              </a:spcBef>
              <a:buClr>
                <a:srgbClr val="FFFFCC"/>
              </a:buClr>
              <a:buFont typeface="Gill Sans MT" panose="020B0502020104020203" pitchFamily="34"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600" b="1">
                <a:solidFill>
                  <a:srgbClr val="CCCCFF"/>
                </a:solidFill>
              </a:rPr>
              <a:t>Korea</a:t>
            </a:r>
            <a:r>
              <a:rPr lang="en-US" altLang="en-US" sz="1600"/>
              <a:t> are down by 6.7% (984 to 918) </a:t>
            </a:r>
          </a:p>
          <a:p>
            <a:pPr marL="741363" lvl="1" indent="-284163">
              <a:lnSpc>
                <a:spcPct val="80000"/>
              </a:lnSpc>
              <a:spcBef>
                <a:spcPts val="400"/>
              </a:spcBef>
              <a:buClr>
                <a:srgbClr val="FFFFCC"/>
              </a:buClr>
              <a:buFont typeface="Gill Sans MT" panose="020B0502020104020203" pitchFamily="34"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600" b="1">
                <a:solidFill>
                  <a:srgbClr val="CCCCFF"/>
                </a:solidFill>
              </a:rPr>
              <a:t>Japan</a:t>
            </a:r>
            <a:r>
              <a:rPr lang="en-US" altLang="en-US" sz="1600"/>
              <a:t> are down by18% (357 to 292) </a:t>
            </a:r>
          </a:p>
          <a:p>
            <a:pPr indent="-341313">
              <a:lnSpc>
                <a:spcPct val="80000"/>
              </a:lnSpc>
              <a:spcBef>
                <a:spcPts val="450"/>
              </a:spcBef>
              <a:buClr>
                <a:srgbClr val="FFFFCC"/>
              </a:buClr>
              <a:buSzPct val="80000"/>
              <a:buFont typeface="Gill Sans MT" panose="020B0502020104020203" pitchFamily="34" charset="0"/>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800"/>
          </a:p>
          <a:p>
            <a:pPr indent="-341313">
              <a:lnSpc>
                <a:spcPct val="80000"/>
              </a:lnSpc>
              <a:spcBef>
                <a:spcPts val="4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600" b="1">
                <a:solidFill>
                  <a:srgbClr val="FFFFCC"/>
                </a:solidFill>
              </a:rPr>
              <a:t>SOURCE</a:t>
            </a:r>
            <a:r>
              <a:rPr lang="en-US" altLang="en-US" sz="1600">
                <a:solidFill>
                  <a:srgbClr val="FFFFCC"/>
                </a:solidFill>
              </a:rPr>
              <a:t>: Dan Bennett (Graduate Admissions) and Mats Granlund (IRIS</a:t>
            </a:r>
            <a:r>
              <a:rPr lang="en-US" altLang="en-US" sz="1600"/>
              <a:t>)</a:t>
            </a:r>
          </a:p>
        </p:txBody>
      </p:sp>
      <p:graphicFrame>
        <p:nvGraphicFramePr>
          <p:cNvPr id="6147" name="Group 3">
            <a:extLst>
              <a:ext uri="{FF2B5EF4-FFF2-40B4-BE49-F238E27FC236}">
                <a16:creationId xmlns:a16="http://schemas.microsoft.com/office/drawing/2014/main" id="{2A664EEC-F94C-4BC2-A822-ECEC7D380019}"/>
              </a:ext>
            </a:extLst>
          </p:cNvPr>
          <p:cNvGraphicFramePr>
            <a:graphicFrameLocks noGrp="1"/>
          </p:cNvGraphicFramePr>
          <p:nvPr/>
        </p:nvGraphicFramePr>
        <p:xfrm>
          <a:off x="2209800" y="1219200"/>
          <a:ext cx="5030788" cy="1836738"/>
        </p:xfrm>
        <a:graphic>
          <a:graphicData uri="http://schemas.openxmlformats.org/drawingml/2006/table">
            <a:tbl>
              <a:tblPr/>
              <a:tblGrid>
                <a:gridCol w="1752600">
                  <a:extLst>
                    <a:ext uri="{9D8B030D-6E8A-4147-A177-3AD203B41FA5}">
                      <a16:colId xmlns:a16="http://schemas.microsoft.com/office/drawing/2014/main" val="2102651030"/>
                    </a:ext>
                  </a:extLst>
                </a:gridCol>
                <a:gridCol w="1525588">
                  <a:extLst>
                    <a:ext uri="{9D8B030D-6E8A-4147-A177-3AD203B41FA5}">
                      <a16:colId xmlns:a16="http://schemas.microsoft.com/office/drawing/2014/main" val="2647322791"/>
                    </a:ext>
                  </a:extLst>
                </a:gridCol>
                <a:gridCol w="1752600">
                  <a:extLst>
                    <a:ext uri="{9D8B030D-6E8A-4147-A177-3AD203B41FA5}">
                      <a16:colId xmlns:a16="http://schemas.microsoft.com/office/drawing/2014/main" val="1933196148"/>
                    </a:ext>
                  </a:extLst>
                </a:gridCol>
              </a:tblGrid>
              <a:tr h="581025">
                <a:tc>
                  <a:txBody>
                    <a:bodyPr/>
                    <a:lstStyle>
                      <a:lvl1pPr>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9pPr>
                    </a:lstStyle>
                    <a:p>
                      <a:pPr marL="0" marR="0" lvl="0" indent="0" algn="l" defTabSz="457200" rtl="0" eaLnBrk="1" fontAlgn="base" latinLnBrk="0" hangingPunct="1">
                        <a:lnSpc>
                          <a:spcPct val="93000"/>
                        </a:lnSpc>
                        <a:spcBef>
                          <a:spcPts val="400"/>
                        </a:spcBef>
                        <a:spcAft>
                          <a:spcPct val="0"/>
                        </a:spcAft>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1600" b="0" i="0" u="none" strike="noStrike" cap="none" normalizeH="0" baseline="0">
                        <a:ln>
                          <a:noFill/>
                        </a:ln>
                        <a:solidFill>
                          <a:srgbClr val="FFFFFF"/>
                        </a:solidFill>
                        <a:effectLst/>
                        <a:latin typeface="Gill Sans MT" panose="020B0502020104020203" pitchFamily="34" charset="0"/>
                        <a:cs typeface="Arial" panose="020B0604020202020204" pitchFamily="34" charset="0"/>
                      </a:endParaRPr>
                    </a:p>
                  </a:txBody>
                  <a:tcPr marL="90000" marR="90000" marT="60912" marB="46800" horzOverflow="overflow">
                    <a:lnL>
                      <a:noFill/>
                    </a:lnL>
                    <a:lnR>
                      <a:noFill/>
                    </a:lnR>
                    <a:lnT>
                      <a:noFill/>
                    </a:lnT>
                    <a:lnB>
                      <a:noFill/>
                    </a:lnB>
                    <a:lnTlToBr>
                      <a:noFill/>
                    </a:lnTlToBr>
                    <a:lnBlToTr>
                      <a:noFill/>
                    </a:lnBlToTr>
                    <a:noFill/>
                  </a:tcPr>
                </a:tc>
                <a:tc>
                  <a:txBody>
                    <a:bodyPr/>
                    <a:lstStyle>
                      <a:lvl1pPr>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9pPr>
                    </a:lstStyle>
                    <a:p>
                      <a:pPr marL="0" marR="0" lvl="0" indent="0" algn="ctr" defTabSz="457200" rtl="0" eaLnBrk="1" fontAlgn="base" latinLnBrk="0" hangingPunct="1">
                        <a:lnSpc>
                          <a:spcPct val="93000"/>
                        </a:lnSpc>
                        <a:spcBef>
                          <a:spcPts val="400"/>
                        </a:spcBef>
                        <a:spcAft>
                          <a:spcPct val="0"/>
                        </a:spcAft>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1600" b="1" i="0" u="sng" strike="noStrike" cap="none" normalizeH="0" baseline="0">
                          <a:ln>
                            <a:noFill/>
                          </a:ln>
                          <a:solidFill>
                            <a:srgbClr val="FFFFFF"/>
                          </a:solidFill>
                          <a:effectLst/>
                          <a:latin typeface="Gill Sans MT" panose="020B0502020104020203" pitchFamily="34" charset="0"/>
                          <a:cs typeface="Arial" panose="020B0604020202020204" pitchFamily="34" charset="0"/>
                        </a:rPr>
                        <a:t>March 1, 2004</a:t>
                      </a:r>
                    </a:p>
                  </a:txBody>
                  <a:tcPr marL="90000" marR="90000" marT="60912" marB="46800" horzOverflow="overflow">
                    <a:lnL>
                      <a:noFill/>
                    </a:lnL>
                    <a:lnR>
                      <a:noFill/>
                    </a:lnR>
                    <a:lnT>
                      <a:noFill/>
                    </a:lnT>
                    <a:lnB>
                      <a:noFill/>
                    </a:lnB>
                    <a:lnTlToBr>
                      <a:noFill/>
                    </a:lnTlToBr>
                    <a:lnBlToTr>
                      <a:noFill/>
                    </a:lnBlToTr>
                    <a:noFill/>
                  </a:tcPr>
                </a:tc>
                <a:tc>
                  <a:txBody>
                    <a:bodyPr/>
                    <a:lstStyle>
                      <a:lvl1pPr>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9pPr>
                    </a:lstStyle>
                    <a:p>
                      <a:pPr marL="0" marR="0" lvl="0" indent="0" algn="ctr" defTabSz="457200" rtl="0" eaLnBrk="1" fontAlgn="base" latinLnBrk="0" hangingPunct="1">
                        <a:lnSpc>
                          <a:spcPct val="93000"/>
                        </a:lnSpc>
                        <a:spcBef>
                          <a:spcPts val="400"/>
                        </a:spcBef>
                        <a:spcAft>
                          <a:spcPct val="0"/>
                        </a:spcAft>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1600" b="1" i="0" u="sng" strike="noStrike" cap="none" normalizeH="0" baseline="0">
                          <a:ln>
                            <a:noFill/>
                          </a:ln>
                          <a:solidFill>
                            <a:srgbClr val="FFFFFF"/>
                          </a:solidFill>
                          <a:effectLst/>
                          <a:latin typeface="Gill Sans MT" panose="020B0502020104020203" pitchFamily="34" charset="0"/>
                          <a:cs typeface="Arial" panose="020B0604020202020204" pitchFamily="34" charset="0"/>
                        </a:rPr>
                        <a:t>March 1, 2005</a:t>
                      </a:r>
                    </a:p>
                  </a:txBody>
                  <a:tcPr marL="90000" marR="90000" marT="60912"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944542179"/>
                  </a:ext>
                </a:extLst>
              </a:tr>
              <a:tr h="581025">
                <a:tc>
                  <a:txBody>
                    <a:bodyPr/>
                    <a:lstStyle>
                      <a:lvl1pPr>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9pPr>
                    </a:lstStyle>
                    <a:p>
                      <a:pPr marL="0" marR="0" lvl="0" indent="0" algn="l" defTabSz="457200" rtl="0" eaLnBrk="1" fontAlgn="base" latinLnBrk="0" hangingPunct="1">
                        <a:lnSpc>
                          <a:spcPct val="93000"/>
                        </a:lnSpc>
                        <a:spcBef>
                          <a:spcPts val="400"/>
                        </a:spcBef>
                        <a:spcAft>
                          <a:spcPct val="0"/>
                        </a:spcAft>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1600" b="0" i="0" u="none" strike="noStrike" cap="none" normalizeH="0" baseline="0">
                          <a:ln>
                            <a:noFill/>
                          </a:ln>
                          <a:solidFill>
                            <a:srgbClr val="FFFFCC"/>
                          </a:solidFill>
                          <a:effectLst/>
                          <a:latin typeface="Gill Sans MT" panose="020B0502020104020203" pitchFamily="34" charset="0"/>
                          <a:cs typeface="Arial" panose="020B0604020202020204" pitchFamily="34" charset="0"/>
                        </a:rPr>
                        <a:t>Total Applications</a:t>
                      </a:r>
                    </a:p>
                  </a:txBody>
                  <a:tcPr marL="90000" marR="90000" marT="60912" marB="46800" horzOverflow="overflow">
                    <a:lnL>
                      <a:noFill/>
                    </a:lnL>
                    <a:lnR>
                      <a:noFill/>
                    </a:lnR>
                    <a:lnT>
                      <a:noFill/>
                    </a:lnT>
                    <a:lnB>
                      <a:noFill/>
                    </a:lnB>
                    <a:lnTlToBr>
                      <a:noFill/>
                    </a:lnTlToBr>
                    <a:lnBlToTr>
                      <a:noFill/>
                    </a:lnBlToTr>
                    <a:noFill/>
                  </a:tcPr>
                </a:tc>
                <a:tc>
                  <a:txBody>
                    <a:bodyPr/>
                    <a:lstStyle>
                      <a:lvl1pPr>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9pPr>
                    </a:lstStyle>
                    <a:p>
                      <a:pPr marL="0" marR="0" lvl="0" indent="0" algn="ctr" defTabSz="457200" rtl="0" eaLnBrk="1" fontAlgn="base" latinLnBrk="0" hangingPunct="1">
                        <a:lnSpc>
                          <a:spcPct val="93000"/>
                        </a:lnSpc>
                        <a:spcBef>
                          <a:spcPts val="400"/>
                        </a:spcBef>
                        <a:spcAft>
                          <a:spcPct val="0"/>
                        </a:spcAft>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1600" b="0" i="0" u="none" strike="noStrike" cap="none" normalizeH="0" baseline="0">
                          <a:ln>
                            <a:noFill/>
                          </a:ln>
                          <a:solidFill>
                            <a:srgbClr val="FFFFFF"/>
                          </a:solidFill>
                          <a:effectLst/>
                          <a:latin typeface="Gill Sans MT" panose="020B0502020104020203" pitchFamily="34" charset="0"/>
                          <a:cs typeface="Arial" panose="020B0604020202020204" pitchFamily="34" charset="0"/>
                        </a:rPr>
                        <a:t> 19,215</a:t>
                      </a:r>
                    </a:p>
                  </a:txBody>
                  <a:tcPr marL="90000" marR="90000" marT="60912" marB="46800" horzOverflow="overflow">
                    <a:lnL>
                      <a:noFill/>
                    </a:lnL>
                    <a:lnR>
                      <a:noFill/>
                    </a:lnR>
                    <a:lnT>
                      <a:noFill/>
                    </a:lnT>
                    <a:lnB>
                      <a:noFill/>
                    </a:lnB>
                    <a:lnTlToBr>
                      <a:noFill/>
                    </a:lnTlToBr>
                    <a:lnBlToTr>
                      <a:noFill/>
                    </a:lnBlToTr>
                    <a:noFill/>
                  </a:tcPr>
                </a:tc>
                <a:tc>
                  <a:txBody>
                    <a:bodyPr/>
                    <a:lstStyle>
                      <a:lvl1pPr>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9pPr>
                    </a:lstStyle>
                    <a:p>
                      <a:pPr marL="0" marR="0" lvl="0" indent="0" algn="ctr" defTabSz="457200" rtl="0" eaLnBrk="1" fontAlgn="base" latinLnBrk="0" hangingPunct="1">
                        <a:lnSpc>
                          <a:spcPct val="93000"/>
                        </a:lnSpc>
                        <a:spcBef>
                          <a:spcPts val="400"/>
                        </a:spcBef>
                        <a:spcAft>
                          <a:spcPct val="0"/>
                        </a:spcAft>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1600" b="0" i="0" u="none" strike="noStrike" cap="none" normalizeH="0" baseline="0">
                          <a:ln>
                            <a:noFill/>
                          </a:ln>
                          <a:solidFill>
                            <a:srgbClr val="FFFFFF"/>
                          </a:solidFill>
                          <a:effectLst/>
                          <a:latin typeface="Gill Sans MT" panose="020B0502020104020203" pitchFamily="34" charset="0"/>
                          <a:cs typeface="Arial" panose="020B0604020202020204" pitchFamily="34" charset="0"/>
                        </a:rPr>
                        <a:t>17,463</a:t>
                      </a:r>
                    </a:p>
                  </a:txBody>
                  <a:tcPr marL="90000" marR="90000" marT="60912"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4077988917"/>
                  </a:ext>
                </a:extLst>
              </a:tr>
              <a:tr h="336550">
                <a:tc>
                  <a:txBody>
                    <a:bodyPr/>
                    <a:lstStyle>
                      <a:lvl1pPr>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9pPr>
                    </a:lstStyle>
                    <a:p>
                      <a:pPr marL="0" marR="0" lvl="0" indent="0" algn="l" defTabSz="457200" rtl="0" eaLnBrk="1" fontAlgn="base" latinLnBrk="0" hangingPunct="1">
                        <a:lnSpc>
                          <a:spcPct val="93000"/>
                        </a:lnSpc>
                        <a:spcBef>
                          <a:spcPts val="400"/>
                        </a:spcBef>
                        <a:spcAft>
                          <a:spcPct val="0"/>
                        </a:spcAft>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1600" b="0" i="0" u="none" strike="noStrike" cap="none" normalizeH="0" baseline="0">
                          <a:ln>
                            <a:noFill/>
                          </a:ln>
                          <a:solidFill>
                            <a:srgbClr val="FFFFCC"/>
                          </a:solidFill>
                          <a:effectLst/>
                          <a:latin typeface="Gill Sans MT" panose="020B0502020104020203" pitchFamily="34" charset="0"/>
                          <a:cs typeface="Arial" panose="020B0604020202020204" pitchFamily="34" charset="0"/>
                        </a:rPr>
                        <a:t>Domestic</a:t>
                      </a:r>
                    </a:p>
                  </a:txBody>
                  <a:tcPr marL="90000" marR="90000" marT="60912" marB="46800" horzOverflow="overflow">
                    <a:lnL>
                      <a:noFill/>
                    </a:lnL>
                    <a:lnR>
                      <a:noFill/>
                    </a:lnR>
                    <a:lnT>
                      <a:noFill/>
                    </a:lnT>
                    <a:lnB>
                      <a:noFill/>
                    </a:lnB>
                    <a:lnTlToBr>
                      <a:noFill/>
                    </a:lnTlToBr>
                    <a:lnBlToTr>
                      <a:noFill/>
                    </a:lnBlToTr>
                    <a:noFill/>
                  </a:tcPr>
                </a:tc>
                <a:tc>
                  <a:txBody>
                    <a:bodyPr/>
                    <a:lstStyle>
                      <a:lvl1pPr>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9pPr>
                    </a:lstStyle>
                    <a:p>
                      <a:pPr marL="0" marR="0" lvl="0" indent="0" algn="ctr" defTabSz="457200" rtl="0" eaLnBrk="1" fontAlgn="base" latinLnBrk="0" hangingPunct="1">
                        <a:lnSpc>
                          <a:spcPct val="93000"/>
                        </a:lnSpc>
                        <a:spcBef>
                          <a:spcPts val="400"/>
                        </a:spcBef>
                        <a:spcAft>
                          <a:spcPct val="0"/>
                        </a:spcAft>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1600" b="0" i="0" u="none" strike="noStrike" cap="none" normalizeH="0" baseline="0">
                          <a:ln>
                            <a:noFill/>
                          </a:ln>
                          <a:solidFill>
                            <a:srgbClr val="FFFFFF"/>
                          </a:solidFill>
                          <a:effectLst/>
                          <a:latin typeface="Gill Sans MT" panose="020B0502020104020203" pitchFamily="34" charset="0"/>
                          <a:cs typeface="Arial" panose="020B0604020202020204" pitchFamily="34" charset="0"/>
                        </a:rPr>
                        <a:t>13,086</a:t>
                      </a:r>
                    </a:p>
                  </a:txBody>
                  <a:tcPr marL="90000" marR="90000" marT="60912" marB="46800" horzOverflow="overflow">
                    <a:lnL>
                      <a:noFill/>
                    </a:lnL>
                    <a:lnR>
                      <a:noFill/>
                    </a:lnR>
                    <a:lnT>
                      <a:noFill/>
                    </a:lnT>
                    <a:lnB>
                      <a:noFill/>
                    </a:lnB>
                    <a:lnTlToBr>
                      <a:noFill/>
                    </a:lnTlToBr>
                    <a:lnBlToTr>
                      <a:noFill/>
                    </a:lnBlToTr>
                    <a:noFill/>
                  </a:tcPr>
                </a:tc>
                <a:tc>
                  <a:txBody>
                    <a:bodyPr/>
                    <a:lstStyle>
                      <a:lvl1pPr>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9pPr>
                    </a:lstStyle>
                    <a:p>
                      <a:pPr marL="0" marR="0" lvl="0" indent="0" algn="ctr" defTabSz="457200" rtl="0" eaLnBrk="1" fontAlgn="base" latinLnBrk="0" hangingPunct="1">
                        <a:lnSpc>
                          <a:spcPct val="93000"/>
                        </a:lnSpc>
                        <a:spcBef>
                          <a:spcPts val="400"/>
                        </a:spcBef>
                        <a:spcAft>
                          <a:spcPct val="0"/>
                        </a:spcAft>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1600" b="0" i="0" u="none" strike="noStrike" cap="none" normalizeH="0" baseline="0">
                          <a:ln>
                            <a:noFill/>
                          </a:ln>
                          <a:solidFill>
                            <a:srgbClr val="FFFFFF"/>
                          </a:solidFill>
                          <a:effectLst/>
                          <a:latin typeface="Gill Sans MT" panose="020B0502020104020203" pitchFamily="34" charset="0"/>
                          <a:cs typeface="Arial" panose="020B0604020202020204" pitchFamily="34" charset="0"/>
                        </a:rPr>
                        <a:t>11,869</a:t>
                      </a:r>
                    </a:p>
                  </a:txBody>
                  <a:tcPr marL="90000" marR="90000" marT="60912"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49870271"/>
                  </a:ext>
                </a:extLst>
              </a:tr>
              <a:tr h="336550">
                <a:tc>
                  <a:txBody>
                    <a:bodyPr/>
                    <a:lstStyle>
                      <a:lvl1pPr>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9pPr>
                    </a:lstStyle>
                    <a:p>
                      <a:pPr marL="0" marR="0" lvl="0" indent="0" algn="l" defTabSz="457200" rtl="0" eaLnBrk="1" fontAlgn="base" latinLnBrk="0" hangingPunct="1">
                        <a:lnSpc>
                          <a:spcPct val="93000"/>
                        </a:lnSpc>
                        <a:spcBef>
                          <a:spcPts val="400"/>
                        </a:spcBef>
                        <a:spcAft>
                          <a:spcPct val="0"/>
                        </a:spcAft>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1600" b="0" i="0" u="none" strike="noStrike" cap="none" normalizeH="0" baseline="0">
                          <a:ln>
                            <a:noFill/>
                          </a:ln>
                          <a:solidFill>
                            <a:srgbClr val="FFFFCC"/>
                          </a:solidFill>
                          <a:effectLst/>
                          <a:latin typeface="Gill Sans MT" panose="020B0502020104020203" pitchFamily="34" charset="0"/>
                          <a:cs typeface="Arial" panose="020B0604020202020204" pitchFamily="34" charset="0"/>
                        </a:rPr>
                        <a:t>International </a:t>
                      </a:r>
                    </a:p>
                  </a:txBody>
                  <a:tcPr marL="90000" marR="90000" marT="60912" marB="46800" horzOverflow="overflow">
                    <a:lnL>
                      <a:noFill/>
                    </a:lnL>
                    <a:lnR>
                      <a:noFill/>
                    </a:lnR>
                    <a:lnT>
                      <a:noFill/>
                    </a:lnT>
                    <a:lnB>
                      <a:noFill/>
                    </a:lnB>
                    <a:lnTlToBr>
                      <a:noFill/>
                    </a:lnTlToBr>
                    <a:lnBlToTr>
                      <a:noFill/>
                    </a:lnBlToTr>
                    <a:noFill/>
                  </a:tcPr>
                </a:tc>
                <a:tc>
                  <a:txBody>
                    <a:bodyPr/>
                    <a:lstStyle>
                      <a:lvl1pPr>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9pPr>
                    </a:lstStyle>
                    <a:p>
                      <a:pPr marL="0" marR="0" lvl="0" indent="0" algn="ctr" defTabSz="457200" rtl="0" eaLnBrk="1" fontAlgn="base" latinLnBrk="0" hangingPunct="1">
                        <a:lnSpc>
                          <a:spcPct val="93000"/>
                        </a:lnSpc>
                        <a:spcBef>
                          <a:spcPts val="400"/>
                        </a:spcBef>
                        <a:spcAft>
                          <a:spcPct val="0"/>
                        </a:spcAft>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1600" b="0" i="0" u="none" strike="noStrike" cap="none" normalizeH="0" baseline="0">
                          <a:ln>
                            <a:noFill/>
                          </a:ln>
                          <a:solidFill>
                            <a:srgbClr val="FFFFFF"/>
                          </a:solidFill>
                          <a:effectLst/>
                          <a:latin typeface="Gill Sans MT" panose="020B0502020104020203" pitchFamily="34" charset="0"/>
                          <a:cs typeface="Arial" panose="020B0604020202020204" pitchFamily="34" charset="0"/>
                        </a:rPr>
                        <a:t>6,129</a:t>
                      </a:r>
                    </a:p>
                  </a:txBody>
                  <a:tcPr marL="90000" marR="90000" marT="60912" marB="46800" horzOverflow="overflow">
                    <a:lnL>
                      <a:noFill/>
                    </a:lnL>
                    <a:lnR>
                      <a:noFill/>
                    </a:lnR>
                    <a:lnT>
                      <a:noFill/>
                    </a:lnT>
                    <a:lnB>
                      <a:noFill/>
                    </a:lnB>
                    <a:lnTlToBr>
                      <a:noFill/>
                    </a:lnTlToBr>
                    <a:lnBlToTr>
                      <a:noFill/>
                    </a:lnBlToTr>
                    <a:noFill/>
                  </a:tcPr>
                </a:tc>
                <a:tc>
                  <a:txBody>
                    <a:bodyPr/>
                    <a:lstStyle>
                      <a:lvl1pPr>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9pPr>
                    </a:lstStyle>
                    <a:p>
                      <a:pPr marL="0" marR="0" lvl="0" indent="0" algn="ctr" defTabSz="457200" rtl="0" eaLnBrk="1" fontAlgn="base" latinLnBrk="0" hangingPunct="1">
                        <a:lnSpc>
                          <a:spcPct val="93000"/>
                        </a:lnSpc>
                        <a:spcBef>
                          <a:spcPts val="400"/>
                        </a:spcBef>
                        <a:spcAft>
                          <a:spcPct val="0"/>
                        </a:spcAft>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1600" b="0" i="0" u="none" strike="noStrike" cap="none" normalizeH="0" baseline="0">
                          <a:ln>
                            <a:noFill/>
                          </a:ln>
                          <a:solidFill>
                            <a:srgbClr val="FFFFFF"/>
                          </a:solidFill>
                          <a:effectLst/>
                          <a:latin typeface="Gill Sans MT" panose="020B0502020104020203" pitchFamily="34" charset="0"/>
                          <a:cs typeface="Arial" panose="020B0604020202020204" pitchFamily="34" charset="0"/>
                        </a:rPr>
                        <a:t>5,594</a:t>
                      </a:r>
                    </a:p>
                  </a:txBody>
                  <a:tcPr marL="90000" marR="90000" marT="60912"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900200479"/>
                  </a:ext>
                </a:extLst>
              </a:tr>
            </a:tbl>
          </a:graphicData>
        </a:graphic>
      </p:graphicFrame>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16678A71-E69A-4F08-B383-DB260A000E5F}"/>
              </a:ext>
            </a:extLst>
          </p:cNvPr>
          <p:cNvSpPr>
            <a:spLocks noGrp="1"/>
          </p:cNvSpPr>
          <p:nvPr>
            <p:ph type="sldNum" idx="12"/>
          </p:nvPr>
        </p:nvSpPr>
        <p:spPr/>
        <p:txBody>
          <a:bodyPr/>
          <a:lstStyle/>
          <a:p>
            <a:fld id="{99F148A4-259E-40E3-BEDF-0EABF7B13816}" type="slidenum">
              <a:rPr lang="en-US" altLang="en-US"/>
              <a:pPr/>
              <a:t>4</a:t>
            </a:fld>
            <a:endParaRPr lang="en-US" altLang="en-US"/>
          </a:p>
        </p:txBody>
      </p:sp>
      <p:sp>
        <p:nvSpPr>
          <p:cNvPr id="7169" name="Rectangle 1">
            <a:extLst>
              <a:ext uri="{FF2B5EF4-FFF2-40B4-BE49-F238E27FC236}">
                <a16:creationId xmlns:a16="http://schemas.microsoft.com/office/drawing/2014/main" id="{CEDE39CB-06FB-4AC0-A492-94767985F769}"/>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A SERIOUS PROBLEM NATIONALLY</a:t>
            </a:r>
          </a:p>
        </p:txBody>
      </p:sp>
      <p:sp>
        <p:nvSpPr>
          <p:cNvPr id="7170" name="Rectangle 2">
            <a:extLst>
              <a:ext uri="{FF2B5EF4-FFF2-40B4-BE49-F238E27FC236}">
                <a16:creationId xmlns:a16="http://schemas.microsoft.com/office/drawing/2014/main" id="{E4B94511-3D46-42EF-9AB7-7F372A1832F8}"/>
              </a:ext>
            </a:extLst>
          </p:cNvPr>
          <p:cNvSpPr>
            <a:spLocks noGrp="1" noChangeArrowheads="1"/>
          </p:cNvSpPr>
          <p:nvPr>
            <p:ph type="body" idx="4294967295"/>
          </p:nvPr>
        </p:nvSpPr>
        <p:spPr>
          <a:xfrm>
            <a:off x="1371600" y="1828800"/>
            <a:ext cx="6477000" cy="4191000"/>
          </a:xfrm>
          <a:ln/>
        </p:spPr>
        <p:txBody>
          <a:bodyPr/>
          <a:lstStyle/>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Decline in applications</a:t>
            </a:r>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Decline in offers</a:t>
            </a:r>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Decline in acceptances</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lgn="ctr">
              <a:spcBef>
                <a:spcPts val="7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3200">
                <a:solidFill>
                  <a:srgbClr val="FFFFCC"/>
                </a:solidFill>
              </a:rPr>
              <a:t>“</a:t>
            </a:r>
            <a:r>
              <a:rPr lang="en-US" altLang="en-US" sz="2800">
                <a:solidFill>
                  <a:srgbClr val="FFFFCC"/>
                </a:solidFill>
              </a:rPr>
              <a:t>This is a serious problem                          for our country” </a:t>
            </a:r>
          </a:p>
          <a:p>
            <a:pPr marL="684213" lvl="1" indent="-225425" algn="ctr">
              <a:spcBef>
                <a:spcPts val="400"/>
              </a:spcBef>
              <a:buClrTx/>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600"/>
              <a:t>according to Dr. Peter D. Spear, Provost at the University of Wisconsin (</a:t>
            </a:r>
            <a:r>
              <a:rPr lang="en-US" altLang="en-US" sz="1600" u="sng"/>
              <a:t>New York Times</a:t>
            </a:r>
            <a:r>
              <a:rPr lang="en-US" altLang="en-US" sz="1600"/>
              <a:t>, 10 November 2004)</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8B094536-0EF7-4243-987E-A8ACB3BC187A}"/>
              </a:ext>
            </a:extLst>
          </p:cNvPr>
          <p:cNvSpPr>
            <a:spLocks noGrp="1"/>
          </p:cNvSpPr>
          <p:nvPr>
            <p:ph type="sldNum" idx="12"/>
          </p:nvPr>
        </p:nvSpPr>
        <p:spPr/>
        <p:txBody>
          <a:bodyPr/>
          <a:lstStyle/>
          <a:p>
            <a:fld id="{F542CD51-854B-4E76-9584-2F57E41FCBE7}" type="slidenum">
              <a:rPr lang="en-US" altLang="en-US"/>
              <a:pPr/>
              <a:t>5</a:t>
            </a:fld>
            <a:endParaRPr lang="en-US" altLang="en-US"/>
          </a:p>
        </p:txBody>
      </p:sp>
      <p:sp>
        <p:nvSpPr>
          <p:cNvPr id="8193" name="Rectangle 1">
            <a:extLst>
              <a:ext uri="{FF2B5EF4-FFF2-40B4-BE49-F238E27FC236}">
                <a16:creationId xmlns:a16="http://schemas.microsoft.com/office/drawing/2014/main" id="{E3B62E5C-5E12-4515-919F-5C6F33D005CE}"/>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MULTIPLE REASONS</a:t>
            </a:r>
          </a:p>
        </p:txBody>
      </p:sp>
      <p:sp>
        <p:nvSpPr>
          <p:cNvPr id="8194" name="Rectangle 2">
            <a:extLst>
              <a:ext uri="{FF2B5EF4-FFF2-40B4-BE49-F238E27FC236}">
                <a16:creationId xmlns:a16="http://schemas.microsoft.com/office/drawing/2014/main" id="{761C7AB8-A744-4F17-975D-61064AAE06D7}"/>
              </a:ext>
            </a:extLst>
          </p:cNvPr>
          <p:cNvSpPr>
            <a:spLocks noGrp="1" noChangeArrowheads="1"/>
          </p:cNvSpPr>
          <p:nvPr>
            <p:ph type="body" idx="4294967295"/>
          </p:nvPr>
        </p:nvSpPr>
        <p:spPr>
          <a:xfrm>
            <a:off x="1371600" y="1295400"/>
            <a:ext cx="5257800" cy="5199063"/>
          </a:xfrm>
          <a:ln/>
        </p:spPr>
        <p:txBody>
          <a:bodyPr/>
          <a:lstStyle/>
          <a:p>
            <a:pPr marL="341313" indent="-341313">
              <a:lnSpc>
                <a:spcPct val="8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Increase in Non-Resident Tuition (NRT)</a:t>
            </a:r>
          </a:p>
          <a:p>
            <a:pPr marL="341313" indent="-341313">
              <a:lnSpc>
                <a:spcPct val="8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8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EU’s Higher Education Zone (2010)</a:t>
            </a:r>
          </a:p>
          <a:p>
            <a:pPr marL="341313" indent="-341313">
              <a:lnSpc>
                <a:spcPct val="8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8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English instruction in Hong Kong, Singapore, Australia and New Zealand</a:t>
            </a:r>
          </a:p>
          <a:p>
            <a:pPr marL="341313" indent="-341313">
              <a:lnSpc>
                <a:spcPct val="8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8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Growing educational infrastructure in China, India, and elsewhere</a:t>
            </a:r>
          </a:p>
          <a:p>
            <a:pPr marL="341313" indent="-341313">
              <a:lnSpc>
                <a:spcPct val="8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8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GRE suspensions</a:t>
            </a:r>
          </a:p>
          <a:p>
            <a:pPr marL="341313" indent="-341313">
              <a:lnSpc>
                <a:spcPct val="8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8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Attitudes and perceptions of visa process</a:t>
            </a:r>
          </a:p>
          <a:p>
            <a:pPr marL="341313" indent="-341313">
              <a:lnSpc>
                <a:spcPct val="8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8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Visa denials</a:t>
            </a:r>
          </a:p>
          <a:p>
            <a:pPr marL="341313" indent="-341313">
              <a:lnSpc>
                <a:spcPct val="8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8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2789626-B9FB-497F-B413-9DDDD1AB8859}"/>
              </a:ext>
            </a:extLst>
          </p:cNvPr>
          <p:cNvSpPr>
            <a:spLocks noGrp="1"/>
          </p:cNvSpPr>
          <p:nvPr>
            <p:ph type="sldNum" idx="12"/>
          </p:nvPr>
        </p:nvSpPr>
        <p:spPr/>
        <p:txBody>
          <a:bodyPr/>
          <a:lstStyle/>
          <a:p>
            <a:fld id="{4BCE9223-D3E0-40D2-AA42-AEE12076A59E}" type="slidenum">
              <a:rPr lang="en-US" altLang="en-US"/>
              <a:pPr/>
              <a:t>6</a:t>
            </a:fld>
            <a:endParaRPr lang="en-US" altLang="en-US"/>
          </a:p>
        </p:txBody>
      </p:sp>
      <p:sp>
        <p:nvSpPr>
          <p:cNvPr id="9217" name="Rectangle 1">
            <a:extLst>
              <a:ext uri="{FF2B5EF4-FFF2-40B4-BE49-F238E27FC236}">
                <a16:creationId xmlns:a16="http://schemas.microsoft.com/office/drawing/2014/main" id="{A1F71142-7CAC-4696-96C6-CE73F9554BFA}"/>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INCREASE IN NRT AT UCLA</a:t>
            </a:r>
          </a:p>
        </p:txBody>
      </p:sp>
      <p:graphicFrame>
        <p:nvGraphicFramePr>
          <p:cNvPr id="9218" name="Object 2">
            <a:extLst>
              <a:ext uri="{FF2B5EF4-FFF2-40B4-BE49-F238E27FC236}">
                <a16:creationId xmlns:a16="http://schemas.microsoft.com/office/drawing/2014/main" id="{57D07D67-DBEA-424E-82C7-CE9E146478BC}"/>
              </a:ext>
            </a:extLst>
          </p:cNvPr>
          <p:cNvGraphicFramePr>
            <a:graphicFrameLocks noChangeAspect="1"/>
          </p:cNvGraphicFramePr>
          <p:nvPr/>
        </p:nvGraphicFramePr>
        <p:xfrm>
          <a:off x="1295400" y="2667000"/>
          <a:ext cx="6756400" cy="3082925"/>
        </p:xfrm>
        <a:graphic>
          <a:graphicData uri="http://schemas.openxmlformats.org/presentationml/2006/ole">
            <mc:AlternateContent xmlns:mc="http://schemas.openxmlformats.org/markup-compatibility/2006">
              <mc:Choice xmlns:v="urn:schemas-microsoft-com:vml" Requires="v">
                <p:oleObj spid="_x0000_s9221" r:id="rId4" imgW="6972120" imgH="3180960" progId="">
                  <p:embed/>
                </p:oleObj>
              </mc:Choice>
              <mc:Fallback>
                <p:oleObj r:id="rId4" imgW="6972120" imgH="3180960"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2667000"/>
                        <a:ext cx="6756400" cy="3082925"/>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9" name="Text Box 3">
            <a:extLst>
              <a:ext uri="{FF2B5EF4-FFF2-40B4-BE49-F238E27FC236}">
                <a16:creationId xmlns:a16="http://schemas.microsoft.com/office/drawing/2014/main" id="{C12276F9-720E-4ECB-B1AA-0DE73786725E}"/>
              </a:ext>
            </a:extLst>
          </p:cNvPr>
          <p:cNvSpPr txBox="1">
            <a:spLocks noChangeArrowheads="1"/>
          </p:cNvSpPr>
          <p:nvPr/>
        </p:nvSpPr>
        <p:spPr bwMode="auto">
          <a:xfrm>
            <a:off x="1714500" y="1781175"/>
            <a:ext cx="57150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9pPr>
          </a:lstStyle>
          <a:p>
            <a:pPr algn="ctr">
              <a:spcBef>
                <a:spcPts val="1000"/>
              </a:spcBef>
              <a:buClrTx/>
              <a:buFontTx/>
              <a:buNone/>
            </a:pPr>
            <a:r>
              <a:rPr lang="en-US" altLang="en-US" sz="1600" b="1">
                <a:solidFill>
                  <a:srgbClr val="CCCCFF"/>
                </a:solidFill>
                <a:latin typeface="Gill Sans MT" panose="020B0502020104020203" pitchFamily="34" charset="0"/>
              </a:rPr>
              <a:t>UCLA Graduate Student Total Annual Mandatory Fees 1995-present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5205B78-3FBB-461A-B595-E4F11019E3FD}"/>
              </a:ext>
            </a:extLst>
          </p:cNvPr>
          <p:cNvSpPr>
            <a:spLocks noGrp="1"/>
          </p:cNvSpPr>
          <p:nvPr>
            <p:ph type="sldNum" idx="12"/>
          </p:nvPr>
        </p:nvSpPr>
        <p:spPr/>
        <p:txBody>
          <a:bodyPr/>
          <a:lstStyle/>
          <a:p>
            <a:fld id="{6538A0D3-2279-4631-948D-DF78289BC199}" type="slidenum">
              <a:rPr lang="en-US" altLang="en-US"/>
              <a:pPr/>
              <a:t>7</a:t>
            </a:fld>
            <a:endParaRPr lang="en-US" altLang="en-US"/>
          </a:p>
        </p:txBody>
      </p:sp>
      <p:sp>
        <p:nvSpPr>
          <p:cNvPr id="10241" name="Rectangle 1">
            <a:extLst>
              <a:ext uri="{FF2B5EF4-FFF2-40B4-BE49-F238E27FC236}">
                <a16:creationId xmlns:a16="http://schemas.microsoft.com/office/drawing/2014/main" id="{E2186246-5714-4546-870B-1035F2F3A2DE}"/>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EUROPEAN UNION (EU)</a:t>
            </a:r>
          </a:p>
        </p:txBody>
      </p:sp>
      <p:pic>
        <p:nvPicPr>
          <p:cNvPr id="10242" name="Picture 2">
            <a:extLst>
              <a:ext uri="{FF2B5EF4-FFF2-40B4-BE49-F238E27FC236}">
                <a16:creationId xmlns:a16="http://schemas.microsoft.com/office/drawing/2014/main" id="{5278FDC0-1C99-4D4D-B4AC-48187D1B8D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6900" y="1371600"/>
            <a:ext cx="5408613" cy="4643438"/>
          </a:xfrm>
          <a:prstGeom prst="rect">
            <a:avLst/>
          </a:prstGeom>
          <a:noFill/>
          <a:ln w="25560">
            <a:solidFill>
              <a:srgbClr val="000000"/>
            </a:solidFill>
            <a:miter lim="800000"/>
            <a:headEnd/>
            <a:tailEnd/>
          </a:ln>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29D8BDC-D287-4BC4-8BB5-8A1F5E785F27}"/>
              </a:ext>
            </a:extLst>
          </p:cNvPr>
          <p:cNvSpPr>
            <a:spLocks noGrp="1"/>
          </p:cNvSpPr>
          <p:nvPr>
            <p:ph type="sldNum" idx="12"/>
          </p:nvPr>
        </p:nvSpPr>
        <p:spPr/>
        <p:txBody>
          <a:bodyPr/>
          <a:lstStyle/>
          <a:p>
            <a:fld id="{4988DB9D-463A-407B-A3A3-D3C6F0CA8AEA}" type="slidenum">
              <a:rPr lang="en-US" altLang="en-US"/>
              <a:pPr/>
              <a:t>8</a:t>
            </a:fld>
            <a:endParaRPr lang="en-US" altLang="en-US"/>
          </a:p>
        </p:txBody>
      </p:sp>
      <p:sp>
        <p:nvSpPr>
          <p:cNvPr id="11265" name="Rectangle 1">
            <a:extLst>
              <a:ext uri="{FF2B5EF4-FFF2-40B4-BE49-F238E27FC236}">
                <a16:creationId xmlns:a16="http://schemas.microsoft.com/office/drawing/2014/main" id="{871BD450-AF5F-4E1A-9C9D-C045BAF982B9}"/>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EU HEADS OF STATE (LISBON, 2000)</a:t>
            </a:r>
          </a:p>
        </p:txBody>
      </p:sp>
      <p:sp>
        <p:nvSpPr>
          <p:cNvPr id="11266" name="Rectangle 2">
            <a:extLst>
              <a:ext uri="{FF2B5EF4-FFF2-40B4-BE49-F238E27FC236}">
                <a16:creationId xmlns:a16="http://schemas.microsoft.com/office/drawing/2014/main" id="{AFCEBB0B-F22F-4900-B098-4BAAEEB0B503}"/>
              </a:ext>
            </a:extLst>
          </p:cNvPr>
          <p:cNvSpPr>
            <a:spLocks noGrp="1" noChangeArrowheads="1"/>
          </p:cNvSpPr>
          <p:nvPr>
            <p:ph type="body" idx="4294967295"/>
          </p:nvPr>
        </p:nvSpPr>
        <p:spPr>
          <a:xfrm>
            <a:off x="1371600" y="1524000"/>
            <a:ext cx="6477000" cy="4495800"/>
          </a:xfrm>
          <a:ln/>
        </p:spPr>
        <p:txBody>
          <a:bodyPr/>
          <a:lstStyle/>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Meeting in Lisbon in March 2000, heads of state set an ambitious ten-year goal for a united Europe, to have:</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“The most competitive and dynamic knowledge-based economy in the world by 2010” (European Commission)</a:t>
            </a:r>
          </a:p>
          <a:p>
            <a:pPr marL="341313" indent="-341313">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AA968A14-D656-489F-9280-872647D866C6}"/>
              </a:ext>
            </a:extLst>
          </p:cNvPr>
          <p:cNvSpPr>
            <a:spLocks noGrp="1"/>
          </p:cNvSpPr>
          <p:nvPr>
            <p:ph type="sldNum" idx="12"/>
          </p:nvPr>
        </p:nvSpPr>
        <p:spPr/>
        <p:txBody>
          <a:bodyPr/>
          <a:lstStyle/>
          <a:p>
            <a:fld id="{6925C0DC-C31C-4F64-85D6-B6C964E483BA}" type="slidenum">
              <a:rPr lang="en-US" altLang="en-US"/>
              <a:pPr/>
              <a:t>9</a:t>
            </a:fld>
            <a:endParaRPr lang="en-US" altLang="en-US"/>
          </a:p>
        </p:txBody>
      </p:sp>
      <p:sp>
        <p:nvSpPr>
          <p:cNvPr id="12289" name="Rectangle 1">
            <a:extLst>
              <a:ext uri="{FF2B5EF4-FFF2-40B4-BE49-F238E27FC236}">
                <a16:creationId xmlns:a16="http://schemas.microsoft.com/office/drawing/2014/main" id="{13287E91-0F40-47BE-99B2-B8904B8997D0}"/>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EU’S AREA OF HIGHER EDUCATION</a:t>
            </a:r>
          </a:p>
        </p:txBody>
      </p:sp>
      <p:sp>
        <p:nvSpPr>
          <p:cNvPr id="12290" name="Rectangle 2">
            <a:extLst>
              <a:ext uri="{FF2B5EF4-FFF2-40B4-BE49-F238E27FC236}">
                <a16:creationId xmlns:a16="http://schemas.microsoft.com/office/drawing/2014/main" id="{C5104219-8B0E-45C0-A137-F2493ACACAD6}"/>
              </a:ext>
            </a:extLst>
          </p:cNvPr>
          <p:cNvSpPr>
            <a:spLocks noGrp="1" noChangeArrowheads="1"/>
          </p:cNvSpPr>
          <p:nvPr>
            <p:ph type="body" idx="4294967295"/>
          </p:nvPr>
        </p:nvSpPr>
        <p:spPr>
          <a:xfrm>
            <a:off x="1371600" y="1600200"/>
            <a:ext cx="6477000" cy="4724400"/>
          </a:xfrm>
          <a:ln/>
        </p:spPr>
        <p:txBody>
          <a:bodyPr/>
          <a:lstStyle/>
          <a:p>
            <a:pPr marL="341313" indent="-341313">
              <a:lnSpc>
                <a:spcPct val="80000"/>
              </a:lnSpc>
              <a:spcBef>
                <a:spcPts val="3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400"/>
          </a:p>
          <a:p>
            <a:pPr marL="341313" indent="-341313">
              <a:lnSpc>
                <a:spcPct val="8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Aka the Bologna Process, Sorbonne Declaration, Prague Communiqué, and Berlin Communiqué</a:t>
            </a:r>
          </a:p>
          <a:p>
            <a:pPr marL="341313" indent="-341313">
              <a:lnSpc>
                <a:spcPct val="8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8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The Bologna Process articulated multiple objectives of increased mobility, improved employability, and a more attractive and competitive area with:</a:t>
            </a:r>
          </a:p>
          <a:p>
            <a:pPr marL="341313" indent="-341313">
              <a:lnSpc>
                <a:spcPct val="8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8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Harmonization by 2010 on the following:</a:t>
            </a:r>
          </a:p>
          <a:p>
            <a:pPr marL="341313" indent="-341313">
              <a:lnSpc>
                <a:spcPct val="8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8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English language instruction, joint degrees, a common transcript, and internships</a:t>
            </a:r>
          </a:p>
          <a:p>
            <a:pPr marL="341313" indent="-341313">
              <a:lnSpc>
                <a:spcPct val="8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80000"/>
              </a:lnSpc>
              <a:spcBef>
                <a:spcPts val="2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800"/>
          </a:p>
          <a:p>
            <a:pPr marL="341313" indent="-341313">
              <a:lnSpc>
                <a:spcPct val="80000"/>
              </a:lnSpc>
              <a:spcBef>
                <a:spcPts val="2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800"/>
          </a:p>
          <a:p>
            <a:pPr marL="341313" indent="-341313">
              <a:lnSpc>
                <a:spcPct val="80000"/>
              </a:lnSpc>
              <a:spcBef>
                <a:spcPts val="2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800"/>
          </a:p>
          <a:p>
            <a:pPr marL="341313" indent="-341313">
              <a:lnSpc>
                <a:spcPct val="80000"/>
              </a:lnSpc>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200">
                <a:solidFill>
                  <a:srgbClr val="FFFFCC"/>
                </a:solidFill>
              </a:rPr>
              <a:t>SOURCE: </a:t>
            </a:r>
            <a:r>
              <a:rPr lang="en-US" altLang="en-US" sz="1200" u="sng">
                <a:solidFill>
                  <a:srgbClr val="FFFFCC"/>
                </a:solidFill>
              </a:rPr>
              <a:t>http://www.eng.unibo.it/PortaleEn/University/Bologna+Process/default.htm</a:t>
            </a:r>
            <a:r>
              <a:rPr lang="en-US" altLang="en-US" sz="1200">
                <a:solidFill>
                  <a:srgbClr val="FFFFCC"/>
                </a:solidFill>
              </a:rPr>
              <a:t>                (accessed 30 November 2004)</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D916056F-511E-42EE-B7C3-8F9756098753}"/>
              </a:ext>
            </a:extLst>
          </p:cNvPr>
          <p:cNvSpPr>
            <a:spLocks noGrp="1"/>
          </p:cNvSpPr>
          <p:nvPr>
            <p:ph type="sldNum" idx="12"/>
          </p:nvPr>
        </p:nvSpPr>
        <p:spPr/>
        <p:txBody>
          <a:bodyPr/>
          <a:lstStyle/>
          <a:p>
            <a:fld id="{AA644202-67D4-4EC4-BE75-65AEC32FBF6F}" type="slidenum">
              <a:rPr lang="en-US" altLang="en-US"/>
              <a:pPr/>
              <a:t>10</a:t>
            </a:fld>
            <a:endParaRPr lang="en-US" altLang="en-US"/>
          </a:p>
        </p:txBody>
      </p:sp>
      <p:sp>
        <p:nvSpPr>
          <p:cNvPr id="13313" name="Rectangle 1">
            <a:extLst>
              <a:ext uri="{FF2B5EF4-FFF2-40B4-BE49-F238E27FC236}">
                <a16:creationId xmlns:a16="http://schemas.microsoft.com/office/drawing/2014/main" id="{85C6F485-68AE-487C-819F-617A091AB393}"/>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HONG KONG</a:t>
            </a:r>
          </a:p>
        </p:txBody>
      </p:sp>
      <p:sp>
        <p:nvSpPr>
          <p:cNvPr id="13314" name="Rectangle 2">
            <a:extLst>
              <a:ext uri="{FF2B5EF4-FFF2-40B4-BE49-F238E27FC236}">
                <a16:creationId xmlns:a16="http://schemas.microsoft.com/office/drawing/2014/main" id="{2659297E-E4BA-4ADF-9D4A-7A21806DF87C}"/>
              </a:ext>
            </a:extLst>
          </p:cNvPr>
          <p:cNvSpPr>
            <a:spLocks noGrp="1" noChangeArrowheads="1"/>
          </p:cNvSpPr>
          <p:nvPr>
            <p:ph type="body" idx="4294967295"/>
          </p:nvPr>
        </p:nvSpPr>
        <p:spPr>
          <a:xfrm>
            <a:off x="1371600" y="1295400"/>
            <a:ext cx="6477000" cy="4724400"/>
          </a:xfrm>
          <a:ln/>
        </p:spPr>
        <p:txBody>
          <a:bodyPr/>
          <a:lstStyle/>
          <a:p>
            <a:pPr marL="341313" indent="-341313">
              <a:lnSpc>
                <a:spcPct val="9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HK’s University Grants Committee makes awards to 8 universities based on 3 exercises: </a:t>
            </a:r>
          </a:p>
          <a:p>
            <a:pPr marL="741363" lvl="1" indent="-284163">
              <a:lnSpc>
                <a:spcPct val="90000"/>
              </a:lnSpc>
              <a:spcBef>
                <a:spcPts val="4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Research Assessment Exercise, </a:t>
            </a:r>
          </a:p>
          <a:p>
            <a:pPr marL="741363" lvl="1" indent="-284163">
              <a:lnSpc>
                <a:spcPct val="90000"/>
              </a:lnSpc>
              <a:spcBef>
                <a:spcPts val="4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Teaching and Learning Quality Program Review, and </a:t>
            </a:r>
          </a:p>
          <a:p>
            <a:pPr marL="741363" lvl="1" indent="-284163">
              <a:lnSpc>
                <a:spcPct val="90000"/>
              </a:lnSpc>
              <a:spcBef>
                <a:spcPts val="4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Management Review </a:t>
            </a:r>
          </a:p>
          <a:p>
            <a:pPr marL="741363" lvl="1" indent="-284163">
              <a:lnSpc>
                <a:spcPct val="90000"/>
              </a:lnSpc>
              <a:spcBef>
                <a:spcPts val="450"/>
              </a:spcBef>
              <a:buClrTx/>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9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$5 B “Technology and Innovation Fund” established in November 1997</a:t>
            </a:r>
          </a:p>
          <a:p>
            <a:pPr marL="341313" indent="-341313">
              <a:lnSpc>
                <a:spcPct val="9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90000"/>
              </a:lnSpc>
              <a:spcBef>
                <a:spcPts val="5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90000"/>
              </a:lnSpc>
              <a:spcBef>
                <a:spcPts val="5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90000"/>
              </a:lnSpc>
              <a:spcBef>
                <a:spcPts val="5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741363" lvl="1" indent="-284163">
              <a:lnSpc>
                <a:spcPct val="90000"/>
              </a:lnSpc>
              <a:spcBef>
                <a:spcPts val="300"/>
              </a:spcBef>
              <a:buClr>
                <a:srgbClr val="FFFFCC"/>
              </a:buClr>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200"/>
          </a:p>
          <a:p>
            <a:pPr marL="341313" indent="-341313">
              <a:lnSpc>
                <a:spcPct val="90000"/>
              </a:lnSpc>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200" b="1">
                <a:solidFill>
                  <a:srgbClr val="FFFFCC"/>
                </a:solidFill>
              </a:rPr>
              <a:t>SOURCE</a:t>
            </a:r>
            <a:r>
              <a:rPr lang="en-US" altLang="en-US" sz="1200">
                <a:solidFill>
                  <a:srgbClr val="FFFFCC"/>
                </a:solidFill>
              </a:rPr>
              <a:t>: http://www.ugc.edu.hk/english/documents/tlqpr.html and http://www.chamber.org.hk/memberarea/chamber_view/policy_statement_template.asp?id=440</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A881A28E-DBE8-4638-A560-E869D658FB7B}"/>
              </a:ext>
            </a:extLst>
          </p:cNvPr>
          <p:cNvSpPr>
            <a:spLocks noGrp="1"/>
          </p:cNvSpPr>
          <p:nvPr>
            <p:ph type="sldNum" idx="12"/>
          </p:nvPr>
        </p:nvSpPr>
        <p:spPr/>
        <p:txBody>
          <a:bodyPr/>
          <a:lstStyle/>
          <a:p>
            <a:fld id="{E1E72258-ED55-4E91-8A8A-52388DB29229}" type="slidenum">
              <a:rPr lang="en-US" altLang="en-US"/>
              <a:pPr/>
              <a:t>11</a:t>
            </a:fld>
            <a:endParaRPr lang="en-US" altLang="en-US"/>
          </a:p>
        </p:txBody>
      </p:sp>
      <p:sp>
        <p:nvSpPr>
          <p:cNvPr id="14337" name="Rectangle 1">
            <a:extLst>
              <a:ext uri="{FF2B5EF4-FFF2-40B4-BE49-F238E27FC236}">
                <a16:creationId xmlns:a16="http://schemas.microsoft.com/office/drawing/2014/main" id="{C83D0B3A-AB24-45C6-90F1-774901F8726B}"/>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SINGAPORE</a:t>
            </a:r>
          </a:p>
        </p:txBody>
      </p:sp>
      <p:sp>
        <p:nvSpPr>
          <p:cNvPr id="14338" name="Rectangle 2">
            <a:extLst>
              <a:ext uri="{FF2B5EF4-FFF2-40B4-BE49-F238E27FC236}">
                <a16:creationId xmlns:a16="http://schemas.microsoft.com/office/drawing/2014/main" id="{DBD1CDC4-4281-466B-B543-313B7099DC42}"/>
              </a:ext>
            </a:extLst>
          </p:cNvPr>
          <p:cNvSpPr>
            <a:spLocks noGrp="1" noChangeArrowheads="1"/>
          </p:cNvSpPr>
          <p:nvPr>
            <p:ph type="body" idx="4294967295"/>
          </p:nvPr>
        </p:nvSpPr>
        <p:spPr>
          <a:xfrm>
            <a:off x="1371600" y="1295400"/>
            <a:ext cx="5943600" cy="4724400"/>
          </a:xfrm>
          <a:ln/>
        </p:spPr>
        <p:txBody>
          <a:bodyPr/>
          <a:lstStyle/>
          <a:p>
            <a:pPr marL="341313" indent="-341313">
              <a:lnSpc>
                <a:spcPct val="9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Singapore has 3 universities (National University Singapore, Nanyang Technological University, and Singapore Management University) plus</a:t>
            </a:r>
          </a:p>
          <a:p>
            <a:pPr marL="341313" indent="-341313">
              <a:lnSpc>
                <a:spcPct val="9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9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4 polytechnics (Ngee Ann Polytechnic, Republic Polytechnic, Singapore Polytechnic, and Temasek Polytechnic), and </a:t>
            </a:r>
          </a:p>
          <a:p>
            <a:pPr marL="341313" indent="-341313">
              <a:lnSpc>
                <a:spcPct val="9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9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One institute (Institute of Technical Education)</a:t>
            </a:r>
          </a:p>
          <a:p>
            <a:pPr marL="341313" indent="-341313">
              <a:lnSpc>
                <a:spcPct val="9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9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90000"/>
              </a:lnSpc>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200">
                <a:solidFill>
                  <a:srgbClr val="FFFFCC"/>
                </a:solidFill>
              </a:rPr>
              <a:t>SOURCE: http://www.moe.gov.sg/corporate/post_secondary.htm</a:t>
            </a:r>
          </a:p>
          <a:p>
            <a:pPr marL="341313" indent="-341313">
              <a:lnSpc>
                <a:spcPct val="90000"/>
              </a:lnSpc>
              <a:spcBef>
                <a:spcPts val="3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200">
              <a:solidFill>
                <a:srgbClr val="FFFFCC"/>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1F9037-AB39-49F0-AE8A-842AFBDD7C22}"/>
              </a:ext>
            </a:extLst>
          </p:cNvPr>
          <p:cNvSpPr>
            <a:spLocks noGrp="1"/>
          </p:cNvSpPr>
          <p:nvPr>
            <p:ph type="sldNum" idx="12"/>
          </p:nvPr>
        </p:nvSpPr>
        <p:spPr/>
        <p:txBody>
          <a:bodyPr/>
          <a:lstStyle/>
          <a:p>
            <a:fld id="{0ACA827E-5E10-49CB-8A4C-E6FFB514A883}" type="slidenum">
              <a:rPr lang="en-US" altLang="en-US"/>
              <a:pPr/>
              <a:t>12</a:t>
            </a:fld>
            <a:endParaRPr lang="en-US" altLang="en-US"/>
          </a:p>
        </p:txBody>
      </p:sp>
      <p:sp>
        <p:nvSpPr>
          <p:cNvPr id="15361" name="Rectangle 1">
            <a:extLst>
              <a:ext uri="{FF2B5EF4-FFF2-40B4-BE49-F238E27FC236}">
                <a16:creationId xmlns:a16="http://schemas.microsoft.com/office/drawing/2014/main" id="{C070BB65-87F0-4CD4-9D08-7F0CAB6F6F0C}"/>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SOUTH KOREA</a:t>
            </a:r>
          </a:p>
        </p:txBody>
      </p:sp>
      <p:sp>
        <p:nvSpPr>
          <p:cNvPr id="15362" name="Rectangle 2">
            <a:extLst>
              <a:ext uri="{FF2B5EF4-FFF2-40B4-BE49-F238E27FC236}">
                <a16:creationId xmlns:a16="http://schemas.microsoft.com/office/drawing/2014/main" id="{0386754A-A6A9-42BE-809A-84459311D57B}"/>
              </a:ext>
            </a:extLst>
          </p:cNvPr>
          <p:cNvSpPr>
            <a:spLocks noGrp="1" noChangeArrowheads="1"/>
          </p:cNvSpPr>
          <p:nvPr>
            <p:ph type="body" idx="4294967295"/>
          </p:nvPr>
        </p:nvSpPr>
        <p:spPr>
          <a:xfrm>
            <a:off x="1371600" y="1295400"/>
            <a:ext cx="6477000" cy="4805363"/>
          </a:xfrm>
          <a:ln/>
        </p:spPr>
        <p:txBody>
          <a:bodyPr/>
          <a:lstStyle/>
          <a:p>
            <a:pPr marL="341313" indent="-341313">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Its Education Ministry wishes to nearly triple the number of its international students…</a:t>
            </a:r>
          </a:p>
          <a:p>
            <a:pPr marL="341313" indent="-341313">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Growth from17,000 to 50,000 in the next five years</a:t>
            </a:r>
          </a:p>
          <a:p>
            <a:pPr marL="341313" indent="-341313">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Korean website (</a:t>
            </a:r>
            <a:r>
              <a:rPr lang="en-US" altLang="en-US" sz="2000">
                <a:solidFill>
                  <a:srgbClr val="996666"/>
                </a:solidFill>
                <a:hlinkClick r:id="rId3"/>
              </a:rPr>
              <a:t>www.studyinkorea.go.kr</a:t>
            </a:r>
            <a:r>
              <a:rPr lang="en-US" altLang="en-US" sz="2000"/>
              <a:t>)</a:t>
            </a:r>
          </a:p>
          <a:p>
            <a:pPr marL="341313" indent="-341313">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Increases number of scholarships by 25 percent next year</a:t>
            </a:r>
          </a:p>
          <a:p>
            <a:pPr marL="341313" indent="-341313">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Promises to streamline student visa process</a:t>
            </a:r>
          </a:p>
          <a:p>
            <a:pPr marL="341313" indent="-341313">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85% of its foreign students are from Asian countries</a:t>
            </a:r>
          </a:p>
          <a:p>
            <a:pPr marL="341313" indent="-341313">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spcBef>
                <a:spcPts val="3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b="1"/>
              <a:t>SOURCE</a:t>
            </a:r>
            <a:r>
              <a:rPr lang="en-US" altLang="en-US" sz="1400"/>
              <a:t>: Alan Brender, “South Korean Seeks Huge Increaser in Number of Foreign Students,” </a:t>
            </a:r>
            <a:r>
              <a:rPr lang="en-US" altLang="en-US" sz="1400" u="sng"/>
              <a:t>Chronicle of Higher Education</a:t>
            </a:r>
            <a:r>
              <a:rPr lang="en-US" altLang="en-US" sz="1400"/>
              <a:t> 51 (4 March 2005): A36.</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5001578C-F2DB-4B31-99E1-DCEBF70FA3A9}"/>
              </a:ext>
            </a:extLst>
          </p:cNvPr>
          <p:cNvSpPr>
            <a:spLocks noGrp="1"/>
          </p:cNvSpPr>
          <p:nvPr>
            <p:ph type="sldNum" idx="12"/>
          </p:nvPr>
        </p:nvSpPr>
        <p:spPr/>
        <p:txBody>
          <a:bodyPr/>
          <a:lstStyle/>
          <a:p>
            <a:fld id="{46A59DCD-EF44-4B6C-863C-ADBD3EB2B0BD}" type="slidenum">
              <a:rPr lang="en-US" altLang="en-US"/>
              <a:pPr/>
              <a:t>13</a:t>
            </a:fld>
            <a:endParaRPr lang="en-US" altLang="en-US"/>
          </a:p>
        </p:txBody>
      </p:sp>
      <p:sp>
        <p:nvSpPr>
          <p:cNvPr id="16385" name="Rectangle 1">
            <a:extLst>
              <a:ext uri="{FF2B5EF4-FFF2-40B4-BE49-F238E27FC236}">
                <a16:creationId xmlns:a16="http://schemas.microsoft.com/office/drawing/2014/main" id="{B61495FD-9253-48C6-9E2E-2B5C7EBF1352}"/>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AUSTRALIA AND NEW ZEALAND</a:t>
            </a:r>
          </a:p>
        </p:txBody>
      </p:sp>
      <p:sp>
        <p:nvSpPr>
          <p:cNvPr id="16386" name="Rectangle 2">
            <a:extLst>
              <a:ext uri="{FF2B5EF4-FFF2-40B4-BE49-F238E27FC236}">
                <a16:creationId xmlns:a16="http://schemas.microsoft.com/office/drawing/2014/main" id="{120F0E0B-B8CF-4848-8215-B5475671AF10}"/>
              </a:ext>
            </a:extLst>
          </p:cNvPr>
          <p:cNvSpPr>
            <a:spLocks noGrp="1" noChangeArrowheads="1"/>
          </p:cNvSpPr>
          <p:nvPr>
            <p:ph type="body" idx="4294967295"/>
          </p:nvPr>
        </p:nvSpPr>
        <p:spPr>
          <a:xfrm>
            <a:off x="1371600" y="1295400"/>
            <a:ext cx="6477000" cy="4724400"/>
          </a:xfrm>
          <a:ln/>
        </p:spPr>
        <p:txBody>
          <a:bodyPr/>
          <a:lstStyle/>
          <a:p>
            <a:pPr marL="341313" indent="-341313">
              <a:lnSpc>
                <a:spcPct val="9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In 2003, Australia enrolled 539 international students in the natural sciences, engineering, and information technology; 108 are from China; about 45 in science and 30 in engineering from India</a:t>
            </a:r>
          </a:p>
          <a:p>
            <a:pPr marL="341313" indent="-341313">
              <a:lnSpc>
                <a:spcPct val="9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9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Online visa application for study in Australia</a:t>
            </a:r>
          </a:p>
          <a:p>
            <a:pPr marL="341313" indent="-341313">
              <a:lnSpc>
                <a:spcPct val="9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9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Higher education is a $5B industry for Australia</a:t>
            </a:r>
          </a:p>
          <a:p>
            <a:pPr marL="341313" indent="-341313">
              <a:lnSpc>
                <a:spcPct val="9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9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9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9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90000"/>
              </a:lnSpc>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200">
                <a:solidFill>
                  <a:srgbClr val="FFFFCC"/>
                </a:solidFill>
              </a:rPr>
              <a:t>SOURCE: Mervis, </a:t>
            </a:r>
            <a:r>
              <a:rPr lang="en-US" altLang="en-US" sz="1200" u="sng">
                <a:solidFill>
                  <a:srgbClr val="FFFFCC"/>
                </a:solidFill>
              </a:rPr>
              <a:t>Science</a:t>
            </a:r>
            <a:r>
              <a:rPr lang="en-US" altLang="en-US" sz="1200">
                <a:solidFill>
                  <a:srgbClr val="FFFFCC"/>
                </a:solidFill>
              </a:rPr>
              <a:t>, May 2004 and </a:t>
            </a:r>
            <a:r>
              <a:rPr lang="en-US" altLang="en-US" sz="1200" u="sng">
                <a:solidFill>
                  <a:srgbClr val="FFFFCC"/>
                </a:solidFill>
              </a:rPr>
              <a:t>http://www.immi.gov.au/e_visa</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995DF469-1FD4-4C0F-ABA3-0BF9C0110849}"/>
              </a:ext>
            </a:extLst>
          </p:cNvPr>
          <p:cNvSpPr>
            <a:spLocks noGrp="1"/>
          </p:cNvSpPr>
          <p:nvPr>
            <p:ph type="sldNum" idx="12"/>
          </p:nvPr>
        </p:nvSpPr>
        <p:spPr/>
        <p:txBody>
          <a:bodyPr/>
          <a:lstStyle/>
          <a:p>
            <a:fld id="{C51AE25A-4B4F-4A2C-8F48-453390E43D48}" type="slidenum">
              <a:rPr lang="en-US" altLang="en-US"/>
              <a:pPr/>
              <a:t>14</a:t>
            </a:fld>
            <a:endParaRPr lang="en-US" altLang="en-US"/>
          </a:p>
        </p:txBody>
      </p:sp>
      <p:sp>
        <p:nvSpPr>
          <p:cNvPr id="17409" name="Rectangle 1">
            <a:extLst>
              <a:ext uri="{FF2B5EF4-FFF2-40B4-BE49-F238E27FC236}">
                <a16:creationId xmlns:a16="http://schemas.microsoft.com/office/drawing/2014/main" id="{14755D9E-48C8-4D75-BBA6-8D67B2E99C27}"/>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FIRST US DECLINE SINCE 1971</a:t>
            </a:r>
          </a:p>
        </p:txBody>
      </p:sp>
      <p:sp>
        <p:nvSpPr>
          <p:cNvPr id="17410" name="Rectangle 2">
            <a:extLst>
              <a:ext uri="{FF2B5EF4-FFF2-40B4-BE49-F238E27FC236}">
                <a16:creationId xmlns:a16="http://schemas.microsoft.com/office/drawing/2014/main" id="{2553CC75-1D3C-464C-BF59-0524088571F7}"/>
              </a:ext>
            </a:extLst>
          </p:cNvPr>
          <p:cNvSpPr>
            <a:spLocks noGrp="1" noChangeArrowheads="1"/>
          </p:cNvSpPr>
          <p:nvPr>
            <p:ph type="body" idx="4294967295"/>
          </p:nvPr>
        </p:nvSpPr>
        <p:spPr>
          <a:xfrm>
            <a:off x="1371600" y="1295400"/>
            <a:ext cx="6477000" cy="4724400"/>
          </a:xfrm>
          <a:ln/>
        </p:spPr>
        <p:txBody>
          <a:bodyPr/>
          <a:lstStyle/>
          <a:p>
            <a:pPr marL="341313" indent="-341313">
              <a:lnSpc>
                <a:spcPct val="90000"/>
              </a:lnSpc>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Uninterrupted enrollment growth in international students for three decades</a:t>
            </a:r>
          </a:p>
          <a:p>
            <a:pPr marL="341313" indent="-341313">
              <a:lnSpc>
                <a:spcPct val="90000"/>
              </a:lnSpc>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lnSpc>
                <a:spcPct val="90000"/>
              </a:lnSpc>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2.4 percent decline in fall 2003</a:t>
            </a:r>
          </a:p>
          <a:p>
            <a:pPr marL="341313" indent="-341313">
              <a:lnSpc>
                <a:spcPct val="90000"/>
              </a:lnSpc>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lnSpc>
                <a:spcPct val="90000"/>
              </a:lnSpc>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lnSpc>
                <a:spcPct val="90000"/>
              </a:lnSpc>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lnSpc>
                <a:spcPct val="90000"/>
              </a:lnSpc>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200">
                <a:solidFill>
                  <a:srgbClr val="FFFFCC"/>
                </a:solidFill>
              </a:rPr>
              <a:t>SOURCE: Institute of International Education, Open Doors 2004</a:t>
            </a:r>
          </a:p>
          <a:p>
            <a:pPr marL="341313" indent="-341313">
              <a:lnSpc>
                <a:spcPct val="90000"/>
              </a:lnSpc>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200" u="sng">
                <a:solidFill>
                  <a:srgbClr val="FFFFCC"/>
                </a:solidFill>
              </a:rPr>
              <a:t>http://opendoors.iienetwork.org</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6A69C62B-6799-4E44-95EB-680788489736}"/>
              </a:ext>
            </a:extLst>
          </p:cNvPr>
          <p:cNvSpPr>
            <a:spLocks noGrp="1"/>
          </p:cNvSpPr>
          <p:nvPr>
            <p:ph type="sldNum" idx="12"/>
          </p:nvPr>
        </p:nvSpPr>
        <p:spPr/>
        <p:txBody>
          <a:bodyPr/>
          <a:lstStyle/>
          <a:p>
            <a:fld id="{2A0E8C1B-8170-442E-A51F-4B22C5F2B526}" type="slidenum">
              <a:rPr lang="en-US" altLang="en-US"/>
              <a:pPr/>
              <a:t>15</a:t>
            </a:fld>
            <a:endParaRPr lang="en-US" altLang="en-US"/>
          </a:p>
        </p:txBody>
      </p:sp>
      <p:sp>
        <p:nvSpPr>
          <p:cNvPr id="18433" name="Rectangle 1">
            <a:extLst>
              <a:ext uri="{FF2B5EF4-FFF2-40B4-BE49-F238E27FC236}">
                <a16:creationId xmlns:a16="http://schemas.microsoft.com/office/drawing/2014/main" id="{88503C62-CA80-4B82-8794-0F084A1996EE}"/>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GRE SUSPENSIONS</a:t>
            </a:r>
          </a:p>
        </p:txBody>
      </p:sp>
      <p:sp>
        <p:nvSpPr>
          <p:cNvPr id="18434" name="Rectangle 2">
            <a:extLst>
              <a:ext uri="{FF2B5EF4-FFF2-40B4-BE49-F238E27FC236}">
                <a16:creationId xmlns:a16="http://schemas.microsoft.com/office/drawing/2014/main" id="{E87E2D84-5D35-4912-A983-2DEA5FA477DD}"/>
              </a:ext>
            </a:extLst>
          </p:cNvPr>
          <p:cNvSpPr>
            <a:spLocks noGrp="1" noChangeArrowheads="1"/>
          </p:cNvSpPr>
          <p:nvPr>
            <p:ph type="body" idx="4294967295"/>
          </p:nvPr>
        </p:nvSpPr>
        <p:spPr>
          <a:xfrm>
            <a:off x="1371600" y="1295400"/>
            <a:ext cx="6096000" cy="5145088"/>
          </a:xfrm>
          <a:ln/>
        </p:spPr>
        <p:txBody>
          <a:bodyPr/>
          <a:lstStyle/>
          <a:p>
            <a:pPr marL="341313" indent="-341313">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In 2002, ETS suspended GRE General Test in China, South Korea, and Taiwan due to widespread cheating as evidenced by monthly scalloping of scores</a:t>
            </a:r>
          </a:p>
          <a:p>
            <a:pPr marL="341313" indent="-341313">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From Fall 2002 to Spring 2003, ETS suspended GRE Computer Science in China and India due to “sharing of questions”</a:t>
            </a:r>
          </a:p>
          <a:p>
            <a:pPr marL="341313" indent="-341313">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In April 2003, ETS suspended GMAT, GRE, TOEFL, and other tests in China for two months due to SARS</a:t>
            </a:r>
          </a:p>
          <a:p>
            <a:pPr marL="341313" indent="-341313">
              <a:spcBef>
                <a:spcPts val="5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spcBef>
                <a:spcPts val="5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200">
                <a:solidFill>
                  <a:srgbClr val="FFFFCC"/>
                </a:solidFill>
              </a:rPr>
              <a:t>SOURCE: Mervis, </a:t>
            </a:r>
            <a:r>
              <a:rPr lang="en-US" altLang="en-US" sz="1200" u="sng">
                <a:solidFill>
                  <a:srgbClr val="FFFFCC"/>
                </a:solidFill>
              </a:rPr>
              <a:t>Science</a:t>
            </a:r>
            <a:r>
              <a:rPr lang="en-US" altLang="en-US" sz="1200">
                <a:solidFill>
                  <a:srgbClr val="FFFFCC"/>
                </a:solidFill>
              </a:rPr>
              <a:t> May 2004 citing David Payne at ETS (Princeton, NJ) and </a:t>
            </a:r>
            <a:r>
              <a:rPr lang="en-US" altLang="en-US" sz="1200" u="sng">
                <a:solidFill>
                  <a:srgbClr val="FFFFCC"/>
                </a:solidFill>
              </a:rPr>
              <a:t>http://www.ets.org/news/archive.html</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1BBB32FE-859C-44A4-A573-14F00A6ADF35}"/>
              </a:ext>
            </a:extLst>
          </p:cNvPr>
          <p:cNvSpPr>
            <a:spLocks noGrp="1"/>
          </p:cNvSpPr>
          <p:nvPr>
            <p:ph type="sldNum" idx="12"/>
          </p:nvPr>
        </p:nvSpPr>
        <p:spPr/>
        <p:txBody>
          <a:bodyPr/>
          <a:lstStyle/>
          <a:p>
            <a:fld id="{4DCB40B5-EE14-4C2A-ADA5-AA1BFD14F02C}" type="slidenum">
              <a:rPr lang="en-US" altLang="en-US"/>
              <a:pPr/>
              <a:t>16</a:t>
            </a:fld>
            <a:endParaRPr lang="en-US" altLang="en-US"/>
          </a:p>
        </p:txBody>
      </p:sp>
      <p:sp>
        <p:nvSpPr>
          <p:cNvPr id="19457" name="Rectangle 1">
            <a:extLst>
              <a:ext uri="{FF2B5EF4-FFF2-40B4-BE49-F238E27FC236}">
                <a16:creationId xmlns:a16="http://schemas.microsoft.com/office/drawing/2014/main" id="{392593B6-005A-43C8-AC8C-F739F1500F59}"/>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FEWER GRE EXAM TAKERS</a:t>
            </a:r>
          </a:p>
        </p:txBody>
      </p:sp>
      <p:sp>
        <p:nvSpPr>
          <p:cNvPr id="19458" name="Rectangle 2">
            <a:extLst>
              <a:ext uri="{FF2B5EF4-FFF2-40B4-BE49-F238E27FC236}">
                <a16:creationId xmlns:a16="http://schemas.microsoft.com/office/drawing/2014/main" id="{4293176E-D46E-40C1-BC8C-33F5213AEF86}"/>
              </a:ext>
            </a:extLst>
          </p:cNvPr>
          <p:cNvSpPr>
            <a:spLocks noGrp="1" noChangeArrowheads="1"/>
          </p:cNvSpPr>
          <p:nvPr>
            <p:ph type="body" idx="4294967295"/>
          </p:nvPr>
        </p:nvSpPr>
        <p:spPr>
          <a:xfrm>
            <a:off x="1371600" y="1295400"/>
            <a:ext cx="6477000" cy="4967288"/>
          </a:xfrm>
          <a:ln/>
        </p:spPr>
        <p:txBody>
          <a:bodyPr/>
          <a:lstStyle/>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Percentage change from 2002/03 to 2003/2004:</a:t>
            </a:r>
          </a:p>
          <a:p>
            <a:pPr marL="741363" lvl="1" indent="-284163">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India, down 56%</a:t>
            </a:r>
          </a:p>
          <a:p>
            <a:pPr marL="741363" lvl="1" indent="-284163">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China, down 51%</a:t>
            </a:r>
          </a:p>
          <a:p>
            <a:pPr marL="741363" lvl="1" indent="-284163">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South Korea, down 28%</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Re-start of GRE on paper; takers still down</a:t>
            </a:r>
          </a:p>
          <a:p>
            <a:pPr marL="741363" lvl="1" indent="-284163">
              <a:buClr>
                <a:srgbClr val="FFFFCC"/>
              </a:buClr>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741363" lvl="1" indent="-284163">
              <a:buClr>
                <a:srgbClr val="FFFFCC"/>
              </a:buClr>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741363" lvl="1" indent="-284163">
              <a:buClr>
                <a:srgbClr val="FFFFCC"/>
              </a:buClr>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741363" lvl="1" indent="-284163">
              <a:buClr>
                <a:srgbClr val="FFFFCC"/>
              </a:buClr>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200" b="1">
                <a:solidFill>
                  <a:srgbClr val="FFFFCC"/>
                </a:solidFill>
              </a:rPr>
              <a:t>SOURCE</a:t>
            </a:r>
            <a:r>
              <a:rPr lang="en-US" altLang="en-US" sz="1200">
                <a:solidFill>
                  <a:srgbClr val="FFFFCC"/>
                </a:solidFill>
              </a:rPr>
              <a:t>: ETS; “U.S. Slips in Status as Global Hub of Higher Education,” </a:t>
            </a:r>
            <a:r>
              <a:rPr lang="en-US" altLang="en-US" sz="1200" u="sng">
                <a:solidFill>
                  <a:srgbClr val="FFFFCC"/>
                </a:solidFill>
              </a:rPr>
              <a:t>New York Times</a:t>
            </a:r>
            <a:r>
              <a:rPr lang="en-US" altLang="en-US" sz="1200">
                <a:solidFill>
                  <a:srgbClr val="FFFFCC"/>
                </a:solidFill>
              </a:rPr>
              <a:t>, 21 December 2004, p. A1 and A19.</a:t>
            </a:r>
          </a:p>
          <a:p>
            <a:pPr marL="741363" lvl="1" indent="-284163">
              <a:spcBef>
                <a:spcPts val="300"/>
              </a:spcBef>
              <a:buClr>
                <a:srgbClr val="FFFFCC"/>
              </a:buClr>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200">
              <a:solidFill>
                <a:srgbClr val="FFFFCC"/>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79EC801-BA27-4FFF-A2F6-3C33C3320B9D}"/>
              </a:ext>
            </a:extLst>
          </p:cNvPr>
          <p:cNvSpPr>
            <a:spLocks noGrp="1"/>
          </p:cNvSpPr>
          <p:nvPr>
            <p:ph type="sldNum" idx="12"/>
          </p:nvPr>
        </p:nvSpPr>
        <p:spPr/>
        <p:txBody>
          <a:bodyPr/>
          <a:lstStyle/>
          <a:p>
            <a:fld id="{C385BE01-1A66-437C-88B5-6AA7C44F84AF}" type="slidenum">
              <a:rPr lang="en-US" altLang="en-US"/>
              <a:pPr/>
              <a:t>17</a:t>
            </a:fld>
            <a:endParaRPr lang="en-US" altLang="en-US"/>
          </a:p>
        </p:txBody>
      </p:sp>
      <p:sp>
        <p:nvSpPr>
          <p:cNvPr id="20481" name="Rectangle 1">
            <a:extLst>
              <a:ext uri="{FF2B5EF4-FFF2-40B4-BE49-F238E27FC236}">
                <a16:creationId xmlns:a16="http://schemas.microsoft.com/office/drawing/2014/main" id="{A4BAF223-BD41-4BC6-B895-81DC18E5ADB1}"/>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ATTITUDES AND PERCEPTIONS</a:t>
            </a:r>
          </a:p>
        </p:txBody>
      </p:sp>
      <p:sp>
        <p:nvSpPr>
          <p:cNvPr id="20482" name="Rectangle 2">
            <a:extLst>
              <a:ext uri="{FF2B5EF4-FFF2-40B4-BE49-F238E27FC236}">
                <a16:creationId xmlns:a16="http://schemas.microsoft.com/office/drawing/2014/main" id="{135759B5-52ED-4AE4-BA8A-8E413BAFD0FB}"/>
              </a:ext>
            </a:extLst>
          </p:cNvPr>
          <p:cNvSpPr>
            <a:spLocks noGrp="1" noChangeArrowheads="1"/>
          </p:cNvSpPr>
          <p:nvPr>
            <p:ph type="body" idx="4294967295"/>
          </p:nvPr>
        </p:nvSpPr>
        <p:spPr>
          <a:xfrm>
            <a:off x="1371600" y="1600200"/>
            <a:ext cx="6477000" cy="4900613"/>
          </a:xfrm>
          <a:ln/>
        </p:spPr>
        <p:txBody>
          <a:bodyPr/>
          <a:lstStyle/>
          <a:p>
            <a:pPr marL="341313" indent="-341313">
              <a:lnSpc>
                <a:spcPct val="8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Response to 9/11</a:t>
            </a:r>
          </a:p>
          <a:p>
            <a:pPr marL="341313" indent="-341313">
              <a:lnSpc>
                <a:spcPct val="8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8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America is for Americans</a:t>
            </a:r>
          </a:p>
          <a:p>
            <a:pPr marL="341313" indent="-341313">
              <a:lnSpc>
                <a:spcPct val="8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8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America is less safe (crime and popular culture)</a:t>
            </a:r>
          </a:p>
          <a:p>
            <a:pPr marL="341313" indent="-341313">
              <a:lnSpc>
                <a:spcPct val="8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8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New languages and cultures are a threat</a:t>
            </a:r>
          </a:p>
          <a:p>
            <a:pPr marL="741363" lvl="1" indent="-284163">
              <a:lnSpc>
                <a:spcPct val="80000"/>
              </a:lnSpc>
              <a:spcBef>
                <a:spcPts val="4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“No one will speak my language…”</a:t>
            </a:r>
          </a:p>
          <a:p>
            <a:pPr marL="741363" lvl="1" indent="-284163">
              <a:lnSpc>
                <a:spcPct val="80000"/>
              </a:lnSpc>
              <a:spcBef>
                <a:spcPts val="450"/>
              </a:spcBef>
              <a:buClr>
                <a:srgbClr val="FFFFCC"/>
              </a:buClr>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Long visa delays (of the past)</a:t>
            </a:r>
          </a:p>
          <a:p>
            <a:pPr marL="741363" lvl="1" indent="-284163">
              <a:lnSpc>
                <a:spcPct val="80000"/>
              </a:lnSpc>
              <a:spcBef>
                <a:spcPts val="4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“It’s not worth queuing up for two days outside the U.S. consulate…”</a:t>
            </a:r>
          </a:p>
          <a:p>
            <a:pPr marL="741363" lvl="1" indent="-284163">
              <a:lnSpc>
                <a:spcPct val="80000"/>
              </a:lnSpc>
              <a:spcBef>
                <a:spcPts val="450"/>
              </a:spcBef>
              <a:buClr>
                <a:srgbClr val="FFFFCC"/>
              </a:buClr>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High likelihood of (type of) visa denial</a:t>
            </a:r>
          </a:p>
          <a:p>
            <a:pPr marL="341313" indent="-341313">
              <a:lnSpc>
                <a:spcPct val="8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8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Visas are hard to get…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604B3FC-60A2-4027-A991-3455AA511AD9}"/>
              </a:ext>
            </a:extLst>
          </p:cNvPr>
          <p:cNvSpPr>
            <a:spLocks noGrp="1"/>
          </p:cNvSpPr>
          <p:nvPr>
            <p:ph type="sldNum" idx="12"/>
          </p:nvPr>
        </p:nvSpPr>
        <p:spPr/>
        <p:txBody>
          <a:bodyPr/>
          <a:lstStyle/>
          <a:p>
            <a:fld id="{9B5E388F-1724-4A05-B1BB-4C2743D55797}" type="slidenum">
              <a:rPr lang="en-US" altLang="en-US"/>
              <a:pPr/>
              <a:t>18</a:t>
            </a:fld>
            <a:endParaRPr lang="en-US" altLang="en-US"/>
          </a:p>
        </p:txBody>
      </p:sp>
      <p:sp>
        <p:nvSpPr>
          <p:cNvPr id="21505" name="Rectangle 1">
            <a:extLst>
              <a:ext uri="{FF2B5EF4-FFF2-40B4-BE49-F238E27FC236}">
                <a16:creationId xmlns:a16="http://schemas.microsoft.com/office/drawing/2014/main" id="{724D39E7-83C1-407E-B44C-3E0CC1EBA11E}"/>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PERCEPTUAL CHANGES,1999 TO 2003</a:t>
            </a:r>
          </a:p>
        </p:txBody>
      </p:sp>
      <p:sp>
        <p:nvSpPr>
          <p:cNvPr id="21506" name="Rectangle 2">
            <a:extLst>
              <a:ext uri="{FF2B5EF4-FFF2-40B4-BE49-F238E27FC236}">
                <a16:creationId xmlns:a16="http://schemas.microsoft.com/office/drawing/2014/main" id="{94153FA5-4497-44AF-A441-A01F095B7870}"/>
              </a:ext>
            </a:extLst>
          </p:cNvPr>
          <p:cNvSpPr>
            <a:spLocks noGrp="1" noChangeArrowheads="1"/>
          </p:cNvSpPr>
          <p:nvPr>
            <p:ph type="body" idx="4294967295"/>
          </p:nvPr>
        </p:nvSpPr>
        <p:spPr>
          <a:xfrm>
            <a:off x="1447800" y="5257800"/>
            <a:ext cx="6477000" cy="1600200"/>
          </a:xfrm>
          <a:ln/>
        </p:spPr>
        <p:txBody>
          <a:bodyPr/>
          <a:lstStyle/>
          <a:p>
            <a:pPr marL="341313" indent="-341313">
              <a:lnSpc>
                <a:spcPct val="90000"/>
              </a:lnSpc>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lnSpc>
                <a:spcPct val="90000"/>
              </a:lnSpc>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200">
                <a:solidFill>
                  <a:srgbClr val="FFFFCC"/>
                </a:solidFill>
              </a:rPr>
              <a:t>SOURCE:  Office of Research, State Department; Pew Center for the People and the Press at </a:t>
            </a:r>
            <a:r>
              <a:rPr lang="en-US" altLang="en-US" sz="1200" u="sng">
                <a:solidFill>
                  <a:srgbClr val="FFFFCC"/>
                </a:solidFill>
              </a:rPr>
              <a:t>http://people-press.org/reports/display.php3?ReportID=175</a:t>
            </a:r>
            <a:r>
              <a:rPr lang="en-US" altLang="en-US" sz="1200">
                <a:solidFill>
                  <a:srgbClr val="FFFFCC"/>
                </a:solidFill>
              </a:rPr>
              <a:t>  (2003)</a:t>
            </a:r>
          </a:p>
        </p:txBody>
      </p:sp>
      <p:pic>
        <p:nvPicPr>
          <p:cNvPr id="21507" name="Picture 3">
            <a:extLst>
              <a:ext uri="{FF2B5EF4-FFF2-40B4-BE49-F238E27FC236}">
                <a16:creationId xmlns:a16="http://schemas.microsoft.com/office/drawing/2014/main" id="{C3E7313C-F47D-4E2A-9A1C-C2A7FFEC80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445"/>
          <a:stretch>
            <a:fillRect/>
          </a:stretch>
        </p:blipFill>
        <p:spPr bwMode="auto">
          <a:xfrm>
            <a:off x="3276600" y="1371600"/>
            <a:ext cx="2590800" cy="3886200"/>
          </a:xfrm>
          <a:prstGeom prst="rect">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38963B6-592D-44BC-82B0-D3E1FB3C6188}"/>
              </a:ext>
            </a:extLst>
          </p:cNvPr>
          <p:cNvSpPr>
            <a:spLocks noGrp="1"/>
          </p:cNvSpPr>
          <p:nvPr>
            <p:ph type="sldNum" idx="12"/>
          </p:nvPr>
        </p:nvSpPr>
        <p:spPr/>
        <p:txBody>
          <a:bodyPr/>
          <a:lstStyle/>
          <a:p>
            <a:fld id="{2A510F64-058E-43A6-A74A-D2FF8D76833B}" type="slidenum">
              <a:rPr lang="en-US" altLang="en-US"/>
              <a:pPr/>
              <a:t>19</a:t>
            </a:fld>
            <a:endParaRPr lang="en-US" altLang="en-US"/>
          </a:p>
        </p:txBody>
      </p:sp>
      <p:sp>
        <p:nvSpPr>
          <p:cNvPr id="22529" name="Rectangle 1">
            <a:extLst>
              <a:ext uri="{FF2B5EF4-FFF2-40B4-BE49-F238E27FC236}">
                <a16:creationId xmlns:a16="http://schemas.microsoft.com/office/drawing/2014/main" id="{D853B887-44FE-4E3B-A6BD-67201E7CA904}"/>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A TYPICAL GRADUATE STUDENT</a:t>
            </a:r>
          </a:p>
        </p:txBody>
      </p:sp>
      <p:sp>
        <p:nvSpPr>
          <p:cNvPr id="22530" name="Rectangle 2">
            <a:extLst>
              <a:ext uri="{FF2B5EF4-FFF2-40B4-BE49-F238E27FC236}">
                <a16:creationId xmlns:a16="http://schemas.microsoft.com/office/drawing/2014/main" id="{A98063DE-9B4F-473C-8993-17A3ED590EBD}"/>
              </a:ext>
            </a:extLst>
          </p:cNvPr>
          <p:cNvSpPr>
            <a:spLocks noGrp="1" noChangeArrowheads="1"/>
          </p:cNvSpPr>
          <p:nvPr>
            <p:ph type="body" idx="4294967295"/>
          </p:nvPr>
        </p:nvSpPr>
        <p:spPr>
          <a:xfrm>
            <a:off x="2209800" y="2057400"/>
            <a:ext cx="6477000" cy="4419600"/>
          </a:xfrm>
          <a:ln/>
        </p:spPr>
        <p:txBody>
          <a:bodyPr/>
          <a:lstStyle/>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Top recruit</a:t>
            </a:r>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Admit offer</a:t>
            </a:r>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Returns SIR</a:t>
            </a:r>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Financial Documentation</a:t>
            </a:r>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Issue I-20</a:t>
            </a:r>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Next…</a:t>
            </a:r>
          </a:p>
        </p:txBody>
      </p:sp>
      <p:pic>
        <p:nvPicPr>
          <p:cNvPr id="22531" name="Picture 3">
            <a:extLst>
              <a:ext uri="{FF2B5EF4-FFF2-40B4-BE49-F238E27FC236}">
                <a16:creationId xmlns:a16="http://schemas.microsoft.com/office/drawing/2014/main" id="{7D98D1A8-6D5F-4C0C-BEC5-F88D37E1CF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556" t="10420" r="17284" b="9180"/>
          <a:stretch>
            <a:fillRect/>
          </a:stretch>
        </p:blipFill>
        <p:spPr bwMode="auto">
          <a:xfrm>
            <a:off x="6019800" y="1676400"/>
            <a:ext cx="2062163" cy="2963863"/>
          </a:xfrm>
          <a:prstGeom prst="rect">
            <a:avLst/>
          </a:prstGeom>
          <a:noFill/>
          <a:ln w="25560">
            <a:solidFill>
              <a:srgbClr val="000000"/>
            </a:solidFill>
            <a:miter lim="800000"/>
            <a:headEnd/>
            <a:tailEnd/>
          </a:ln>
          <a:effectLst/>
          <a:extLst>
            <a:ext uri="{909E8E84-426E-40DD-AFC4-6F175D3DCCD1}">
              <a14:hiddenFill xmlns:a14="http://schemas.microsoft.com/office/drawing/2010/main">
                <a:blipFill dpi="0" rotWithShape="0">
                  <a:blip/>
                  <a:srcRect l="10556" t="10420" r="17284" b="9180"/>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7064AB64-2357-4345-B732-55D73A6B638D}"/>
              </a:ext>
            </a:extLst>
          </p:cNvPr>
          <p:cNvSpPr>
            <a:spLocks noGrp="1"/>
          </p:cNvSpPr>
          <p:nvPr>
            <p:ph type="sldNum" idx="12"/>
          </p:nvPr>
        </p:nvSpPr>
        <p:spPr/>
        <p:txBody>
          <a:bodyPr/>
          <a:lstStyle/>
          <a:p>
            <a:fld id="{0308696C-1998-4711-9D39-FF02808192B5}" type="slidenum">
              <a:rPr lang="en-US" altLang="en-US"/>
              <a:pPr/>
              <a:t>20</a:t>
            </a:fld>
            <a:endParaRPr lang="en-US" altLang="en-US"/>
          </a:p>
        </p:txBody>
      </p:sp>
      <p:sp>
        <p:nvSpPr>
          <p:cNvPr id="23553" name="Rectangle 1">
            <a:extLst>
              <a:ext uri="{FF2B5EF4-FFF2-40B4-BE49-F238E27FC236}">
                <a16:creationId xmlns:a16="http://schemas.microsoft.com/office/drawing/2014/main" id="{4949D846-233D-4D93-8F70-92656C06E148}"/>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UCLA INTERNATIONAL STUDENTS, 2001</a:t>
            </a:r>
          </a:p>
        </p:txBody>
      </p:sp>
      <p:graphicFrame>
        <p:nvGraphicFramePr>
          <p:cNvPr id="23554" name="Object 2">
            <a:extLst>
              <a:ext uri="{FF2B5EF4-FFF2-40B4-BE49-F238E27FC236}">
                <a16:creationId xmlns:a16="http://schemas.microsoft.com/office/drawing/2014/main" id="{0C76F464-A7C4-45F6-B3A3-7FDCE21F63D0}"/>
              </a:ext>
            </a:extLst>
          </p:cNvPr>
          <p:cNvGraphicFramePr>
            <a:graphicFrameLocks noChangeAspect="1"/>
          </p:cNvGraphicFramePr>
          <p:nvPr/>
        </p:nvGraphicFramePr>
        <p:xfrm>
          <a:off x="419100" y="1066800"/>
          <a:ext cx="8305800" cy="5534025"/>
        </p:xfrm>
        <a:graphic>
          <a:graphicData uri="http://schemas.openxmlformats.org/presentationml/2006/ole">
            <mc:AlternateContent xmlns:mc="http://schemas.openxmlformats.org/markup-compatibility/2006">
              <mc:Choice xmlns:v="urn:schemas-microsoft-com:vml" Requires="v">
                <p:oleObj spid="_x0000_s23558" r:id="rId4" imgW="7019640" imgH="4676760" progId="">
                  <p:embed/>
                </p:oleObj>
              </mc:Choice>
              <mc:Fallback>
                <p:oleObj r:id="rId4" imgW="7019640" imgH="4676760"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100" y="1066800"/>
                        <a:ext cx="8305800" cy="5534025"/>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5" name="Text Box 3">
            <a:extLst>
              <a:ext uri="{FF2B5EF4-FFF2-40B4-BE49-F238E27FC236}">
                <a16:creationId xmlns:a16="http://schemas.microsoft.com/office/drawing/2014/main" id="{4DC7DA39-9C80-4D0E-8D2F-8D617E069A4C}"/>
              </a:ext>
            </a:extLst>
          </p:cNvPr>
          <p:cNvSpPr txBox="1">
            <a:spLocks noChangeArrowheads="1"/>
          </p:cNvSpPr>
          <p:nvPr/>
        </p:nvSpPr>
        <p:spPr bwMode="auto">
          <a:xfrm>
            <a:off x="609600" y="1143000"/>
            <a:ext cx="624840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556" name="Text Box 4">
            <a:extLst>
              <a:ext uri="{FF2B5EF4-FFF2-40B4-BE49-F238E27FC236}">
                <a16:creationId xmlns:a16="http://schemas.microsoft.com/office/drawing/2014/main" id="{80BAFE25-0056-466D-BD23-886DC94A90A1}"/>
              </a:ext>
            </a:extLst>
          </p:cNvPr>
          <p:cNvSpPr txBox="1">
            <a:spLocks noChangeArrowheads="1"/>
          </p:cNvSpPr>
          <p:nvPr/>
        </p:nvSpPr>
        <p:spPr bwMode="auto">
          <a:xfrm>
            <a:off x="1638300" y="1143000"/>
            <a:ext cx="5867400"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9pPr>
          </a:lstStyle>
          <a:p>
            <a:pPr algn="ctr">
              <a:buClrTx/>
              <a:buFontTx/>
              <a:buNone/>
            </a:pPr>
            <a:r>
              <a:rPr lang="en-US" altLang="en-US" sz="1600">
                <a:solidFill>
                  <a:srgbClr val="CCCCFF"/>
                </a:solidFill>
                <a:latin typeface="Gill Sans MT" panose="020B0502020104020203" pitchFamily="34" charset="0"/>
              </a:rPr>
              <a:t>Fall 2001 Total Campus Registrants of International </a:t>
            </a:r>
          </a:p>
          <a:p>
            <a:pPr algn="ctr">
              <a:buClrTx/>
              <a:buFontTx/>
              <a:buNone/>
            </a:pPr>
            <a:r>
              <a:rPr lang="en-US" altLang="en-US" sz="1600">
                <a:solidFill>
                  <a:srgbClr val="CCCCFF"/>
                </a:solidFill>
                <a:latin typeface="Gill Sans MT" panose="020B0502020104020203" pitchFamily="34" charset="0"/>
              </a:rPr>
              <a:t>Graduate Students by  Country of Citizenship or Region </a:t>
            </a:r>
          </a:p>
          <a:p>
            <a:pPr algn="ctr">
              <a:buClrTx/>
              <a:buFontTx/>
              <a:buNone/>
            </a:pPr>
            <a:r>
              <a:rPr lang="en-US" altLang="en-US" sz="1600">
                <a:solidFill>
                  <a:srgbClr val="CCCCFF"/>
                </a:solidFill>
                <a:latin typeface="Gill Sans MT" panose="020B0502020104020203" pitchFamily="34" charset="0"/>
              </a:rPr>
              <a:t>(Students with temporary visas only)</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BE21A4B-ECC4-4A69-8695-2D6C530A0178}"/>
              </a:ext>
            </a:extLst>
          </p:cNvPr>
          <p:cNvSpPr>
            <a:spLocks noGrp="1"/>
          </p:cNvSpPr>
          <p:nvPr>
            <p:ph type="sldNum" idx="12"/>
          </p:nvPr>
        </p:nvSpPr>
        <p:spPr/>
        <p:txBody>
          <a:bodyPr/>
          <a:lstStyle/>
          <a:p>
            <a:fld id="{5699EDAE-C2BE-460A-9AD8-C73B6A4125D1}" type="slidenum">
              <a:rPr lang="en-US" altLang="en-US"/>
              <a:pPr/>
              <a:t>21</a:t>
            </a:fld>
            <a:endParaRPr lang="en-US" altLang="en-US"/>
          </a:p>
        </p:txBody>
      </p:sp>
      <p:sp>
        <p:nvSpPr>
          <p:cNvPr id="24577" name="Rectangle 1">
            <a:extLst>
              <a:ext uri="{FF2B5EF4-FFF2-40B4-BE49-F238E27FC236}">
                <a16:creationId xmlns:a16="http://schemas.microsoft.com/office/drawing/2014/main" id="{97BBACC6-8E24-4F6D-805D-EFAB5259BEED}"/>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UCLA INTERNATIONAL STUDENTS, 2001</a:t>
            </a:r>
          </a:p>
        </p:txBody>
      </p:sp>
      <p:graphicFrame>
        <p:nvGraphicFramePr>
          <p:cNvPr id="24578" name="Object 2">
            <a:extLst>
              <a:ext uri="{FF2B5EF4-FFF2-40B4-BE49-F238E27FC236}">
                <a16:creationId xmlns:a16="http://schemas.microsoft.com/office/drawing/2014/main" id="{13D550ED-6C70-4179-9BB3-EE12588BC1F0}"/>
              </a:ext>
            </a:extLst>
          </p:cNvPr>
          <p:cNvGraphicFramePr>
            <a:graphicFrameLocks noChangeAspect="1"/>
          </p:cNvGraphicFramePr>
          <p:nvPr/>
        </p:nvGraphicFramePr>
        <p:xfrm>
          <a:off x="1143000" y="1874838"/>
          <a:ext cx="6705600" cy="4664075"/>
        </p:xfrm>
        <a:graphic>
          <a:graphicData uri="http://schemas.openxmlformats.org/presentationml/2006/ole">
            <mc:AlternateContent xmlns:mc="http://schemas.openxmlformats.org/markup-compatibility/2006">
              <mc:Choice xmlns:v="urn:schemas-microsoft-com:vml" Requires="v">
                <p:oleObj spid="_x0000_s24581" r:id="rId4" imgW="7095960" imgH="4933800" progId="">
                  <p:embed/>
                </p:oleObj>
              </mc:Choice>
              <mc:Fallback>
                <p:oleObj r:id="rId4" imgW="7095960" imgH="4933800"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1874838"/>
                        <a:ext cx="6705600" cy="4664075"/>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79" name="Text Box 3">
            <a:extLst>
              <a:ext uri="{FF2B5EF4-FFF2-40B4-BE49-F238E27FC236}">
                <a16:creationId xmlns:a16="http://schemas.microsoft.com/office/drawing/2014/main" id="{F00E9E1E-F1DD-4256-98A2-823BF7B83708}"/>
              </a:ext>
            </a:extLst>
          </p:cNvPr>
          <p:cNvSpPr txBox="1">
            <a:spLocks noChangeArrowheads="1"/>
          </p:cNvSpPr>
          <p:nvPr/>
        </p:nvSpPr>
        <p:spPr bwMode="auto">
          <a:xfrm>
            <a:off x="1638300" y="990600"/>
            <a:ext cx="5867400"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9pPr>
          </a:lstStyle>
          <a:p>
            <a:pPr algn="ctr">
              <a:buClrTx/>
              <a:buFontTx/>
              <a:buNone/>
            </a:pPr>
            <a:r>
              <a:rPr lang="en-US" altLang="en-US" sz="1600">
                <a:solidFill>
                  <a:srgbClr val="CCCCFF"/>
                </a:solidFill>
                <a:latin typeface="Gill Sans MT" panose="020B0502020104020203" pitchFamily="34" charset="0"/>
              </a:rPr>
              <a:t>Fall 2001 Total Campus Registrants of International Graduate Students by Field and School </a:t>
            </a:r>
          </a:p>
          <a:p>
            <a:pPr algn="ctr">
              <a:buClrTx/>
              <a:buFontTx/>
              <a:buNone/>
            </a:pPr>
            <a:r>
              <a:rPr lang="en-US" altLang="en-US" sz="1600">
                <a:solidFill>
                  <a:srgbClr val="CCCCFF"/>
                </a:solidFill>
                <a:latin typeface="Gill Sans MT" panose="020B0502020104020203" pitchFamily="34" charset="0"/>
              </a:rPr>
              <a:t>(Students with temporary visas only)</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6D28568C-ECB3-4FDE-A3F7-32834E7C262B}"/>
              </a:ext>
            </a:extLst>
          </p:cNvPr>
          <p:cNvSpPr>
            <a:spLocks noGrp="1"/>
          </p:cNvSpPr>
          <p:nvPr>
            <p:ph type="sldNum" idx="12"/>
          </p:nvPr>
        </p:nvSpPr>
        <p:spPr/>
        <p:txBody>
          <a:bodyPr/>
          <a:lstStyle/>
          <a:p>
            <a:fld id="{4DA58FA0-E6A4-423C-9F1E-C644B855B3FB}" type="slidenum">
              <a:rPr lang="en-US" altLang="en-US"/>
              <a:pPr/>
              <a:t>22</a:t>
            </a:fld>
            <a:endParaRPr lang="en-US" altLang="en-US"/>
          </a:p>
        </p:txBody>
      </p:sp>
      <p:sp>
        <p:nvSpPr>
          <p:cNvPr id="25601" name="Rectangle 1">
            <a:extLst>
              <a:ext uri="{FF2B5EF4-FFF2-40B4-BE49-F238E27FC236}">
                <a16:creationId xmlns:a16="http://schemas.microsoft.com/office/drawing/2014/main" id="{1580E789-1BA4-480F-A107-1CEE1E8F9EB8}"/>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BUREAU OF CONSULAR AFFAIRS (STATE)</a:t>
            </a:r>
          </a:p>
        </p:txBody>
      </p:sp>
      <p:sp>
        <p:nvSpPr>
          <p:cNvPr id="25602" name="Rectangle 2">
            <a:extLst>
              <a:ext uri="{FF2B5EF4-FFF2-40B4-BE49-F238E27FC236}">
                <a16:creationId xmlns:a16="http://schemas.microsoft.com/office/drawing/2014/main" id="{98B09E92-4A54-4944-A34A-EE3A88E87932}"/>
              </a:ext>
            </a:extLst>
          </p:cNvPr>
          <p:cNvSpPr>
            <a:spLocks noGrp="1" noChangeArrowheads="1"/>
          </p:cNvSpPr>
          <p:nvPr>
            <p:ph type="body" idx="4294967295"/>
          </p:nvPr>
        </p:nvSpPr>
        <p:spPr>
          <a:xfrm>
            <a:off x="1371600" y="1295400"/>
            <a:ext cx="6477000" cy="4724400"/>
          </a:xfrm>
          <a:ln/>
        </p:spPr>
        <p:txBody>
          <a:bodyPr/>
          <a:lstStyle/>
          <a:p>
            <a:pPr marL="341313" indent="-341313">
              <a:lnSpc>
                <a:spcPct val="9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“CA administers laws, writes regulations and implements policies relating to a broad range of consular services …including issuing visas and travel advisories.”</a:t>
            </a:r>
          </a:p>
          <a:p>
            <a:pPr marL="341313" indent="-341313">
              <a:lnSpc>
                <a:spcPct val="9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9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Funded predominately by fee collections</a:t>
            </a:r>
          </a:p>
          <a:p>
            <a:pPr marL="341313" indent="-341313">
              <a:lnSpc>
                <a:spcPct val="9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9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Processed 8M visa applications with a staff of 400 in 1990 up to 10M with 600 staff in 2001;  </a:t>
            </a:r>
          </a:p>
          <a:p>
            <a:pPr marL="341313" indent="-341313">
              <a:lnSpc>
                <a:spcPct val="9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9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Mexico City and Seoul process the majority of non-immigrant visas (NIV)</a:t>
            </a:r>
          </a:p>
          <a:p>
            <a:pPr marL="341313" indent="-341313">
              <a:lnSpc>
                <a:spcPct val="9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90000"/>
              </a:lnSpc>
              <a:spcBef>
                <a:spcPts val="5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90000"/>
              </a:lnSpc>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200" b="1">
                <a:solidFill>
                  <a:srgbClr val="FFFFCC"/>
                </a:solidFill>
              </a:rPr>
              <a:t>SOURCE</a:t>
            </a:r>
            <a:r>
              <a:rPr lang="en-US" altLang="en-US" sz="1200">
                <a:solidFill>
                  <a:srgbClr val="FFFFCC"/>
                </a:solidFill>
              </a:rPr>
              <a:t>: GAO; State OIG ISP I 03 26 (December 2002)</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A68E0214-70DA-4499-97B6-791DB6F52101}"/>
              </a:ext>
            </a:extLst>
          </p:cNvPr>
          <p:cNvSpPr>
            <a:spLocks noGrp="1"/>
          </p:cNvSpPr>
          <p:nvPr>
            <p:ph type="sldNum" idx="12"/>
          </p:nvPr>
        </p:nvSpPr>
        <p:spPr/>
        <p:txBody>
          <a:bodyPr/>
          <a:lstStyle/>
          <a:p>
            <a:fld id="{1B491A74-11D4-4118-B554-FBEFBA6BDFD8}" type="slidenum">
              <a:rPr lang="en-US" altLang="en-US"/>
              <a:pPr/>
              <a:t>23</a:t>
            </a:fld>
            <a:endParaRPr lang="en-US" altLang="en-US"/>
          </a:p>
        </p:txBody>
      </p:sp>
      <p:sp>
        <p:nvSpPr>
          <p:cNvPr id="26625" name="Rectangle 1">
            <a:extLst>
              <a:ext uri="{FF2B5EF4-FFF2-40B4-BE49-F238E27FC236}">
                <a16:creationId xmlns:a16="http://schemas.microsoft.com/office/drawing/2014/main" id="{18B6AC55-E0A8-4E03-BF28-BDECCF615980}"/>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WHAT IS A VISA?</a:t>
            </a:r>
          </a:p>
        </p:txBody>
      </p:sp>
      <p:sp>
        <p:nvSpPr>
          <p:cNvPr id="26626" name="Rectangle 2">
            <a:extLst>
              <a:ext uri="{FF2B5EF4-FFF2-40B4-BE49-F238E27FC236}">
                <a16:creationId xmlns:a16="http://schemas.microsoft.com/office/drawing/2014/main" id="{C6ED010F-DB55-45A4-8486-8087FB9C531A}"/>
              </a:ext>
            </a:extLst>
          </p:cNvPr>
          <p:cNvSpPr>
            <a:spLocks noGrp="1" noChangeArrowheads="1"/>
          </p:cNvSpPr>
          <p:nvPr>
            <p:ph type="body" idx="4294967295"/>
          </p:nvPr>
        </p:nvSpPr>
        <p:spPr>
          <a:xfrm>
            <a:off x="1371600" y="1295400"/>
            <a:ext cx="6477000" cy="5335588"/>
          </a:xfrm>
          <a:ln/>
        </p:spPr>
        <p:txBody>
          <a:bodyPr/>
          <a:lstStyle/>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“If you’re a citizen of a foreign country, in most cases you’ll need a visa to enter the United States. </a:t>
            </a:r>
          </a:p>
          <a:p>
            <a:pPr marL="341313" indent="-341313">
              <a:lnSpc>
                <a:spcPct val="80000"/>
              </a:lnSpc>
              <a:spcBef>
                <a:spcPts val="4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“A visa doesn’t permit entry to the U.S., however. A visa simply indicates that your application has been reviewed by a U.S. consular officer at an American embassy or consulate, and that the officer has determined you’re eligible to enter the country for a specific purpose. Consular affairs are the responsibility of the U.S. Department of State.</a:t>
            </a:r>
          </a:p>
          <a:p>
            <a:pPr marL="341313" indent="-341313">
              <a:lnSpc>
                <a:spcPct val="80000"/>
              </a:lnSpc>
              <a:spcBef>
                <a:spcPts val="4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“A visa allows you to travel to the United States as far as the port of entry (airport or land border crossing) and ask the immigration officer to allow you to enter the country. Only the immigration officer has the authority to permit you to enter the United States. He or she decides how long you can stay for any particular visit. Immigration matters are the responsibility of the U.S. Department of Homeland Security.” </a:t>
            </a:r>
          </a:p>
          <a:p>
            <a:pPr marL="341313" indent="-341313">
              <a:lnSpc>
                <a:spcPct val="80000"/>
              </a:lnSpc>
              <a:spcBef>
                <a:spcPts val="45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200"/>
          </a:p>
          <a:p>
            <a:pPr marL="341313" indent="-341313">
              <a:lnSpc>
                <a:spcPct val="80000"/>
              </a:lnSpc>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200">
              <a:solidFill>
                <a:srgbClr val="FFFFCC"/>
              </a:solidFill>
            </a:endParaRPr>
          </a:p>
          <a:p>
            <a:pPr marL="341313" indent="-341313">
              <a:lnSpc>
                <a:spcPct val="80000"/>
              </a:lnSpc>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200" b="1">
                <a:solidFill>
                  <a:srgbClr val="FFFFCC"/>
                </a:solidFill>
              </a:rPr>
              <a:t>SOURCE</a:t>
            </a:r>
            <a:r>
              <a:rPr lang="en-US" altLang="en-US" sz="1200">
                <a:solidFill>
                  <a:srgbClr val="FFFFCC"/>
                </a:solidFill>
              </a:rPr>
              <a:t>: http://www.unitedstatesvisas.gov/whatis/index.html</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5DB8F422-B3D6-4B21-B12A-BEE1B21F446E}"/>
              </a:ext>
            </a:extLst>
          </p:cNvPr>
          <p:cNvSpPr>
            <a:spLocks noGrp="1"/>
          </p:cNvSpPr>
          <p:nvPr>
            <p:ph type="sldNum" idx="12"/>
          </p:nvPr>
        </p:nvSpPr>
        <p:spPr/>
        <p:txBody>
          <a:bodyPr/>
          <a:lstStyle/>
          <a:p>
            <a:fld id="{AB31069F-C3EA-483C-BDE1-C9A40D8540CC}" type="slidenum">
              <a:rPr lang="en-US" altLang="en-US"/>
              <a:pPr/>
              <a:t>24</a:t>
            </a:fld>
            <a:endParaRPr lang="en-US" altLang="en-US"/>
          </a:p>
        </p:txBody>
      </p:sp>
      <p:sp>
        <p:nvSpPr>
          <p:cNvPr id="27649" name="Rectangle 1">
            <a:extLst>
              <a:ext uri="{FF2B5EF4-FFF2-40B4-BE49-F238E27FC236}">
                <a16:creationId xmlns:a16="http://schemas.microsoft.com/office/drawing/2014/main" id="{CFD6681C-890E-455B-8400-2B6F5D6EED61}"/>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VISAS ISSUED, 1995 TO PRESENT</a:t>
            </a:r>
          </a:p>
        </p:txBody>
      </p:sp>
      <p:sp>
        <p:nvSpPr>
          <p:cNvPr id="27650" name="Rectangle 2">
            <a:extLst>
              <a:ext uri="{FF2B5EF4-FFF2-40B4-BE49-F238E27FC236}">
                <a16:creationId xmlns:a16="http://schemas.microsoft.com/office/drawing/2014/main" id="{8E54E024-9511-46CE-89BA-EC1FCFBD4FF4}"/>
              </a:ext>
            </a:extLst>
          </p:cNvPr>
          <p:cNvSpPr>
            <a:spLocks noGrp="1" noChangeArrowheads="1"/>
          </p:cNvSpPr>
          <p:nvPr>
            <p:ph type="body" idx="4294967295"/>
          </p:nvPr>
        </p:nvSpPr>
        <p:spPr>
          <a:xfrm>
            <a:off x="1752600" y="1371600"/>
            <a:ext cx="6477000" cy="4419600"/>
          </a:xfrm>
          <a:ln/>
        </p:spPr>
        <p:txBody>
          <a:bodyPr/>
          <a:lstStyle/>
          <a:p>
            <a:pPr indent="-341313">
              <a:lnSpc>
                <a:spcPct val="80000"/>
              </a:lnSpc>
              <a:spcBef>
                <a:spcPts val="450"/>
              </a:spcBef>
              <a:buClrTx/>
              <a:buSzPct val="80000"/>
              <a:buFontTx/>
              <a:buNone/>
              <a:tabLst>
                <a:tab pos="3429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800" b="1">
                <a:solidFill>
                  <a:srgbClr val="CCCCFF"/>
                </a:solidFill>
              </a:rPr>
              <a:t>All Non Immigrant Visas	F1, J1, and M1</a:t>
            </a:r>
          </a:p>
          <a:p>
            <a:pPr indent="-341313">
              <a:lnSpc>
                <a:spcPct val="80000"/>
              </a:lnSpc>
              <a:spcBef>
                <a:spcPts val="450"/>
              </a:spcBef>
              <a:buClrTx/>
              <a:buSzPct val="80000"/>
              <a:buFontTx/>
              <a:buNone/>
              <a:tabLst>
                <a:tab pos="342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800">
              <a:solidFill>
                <a:srgbClr val="CCCCFF"/>
              </a:solidFill>
            </a:endParaRPr>
          </a:p>
          <a:p>
            <a:pPr indent="-341313">
              <a:lnSpc>
                <a:spcPct val="80000"/>
              </a:lnSpc>
              <a:spcBef>
                <a:spcPts val="450"/>
              </a:spcBef>
              <a:buClrTx/>
              <a:buSzPct val="80000"/>
              <a:buFontTx/>
              <a:buNone/>
              <a:tabLst>
                <a:tab pos="3429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800"/>
              <a:t>1995, 6.18M		TBS</a:t>
            </a:r>
          </a:p>
          <a:p>
            <a:pPr indent="-341313">
              <a:lnSpc>
                <a:spcPct val="80000"/>
              </a:lnSpc>
              <a:spcBef>
                <a:spcPts val="450"/>
              </a:spcBef>
              <a:buClrTx/>
              <a:buSzPct val="80000"/>
              <a:buFontTx/>
              <a:buNone/>
              <a:tabLst>
                <a:tab pos="3429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800"/>
              <a:t>1996, 6.23M		TBS</a:t>
            </a:r>
          </a:p>
          <a:p>
            <a:pPr indent="-341313">
              <a:lnSpc>
                <a:spcPct val="80000"/>
              </a:lnSpc>
              <a:spcBef>
                <a:spcPts val="450"/>
              </a:spcBef>
              <a:buClrTx/>
              <a:buSzPct val="80000"/>
              <a:buFontTx/>
              <a:buNone/>
              <a:tabLst>
                <a:tab pos="3429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800"/>
              <a:t>1997, TBS		TBS	</a:t>
            </a:r>
          </a:p>
          <a:p>
            <a:pPr indent="-341313">
              <a:lnSpc>
                <a:spcPct val="80000"/>
              </a:lnSpc>
              <a:spcBef>
                <a:spcPts val="450"/>
              </a:spcBef>
              <a:buClrTx/>
              <a:buSzPct val="80000"/>
              <a:buFontTx/>
              <a:buNone/>
              <a:tabLst>
                <a:tab pos="3429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800"/>
              <a:t>1998, TBS		TBS</a:t>
            </a:r>
          </a:p>
          <a:p>
            <a:pPr indent="-341313">
              <a:lnSpc>
                <a:spcPct val="80000"/>
              </a:lnSpc>
              <a:spcBef>
                <a:spcPts val="450"/>
              </a:spcBef>
              <a:buClrTx/>
              <a:buSzPct val="80000"/>
              <a:buFontTx/>
              <a:buNone/>
              <a:tabLst>
                <a:tab pos="3429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800"/>
              <a:t>1999, TBS		480,131</a:t>
            </a:r>
          </a:p>
          <a:p>
            <a:pPr indent="-341313">
              <a:lnSpc>
                <a:spcPct val="80000"/>
              </a:lnSpc>
              <a:spcBef>
                <a:spcPts val="450"/>
              </a:spcBef>
              <a:buClrTx/>
              <a:buSzPct val="80000"/>
              <a:buFontTx/>
              <a:buNone/>
              <a:tabLst>
                <a:tab pos="3429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800"/>
              <a:t>2000, TBS		526,997</a:t>
            </a:r>
          </a:p>
          <a:p>
            <a:pPr indent="-341313">
              <a:lnSpc>
                <a:spcPct val="80000"/>
              </a:lnSpc>
              <a:spcBef>
                <a:spcPts val="450"/>
              </a:spcBef>
              <a:buClrTx/>
              <a:buSzPct val="80000"/>
              <a:buFontTx/>
              <a:buNone/>
              <a:tabLst>
                <a:tab pos="3429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800"/>
              <a:t>2001, 7.58M		560,499</a:t>
            </a:r>
          </a:p>
          <a:p>
            <a:pPr indent="-341313">
              <a:lnSpc>
                <a:spcPct val="80000"/>
              </a:lnSpc>
              <a:spcBef>
                <a:spcPts val="450"/>
              </a:spcBef>
              <a:buClrTx/>
              <a:buSzPct val="80000"/>
              <a:buFontTx/>
              <a:buNone/>
              <a:tabLst>
                <a:tab pos="3429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800"/>
              <a:t>2002, 5.76M		492,279</a:t>
            </a:r>
          </a:p>
          <a:p>
            <a:pPr indent="-341313">
              <a:lnSpc>
                <a:spcPct val="80000"/>
              </a:lnSpc>
              <a:spcBef>
                <a:spcPts val="450"/>
              </a:spcBef>
              <a:buClrTx/>
              <a:buSzPct val="80000"/>
              <a:buFontTx/>
              <a:buNone/>
              <a:tabLst>
                <a:tab pos="3429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800"/>
              <a:t>2003, 4.81M		473,716</a:t>
            </a:r>
          </a:p>
          <a:p>
            <a:pPr indent="-341313">
              <a:lnSpc>
                <a:spcPct val="80000"/>
              </a:lnSpc>
              <a:spcBef>
                <a:spcPts val="450"/>
              </a:spcBef>
              <a:buClrTx/>
              <a:buSzPct val="80000"/>
              <a:buFontTx/>
              <a:buNone/>
              <a:tabLst>
                <a:tab pos="3429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800"/>
              <a:t>2004, 5.05M		478,219</a:t>
            </a:r>
          </a:p>
          <a:p>
            <a:pPr indent="-341313">
              <a:lnSpc>
                <a:spcPct val="80000"/>
              </a:lnSpc>
              <a:spcBef>
                <a:spcPts val="450"/>
              </a:spcBef>
              <a:buClrTx/>
              <a:buSzPct val="80000"/>
              <a:buFontTx/>
              <a:buNone/>
              <a:tabLst>
                <a:tab pos="342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800"/>
          </a:p>
          <a:p>
            <a:pPr indent="-341313">
              <a:lnSpc>
                <a:spcPct val="80000"/>
              </a:lnSpc>
              <a:spcBef>
                <a:spcPts val="450"/>
              </a:spcBef>
              <a:buClrTx/>
              <a:buSzPct val="80000"/>
              <a:buFontTx/>
              <a:buNone/>
              <a:tabLst>
                <a:tab pos="342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800"/>
          </a:p>
          <a:p>
            <a:pPr indent="-341313">
              <a:lnSpc>
                <a:spcPct val="80000"/>
              </a:lnSpc>
              <a:spcBef>
                <a:spcPts val="300"/>
              </a:spcBef>
              <a:buClrTx/>
              <a:buSzPct val="80000"/>
              <a:buFontTx/>
              <a:buNone/>
              <a:tabLst>
                <a:tab pos="342900" algn="l"/>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200" b="1">
                <a:solidFill>
                  <a:srgbClr val="FFFFCC"/>
                </a:solidFill>
              </a:rPr>
              <a:t>SOURCE</a:t>
            </a:r>
            <a:r>
              <a:rPr lang="en-US" altLang="en-US" sz="1200">
                <a:solidFill>
                  <a:srgbClr val="FFFFCC"/>
                </a:solidFill>
              </a:rPr>
              <a:t>: TBS—TO BE SUPPLIED; US State Department, Visa Office, February 2005</a:t>
            </a:r>
          </a:p>
          <a:p>
            <a:pPr marL="741363" lvl="1" indent="-284163">
              <a:lnSpc>
                <a:spcPct val="80000"/>
              </a:lnSpc>
              <a:spcBef>
                <a:spcPts val="300"/>
              </a:spcBef>
              <a:buClr>
                <a:srgbClr val="FFFFCC"/>
              </a:buClr>
              <a:buFont typeface="Gill Sans MT" panose="020B0502020104020203" pitchFamily="34" charset="0"/>
              <a:buNone/>
              <a:tabLst>
                <a:tab pos="342900" algn="l"/>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200">
              <a:solidFill>
                <a:srgbClr val="FFFFCC"/>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4BE8DDB1-AA44-4A1A-A217-92A49AC7EF46}"/>
              </a:ext>
            </a:extLst>
          </p:cNvPr>
          <p:cNvSpPr>
            <a:spLocks noGrp="1"/>
          </p:cNvSpPr>
          <p:nvPr>
            <p:ph type="sldNum" idx="12"/>
          </p:nvPr>
        </p:nvSpPr>
        <p:spPr/>
        <p:txBody>
          <a:bodyPr/>
          <a:lstStyle/>
          <a:p>
            <a:fld id="{91B793DD-E44B-4934-B76E-0888405843D7}" type="slidenum">
              <a:rPr lang="en-US" altLang="en-US"/>
              <a:pPr/>
              <a:t>25</a:t>
            </a:fld>
            <a:endParaRPr lang="en-US" altLang="en-US"/>
          </a:p>
        </p:txBody>
      </p:sp>
      <p:sp>
        <p:nvSpPr>
          <p:cNvPr id="28673" name="Rectangle 1">
            <a:extLst>
              <a:ext uri="{FF2B5EF4-FFF2-40B4-BE49-F238E27FC236}">
                <a16:creationId xmlns:a16="http://schemas.microsoft.com/office/drawing/2014/main" id="{ECD74F05-28BA-46E8-AF45-D06B73C68B63}"/>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1900"/>
              <a:t>STUDENT &amp; EXCHANGE VISITOR INFORMATION SYSTEM (DHS/ICE)</a:t>
            </a:r>
          </a:p>
        </p:txBody>
      </p:sp>
      <p:sp>
        <p:nvSpPr>
          <p:cNvPr id="28674" name="Rectangle 2">
            <a:extLst>
              <a:ext uri="{FF2B5EF4-FFF2-40B4-BE49-F238E27FC236}">
                <a16:creationId xmlns:a16="http://schemas.microsoft.com/office/drawing/2014/main" id="{D340A16F-1BA4-447D-9C21-DC75F7604DDF}"/>
              </a:ext>
            </a:extLst>
          </p:cNvPr>
          <p:cNvSpPr>
            <a:spLocks noGrp="1" noChangeArrowheads="1"/>
          </p:cNvSpPr>
          <p:nvPr>
            <p:ph type="body" idx="4294967295"/>
          </p:nvPr>
        </p:nvSpPr>
        <p:spPr>
          <a:xfrm>
            <a:off x="1371600" y="1295400"/>
            <a:ext cx="6248400" cy="4724400"/>
          </a:xfrm>
          <a:ln/>
        </p:spPr>
        <p:txBody>
          <a:bodyPr/>
          <a:lstStyle/>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Aka SEVIS, required by Congress in 2002 under the “Enhanced Border Security…Act”</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1 August 2003 deadline for entering all international students into this system</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ATLAS, Newfront™ enterprise software, version 6.1 for managing student data</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7A6C1E77-C1A3-4C3B-A5A2-FF4990EB25B9}"/>
              </a:ext>
            </a:extLst>
          </p:cNvPr>
          <p:cNvSpPr>
            <a:spLocks noGrp="1"/>
          </p:cNvSpPr>
          <p:nvPr>
            <p:ph type="sldNum" idx="12"/>
          </p:nvPr>
        </p:nvSpPr>
        <p:spPr/>
        <p:txBody>
          <a:bodyPr/>
          <a:lstStyle/>
          <a:p>
            <a:fld id="{672DC1D2-7208-4440-B34C-19AB4739242C}" type="slidenum">
              <a:rPr lang="en-US" altLang="en-US"/>
              <a:pPr/>
              <a:t>26</a:t>
            </a:fld>
            <a:endParaRPr lang="en-US" altLang="en-US"/>
          </a:p>
        </p:txBody>
      </p:sp>
      <p:sp>
        <p:nvSpPr>
          <p:cNvPr id="29697" name="Rectangle 1">
            <a:extLst>
              <a:ext uri="{FF2B5EF4-FFF2-40B4-BE49-F238E27FC236}">
                <a16:creationId xmlns:a16="http://schemas.microsoft.com/office/drawing/2014/main" id="{4CF5FA27-405E-4FB3-A5E6-9B615778323F}"/>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APPLICANT CALLS POST FOR…</a:t>
            </a:r>
          </a:p>
        </p:txBody>
      </p:sp>
      <p:sp>
        <p:nvSpPr>
          <p:cNvPr id="29698" name="Rectangle 2">
            <a:extLst>
              <a:ext uri="{FF2B5EF4-FFF2-40B4-BE49-F238E27FC236}">
                <a16:creationId xmlns:a16="http://schemas.microsoft.com/office/drawing/2014/main" id="{8C91740B-3EC2-4E52-8AFC-8E794B4B55BD}"/>
              </a:ext>
            </a:extLst>
          </p:cNvPr>
          <p:cNvSpPr>
            <a:spLocks noGrp="1" noChangeArrowheads="1"/>
          </p:cNvSpPr>
          <p:nvPr>
            <p:ph type="body" idx="4294967295"/>
          </p:nvPr>
        </p:nvSpPr>
        <p:spPr>
          <a:xfrm>
            <a:off x="1295400" y="1219200"/>
            <a:ext cx="6553200" cy="5607050"/>
          </a:xfrm>
          <a:ln/>
        </p:spPr>
        <p:txBody>
          <a:bodyPr/>
          <a:lstStyle/>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An appointment in the proper consular district and then…</a:t>
            </a:r>
          </a:p>
          <a:p>
            <a:pPr marL="341313" indent="-341313">
              <a:lnSpc>
                <a:spcPct val="80000"/>
              </a:lnSpc>
              <a:spcBef>
                <a:spcPts val="4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Waits (wait was “generally 2 weeks or more”); since FY2003 students, however, are given priority appointments…</a:t>
            </a:r>
          </a:p>
          <a:p>
            <a:pPr marL="341313" indent="-341313">
              <a:lnSpc>
                <a:spcPct val="80000"/>
              </a:lnSpc>
              <a:spcBef>
                <a:spcPts val="45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Their student data must be in SEVIS first…</a:t>
            </a:r>
          </a:p>
          <a:p>
            <a:pPr marL="341313" indent="-341313">
              <a:lnSpc>
                <a:spcPct val="80000"/>
              </a:lnSpc>
              <a:spcBef>
                <a:spcPts val="4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Interviewed in person by the post…and may require:</a:t>
            </a:r>
          </a:p>
          <a:p>
            <a:pPr marL="741363" lvl="1" indent="-284163">
              <a:lnSpc>
                <a:spcPct val="80000"/>
              </a:lnSpc>
              <a:spcBef>
                <a:spcPts val="3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a:t>Form I-20 AB “Certificate of Eligibility for Nonimmigrant (i.e., F-1) Student Status” </a:t>
            </a:r>
            <a:r>
              <a:rPr lang="en-US" altLang="en-US" sz="1400" b="1"/>
              <a:t>or</a:t>
            </a:r>
          </a:p>
          <a:p>
            <a:pPr marL="741363" lvl="1" indent="-284163">
              <a:lnSpc>
                <a:spcPct val="80000"/>
              </a:lnSpc>
              <a:spcBef>
                <a:spcPts val="3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a:t>Form DS-2019 “Certificate of Eligibility for Nonimmigrant Visitor (i.e., J-1) Status”</a:t>
            </a:r>
          </a:p>
          <a:p>
            <a:pPr marL="741363" lvl="1" indent="-284163">
              <a:lnSpc>
                <a:spcPct val="80000"/>
              </a:lnSpc>
              <a:spcBef>
                <a:spcPts val="3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a:t>Form DS-156 “Non-immigrant Visa Application” and, if male, then a </a:t>
            </a:r>
          </a:p>
          <a:p>
            <a:pPr marL="741363" lvl="1" indent="-284163">
              <a:lnSpc>
                <a:spcPct val="80000"/>
              </a:lnSpc>
              <a:spcBef>
                <a:spcPts val="3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a:t>Form DS-157 “Supplemental Non-immigrant Visa Application” (both are electronic) </a:t>
            </a:r>
          </a:p>
          <a:p>
            <a:pPr marL="741363" lvl="1" indent="-284163">
              <a:lnSpc>
                <a:spcPct val="80000"/>
              </a:lnSpc>
              <a:spcBef>
                <a:spcPts val="3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a:t>Form I-901 “Fee Remittance for Certain F, J, and M Nonimmigrants”</a:t>
            </a:r>
          </a:p>
          <a:p>
            <a:pPr marL="341313" indent="-341313">
              <a:lnSpc>
                <a:spcPct val="80000"/>
              </a:lnSpc>
              <a:spcBef>
                <a:spcPts val="3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400"/>
          </a:p>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Includes a photograph and a quick fingerprint scan</a:t>
            </a:r>
          </a:p>
          <a:p>
            <a:pPr marL="341313" indent="-341313">
              <a:lnSpc>
                <a:spcPct val="80000"/>
              </a:lnSpc>
              <a:spcBef>
                <a:spcPts val="4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Payment of fees (for example, $100 application fee, $100 SEVIS fee, plus any reciprocal fee)</a:t>
            </a:r>
          </a:p>
          <a:p>
            <a:pPr marL="341313" indent="-341313">
              <a:lnSpc>
                <a:spcPct val="80000"/>
              </a:lnSpc>
              <a:spcBef>
                <a:spcPts val="2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000" b="1"/>
          </a:p>
          <a:p>
            <a:pPr marL="341313" indent="-341313">
              <a:lnSpc>
                <a:spcPct val="80000"/>
              </a:lnSpc>
              <a:spcBef>
                <a:spcPts val="25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000" b="1">
                <a:solidFill>
                  <a:srgbClr val="FFFFCC"/>
                </a:solidFill>
              </a:rPr>
              <a:t>SOURCE</a:t>
            </a:r>
            <a:r>
              <a:rPr lang="en-US" altLang="en-US" sz="1000">
                <a:solidFill>
                  <a:srgbClr val="FFFFCC"/>
                </a:solidFill>
              </a:rPr>
              <a:t>: US GAO 04—371 and http://www.ice.gov/graphics/sevis/pdf/I-901.pdf and State</a:t>
            </a:r>
            <a:r>
              <a:rPr lang="en-US" altLang="en-US" sz="1000"/>
              <a:t>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C79759D5-0075-4966-A85E-04BB97041142}"/>
              </a:ext>
            </a:extLst>
          </p:cNvPr>
          <p:cNvSpPr>
            <a:spLocks noGrp="1"/>
          </p:cNvSpPr>
          <p:nvPr>
            <p:ph type="sldNum" idx="12"/>
          </p:nvPr>
        </p:nvSpPr>
        <p:spPr/>
        <p:txBody>
          <a:bodyPr/>
          <a:lstStyle/>
          <a:p>
            <a:fld id="{7DCCC78A-E26F-4859-B8A8-3CB6301117AC}" type="slidenum">
              <a:rPr lang="en-US" altLang="en-US"/>
              <a:pPr/>
              <a:t>27</a:t>
            </a:fld>
            <a:endParaRPr lang="en-US" altLang="en-US"/>
          </a:p>
        </p:txBody>
      </p:sp>
      <p:sp>
        <p:nvSpPr>
          <p:cNvPr id="30721" name="Rectangle 1">
            <a:extLst>
              <a:ext uri="{FF2B5EF4-FFF2-40B4-BE49-F238E27FC236}">
                <a16:creationId xmlns:a16="http://schemas.microsoft.com/office/drawing/2014/main" id="{F584F6EB-6D01-47AE-889F-9E963BB7ECCC}"/>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JURIDICAL PERSONS (PASSPORTS)</a:t>
            </a:r>
          </a:p>
        </p:txBody>
      </p:sp>
      <p:sp>
        <p:nvSpPr>
          <p:cNvPr id="30722" name="Rectangle 2">
            <a:extLst>
              <a:ext uri="{FF2B5EF4-FFF2-40B4-BE49-F238E27FC236}">
                <a16:creationId xmlns:a16="http://schemas.microsoft.com/office/drawing/2014/main" id="{7D770283-24A9-41B2-B3C7-D502A82A6AC2}"/>
              </a:ext>
            </a:extLst>
          </p:cNvPr>
          <p:cNvSpPr>
            <a:spLocks noGrp="1" noChangeArrowheads="1"/>
          </p:cNvSpPr>
          <p:nvPr>
            <p:ph type="body" idx="4294967295"/>
          </p:nvPr>
        </p:nvSpPr>
        <p:spPr>
          <a:xfrm>
            <a:off x="1371600" y="1295400"/>
            <a:ext cx="6477000" cy="4724400"/>
          </a:xfrm>
          <a:ln/>
        </p:spPr>
        <p:txBody>
          <a:bodyPr/>
          <a:lstStyle/>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Identification (who you say that you are)</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Validation (who you really are)</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Since the 18</a:t>
            </a:r>
            <a:r>
              <a:rPr lang="en-US" altLang="en-US" baseline="30000"/>
              <a:t>th</a:t>
            </a:r>
            <a:r>
              <a:rPr lang="en-US" altLang="en-US"/>
              <a:t> Century, nation states have tried to control the internal as well as external movement of citizens and foreigners</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200" b="1">
                <a:solidFill>
                  <a:srgbClr val="FFFFCC"/>
                </a:solidFill>
              </a:rPr>
              <a:t>SOURCE</a:t>
            </a:r>
            <a:r>
              <a:rPr lang="en-US" altLang="en-US" sz="1200">
                <a:solidFill>
                  <a:srgbClr val="FFFFCC"/>
                </a:solidFill>
              </a:rPr>
              <a:t>: Torpey, </a:t>
            </a:r>
            <a:r>
              <a:rPr lang="en-US" altLang="en-US" sz="1200" u="sng">
                <a:solidFill>
                  <a:srgbClr val="FFFFCC"/>
                </a:solidFill>
              </a:rPr>
              <a:t>Invention of Passports</a:t>
            </a:r>
            <a:r>
              <a:rPr lang="en-US" altLang="en-US" sz="1200">
                <a:solidFill>
                  <a:srgbClr val="FFFFCC"/>
                </a:solidFill>
              </a:rPr>
              <a:t> (2004)</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36215328-19BF-4318-9F4D-13A7700B05FE}"/>
              </a:ext>
            </a:extLst>
          </p:cNvPr>
          <p:cNvSpPr>
            <a:spLocks noGrp="1"/>
          </p:cNvSpPr>
          <p:nvPr>
            <p:ph type="sldNum" idx="12"/>
          </p:nvPr>
        </p:nvSpPr>
        <p:spPr/>
        <p:txBody>
          <a:bodyPr/>
          <a:lstStyle/>
          <a:p>
            <a:fld id="{872C8D78-601E-4FE8-AA09-0D83993205F6}" type="slidenum">
              <a:rPr lang="en-US" altLang="en-US"/>
              <a:pPr/>
              <a:t>28</a:t>
            </a:fld>
            <a:endParaRPr lang="en-US" altLang="en-US"/>
          </a:p>
        </p:txBody>
      </p:sp>
      <p:sp>
        <p:nvSpPr>
          <p:cNvPr id="31745" name="Rectangle 1">
            <a:extLst>
              <a:ext uri="{FF2B5EF4-FFF2-40B4-BE49-F238E27FC236}">
                <a16:creationId xmlns:a16="http://schemas.microsoft.com/office/drawing/2014/main" id="{870D65E8-5AB3-4284-A417-6D6D707A6E79}"/>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SEVERAL PROBLEMATIC PASSPORTS</a:t>
            </a:r>
          </a:p>
        </p:txBody>
      </p:sp>
      <p:sp>
        <p:nvSpPr>
          <p:cNvPr id="31746" name="Rectangle 2">
            <a:extLst>
              <a:ext uri="{FF2B5EF4-FFF2-40B4-BE49-F238E27FC236}">
                <a16:creationId xmlns:a16="http://schemas.microsoft.com/office/drawing/2014/main" id="{BA1246C1-EA1A-4911-B05B-CA6665048B3B}"/>
              </a:ext>
            </a:extLst>
          </p:cNvPr>
          <p:cNvSpPr>
            <a:spLocks noGrp="1" noChangeArrowheads="1"/>
          </p:cNvSpPr>
          <p:nvPr>
            <p:ph type="body" idx="4294967295"/>
          </p:nvPr>
        </p:nvSpPr>
        <p:spPr>
          <a:xfrm>
            <a:off x="1447800" y="5638800"/>
            <a:ext cx="7924800" cy="685800"/>
          </a:xfrm>
          <a:ln/>
        </p:spPr>
        <p:txBody>
          <a:bodyPr/>
          <a:lstStyle/>
          <a:p>
            <a:pPr indent="-341313">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200" b="1">
                <a:solidFill>
                  <a:srgbClr val="FFFFCC"/>
                </a:solidFill>
              </a:rPr>
              <a:t>SOURCE</a:t>
            </a:r>
            <a:r>
              <a:rPr lang="en-US" altLang="en-US" sz="1200">
                <a:solidFill>
                  <a:srgbClr val="FFFFCC"/>
                </a:solidFill>
              </a:rPr>
              <a:t>: Google Images</a:t>
            </a:r>
          </a:p>
        </p:txBody>
      </p:sp>
      <p:pic>
        <p:nvPicPr>
          <p:cNvPr id="31747" name="Picture 3">
            <a:extLst>
              <a:ext uri="{FF2B5EF4-FFF2-40B4-BE49-F238E27FC236}">
                <a16:creationId xmlns:a16="http://schemas.microsoft.com/office/drawing/2014/main" id="{3E7904E6-9208-479C-B7AB-930334D448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1219200"/>
            <a:ext cx="2743200" cy="1938338"/>
          </a:xfrm>
          <a:prstGeom prst="rect">
            <a:avLst/>
          </a:prstGeom>
          <a:noFill/>
          <a:ln w="25560">
            <a:solidFill>
              <a:srgbClr val="000000"/>
            </a:solidFill>
            <a:miter lim="800000"/>
            <a:headEnd/>
            <a:tailEnd/>
          </a:ln>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1748" name="Picture 4">
            <a:extLst>
              <a:ext uri="{FF2B5EF4-FFF2-40B4-BE49-F238E27FC236}">
                <a16:creationId xmlns:a16="http://schemas.microsoft.com/office/drawing/2014/main" id="{1A6516FC-2B73-4387-9A8C-3C943E291B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447800"/>
            <a:ext cx="2743200" cy="2743200"/>
          </a:xfrm>
          <a:prstGeom prst="rect">
            <a:avLst/>
          </a:prstGeom>
          <a:noFill/>
          <a:ln w="25560">
            <a:solidFill>
              <a:srgbClr val="000000"/>
            </a:solidFill>
            <a:miter lim="800000"/>
            <a:headEnd/>
            <a:tailEnd/>
          </a:ln>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1749" name="Picture 5">
            <a:extLst>
              <a:ext uri="{FF2B5EF4-FFF2-40B4-BE49-F238E27FC236}">
                <a16:creationId xmlns:a16="http://schemas.microsoft.com/office/drawing/2014/main" id="{8CF001E0-9026-4CE5-945A-7074E3CC53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3962400"/>
            <a:ext cx="3352800" cy="2582863"/>
          </a:xfrm>
          <a:prstGeom prst="rect">
            <a:avLst/>
          </a:prstGeom>
          <a:noFill/>
          <a:ln w="25560">
            <a:solidFill>
              <a:srgbClr val="000000"/>
            </a:solidFill>
            <a:miter lim="800000"/>
            <a:headEnd/>
            <a:tailEnd/>
          </a:ln>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3E33D535-11D9-446E-A7DF-6CF56A8645FB}"/>
              </a:ext>
            </a:extLst>
          </p:cNvPr>
          <p:cNvSpPr>
            <a:spLocks noGrp="1"/>
          </p:cNvSpPr>
          <p:nvPr>
            <p:ph type="sldNum" idx="12"/>
          </p:nvPr>
        </p:nvSpPr>
        <p:spPr/>
        <p:txBody>
          <a:bodyPr/>
          <a:lstStyle/>
          <a:p>
            <a:fld id="{501BCE8E-0C60-4FAB-A20B-D4939D2E447C}" type="slidenum">
              <a:rPr lang="en-US" altLang="en-US"/>
              <a:pPr/>
              <a:t>29</a:t>
            </a:fld>
            <a:endParaRPr lang="en-US" altLang="en-US"/>
          </a:p>
        </p:txBody>
      </p:sp>
      <p:sp>
        <p:nvSpPr>
          <p:cNvPr id="32769" name="Rectangle 1">
            <a:extLst>
              <a:ext uri="{FF2B5EF4-FFF2-40B4-BE49-F238E27FC236}">
                <a16:creationId xmlns:a16="http://schemas.microsoft.com/office/drawing/2014/main" id="{811E2BFE-00CC-4A81-A878-5A1DFE85328E}"/>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STATE SPONSORED TERRORISM (STATE)</a:t>
            </a:r>
          </a:p>
        </p:txBody>
      </p:sp>
      <p:sp>
        <p:nvSpPr>
          <p:cNvPr id="32770" name="Rectangle 2">
            <a:extLst>
              <a:ext uri="{FF2B5EF4-FFF2-40B4-BE49-F238E27FC236}">
                <a16:creationId xmlns:a16="http://schemas.microsoft.com/office/drawing/2014/main" id="{BE2BADE0-389A-45E2-BC02-14088AFBC677}"/>
              </a:ext>
            </a:extLst>
          </p:cNvPr>
          <p:cNvSpPr>
            <a:spLocks noGrp="1" noChangeArrowheads="1"/>
          </p:cNvSpPr>
          <p:nvPr>
            <p:ph type="body" idx="4294967295"/>
          </p:nvPr>
        </p:nvSpPr>
        <p:spPr>
          <a:xfrm>
            <a:off x="1828800" y="1219200"/>
            <a:ext cx="4876800" cy="4724400"/>
          </a:xfrm>
          <a:ln/>
        </p:spPr>
        <p:txBody>
          <a:bodyPr/>
          <a:lstStyle/>
          <a:p>
            <a:pPr indent="-341313" algn="ctr">
              <a:lnSpc>
                <a:spcPct val="80000"/>
              </a:lnSpc>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a:t>6 nation states which sponsor terrorism, as of 2005:</a:t>
            </a:r>
          </a:p>
          <a:p>
            <a:pPr indent="-341313" algn="ctr">
              <a:lnSpc>
                <a:spcPct val="80000"/>
              </a:lnSpc>
              <a:buClr>
                <a:srgbClr val="FFFFCC"/>
              </a:buClr>
              <a:buSzPct val="80000"/>
              <a:buFont typeface="Gill Sans MT" panose="020B0502020104020203" pitchFamily="34" charset="0"/>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a:p>
          <a:p>
            <a:pPr lvl="1" indent="-284163" algn="ctr">
              <a:lnSpc>
                <a:spcPct val="80000"/>
              </a:lnSpc>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a:solidFill>
                  <a:srgbClr val="FFFFCC"/>
                </a:solidFill>
              </a:rPr>
              <a:t>Cuba</a:t>
            </a:r>
          </a:p>
          <a:p>
            <a:pPr lvl="1" indent="-284163" algn="ctr">
              <a:lnSpc>
                <a:spcPct val="80000"/>
              </a:lnSpc>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a:solidFill>
                  <a:srgbClr val="FFFFCC"/>
                </a:solidFill>
              </a:rPr>
              <a:t>Iran</a:t>
            </a:r>
          </a:p>
          <a:p>
            <a:pPr lvl="1" indent="-284163" algn="ctr">
              <a:lnSpc>
                <a:spcPct val="80000"/>
              </a:lnSpc>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a:solidFill>
                  <a:srgbClr val="FFFFCC"/>
                </a:solidFill>
              </a:rPr>
              <a:t>Libya </a:t>
            </a:r>
          </a:p>
          <a:p>
            <a:pPr lvl="1" indent="-284163" algn="ctr">
              <a:lnSpc>
                <a:spcPct val="80000"/>
              </a:lnSpc>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a:solidFill>
                  <a:srgbClr val="FFFFCC"/>
                </a:solidFill>
              </a:rPr>
              <a:t>North Korea</a:t>
            </a:r>
          </a:p>
          <a:p>
            <a:pPr lvl="1" indent="-284163" algn="ctr">
              <a:lnSpc>
                <a:spcPct val="80000"/>
              </a:lnSpc>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a:solidFill>
                  <a:srgbClr val="FFFFCC"/>
                </a:solidFill>
              </a:rPr>
              <a:t>Sudan</a:t>
            </a:r>
          </a:p>
          <a:p>
            <a:pPr lvl="1" indent="-284163" algn="ctr">
              <a:lnSpc>
                <a:spcPct val="80000"/>
              </a:lnSpc>
              <a:buClrTx/>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a:solidFill>
                  <a:srgbClr val="FFFFCC"/>
                </a:solidFill>
              </a:rPr>
              <a:t>Syria</a:t>
            </a:r>
          </a:p>
          <a:p>
            <a:pPr indent="-341313" algn="ctr">
              <a:lnSpc>
                <a:spcPct val="80000"/>
              </a:lnSpc>
              <a:spcBef>
                <a:spcPts val="5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2000">
              <a:solidFill>
                <a:srgbClr val="FFFFCC"/>
              </a:solidFill>
            </a:endParaRPr>
          </a:p>
          <a:p>
            <a:pPr indent="-341313">
              <a:lnSpc>
                <a:spcPct val="80000"/>
              </a:lnSpc>
              <a:spcBef>
                <a:spcPts val="450"/>
              </a:spcBef>
              <a:buClr>
                <a:srgbClr val="FFFFCC"/>
              </a:buClr>
              <a:buSzPct val="80000"/>
              <a:buFont typeface="Gill Sans MT" panose="020B0502020104020203" pitchFamily="34" charset="0"/>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800"/>
          </a:p>
          <a:p>
            <a:pPr indent="-341313">
              <a:lnSpc>
                <a:spcPct val="80000"/>
              </a:lnSpc>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200">
                <a:solidFill>
                  <a:srgbClr val="FFFFCC"/>
                </a:solidFill>
              </a:rPr>
              <a:t>SOURCE: </a:t>
            </a:r>
            <a:r>
              <a:rPr lang="en-US" altLang="en-US" sz="1200" u="sng">
                <a:solidFill>
                  <a:srgbClr val="FFFFCC"/>
                </a:solidFill>
              </a:rPr>
              <a:t>http://www.state.gov/s/ct</a:t>
            </a:r>
            <a:r>
              <a:rPr lang="en-US" altLang="en-US" sz="1200">
                <a:solidFill>
                  <a:srgbClr val="FFFFCC"/>
                </a:solidFill>
              </a:rPr>
              <a:t> and 9 FAM 40.31, Exhibit II; </a:t>
            </a:r>
            <a:r>
              <a:rPr lang="en-US" altLang="en-US" sz="1200" u="sng">
                <a:solidFill>
                  <a:srgbClr val="FFFFCC"/>
                </a:solidFill>
              </a:rPr>
              <a:t>http://www.state.gov/s/ct/rls/pgtrpt/2000/2441.htm</a:t>
            </a:r>
            <a:r>
              <a:rPr lang="en-US" altLang="en-US" sz="1200">
                <a:solidFill>
                  <a:srgbClr val="FFFFCC"/>
                </a:solidFill>
              </a:rPr>
              <a:t> and </a:t>
            </a:r>
            <a:r>
              <a:rPr lang="en-US" altLang="en-US" sz="1200" u="sng">
                <a:solidFill>
                  <a:srgbClr val="FFFFCC"/>
                </a:solidFill>
              </a:rPr>
              <a:t>http://foia.state.gov/masterdocs/09FAM/0940031X2.PDF</a:t>
            </a:r>
            <a:r>
              <a:rPr lang="en-US" altLang="en-US" sz="1200">
                <a:solidFill>
                  <a:srgbClr val="FFFFCC"/>
                </a:solidFill>
              </a:rPr>
              <a:t> </a:t>
            </a:r>
          </a:p>
          <a:p>
            <a:pPr indent="-341313">
              <a:lnSpc>
                <a:spcPct val="80000"/>
              </a:lnSpc>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200">
                <a:solidFill>
                  <a:srgbClr val="FFFFCC"/>
                </a:solidFill>
              </a:rPr>
              <a:t>	(Iraq was removed in 2004)</a:t>
            </a:r>
          </a:p>
          <a:p>
            <a:pPr indent="-341313">
              <a:lnSpc>
                <a:spcPct val="80000"/>
              </a:lnSpc>
              <a:spcBef>
                <a:spcPts val="300"/>
              </a:spcBef>
              <a:buClr>
                <a:srgbClr val="FFFFCC"/>
              </a:buClr>
              <a:buSzPct val="80000"/>
              <a:buFont typeface="Gill Sans MT" panose="020B0502020104020203" pitchFamily="34" charset="0"/>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200">
              <a:solidFill>
                <a:srgbClr val="FFFFCC"/>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333B6FCD-C959-486B-971A-A1CB953C7B2D}"/>
              </a:ext>
            </a:extLst>
          </p:cNvPr>
          <p:cNvSpPr>
            <a:spLocks noGrp="1"/>
          </p:cNvSpPr>
          <p:nvPr>
            <p:ph type="sldNum" idx="12"/>
          </p:nvPr>
        </p:nvSpPr>
        <p:spPr/>
        <p:txBody>
          <a:bodyPr/>
          <a:lstStyle/>
          <a:p>
            <a:fld id="{A345235D-4002-4D3F-8FAF-544DB9383FD2}" type="slidenum">
              <a:rPr lang="en-US" altLang="en-US"/>
              <a:pPr/>
              <a:t>30</a:t>
            </a:fld>
            <a:endParaRPr lang="en-US" altLang="en-US"/>
          </a:p>
        </p:txBody>
      </p:sp>
      <p:sp>
        <p:nvSpPr>
          <p:cNvPr id="33793" name="Rectangle 1">
            <a:extLst>
              <a:ext uri="{FF2B5EF4-FFF2-40B4-BE49-F238E27FC236}">
                <a16:creationId xmlns:a16="http://schemas.microsoft.com/office/drawing/2014/main" id="{5D19F629-DC0B-4037-8684-5FABC017F70F}"/>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CONSULAR POST</a:t>
            </a:r>
          </a:p>
        </p:txBody>
      </p:sp>
      <p:sp>
        <p:nvSpPr>
          <p:cNvPr id="33794" name="Rectangle 2">
            <a:extLst>
              <a:ext uri="{FF2B5EF4-FFF2-40B4-BE49-F238E27FC236}">
                <a16:creationId xmlns:a16="http://schemas.microsoft.com/office/drawing/2014/main" id="{782DBEAC-CF46-4F81-B0B8-2DC9A0F8F028}"/>
              </a:ext>
            </a:extLst>
          </p:cNvPr>
          <p:cNvSpPr>
            <a:spLocks noGrp="1" noChangeArrowheads="1"/>
          </p:cNvSpPr>
          <p:nvPr>
            <p:ph type="body" idx="4294967295"/>
          </p:nvPr>
        </p:nvSpPr>
        <p:spPr>
          <a:xfrm>
            <a:off x="1371600" y="1295400"/>
            <a:ext cx="6248400" cy="4724400"/>
          </a:xfrm>
          <a:ln/>
        </p:spPr>
        <p:txBody>
          <a:bodyPr/>
          <a:lstStyle/>
          <a:p>
            <a:pPr marL="341313" indent="-341313">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Each embassy or consulate abroad offers its own free advice, guidelines, “how-to,” and other tips on their own Websites at:</a:t>
            </a:r>
          </a:p>
          <a:p>
            <a:pPr marL="341313" indent="-341313">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u="sng"/>
              <a:t>http://www.unitedstatesvisas.gov</a:t>
            </a:r>
            <a:r>
              <a:rPr lang="en-US" altLang="en-US" sz="2000"/>
              <a:t> and</a:t>
            </a:r>
          </a:p>
          <a:p>
            <a:pPr marL="341313" indent="-341313">
              <a:spcBef>
                <a:spcPts val="5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“Links to U.S. Embassies and Consulates Worldwide” at </a:t>
            </a:r>
            <a:r>
              <a:rPr lang="en-US" altLang="en-US" sz="2000" u="sng"/>
              <a:t>http://travel.state.gov/travel/abroad_embassies.html</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637A778F-0243-40D9-9004-5F7C0AF84D53}"/>
              </a:ext>
            </a:extLst>
          </p:cNvPr>
          <p:cNvSpPr>
            <a:spLocks noGrp="1"/>
          </p:cNvSpPr>
          <p:nvPr>
            <p:ph type="sldNum" idx="12"/>
          </p:nvPr>
        </p:nvSpPr>
        <p:spPr/>
        <p:txBody>
          <a:bodyPr/>
          <a:lstStyle/>
          <a:p>
            <a:fld id="{1F8A8771-E996-4E81-A8AC-DBB8BDFFED0A}" type="slidenum">
              <a:rPr lang="en-US" altLang="en-US"/>
              <a:pPr/>
              <a:t>31</a:t>
            </a:fld>
            <a:endParaRPr lang="en-US" altLang="en-US"/>
          </a:p>
        </p:txBody>
      </p:sp>
      <p:sp>
        <p:nvSpPr>
          <p:cNvPr id="34817" name="Rectangle 1">
            <a:extLst>
              <a:ext uri="{FF2B5EF4-FFF2-40B4-BE49-F238E27FC236}">
                <a16:creationId xmlns:a16="http://schemas.microsoft.com/office/drawing/2014/main" id="{6FA7C073-0A11-406C-B349-AFD6E14925AD}"/>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CONSULAR OFFICER</a:t>
            </a:r>
          </a:p>
        </p:txBody>
      </p:sp>
      <p:sp>
        <p:nvSpPr>
          <p:cNvPr id="34818" name="Rectangle 2">
            <a:extLst>
              <a:ext uri="{FF2B5EF4-FFF2-40B4-BE49-F238E27FC236}">
                <a16:creationId xmlns:a16="http://schemas.microsoft.com/office/drawing/2014/main" id="{BB558A3D-CC76-4C8E-87B6-E3CFC065B629}"/>
              </a:ext>
            </a:extLst>
          </p:cNvPr>
          <p:cNvSpPr>
            <a:spLocks noGrp="1" noChangeArrowheads="1"/>
          </p:cNvSpPr>
          <p:nvPr>
            <p:ph type="body" idx="4294967295"/>
          </p:nvPr>
        </p:nvSpPr>
        <p:spPr>
          <a:xfrm>
            <a:off x="1371600" y="1295400"/>
            <a:ext cx="6477000" cy="4962525"/>
          </a:xfrm>
          <a:ln/>
        </p:spPr>
        <p:txBody>
          <a:bodyPr/>
          <a:lstStyle/>
          <a:p>
            <a:pPr marL="341313" indent="-341313">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What does a consular officer do?</a:t>
            </a:r>
          </a:p>
          <a:p>
            <a:pPr marL="341313" indent="-341313">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741363" lvl="1" indent="-284163">
              <a:spcBef>
                <a:spcPts val="4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acquire expertise in local laws, economic conditions, political situation and culture to make informed and rapid decisions affecting US citizens abroad </a:t>
            </a:r>
          </a:p>
          <a:p>
            <a:pPr marL="741363" lvl="1" indent="-284163">
              <a:spcBef>
                <a:spcPts val="4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help American citizens obtain emergency medical assistance </a:t>
            </a:r>
          </a:p>
          <a:p>
            <a:pPr marL="741363" lvl="1" indent="-284163">
              <a:spcBef>
                <a:spcPts val="4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evacuate American citizens as disasters or armed conflicts require </a:t>
            </a:r>
          </a:p>
          <a:p>
            <a:pPr marL="741363" lvl="1" indent="-284163">
              <a:spcBef>
                <a:spcPts val="4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visit arrested Americans and ensure they have access to legal counsel </a:t>
            </a:r>
          </a:p>
          <a:p>
            <a:pPr marL="741363" lvl="1" indent="-284163">
              <a:spcBef>
                <a:spcPts val="4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Re-issue passports to US citizens</a:t>
            </a:r>
          </a:p>
          <a:p>
            <a:pPr marL="741363" lvl="1" indent="-284163">
              <a:spcBef>
                <a:spcPts val="4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screen foreign visa applicants and decide whether to issue or deny visa to travel to the U.S. port of entry </a:t>
            </a:r>
          </a:p>
          <a:p>
            <a:pPr marL="741363" lvl="1" indent="-284163">
              <a:spcBef>
                <a:spcPts val="450"/>
              </a:spcBef>
              <a:buClr>
                <a:srgbClr val="FFFFCC"/>
              </a:buClr>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200">
                <a:solidFill>
                  <a:srgbClr val="FFFFCC"/>
                </a:solidFill>
              </a:rPr>
              <a:t>SOURCE: http://www.careers.state.gov/officer/co.html</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75E936C5-BD76-406A-B92F-91EA6580F95F}"/>
              </a:ext>
            </a:extLst>
          </p:cNvPr>
          <p:cNvSpPr>
            <a:spLocks noGrp="1"/>
          </p:cNvSpPr>
          <p:nvPr>
            <p:ph type="sldNum" idx="12"/>
          </p:nvPr>
        </p:nvSpPr>
        <p:spPr/>
        <p:txBody>
          <a:bodyPr/>
          <a:lstStyle/>
          <a:p>
            <a:fld id="{35AB5290-B7DF-4B15-BBFF-C687C6DE0FB3}" type="slidenum">
              <a:rPr lang="en-US" altLang="en-US"/>
              <a:pPr/>
              <a:t>32</a:t>
            </a:fld>
            <a:endParaRPr lang="en-US" altLang="en-US"/>
          </a:p>
        </p:txBody>
      </p:sp>
      <p:sp>
        <p:nvSpPr>
          <p:cNvPr id="35841" name="Rectangle 1">
            <a:extLst>
              <a:ext uri="{FF2B5EF4-FFF2-40B4-BE49-F238E27FC236}">
                <a16:creationId xmlns:a16="http://schemas.microsoft.com/office/drawing/2014/main" id="{3EABC3BB-73FE-4B63-A805-93F93DC81ECD}"/>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A CONSULAR INTERVIEW</a:t>
            </a:r>
          </a:p>
        </p:txBody>
      </p:sp>
      <p:sp>
        <p:nvSpPr>
          <p:cNvPr id="35842" name="Rectangle 2">
            <a:extLst>
              <a:ext uri="{FF2B5EF4-FFF2-40B4-BE49-F238E27FC236}">
                <a16:creationId xmlns:a16="http://schemas.microsoft.com/office/drawing/2014/main" id="{8109E12F-9CC2-43C0-AA88-73A15FD508E0}"/>
              </a:ext>
            </a:extLst>
          </p:cNvPr>
          <p:cNvSpPr>
            <a:spLocks noGrp="1" noChangeArrowheads="1"/>
          </p:cNvSpPr>
          <p:nvPr>
            <p:ph type="body" idx="4294967295"/>
          </p:nvPr>
        </p:nvSpPr>
        <p:spPr>
          <a:xfrm>
            <a:off x="1371600" y="1219200"/>
            <a:ext cx="6172200" cy="5572125"/>
          </a:xfrm>
          <a:ln/>
        </p:spPr>
        <p:txBody>
          <a:bodyPr/>
          <a:lstStyle/>
          <a:p>
            <a:pPr marL="1773238" indent="-1430338">
              <a:lnSpc>
                <a:spcPct val="80000"/>
              </a:lnSpc>
              <a:spcBef>
                <a:spcPts val="400"/>
              </a:spcBef>
              <a:buClrTx/>
              <a:buSzPct val="80000"/>
              <a:buFontTx/>
              <a:buNone/>
              <a:tabLst>
                <a:tab pos="2343150" algn="l"/>
                <a:tab pos="3257550" algn="l"/>
                <a:tab pos="4171950" algn="l"/>
                <a:tab pos="5086350" algn="l"/>
                <a:tab pos="6000750" algn="l"/>
                <a:tab pos="6915150" algn="l"/>
                <a:tab pos="7829550" algn="l"/>
                <a:tab pos="8743950" algn="l"/>
                <a:tab pos="9658350" algn="l"/>
                <a:tab pos="10572750" algn="l"/>
                <a:tab pos="11487150" algn="l"/>
              </a:tabLst>
            </a:pPr>
            <a:r>
              <a:rPr lang="en-US" altLang="en-US" sz="1600"/>
              <a:t>INTERVIEWER:  Why do you want to go and study in our country?</a:t>
            </a:r>
          </a:p>
          <a:p>
            <a:pPr marL="1773238" indent="-1430338">
              <a:lnSpc>
                <a:spcPct val="80000"/>
              </a:lnSpc>
              <a:spcBef>
                <a:spcPts val="400"/>
              </a:spcBef>
              <a:buClrTx/>
              <a:buSzPct val="80000"/>
              <a:buFontTx/>
              <a:buNone/>
              <a:tabLst>
                <a:tab pos="2343150" algn="l"/>
                <a:tab pos="3257550" algn="l"/>
                <a:tab pos="4171950" algn="l"/>
                <a:tab pos="5086350" algn="l"/>
                <a:tab pos="6000750" algn="l"/>
                <a:tab pos="6915150" algn="l"/>
                <a:tab pos="7829550" algn="l"/>
                <a:tab pos="8743950" algn="l"/>
                <a:tab pos="9658350" algn="l"/>
                <a:tab pos="10572750" algn="l"/>
                <a:tab pos="11487150" algn="l"/>
              </a:tabLst>
            </a:pPr>
            <a:endParaRPr lang="en-US" altLang="en-US" sz="1600"/>
          </a:p>
          <a:p>
            <a:pPr marL="1773238" indent="-1430338">
              <a:lnSpc>
                <a:spcPct val="80000"/>
              </a:lnSpc>
              <a:spcBef>
                <a:spcPts val="400"/>
              </a:spcBef>
              <a:buClrTx/>
              <a:buSzPct val="80000"/>
              <a:buFontTx/>
              <a:buNone/>
              <a:tabLst>
                <a:tab pos="2343150" algn="l"/>
                <a:tab pos="3257550" algn="l"/>
                <a:tab pos="4171950" algn="l"/>
                <a:tab pos="5086350" algn="l"/>
                <a:tab pos="6000750" algn="l"/>
                <a:tab pos="6915150" algn="l"/>
                <a:tab pos="7829550" algn="l"/>
                <a:tab pos="8743950" algn="l"/>
                <a:tab pos="9658350" algn="l"/>
                <a:tab pos="10572750" algn="l"/>
                <a:tab pos="11487150" algn="l"/>
              </a:tabLst>
            </a:pPr>
            <a:r>
              <a:rPr lang="en-US" altLang="en-US" sz="1600">
                <a:solidFill>
                  <a:srgbClr val="CCCCFF"/>
                </a:solidFill>
              </a:rPr>
              <a:t>INTERVIEWEE:  Well, sir…I think…hm, eh, I mean going abroad will allow me to be more knowledgeable, and hm…, it will provide me with necessary tools that can help me with my future career.  Also, by going abroad to study…I think I can learn more about other people.</a:t>
            </a:r>
          </a:p>
          <a:p>
            <a:pPr marL="1773238" indent="-1430338">
              <a:lnSpc>
                <a:spcPct val="80000"/>
              </a:lnSpc>
              <a:spcBef>
                <a:spcPts val="400"/>
              </a:spcBef>
              <a:buClrTx/>
              <a:buSzPct val="80000"/>
              <a:buFontTx/>
              <a:buNone/>
              <a:tabLst>
                <a:tab pos="2343150" algn="l"/>
                <a:tab pos="3257550" algn="l"/>
                <a:tab pos="4171950" algn="l"/>
                <a:tab pos="5086350" algn="l"/>
                <a:tab pos="6000750" algn="l"/>
                <a:tab pos="6915150" algn="l"/>
                <a:tab pos="7829550" algn="l"/>
                <a:tab pos="8743950" algn="l"/>
                <a:tab pos="9658350" algn="l"/>
                <a:tab pos="10572750" algn="l"/>
                <a:tab pos="11487150" algn="l"/>
              </a:tabLst>
            </a:pPr>
            <a:endParaRPr lang="en-US" altLang="en-US" sz="1600">
              <a:solidFill>
                <a:srgbClr val="CCCCFF"/>
              </a:solidFill>
            </a:endParaRPr>
          </a:p>
          <a:p>
            <a:pPr marL="1773238" indent="-1430338">
              <a:lnSpc>
                <a:spcPct val="80000"/>
              </a:lnSpc>
              <a:spcBef>
                <a:spcPts val="400"/>
              </a:spcBef>
              <a:buClrTx/>
              <a:buSzPct val="80000"/>
              <a:buFontTx/>
              <a:buNone/>
              <a:tabLst>
                <a:tab pos="2343150" algn="l"/>
                <a:tab pos="3257550" algn="l"/>
                <a:tab pos="4171950" algn="l"/>
                <a:tab pos="5086350" algn="l"/>
                <a:tab pos="6000750" algn="l"/>
                <a:tab pos="6915150" algn="l"/>
                <a:tab pos="7829550" algn="l"/>
                <a:tab pos="8743950" algn="l"/>
                <a:tab pos="9658350" algn="l"/>
                <a:tab pos="10572750" algn="l"/>
                <a:tab pos="11487150" algn="l"/>
              </a:tabLst>
            </a:pPr>
            <a:r>
              <a:rPr lang="en-US" altLang="en-US" sz="1600"/>
              <a:t>INTERVIEWER:  Are you saying you can’t learn all those things in this country?</a:t>
            </a:r>
          </a:p>
          <a:p>
            <a:pPr marL="1773238" indent="-1430338">
              <a:lnSpc>
                <a:spcPct val="80000"/>
              </a:lnSpc>
              <a:spcBef>
                <a:spcPts val="400"/>
              </a:spcBef>
              <a:buClrTx/>
              <a:buSzPct val="80000"/>
              <a:buFontTx/>
              <a:buNone/>
              <a:tabLst>
                <a:tab pos="2343150" algn="l"/>
                <a:tab pos="3257550" algn="l"/>
                <a:tab pos="4171950" algn="l"/>
                <a:tab pos="5086350" algn="l"/>
                <a:tab pos="6000750" algn="l"/>
                <a:tab pos="6915150" algn="l"/>
                <a:tab pos="7829550" algn="l"/>
                <a:tab pos="8743950" algn="l"/>
                <a:tab pos="9658350" algn="l"/>
                <a:tab pos="10572750" algn="l"/>
                <a:tab pos="11487150" algn="l"/>
              </a:tabLst>
            </a:pPr>
            <a:endParaRPr lang="en-US" altLang="en-US" sz="1600"/>
          </a:p>
          <a:p>
            <a:pPr marL="1773238" indent="-1430338">
              <a:lnSpc>
                <a:spcPct val="80000"/>
              </a:lnSpc>
              <a:spcBef>
                <a:spcPts val="400"/>
              </a:spcBef>
              <a:buClrTx/>
              <a:buSzPct val="80000"/>
              <a:buFontTx/>
              <a:buNone/>
              <a:tabLst>
                <a:tab pos="2343150" algn="l"/>
                <a:tab pos="3257550" algn="l"/>
                <a:tab pos="4171950" algn="l"/>
                <a:tab pos="5086350" algn="l"/>
                <a:tab pos="6000750" algn="l"/>
                <a:tab pos="6915150" algn="l"/>
                <a:tab pos="7829550" algn="l"/>
                <a:tab pos="8743950" algn="l"/>
                <a:tab pos="9658350" algn="l"/>
                <a:tab pos="10572750" algn="l"/>
                <a:tab pos="11487150" algn="l"/>
              </a:tabLst>
            </a:pPr>
            <a:r>
              <a:rPr lang="en-US" altLang="en-US" sz="1600">
                <a:solidFill>
                  <a:srgbClr val="CCCCFF"/>
                </a:solidFill>
              </a:rPr>
              <a:t>INTERVIEWEE:  No sir.</a:t>
            </a:r>
          </a:p>
          <a:p>
            <a:pPr marL="1773238" indent="-1430338">
              <a:lnSpc>
                <a:spcPct val="80000"/>
              </a:lnSpc>
              <a:spcBef>
                <a:spcPts val="400"/>
              </a:spcBef>
              <a:buClrTx/>
              <a:buSzPct val="80000"/>
              <a:buFontTx/>
              <a:buNone/>
              <a:tabLst>
                <a:tab pos="2343150" algn="l"/>
                <a:tab pos="3257550" algn="l"/>
                <a:tab pos="4171950" algn="l"/>
                <a:tab pos="5086350" algn="l"/>
                <a:tab pos="6000750" algn="l"/>
                <a:tab pos="6915150" algn="l"/>
                <a:tab pos="7829550" algn="l"/>
                <a:tab pos="8743950" algn="l"/>
                <a:tab pos="9658350" algn="l"/>
                <a:tab pos="10572750" algn="l"/>
                <a:tab pos="11487150" algn="l"/>
              </a:tabLst>
            </a:pPr>
            <a:endParaRPr lang="en-US" altLang="en-US" sz="1600">
              <a:solidFill>
                <a:srgbClr val="CCCCFF"/>
              </a:solidFill>
            </a:endParaRPr>
          </a:p>
          <a:p>
            <a:pPr marL="1773238" indent="-1430338">
              <a:lnSpc>
                <a:spcPct val="80000"/>
              </a:lnSpc>
              <a:spcBef>
                <a:spcPts val="400"/>
              </a:spcBef>
              <a:buClrTx/>
              <a:buSzPct val="80000"/>
              <a:buFontTx/>
              <a:buNone/>
              <a:tabLst>
                <a:tab pos="2343150" algn="l"/>
                <a:tab pos="3257550" algn="l"/>
                <a:tab pos="4171950" algn="l"/>
                <a:tab pos="5086350" algn="l"/>
                <a:tab pos="6000750" algn="l"/>
                <a:tab pos="6915150" algn="l"/>
                <a:tab pos="7829550" algn="l"/>
                <a:tab pos="8743950" algn="l"/>
                <a:tab pos="9658350" algn="l"/>
                <a:tab pos="10572750" algn="l"/>
                <a:tab pos="11487150" algn="l"/>
              </a:tabLst>
            </a:pPr>
            <a:r>
              <a:rPr lang="en-US" altLang="en-US" sz="1600"/>
              <a:t>INTERVIEWER:  OK, why do you want to go and study in our country?</a:t>
            </a:r>
          </a:p>
          <a:p>
            <a:pPr marL="1773238" indent="-1430338">
              <a:lnSpc>
                <a:spcPct val="80000"/>
              </a:lnSpc>
              <a:spcBef>
                <a:spcPts val="400"/>
              </a:spcBef>
              <a:buClrTx/>
              <a:buSzPct val="80000"/>
              <a:buFontTx/>
              <a:buNone/>
              <a:tabLst>
                <a:tab pos="2343150" algn="l"/>
                <a:tab pos="3257550" algn="l"/>
                <a:tab pos="4171950" algn="l"/>
                <a:tab pos="5086350" algn="l"/>
                <a:tab pos="6000750" algn="l"/>
                <a:tab pos="6915150" algn="l"/>
                <a:tab pos="7829550" algn="l"/>
                <a:tab pos="8743950" algn="l"/>
                <a:tab pos="9658350" algn="l"/>
                <a:tab pos="10572750" algn="l"/>
                <a:tab pos="11487150" algn="l"/>
              </a:tabLst>
            </a:pPr>
            <a:endParaRPr lang="en-US" altLang="en-US" sz="1600"/>
          </a:p>
          <a:p>
            <a:pPr marL="1773238" indent="-1430338">
              <a:lnSpc>
                <a:spcPct val="80000"/>
              </a:lnSpc>
              <a:spcBef>
                <a:spcPts val="400"/>
              </a:spcBef>
              <a:buClrTx/>
              <a:buSzPct val="80000"/>
              <a:buFontTx/>
              <a:buNone/>
              <a:tabLst>
                <a:tab pos="2343150" algn="l"/>
                <a:tab pos="3257550" algn="l"/>
                <a:tab pos="4171950" algn="l"/>
                <a:tab pos="5086350" algn="l"/>
                <a:tab pos="6000750" algn="l"/>
                <a:tab pos="6915150" algn="l"/>
                <a:tab pos="7829550" algn="l"/>
                <a:tab pos="8743950" algn="l"/>
                <a:tab pos="9658350" algn="l"/>
                <a:tab pos="10572750" algn="l"/>
                <a:tab pos="11487150" algn="l"/>
              </a:tabLst>
            </a:pPr>
            <a:r>
              <a:rPr lang="en-US" altLang="en-US" sz="1600">
                <a:solidFill>
                  <a:srgbClr val="CCCCFF"/>
                </a:solidFill>
              </a:rPr>
              <a:t>INTERVIEWEE:  I would like to go there to further my study and because I have some friends who are studying there right now.</a:t>
            </a:r>
          </a:p>
          <a:p>
            <a:pPr marL="1773238" indent="-1430338">
              <a:lnSpc>
                <a:spcPct val="80000"/>
              </a:lnSpc>
              <a:spcBef>
                <a:spcPts val="400"/>
              </a:spcBef>
              <a:buClr>
                <a:srgbClr val="FFFFCC"/>
              </a:buClr>
              <a:buSzPct val="80000"/>
              <a:buFont typeface="Gill Sans MT" panose="020B0502020104020203" pitchFamily="34" charset="0"/>
              <a:buNone/>
              <a:tabLst>
                <a:tab pos="2343150" algn="l"/>
                <a:tab pos="3257550" algn="l"/>
                <a:tab pos="4171950" algn="l"/>
                <a:tab pos="5086350" algn="l"/>
                <a:tab pos="6000750" algn="l"/>
                <a:tab pos="6915150" algn="l"/>
                <a:tab pos="7829550" algn="l"/>
                <a:tab pos="8743950" algn="l"/>
                <a:tab pos="9658350" algn="l"/>
                <a:tab pos="10572750" algn="l"/>
                <a:tab pos="11487150" algn="l"/>
              </a:tabLst>
            </a:pPr>
            <a:endParaRPr lang="en-US" altLang="en-US" sz="1600">
              <a:solidFill>
                <a:srgbClr val="CCCCFF"/>
              </a:solidFill>
            </a:endParaRPr>
          </a:p>
          <a:p>
            <a:pPr marL="1773238" indent="-1430338">
              <a:lnSpc>
                <a:spcPct val="80000"/>
              </a:lnSpc>
              <a:spcBef>
                <a:spcPts val="400"/>
              </a:spcBef>
              <a:buClr>
                <a:srgbClr val="FFFFCC"/>
              </a:buClr>
              <a:buSzPct val="80000"/>
              <a:buFont typeface="Gill Sans MT" panose="020B0502020104020203" pitchFamily="34" charset="0"/>
              <a:buNone/>
              <a:tabLst>
                <a:tab pos="2343150" algn="l"/>
                <a:tab pos="3257550" algn="l"/>
                <a:tab pos="4171950" algn="l"/>
                <a:tab pos="5086350" algn="l"/>
                <a:tab pos="6000750" algn="l"/>
                <a:tab pos="6915150" algn="l"/>
                <a:tab pos="7829550" algn="l"/>
                <a:tab pos="8743950" algn="l"/>
                <a:tab pos="9658350" algn="l"/>
                <a:tab pos="10572750" algn="l"/>
                <a:tab pos="11487150" algn="l"/>
              </a:tabLst>
            </a:pPr>
            <a:endParaRPr lang="en-US" altLang="en-US" sz="1600"/>
          </a:p>
          <a:p>
            <a:pPr marL="1773238" indent="-1430338">
              <a:lnSpc>
                <a:spcPct val="80000"/>
              </a:lnSpc>
              <a:spcBef>
                <a:spcPts val="300"/>
              </a:spcBef>
              <a:buClrTx/>
              <a:buSzPct val="80000"/>
              <a:buFontTx/>
              <a:buNone/>
              <a:tabLst>
                <a:tab pos="2343150" algn="l"/>
                <a:tab pos="3257550" algn="l"/>
                <a:tab pos="4171950" algn="l"/>
                <a:tab pos="5086350" algn="l"/>
                <a:tab pos="6000750" algn="l"/>
                <a:tab pos="6915150" algn="l"/>
                <a:tab pos="7829550" algn="l"/>
                <a:tab pos="8743950" algn="l"/>
                <a:tab pos="9658350" algn="l"/>
                <a:tab pos="10572750" algn="l"/>
                <a:tab pos="11487150" algn="l"/>
              </a:tabLst>
            </a:pPr>
            <a:r>
              <a:rPr lang="en-US" altLang="en-US" sz="1200" b="1">
                <a:solidFill>
                  <a:srgbClr val="FFFFCC"/>
                </a:solidFill>
              </a:rPr>
              <a:t>SOURCE</a:t>
            </a:r>
            <a:r>
              <a:rPr lang="en-US" altLang="en-US" sz="1200">
                <a:solidFill>
                  <a:srgbClr val="FFFFCC"/>
                </a:solidFill>
              </a:rPr>
              <a:t>: Olaniran and Williams (1995): 230-231</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66FF8C6F-3F0D-4A3E-AE7D-EB6A40F56CF5}"/>
              </a:ext>
            </a:extLst>
          </p:cNvPr>
          <p:cNvSpPr>
            <a:spLocks noGrp="1"/>
          </p:cNvSpPr>
          <p:nvPr>
            <p:ph type="sldNum" idx="12"/>
          </p:nvPr>
        </p:nvSpPr>
        <p:spPr/>
        <p:txBody>
          <a:bodyPr/>
          <a:lstStyle/>
          <a:p>
            <a:fld id="{B04F646B-AECF-4A42-8089-44906AA444AF}" type="slidenum">
              <a:rPr lang="en-US" altLang="en-US"/>
              <a:pPr/>
              <a:t>33</a:t>
            </a:fld>
            <a:endParaRPr lang="en-US" altLang="en-US"/>
          </a:p>
        </p:txBody>
      </p:sp>
      <p:sp>
        <p:nvSpPr>
          <p:cNvPr id="36865" name="Rectangle 1">
            <a:extLst>
              <a:ext uri="{FF2B5EF4-FFF2-40B4-BE49-F238E27FC236}">
                <a16:creationId xmlns:a16="http://schemas.microsoft.com/office/drawing/2014/main" id="{C1C8D2A5-C341-4463-BFB7-48204CC656F6}"/>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CLASS (State)</a:t>
            </a:r>
          </a:p>
        </p:txBody>
      </p:sp>
      <p:sp>
        <p:nvSpPr>
          <p:cNvPr id="36866" name="Rectangle 2">
            <a:extLst>
              <a:ext uri="{FF2B5EF4-FFF2-40B4-BE49-F238E27FC236}">
                <a16:creationId xmlns:a16="http://schemas.microsoft.com/office/drawing/2014/main" id="{EF4886DF-6284-48D0-B0BD-C34C085F724D}"/>
              </a:ext>
            </a:extLst>
          </p:cNvPr>
          <p:cNvSpPr>
            <a:spLocks noGrp="1" noChangeArrowheads="1"/>
          </p:cNvSpPr>
          <p:nvPr>
            <p:ph type="body" idx="4294967295"/>
          </p:nvPr>
        </p:nvSpPr>
        <p:spPr>
          <a:xfrm>
            <a:off x="1371600" y="1219200"/>
            <a:ext cx="6248400" cy="5318125"/>
          </a:xfrm>
          <a:ln/>
        </p:spPr>
        <p:txBody>
          <a:bodyPr/>
          <a:lstStyle/>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Consular Lookout And Support System (CLASS), a watch list and “every visa applicant must be name checked prior to adjudication and issuance”</a:t>
            </a:r>
          </a:p>
          <a:p>
            <a:pPr marL="341313" indent="-341313">
              <a:lnSpc>
                <a:spcPct val="80000"/>
              </a:lnSpc>
              <a:spcBef>
                <a:spcPts val="4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A name check database consisting of 20 million records of “visa refusals, immigration violations, and terrorism concerns”</a:t>
            </a:r>
          </a:p>
          <a:p>
            <a:pPr marL="341313" indent="-341313">
              <a:lnSpc>
                <a:spcPct val="80000"/>
              </a:lnSpc>
              <a:spcBef>
                <a:spcPts val="4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Reviews name, DOB, and nationality in the database</a:t>
            </a:r>
          </a:p>
          <a:p>
            <a:pPr marL="341313" indent="-341313">
              <a:lnSpc>
                <a:spcPct val="80000"/>
              </a:lnSpc>
              <a:spcBef>
                <a:spcPts val="4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A fuzzy logic query returns either of two results:</a:t>
            </a:r>
          </a:p>
          <a:p>
            <a:pPr marL="741363" lvl="1" indent="-284163">
              <a:lnSpc>
                <a:spcPct val="80000"/>
              </a:lnSpc>
              <a:spcBef>
                <a:spcPts val="40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600"/>
              <a:t>Negative record (i.e., high likelihood of visa without further investigation)</a:t>
            </a:r>
          </a:p>
          <a:p>
            <a:pPr marL="741363" lvl="1" indent="-284163">
              <a:lnSpc>
                <a:spcPct val="80000"/>
              </a:lnSpc>
              <a:spcBef>
                <a:spcPts val="40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600"/>
              <a:t>Positive (i.e., a derogatory means potential ineligibility)</a:t>
            </a:r>
          </a:p>
          <a:p>
            <a:pPr marL="341313" indent="-341313">
              <a:lnSpc>
                <a:spcPct val="80000"/>
              </a:lnSpc>
              <a:spcBef>
                <a:spcPts val="4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600"/>
          </a:p>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A negative record means the visa can be printed</a:t>
            </a:r>
          </a:p>
          <a:p>
            <a:pPr marL="341313" indent="-341313">
              <a:lnSpc>
                <a:spcPct val="80000"/>
              </a:lnSpc>
              <a:spcBef>
                <a:spcPts val="4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However, a positive “hit” may invoke an Security Advisory Opinion (SAO)</a:t>
            </a:r>
          </a:p>
          <a:p>
            <a:pPr marL="341313" indent="-341313">
              <a:lnSpc>
                <a:spcPct val="80000"/>
              </a:lnSpc>
              <a:spcBef>
                <a:spcPts val="4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25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000" b="1">
                <a:solidFill>
                  <a:srgbClr val="FFFFCC"/>
                </a:solidFill>
              </a:rPr>
              <a:t>SOURCE</a:t>
            </a:r>
            <a:r>
              <a:rPr lang="en-US" altLang="en-US" sz="1000">
                <a:solidFill>
                  <a:srgbClr val="FFFFCC"/>
                </a:solidFill>
              </a:rPr>
              <a:t>:  9 FAM Appendix D and Tony Edson, Head of VISA Office State, 10 January 2005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DD39DAE2-288C-4940-9BD4-AEF777C0FCC8}"/>
              </a:ext>
            </a:extLst>
          </p:cNvPr>
          <p:cNvSpPr>
            <a:spLocks noGrp="1"/>
          </p:cNvSpPr>
          <p:nvPr>
            <p:ph type="sldNum" idx="12"/>
          </p:nvPr>
        </p:nvSpPr>
        <p:spPr/>
        <p:txBody>
          <a:bodyPr/>
          <a:lstStyle/>
          <a:p>
            <a:fld id="{F07E5845-9423-46E0-A585-F2C44CA3039C}" type="slidenum">
              <a:rPr lang="en-US" altLang="en-US"/>
              <a:pPr/>
              <a:t>34</a:t>
            </a:fld>
            <a:endParaRPr lang="en-US" altLang="en-US"/>
          </a:p>
        </p:txBody>
      </p:sp>
      <p:sp>
        <p:nvSpPr>
          <p:cNvPr id="37889" name="Rectangle 1">
            <a:extLst>
              <a:ext uri="{FF2B5EF4-FFF2-40B4-BE49-F238E27FC236}">
                <a16:creationId xmlns:a16="http://schemas.microsoft.com/office/drawing/2014/main" id="{F450DA6D-A9C0-447E-9470-93BC3391DA5A}"/>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CONSULAR CONSOLIDATED DATABASE</a:t>
            </a:r>
          </a:p>
        </p:txBody>
      </p:sp>
      <p:sp>
        <p:nvSpPr>
          <p:cNvPr id="37890" name="Rectangle 2">
            <a:extLst>
              <a:ext uri="{FF2B5EF4-FFF2-40B4-BE49-F238E27FC236}">
                <a16:creationId xmlns:a16="http://schemas.microsoft.com/office/drawing/2014/main" id="{0AD5B532-4FCE-47F0-9CCC-C636DD10261A}"/>
              </a:ext>
            </a:extLst>
          </p:cNvPr>
          <p:cNvSpPr>
            <a:spLocks noGrp="1" noChangeArrowheads="1"/>
          </p:cNvSpPr>
          <p:nvPr>
            <p:ph type="body" idx="4294967295"/>
          </p:nvPr>
        </p:nvSpPr>
        <p:spPr>
          <a:xfrm>
            <a:off x="1371600" y="1295400"/>
            <a:ext cx="6477000" cy="4724400"/>
          </a:xfrm>
          <a:ln/>
        </p:spPr>
        <p:txBody>
          <a:bodyPr/>
          <a:lstStyle/>
          <a:p>
            <a:pPr marL="341313" indent="-341313">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Consular Consolidated Database (CCD), a database of visa applications, non-immigrant visas, US passports, service to American citizens abroad:</a:t>
            </a:r>
          </a:p>
          <a:p>
            <a:pPr marL="341313" indent="-341313">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741363" lvl="1" indent="-284163">
              <a:spcBef>
                <a:spcPts val="4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Which interacts with uploaded SEVIS information (i.e., Forms I-20 or DS-2019):</a:t>
            </a:r>
          </a:p>
          <a:p>
            <a:pPr marL="741363" lvl="1" indent="-284163">
              <a:spcBef>
                <a:spcPts val="450"/>
              </a:spcBef>
              <a:buClr>
                <a:srgbClr val="FFFFCC"/>
              </a:buClr>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lvl="2">
              <a:spcBef>
                <a:spcPts val="40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600"/>
              <a:t>I-20, application form for F-1 visa, identifying the field of study, length of study, and reporting date</a:t>
            </a:r>
          </a:p>
          <a:p>
            <a:pPr lvl="2">
              <a:spcBef>
                <a:spcPts val="40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600"/>
              <a:t>DS-2019, application form for J-1 visa</a:t>
            </a:r>
          </a:p>
          <a:p>
            <a:pPr lvl="2">
              <a:spcBef>
                <a:spcPts val="40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600"/>
              <a:t>80 M records, 40M of which have biometric facial photos and can be run against face matching software</a:t>
            </a:r>
          </a:p>
          <a:p>
            <a:pPr marL="341313" indent="-341313">
              <a:spcBef>
                <a:spcPts val="4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6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F87AC4AF-78BC-46BE-93A6-A3467F74B8D3}"/>
              </a:ext>
            </a:extLst>
          </p:cNvPr>
          <p:cNvSpPr>
            <a:spLocks noGrp="1"/>
          </p:cNvSpPr>
          <p:nvPr>
            <p:ph type="sldNum" idx="12"/>
          </p:nvPr>
        </p:nvSpPr>
        <p:spPr/>
        <p:txBody>
          <a:bodyPr/>
          <a:lstStyle/>
          <a:p>
            <a:fld id="{D2DAFC41-B563-4A67-B1ED-684A88E879CB}" type="slidenum">
              <a:rPr lang="en-US" altLang="en-US"/>
              <a:pPr/>
              <a:t>35</a:t>
            </a:fld>
            <a:endParaRPr lang="en-US" altLang="en-US"/>
          </a:p>
        </p:txBody>
      </p:sp>
      <p:sp>
        <p:nvSpPr>
          <p:cNvPr id="38913" name="Rectangle 1">
            <a:extLst>
              <a:ext uri="{FF2B5EF4-FFF2-40B4-BE49-F238E27FC236}">
                <a16:creationId xmlns:a16="http://schemas.microsoft.com/office/drawing/2014/main" id="{D4A93986-0ABE-4FF7-B224-5A2991B5269C}"/>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SECURITY ADVISORY OPINION	</a:t>
            </a:r>
          </a:p>
        </p:txBody>
      </p:sp>
      <p:sp>
        <p:nvSpPr>
          <p:cNvPr id="38914" name="Rectangle 2">
            <a:extLst>
              <a:ext uri="{FF2B5EF4-FFF2-40B4-BE49-F238E27FC236}">
                <a16:creationId xmlns:a16="http://schemas.microsoft.com/office/drawing/2014/main" id="{2A134617-FD9B-4474-A259-000BE51F945C}"/>
              </a:ext>
            </a:extLst>
          </p:cNvPr>
          <p:cNvSpPr>
            <a:spLocks noGrp="1" noChangeArrowheads="1"/>
          </p:cNvSpPr>
          <p:nvPr>
            <p:ph type="body" idx="4294967295"/>
          </p:nvPr>
        </p:nvSpPr>
        <p:spPr>
          <a:xfrm>
            <a:off x="1371600" y="1295400"/>
            <a:ext cx="6248400" cy="4724400"/>
          </a:xfrm>
          <a:ln/>
        </p:spPr>
        <p:txBody>
          <a:bodyPr/>
          <a:lstStyle/>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Aka SAO; simply, a written opinion from Washington on student’s clearance</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Only 2.5% of all visas require SAO’s (Maura Harty, Assistant Secretary of State for Consular Affairs)</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Approval comes as a cable; for example, "</a:t>
            </a:r>
            <a:r>
              <a:rPr lang="en-US" altLang="en-US" b="1"/>
              <a:t>Donkey</a:t>
            </a:r>
            <a:r>
              <a:rPr lang="en-US" altLang="en-US"/>
              <a:t> Mantis 99 State 99999". </a:t>
            </a:r>
          </a:p>
          <a:p>
            <a:pPr marL="741363" lvl="1" indent="-284163">
              <a:buClr>
                <a:srgbClr val="FFFFCC"/>
              </a:buClr>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C0FDDDC8-B3C9-40AD-A8FF-D75954E2FA7C}"/>
              </a:ext>
            </a:extLst>
          </p:cNvPr>
          <p:cNvSpPr>
            <a:spLocks noGrp="1"/>
          </p:cNvSpPr>
          <p:nvPr>
            <p:ph type="sldNum" idx="12"/>
          </p:nvPr>
        </p:nvSpPr>
        <p:spPr/>
        <p:txBody>
          <a:bodyPr/>
          <a:lstStyle/>
          <a:p>
            <a:fld id="{372E75CC-B1BF-49E7-A883-096D441318BD}" type="slidenum">
              <a:rPr lang="en-US" altLang="en-US"/>
              <a:pPr/>
              <a:t>36</a:t>
            </a:fld>
            <a:endParaRPr lang="en-US" altLang="en-US"/>
          </a:p>
        </p:txBody>
      </p:sp>
      <p:sp>
        <p:nvSpPr>
          <p:cNvPr id="39937" name="Rectangle 1">
            <a:extLst>
              <a:ext uri="{FF2B5EF4-FFF2-40B4-BE49-F238E27FC236}">
                <a16:creationId xmlns:a16="http://schemas.microsoft.com/office/drawing/2014/main" id="{BAB66F21-AE9B-4A23-9A9B-F8906F73C1BF}"/>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SAO (State)</a:t>
            </a:r>
          </a:p>
        </p:txBody>
      </p:sp>
      <p:sp>
        <p:nvSpPr>
          <p:cNvPr id="39938" name="Rectangle 2">
            <a:extLst>
              <a:ext uri="{FF2B5EF4-FFF2-40B4-BE49-F238E27FC236}">
                <a16:creationId xmlns:a16="http://schemas.microsoft.com/office/drawing/2014/main" id="{EEEEC5C6-6733-4EDA-8492-ED41FCF561B6}"/>
              </a:ext>
            </a:extLst>
          </p:cNvPr>
          <p:cNvSpPr>
            <a:spLocks noGrp="1" noChangeArrowheads="1"/>
          </p:cNvSpPr>
          <p:nvPr>
            <p:ph type="body" idx="4294967295"/>
          </p:nvPr>
        </p:nvSpPr>
        <p:spPr>
          <a:xfrm>
            <a:off x="1371600" y="1295400"/>
            <a:ext cx="6477000" cy="4959350"/>
          </a:xfrm>
          <a:ln/>
        </p:spPr>
        <p:txBody>
          <a:bodyPr/>
          <a:lstStyle/>
          <a:p>
            <a:pPr marL="341313" indent="-341313">
              <a:lnSpc>
                <a:spcPct val="80000"/>
              </a:lnSpc>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Security Advisory Opinion may involve:</a:t>
            </a:r>
          </a:p>
          <a:p>
            <a:pPr marL="741363" lvl="1" indent="-284163">
              <a:lnSpc>
                <a:spcPct val="80000"/>
              </a:lnSpc>
              <a:spcBef>
                <a:spcPts val="600"/>
              </a:spcBef>
              <a:buClr>
                <a:srgbClr val="FFFFCC"/>
              </a:buClr>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400"/>
          </a:p>
          <a:p>
            <a:pPr marL="741363" lvl="1" indent="-284163">
              <a:lnSpc>
                <a:spcPct val="80000"/>
              </a:lnSpc>
              <a:spcBef>
                <a:spcPts val="40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600"/>
              <a:t>Central Intelligence Agency</a:t>
            </a:r>
          </a:p>
          <a:p>
            <a:pPr marL="741363" lvl="1" indent="-284163">
              <a:lnSpc>
                <a:spcPct val="80000"/>
              </a:lnSpc>
              <a:spcBef>
                <a:spcPts val="40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600"/>
              <a:t>Commerce Department</a:t>
            </a:r>
          </a:p>
          <a:p>
            <a:pPr marL="741363" lvl="1" indent="-284163">
              <a:lnSpc>
                <a:spcPct val="80000"/>
              </a:lnSpc>
              <a:spcBef>
                <a:spcPts val="40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600"/>
              <a:t>Department of Defense</a:t>
            </a:r>
          </a:p>
          <a:p>
            <a:pPr marL="741363" lvl="1" indent="-284163">
              <a:lnSpc>
                <a:spcPct val="80000"/>
              </a:lnSpc>
              <a:spcBef>
                <a:spcPts val="40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600"/>
              <a:t>Department of Homeland Security</a:t>
            </a:r>
          </a:p>
          <a:p>
            <a:pPr marL="741363" lvl="1" indent="-284163">
              <a:lnSpc>
                <a:spcPct val="80000"/>
              </a:lnSpc>
              <a:spcBef>
                <a:spcPts val="40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600"/>
              <a:t>Drug Enforcement Agency</a:t>
            </a:r>
          </a:p>
          <a:p>
            <a:pPr marL="741363" lvl="1" indent="-284163">
              <a:lnSpc>
                <a:spcPct val="80000"/>
              </a:lnSpc>
              <a:spcBef>
                <a:spcPts val="40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600"/>
              <a:t>Federal Bureau of Investigation’s Investigative Division (response database as well as its National Criminal Information Center (NCIC))</a:t>
            </a:r>
          </a:p>
          <a:p>
            <a:pPr marL="741363" lvl="1" indent="-284163">
              <a:lnSpc>
                <a:spcPct val="80000"/>
              </a:lnSpc>
              <a:spcBef>
                <a:spcPts val="40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600"/>
              <a:t>Interpol</a:t>
            </a:r>
          </a:p>
          <a:p>
            <a:pPr marL="741363" lvl="1" indent="-284163">
              <a:lnSpc>
                <a:spcPct val="80000"/>
              </a:lnSpc>
              <a:spcBef>
                <a:spcPts val="40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600"/>
              <a:t>State Department’s Bureau of Non-proliferation</a:t>
            </a:r>
          </a:p>
          <a:p>
            <a:pPr marL="741363" lvl="1" indent="-284163">
              <a:lnSpc>
                <a:spcPct val="80000"/>
              </a:lnSpc>
              <a:spcBef>
                <a:spcPts val="40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600"/>
              <a:t>Treasury’s Office of Foreign Asset Control and Secret Service</a:t>
            </a:r>
          </a:p>
          <a:p>
            <a:pPr marL="741363" lvl="1" indent="-284163">
              <a:lnSpc>
                <a:spcPct val="80000"/>
              </a:lnSpc>
              <a:spcBef>
                <a:spcPts val="40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600"/>
              <a:t>And any other agencies which report back to the State Department within 15 days, and which then prepares and forwards it to the post…</a:t>
            </a:r>
          </a:p>
          <a:p>
            <a:pPr marL="341313" indent="-341313">
              <a:lnSpc>
                <a:spcPct val="80000"/>
              </a:lnSpc>
              <a:spcBef>
                <a:spcPts val="4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600"/>
          </a:p>
          <a:p>
            <a:pPr marL="341313" indent="-341313">
              <a:lnSpc>
                <a:spcPct val="80000"/>
              </a:lnSpc>
              <a:spcBef>
                <a:spcPts val="4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600"/>
          </a:p>
          <a:p>
            <a:pPr marL="341313" indent="-341313">
              <a:lnSpc>
                <a:spcPct val="80000"/>
              </a:lnSpc>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200">
                <a:solidFill>
                  <a:srgbClr val="FFFFCC"/>
                </a:solidFill>
              </a:rPr>
              <a:t>SOURCE:  http://travel.state.gov/visa/testimony10.html; GAO 04-371 (February 2004)</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D09D194A-7E6B-4F35-BB1A-9CBFBB155B8D}"/>
              </a:ext>
            </a:extLst>
          </p:cNvPr>
          <p:cNvSpPr>
            <a:spLocks noGrp="1"/>
          </p:cNvSpPr>
          <p:nvPr>
            <p:ph type="sldNum" idx="12"/>
          </p:nvPr>
        </p:nvSpPr>
        <p:spPr/>
        <p:txBody>
          <a:bodyPr/>
          <a:lstStyle/>
          <a:p>
            <a:fld id="{1E2BFE08-93FC-485E-BA09-47A60A3FEF7E}" type="slidenum">
              <a:rPr lang="en-US" altLang="en-US"/>
              <a:pPr/>
              <a:t>37</a:t>
            </a:fld>
            <a:endParaRPr lang="en-US" altLang="en-US"/>
          </a:p>
        </p:txBody>
      </p:sp>
      <p:sp>
        <p:nvSpPr>
          <p:cNvPr id="40961" name="Rectangle 1">
            <a:extLst>
              <a:ext uri="{FF2B5EF4-FFF2-40B4-BE49-F238E27FC236}">
                <a16:creationId xmlns:a16="http://schemas.microsoft.com/office/drawing/2014/main" id="{B76E0342-1A63-4B32-BA7B-2FA0167CBD42}"/>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  (State)</a:t>
            </a:r>
          </a:p>
        </p:txBody>
      </p:sp>
      <p:sp>
        <p:nvSpPr>
          <p:cNvPr id="40962" name="Rectangle 2">
            <a:extLst>
              <a:ext uri="{FF2B5EF4-FFF2-40B4-BE49-F238E27FC236}">
                <a16:creationId xmlns:a16="http://schemas.microsoft.com/office/drawing/2014/main" id="{5631B856-DCF8-4BFB-9FC9-344E51EED141}"/>
              </a:ext>
            </a:extLst>
          </p:cNvPr>
          <p:cNvSpPr>
            <a:spLocks noGrp="1" noChangeArrowheads="1"/>
          </p:cNvSpPr>
          <p:nvPr>
            <p:ph type="body" idx="4294967295"/>
          </p:nvPr>
        </p:nvSpPr>
        <p:spPr>
          <a:xfrm>
            <a:off x="1371600" y="1295400"/>
            <a:ext cx="6477000" cy="4830763"/>
          </a:xfrm>
          <a:ln/>
        </p:spPr>
        <p:txBody>
          <a:bodyPr/>
          <a:lstStyle/>
          <a:p>
            <a:pPr marL="341313" indent="-341313">
              <a:lnSpc>
                <a:spcPct val="80000"/>
              </a:lnSpc>
              <a:spcBef>
                <a:spcPts val="3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a:t>Now classified “official use only;” aka “critical fields list” covers 200 scientific and technical fields</a:t>
            </a:r>
          </a:p>
          <a:p>
            <a:pPr marL="341313" indent="-341313">
              <a:lnSpc>
                <a:spcPct val="80000"/>
              </a:lnSpc>
              <a:spcBef>
                <a:spcPts val="3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400"/>
          </a:p>
          <a:p>
            <a:pPr marL="341313" indent="-341313">
              <a:lnSpc>
                <a:spcPct val="80000"/>
              </a:lnSpc>
              <a:spcBef>
                <a:spcPts val="3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a:t>In August 2002, TAL’s last public iteration included 16 areas: advanced ceramics, advanced computer/microelectronic technology; aircraft and missile propulsion and vehicular systems; chemical and biotechnology engineering; conventional munitions; high-performance metals and alloys; information security; laser and directed energy systems; marine technology; materials technology; navigation and guidance control; nuclear technology; remote imaging and reconnaissance; robotics; and sensors.</a:t>
            </a:r>
          </a:p>
          <a:p>
            <a:pPr marL="341313" indent="-341313">
              <a:lnSpc>
                <a:spcPct val="80000"/>
              </a:lnSpc>
              <a:spcBef>
                <a:spcPts val="3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400"/>
          </a:p>
          <a:p>
            <a:pPr marL="341313" indent="-341313">
              <a:lnSpc>
                <a:spcPct val="80000"/>
              </a:lnSpc>
              <a:spcBef>
                <a:spcPts val="3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a:t>As recently as November 2000, the list included: “conventional munitions, nuclear technology, rocket systems and unmanned vehicles, navigation, avionics and flight control; chemical, biotechnical and biomedical engineering; remote sensing; advanced computer and microelectronic technology; materials technology; information security; laser and directed energy systems; sensors and sensor technology; marine technology; robotics; and urban planning.”</a:t>
            </a:r>
          </a:p>
          <a:p>
            <a:pPr marL="341313" indent="-341313">
              <a:lnSpc>
                <a:spcPct val="80000"/>
              </a:lnSpc>
              <a:spcBef>
                <a:spcPts val="3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400"/>
          </a:p>
          <a:p>
            <a:pPr marL="341313" indent="-341313">
              <a:lnSpc>
                <a:spcPct val="80000"/>
              </a:lnSpc>
              <a:spcBef>
                <a:spcPts val="3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200"/>
          </a:p>
          <a:p>
            <a:pPr marL="341313" indent="-341313">
              <a:lnSpc>
                <a:spcPct val="80000"/>
              </a:lnSpc>
              <a:spcBef>
                <a:spcPts val="3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200"/>
          </a:p>
          <a:p>
            <a:pPr marL="341313" indent="-341313">
              <a:lnSpc>
                <a:spcPct val="80000"/>
              </a:lnSpc>
              <a:spcBef>
                <a:spcPts val="3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200"/>
          </a:p>
          <a:p>
            <a:pPr marL="341313" indent="-341313">
              <a:lnSpc>
                <a:spcPct val="80000"/>
              </a:lnSpc>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200">
                <a:solidFill>
                  <a:srgbClr val="FFFFCC"/>
                </a:solidFill>
              </a:rPr>
              <a:t>SOURCE:  9 FAM 40.31, Appendix 1; August 2002 </a:t>
            </a:r>
            <a:r>
              <a:rPr lang="en-US" altLang="en-US" sz="1200" u="sng">
                <a:solidFill>
                  <a:srgbClr val="FFFFCC"/>
                </a:solidFill>
              </a:rPr>
              <a:t>http://foia.state.gov/masterdocs/09fam/0940031X1.pdf</a:t>
            </a:r>
          </a:p>
          <a:p>
            <a:pPr marL="341313" indent="-341313">
              <a:lnSpc>
                <a:spcPct val="80000"/>
              </a:lnSpc>
              <a:spcBef>
                <a:spcPts val="3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200" u="sng">
              <a:solidFill>
                <a:srgbClr val="FFFFCC"/>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D05B978-6038-472D-A4A6-64B8F886814B}"/>
              </a:ext>
            </a:extLst>
          </p:cNvPr>
          <p:cNvSpPr>
            <a:spLocks noGrp="1"/>
          </p:cNvSpPr>
          <p:nvPr>
            <p:ph type="sldNum" idx="12"/>
          </p:nvPr>
        </p:nvSpPr>
        <p:spPr/>
        <p:txBody>
          <a:bodyPr/>
          <a:lstStyle/>
          <a:p>
            <a:fld id="{71988B0A-34E8-43BB-A71B-7E657392E6F0}" type="slidenum">
              <a:rPr lang="en-US" altLang="en-US"/>
              <a:pPr/>
              <a:t>38</a:t>
            </a:fld>
            <a:endParaRPr lang="en-US" altLang="en-US"/>
          </a:p>
        </p:txBody>
      </p:sp>
      <p:sp>
        <p:nvSpPr>
          <p:cNvPr id="41985" name="Rectangle 1">
            <a:extLst>
              <a:ext uri="{FF2B5EF4-FFF2-40B4-BE49-F238E27FC236}">
                <a16:creationId xmlns:a16="http://schemas.microsoft.com/office/drawing/2014/main" id="{A0E4F90C-C1A7-4560-B5E4-547BC8742494}"/>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VISAS MANTIS (codeword1)</a:t>
            </a:r>
          </a:p>
        </p:txBody>
      </p:sp>
      <p:sp>
        <p:nvSpPr>
          <p:cNvPr id="41986" name="Rectangle 2">
            <a:extLst>
              <a:ext uri="{FF2B5EF4-FFF2-40B4-BE49-F238E27FC236}">
                <a16:creationId xmlns:a16="http://schemas.microsoft.com/office/drawing/2014/main" id="{0B4C2B81-F758-4FC0-9D6B-CF915458C04E}"/>
              </a:ext>
            </a:extLst>
          </p:cNvPr>
          <p:cNvSpPr>
            <a:spLocks noGrp="1" noChangeArrowheads="1"/>
          </p:cNvSpPr>
          <p:nvPr>
            <p:ph type="body" idx="4294967295"/>
          </p:nvPr>
        </p:nvSpPr>
        <p:spPr>
          <a:xfrm>
            <a:off x="1371600" y="1295400"/>
            <a:ext cx="6477000" cy="4724400"/>
          </a:xfrm>
          <a:ln/>
        </p:spPr>
        <p:txBody>
          <a:bodyPr/>
          <a:lstStyle/>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Dating from the cold war, involves illegal technology transfer</a:t>
            </a:r>
          </a:p>
          <a:p>
            <a:pPr marL="341313" indent="-341313">
              <a:lnSpc>
                <a:spcPct val="80000"/>
              </a:lnSpc>
              <a:spcBef>
                <a:spcPts val="4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Cablegrams are urgent telegrams</a:t>
            </a:r>
          </a:p>
          <a:p>
            <a:pPr marL="341313" indent="-341313">
              <a:lnSpc>
                <a:spcPct val="80000"/>
              </a:lnSpc>
              <a:spcBef>
                <a:spcPts val="4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According to 9 FAM 300, App. E</a:t>
            </a:r>
          </a:p>
          <a:p>
            <a:pPr marL="741363" lvl="1" indent="-284163">
              <a:lnSpc>
                <a:spcPct val="80000"/>
              </a:lnSpc>
              <a:spcBef>
                <a:spcPts val="3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a:t>Mantis criteria, illegal transfer of sensitive technology</a:t>
            </a:r>
          </a:p>
          <a:p>
            <a:pPr marL="741363" lvl="1" indent="-284163">
              <a:lnSpc>
                <a:spcPct val="80000"/>
              </a:lnSpc>
              <a:spcBef>
                <a:spcPts val="350"/>
              </a:spcBef>
              <a:buClr>
                <a:srgbClr val="FFFFCC"/>
              </a:buClr>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400"/>
          </a:p>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Codeword1 according to 9 FAM 300, App. E</a:t>
            </a:r>
          </a:p>
          <a:p>
            <a:pPr marL="741363" lvl="1" indent="-284163">
              <a:lnSpc>
                <a:spcPct val="80000"/>
              </a:lnSpc>
              <a:spcBef>
                <a:spcPts val="3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a:t>Bear, foreign government officials</a:t>
            </a:r>
          </a:p>
          <a:p>
            <a:pPr marL="741363" lvl="1" indent="-284163">
              <a:lnSpc>
                <a:spcPct val="80000"/>
              </a:lnSpc>
              <a:spcBef>
                <a:spcPts val="3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a:t>Condor, special target demographic: “male national between the ages of 16 and 45 from a classified list of countries” (Section 306)</a:t>
            </a:r>
          </a:p>
          <a:p>
            <a:pPr marL="741363" lvl="1" indent="-284163">
              <a:lnSpc>
                <a:spcPct val="80000"/>
              </a:lnSpc>
              <a:spcBef>
                <a:spcPts val="3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a:t>Donkey, derogatory watch list information (CLASS hit)</a:t>
            </a:r>
          </a:p>
          <a:p>
            <a:pPr marL="741363" lvl="1" indent="-284163">
              <a:lnSpc>
                <a:spcPct val="80000"/>
              </a:lnSpc>
              <a:spcBef>
                <a:spcPts val="350"/>
              </a:spcBef>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a:t>Eagle, name check for certain nationalities (such as People’s Republic of China nationals applying in China or Russian nationals applying in Russia)</a:t>
            </a:r>
          </a:p>
          <a:p>
            <a:pPr marL="741363" lvl="1" indent="-284163">
              <a:lnSpc>
                <a:spcPct val="80000"/>
              </a:lnSpc>
              <a:spcBef>
                <a:spcPts val="350"/>
              </a:spcBef>
              <a:buClr>
                <a:srgbClr val="FFFFCC"/>
              </a:buClr>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400"/>
          </a:p>
          <a:p>
            <a:pPr marL="741363" lvl="1" indent="-284163">
              <a:lnSpc>
                <a:spcPct val="80000"/>
              </a:lnSpc>
              <a:spcBef>
                <a:spcPts val="350"/>
              </a:spcBef>
              <a:buClrTx/>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400"/>
          </a:p>
          <a:p>
            <a:pPr marL="741363" lvl="1" indent="-284163">
              <a:lnSpc>
                <a:spcPct val="80000"/>
              </a:lnSpc>
              <a:spcBef>
                <a:spcPts val="350"/>
              </a:spcBef>
              <a:buClrTx/>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400"/>
          </a:p>
          <a:p>
            <a:pPr marL="341313" indent="-341313">
              <a:lnSpc>
                <a:spcPct val="80000"/>
              </a:lnSpc>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200">
                <a:solidFill>
                  <a:srgbClr val="FFFFCC"/>
                </a:solidFill>
              </a:rPr>
              <a:t>SOURCE: State OIG, Memo Report ISP-I-03-26; Tony Edson, 10 December 2004</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88801DAF-7007-4417-943C-618F25A50CCE}"/>
              </a:ext>
            </a:extLst>
          </p:cNvPr>
          <p:cNvSpPr>
            <a:spLocks noGrp="1"/>
          </p:cNvSpPr>
          <p:nvPr>
            <p:ph type="sldNum" idx="12"/>
          </p:nvPr>
        </p:nvSpPr>
        <p:spPr/>
        <p:txBody>
          <a:bodyPr/>
          <a:lstStyle/>
          <a:p>
            <a:fld id="{5894D3C5-556D-463F-93F0-FB7F4BF99D0D}" type="slidenum">
              <a:rPr lang="en-US" altLang="en-US"/>
              <a:pPr/>
              <a:t>39</a:t>
            </a:fld>
            <a:endParaRPr lang="en-US" altLang="en-US"/>
          </a:p>
        </p:txBody>
      </p:sp>
      <p:sp>
        <p:nvSpPr>
          <p:cNvPr id="43009" name="Rectangle 1">
            <a:extLst>
              <a:ext uri="{FF2B5EF4-FFF2-40B4-BE49-F238E27FC236}">
                <a16:creationId xmlns:a16="http://schemas.microsoft.com/office/drawing/2014/main" id="{5BCEC52B-580F-4E3D-A018-428E8CBF66AB}"/>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VISAS MANTIS (State)</a:t>
            </a:r>
          </a:p>
        </p:txBody>
      </p:sp>
      <p:sp>
        <p:nvSpPr>
          <p:cNvPr id="43010" name="Rectangle 2">
            <a:extLst>
              <a:ext uri="{FF2B5EF4-FFF2-40B4-BE49-F238E27FC236}">
                <a16:creationId xmlns:a16="http://schemas.microsoft.com/office/drawing/2014/main" id="{986B5EE4-549F-434B-8185-B6893845BB29}"/>
              </a:ext>
            </a:extLst>
          </p:cNvPr>
          <p:cNvSpPr>
            <a:spLocks noGrp="1" noChangeArrowheads="1"/>
          </p:cNvSpPr>
          <p:nvPr>
            <p:ph type="body" idx="4294967295"/>
          </p:nvPr>
        </p:nvSpPr>
        <p:spPr>
          <a:xfrm>
            <a:off x="1371600" y="1447800"/>
            <a:ext cx="6477000" cy="4786313"/>
          </a:xfrm>
          <a:ln/>
        </p:spPr>
        <p:txBody>
          <a:bodyPr/>
          <a:lstStyle/>
          <a:p>
            <a:pPr marL="341313" indent="-341313">
              <a:lnSpc>
                <a:spcPct val="80000"/>
              </a:lnSpc>
              <a:spcBef>
                <a:spcPts val="3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a:t>Started in January 1998 in its current form</a:t>
            </a:r>
          </a:p>
          <a:p>
            <a:pPr marL="341313" indent="-341313">
              <a:lnSpc>
                <a:spcPct val="80000"/>
              </a:lnSpc>
              <a:spcBef>
                <a:spcPts val="3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400"/>
          </a:p>
          <a:p>
            <a:pPr marL="341313" indent="-341313">
              <a:lnSpc>
                <a:spcPct val="80000"/>
              </a:lnSpc>
              <a:spcBef>
                <a:spcPts val="3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a:t>See Maura Harty, Assistant Secretary of State’s Op Ed Piece in </a:t>
            </a:r>
            <a:r>
              <a:rPr lang="en-US" altLang="en-US" sz="1400" u="sng"/>
              <a:t>Chronicle of Higher Education</a:t>
            </a:r>
            <a:r>
              <a:rPr lang="en-US" altLang="en-US" sz="1400"/>
              <a:t>, 8 October 2004</a:t>
            </a:r>
          </a:p>
          <a:p>
            <a:pPr marL="341313" indent="-341313">
              <a:lnSpc>
                <a:spcPct val="80000"/>
              </a:lnSpc>
              <a:spcBef>
                <a:spcPts val="3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400"/>
          </a:p>
          <a:p>
            <a:pPr marL="341313" indent="-341313">
              <a:lnSpc>
                <a:spcPct val="80000"/>
              </a:lnSpc>
              <a:spcBef>
                <a:spcPts val="3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a:t>Concern is Illegal transfer of sensitive technology</a:t>
            </a:r>
          </a:p>
          <a:p>
            <a:pPr marL="341313" indent="-341313">
              <a:lnSpc>
                <a:spcPct val="80000"/>
              </a:lnSpc>
              <a:spcBef>
                <a:spcPts val="3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400"/>
          </a:p>
          <a:p>
            <a:pPr marL="341313" indent="-341313">
              <a:lnSpc>
                <a:spcPct val="80000"/>
              </a:lnSpc>
              <a:spcBef>
                <a:spcPts val="3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a:t>Five full-time from BCA, State employees help ensure the process moves smoothly, with more in other agencies which actually do the clearance</a:t>
            </a:r>
          </a:p>
          <a:p>
            <a:pPr marL="341313" indent="-341313">
              <a:lnSpc>
                <a:spcPct val="80000"/>
              </a:lnSpc>
              <a:spcBef>
                <a:spcPts val="3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400"/>
          </a:p>
          <a:p>
            <a:pPr marL="341313" indent="-341313">
              <a:lnSpc>
                <a:spcPct val="80000"/>
              </a:lnSpc>
              <a:spcBef>
                <a:spcPts val="3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a:t>Backlogs of 2K cases in the summer of 2002; peaks in late December 2003 (see next slide)</a:t>
            </a:r>
          </a:p>
          <a:p>
            <a:pPr marL="341313" indent="-341313">
              <a:lnSpc>
                <a:spcPct val="80000"/>
              </a:lnSpc>
              <a:spcBef>
                <a:spcPts val="3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400"/>
          </a:p>
          <a:p>
            <a:pPr marL="341313" indent="-341313">
              <a:lnSpc>
                <a:spcPct val="80000"/>
              </a:lnSpc>
              <a:spcBef>
                <a:spcPts val="3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a:t>Wait times are now posted for individual consulates</a:t>
            </a:r>
          </a:p>
          <a:p>
            <a:pPr marL="341313" indent="-341313">
              <a:lnSpc>
                <a:spcPct val="80000"/>
              </a:lnSpc>
              <a:spcBef>
                <a:spcPts val="3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400"/>
          </a:p>
          <a:p>
            <a:pPr marL="341313" indent="-341313">
              <a:lnSpc>
                <a:spcPct val="80000"/>
              </a:lnSpc>
              <a:spcBef>
                <a:spcPts val="3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a:t>China is the largest source of MANTIS cases</a:t>
            </a:r>
          </a:p>
          <a:p>
            <a:pPr marL="341313" indent="-341313">
              <a:lnSpc>
                <a:spcPct val="80000"/>
              </a:lnSpc>
              <a:spcBef>
                <a:spcPts val="3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400"/>
          </a:p>
          <a:p>
            <a:pPr marL="341313" indent="-341313">
              <a:lnSpc>
                <a:spcPct val="80000"/>
              </a:lnSpc>
              <a:spcBef>
                <a:spcPts val="3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400"/>
              <a:t>Expedited clearing is possible</a:t>
            </a:r>
          </a:p>
          <a:p>
            <a:pPr marL="341313" indent="-341313">
              <a:lnSpc>
                <a:spcPct val="80000"/>
              </a:lnSpc>
              <a:spcBef>
                <a:spcPts val="3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400"/>
          </a:p>
          <a:p>
            <a:pPr marL="341313" indent="-341313">
              <a:lnSpc>
                <a:spcPct val="80000"/>
              </a:lnSpc>
              <a:spcBef>
                <a:spcPts val="3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400"/>
          </a:p>
          <a:p>
            <a:pPr marL="341313" indent="-341313">
              <a:lnSpc>
                <a:spcPct val="80000"/>
              </a:lnSpc>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200" b="1">
                <a:solidFill>
                  <a:srgbClr val="FFFFCC"/>
                </a:solidFill>
              </a:rPr>
              <a:t>SOURCE</a:t>
            </a:r>
            <a:r>
              <a:rPr lang="en-US" altLang="en-US" sz="1200">
                <a:solidFill>
                  <a:srgbClr val="FFFFCC"/>
                </a:solidFill>
              </a:rPr>
              <a:t>: </a:t>
            </a:r>
            <a:r>
              <a:rPr lang="en-US" altLang="en-US" sz="1200" u="sng">
                <a:solidFill>
                  <a:srgbClr val="FFFFCC"/>
                </a:solidFill>
              </a:rPr>
              <a:t>http://usinfo.state.gov/gi/Archive/2004/Feb/27-585249.html</a:t>
            </a:r>
            <a:r>
              <a:rPr lang="en-US" altLang="en-US" sz="1200">
                <a:solidFill>
                  <a:srgbClr val="FFFFCC"/>
                </a:solidFill>
              </a:rPr>
              <a:t>; </a:t>
            </a:r>
            <a:r>
              <a:rPr lang="en-US" altLang="en-US" sz="1200" u="sng">
                <a:solidFill>
                  <a:srgbClr val="FFFFCC"/>
                </a:solidFill>
              </a:rPr>
              <a:t>http://travel.state.gov/visa/testimony10.html</a:t>
            </a:r>
          </a:p>
          <a:p>
            <a:pPr marL="341313" indent="-341313">
              <a:lnSpc>
                <a:spcPct val="80000"/>
              </a:lnSpc>
              <a:spcBef>
                <a:spcPts val="3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200" u="sng">
              <a:solidFill>
                <a:srgbClr val="FFFFCC"/>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B2B28439-5FE4-4F5C-99D9-487314BA6D1E}"/>
              </a:ext>
            </a:extLst>
          </p:cNvPr>
          <p:cNvSpPr>
            <a:spLocks noGrp="1"/>
          </p:cNvSpPr>
          <p:nvPr>
            <p:ph type="sldNum" idx="12"/>
          </p:nvPr>
        </p:nvSpPr>
        <p:spPr/>
        <p:txBody>
          <a:bodyPr/>
          <a:lstStyle/>
          <a:p>
            <a:fld id="{181E6FE1-138D-46E9-82CC-DEEADDDF0B9A}" type="slidenum">
              <a:rPr lang="en-US" altLang="en-US"/>
              <a:pPr/>
              <a:t>40</a:t>
            </a:fld>
            <a:endParaRPr lang="en-US" altLang="en-US"/>
          </a:p>
        </p:txBody>
      </p:sp>
      <p:sp>
        <p:nvSpPr>
          <p:cNvPr id="44033" name="Rectangle 1">
            <a:extLst>
              <a:ext uri="{FF2B5EF4-FFF2-40B4-BE49-F238E27FC236}">
                <a16:creationId xmlns:a16="http://schemas.microsoft.com/office/drawing/2014/main" id="{E0D6713B-E577-4492-90A2-9F3AD7F08AED}"/>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MANTIS SAO BACKLOGS DECLINE</a:t>
            </a:r>
          </a:p>
        </p:txBody>
      </p:sp>
      <p:sp>
        <p:nvSpPr>
          <p:cNvPr id="44034" name="Rectangle 2">
            <a:extLst>
              <a:ext uri="{FF2B5EF4-FFF2-40B4-BE49-F238E27FC236}">
                <a16:creationId xmlns:a16="http://schemas.microsoft.com/office/drawing/2014/main" id="{53F4A604-2640-4A81-BC90-08A2E3332CAF}"/>
              </a:ext>
            </a:extLst>
          </p:cNvPr>
          <p:cNvSpPr>
            <a:spLocks noChangeArrowheads="1"/>
          </p:cNvSpPr>
          <p:nvPr/>
        </p:nvSpPr>
        <p:spPr bwMode="auto">
          <a:xfrm>
            <a:off x="0" y="0"/>
            <a:ext cx="9144000" cy="1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aphicFrame>
        <p:nvGraphicFramePr>
          <p:cNvPr id="44035" name="Object 3">
            <a:extLst>
              <a:ext uri="{FF2B5EF4-FFF2-40B4-BE49-F238E27FC236}">
                <a16:creationId xmlns:a16="http://schemas.microsoft.com/office/drawing/2014/main" id="{94979DBE-D177-4B6C-A81C-3CEE3FA3DDD9}"/>
              </a:ext>
            </a:extLst>
          </p:cNvPr>
          <p:cNvGraphicFramePr>
            <a:graphicFrameLocks noChangeAspect="1"/>
          </p:cNvGraphicFramePr>
          <p:nvPr/>
        </p:nvGraphicFramePr>
        <p:xfrm>
          <a:off x="1143000" y="1905000"/>
          <a:ext cx="7154863" cy="4392613"/>
        </p:xfrm>
        <a:graphic>
          <a:graphicData uri="http://schemas.openxmlformats.org/presentationml/2006/ole">
            <mc:AlternateContent xmlns:mc="http://schemas.openxmlformats.org/markup-compatibility/2006">
              <mc:Choice xmlns:v="urn:schemas-microsoft-com:vml" Requires="v">
                <p:oleObj spid="_x0000_s44038" r:id="rId4" imgW="7153200" imgH="4390920" progId="">
                  <p:embed/>
                </p:oleObj>
              </mc:Choice>
              <mc:Fallback>
                <p:oleObj r:id="rId4" imgW="7153200" imgH="4390920"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1905000"/>
                        <a:ext cx="7154863" cy="4392613"/>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6" name="Text Box 4">
            <a:extLst>
              <a:ext uri="{FF2B5EF4-FFF2-40B4-BE49-F238E27FC236}">
                <a16:creationId xmlns:a16="http://schemas.microsoft.com/office/drawing/2014/main" id="{0A9DFFEB-D83E-443F-A140-31E978278C11}"/>
              </a:ext>
            </a:extLst>
          </p:cNvPr>
          <p:cNvSpPr txBox="1">
            <a:spLocks noChangeArrowheads="1"/>
          </p:cNvSpPr>
          <p:nvPr/>
        </p:nvSpPr>
        <p:spPr bwMode="auto">
          <a:xfrm>
            <a:off x="2209800" y="1295400"/>
            <a:ext cx="4724400"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5pPr>
            <a:lvl6pPr marL="25146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6pPr>
            <a:lvl7pPr marL="29718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7pPr>
            <a:lvl8pPr marL="34290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8pPr>
            <a:lvl9pPr marL="3886200" indent="-228600" defTabSz="457200"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Arial" panose="020B0604020202020204" pitchFamily="34" charset="0"/>
              </a:defRPr>
            </a:lvl9pPr>
          </a:lstStyle>
          <a:p>
            <a:pPr algn="ctr">
              <a:spcBef>
                <a:spcPts val="1000"/>
              </a:spcBef>
              <a:buClrTx/>
              <a:buFontTx/>
              <a:buNone/>
            </a:pPr>
            <a:r>
              <a:rPr lang="en-US" altLang="en-US" sz="1600" b="1">
                <a:solidFill>
                  <a:srgbClr val="CCCCFF"/>
                </a:solidFill>
                <a:latin typeface="Gill Sans MT" panose="020B0502020104020203" pitchFamily="34" charset="0"/>
              </a:rPr>
              <a:t>Average Time to Clear Mantis SAOs by Month as of 1/3/2005 VISTA Data</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9FCC2D12-A363-448D-9767-B14FC187C1F3}"/>
              </a:ext>
            </a:extLst>
          </p:cNvPr>
          <p:cNvSpPr>
            <a:spLocks noGrp="1"/>
          </p:cNvSpPr>
          <p:nvPr>
            <p:ph type="sldNum" idx="12"/>
          </p:nvPr>
        </p:nvSpPr>
        <p:spPr/>
        <p:txBody>
          <a:bodyPr/>
          <a:lstStyle/>
          <a:p>
            <a:fld id="{ED41B526-ADEB-40A0-9E1E-40A74E576C8A}" type="slidenum">
              <a:rPr lang="en-US" altLang="en-US"/>
              <a:pPr/>
              <a:t>41</a:t>
            </a:fld>
            <a:endParaRPr lang="en-US" altLang="en-US"/>
          </a:p>
        </p:txBody>
      </p:sp>
      <p:sp>
        <p:nvSpPr>
          <p:cNvPr id="45057" name="Rectangle 1">
            <a:extLst>
              <a:ext uri="{FF2B5EF4-FFF2-40B4-BE49-F238E27FC236}">
                <a16:creationId xmlns:a16="http://schemas.microsoft.com/office/drawing/2014/main" id="{A186A59D-A9F1-4835-898A-6559EF38B7DC}"/>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IMMIGRATION AND NATIONALITY ACT</a:t>
            </a:r>
          </a:p>
        </p:txBody>
      </p:sp>
      <p:sp>
        <p:nvSpPr>
          <p:cNvPr id="45058" name="Rectangle 2">
            <a:extLst>
              <a:ext uri="{FF2B5EF4-FFF2-40B4-BE49-F238E27FC236}">
                <a16:creationId xmlns:a16="http://schemas.microsoft.com/office/drawing/2014/main" id="{64CE91FE-33A0-4F7F-A8A9-4EADF465ACAB}"/>
              </a:ext>
            </a:extLst>
          </p:cNvPr>
          <p:cNvSpPr>
            <a:spLocks noGrp="1" noChangeArrowheads="1"/>
          </p:cNvSpPr>
          <p:nvPr>
            <p:ph type="body" idx="4294967295"/>
          </p:nvPr>
        </p:nvSpPr>
        <p:spPr>
          <a:xfrm>
            <a:off x="1371600" y="1295400"/>
            <a:ext cx="5867400" cy="4724400"/>
          </a:xfrm>
          <a:ln/>
        </p:spPr>
        <p:txBody>
          <a:bodyPr/>
          <a:lstStyle/>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P.L. 82-414; 8 USC 1101 et seq.</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This 1952 Act has been amended numerous times including:</a:t>
            </a:r>
          </a:p>
          <a:p>
            <a:pPr marL="741363" lvl="1" indent="-284163">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Illegal Immigration Reform and Immigrant Responsibility Act of 1996</a:t>
            </a:r>
          </a:p>
          <a:p>
            <a:pPr marL="741363" lvl="1" indent="-284163">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The USA PATRIOT Act of 2001 (FBI access)</a:t>
            </a:r>
          </a:p>
          <a:p>
            <a:pPr marL="741363" lvl="1" indent="-284163">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Enhanced Border Security and Visa Reform Act of 2002; and</a:t>
            </a:r>
          </a:p>
          <a:p>
            <a:pPr marL="741363" lvl="1" indent="-284163">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Homeland Security Act of 2002.</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200">
                <a:solidFill>
                  <a:srgbClr val="FFFFCC"/>
                </a:solidFill>
              </a:rPr>
              <a:t>SOURCE: </a:t>
            </a:r>
            <a:r>
              <a:rPr lang="en-US" altLang="en-US" sz="1200" u="sng">
                <a:solidFill>
                  <a:srgbClr val="FFFFCC"/>
                </a:solidFill>
              </a:rPr>
              <a:t>www.uscis.gov</a:t>
            </a:r>
          </a:p>
          <a:p>
            <a:pPr marL="341313" indent="-341313">
              <a:spcBef>
                <a:spcPts val="3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200" u="sng">
              <a:solidFill>
                <a:srgbClr val="FFFFCC"/>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DF004EEA-5499-41FC-8D8C-C1BA6F11DC0F}"/>
              </a:ext>
            </a:extLst>
          </p:cNvPr>
          <p:cNvSpPr>
            <a:spLocks noGrp="1"/>
          </p:cNvSpPr>
          <p:nvPr>
            <p:ph type="sldNum" idx="12"/>
          </p:nvPr>
        </p:nvSpPr>
        <p:spPr/>
        <p:txBody>
          <a:bodyPr/>
          <a:lstStyle/>
          <a:p>
            <a:fld id="{AB5548E0-B1F7-42C3-BBDB-0A689BFCDBA3}" type="slidenum">
              <a:rPr lang="en-US" altLang="en-US"/>
              <a:pPr/>
              <a:t>42</a:t>
            </a:fld>
            <a:endParaRPr lang="en-US" altLang="en-US"/>
          </a:p>
        </p:txBody>
      </p:sp>
      <p:sp>
        <p:nvSpPr>
          <p:cNvPr id="46081" name="Rectangle 1">
            <a:extLst>
              <a:ext uri="{FF2B5EF4-FFF2-40B4-BE49-F238E27FC236}">
                <a16:creationId xmlns:a16="http://schemas.microsoft.com/office/drawing/2014/main" id="{84E67DCC-2B42-47BD-964B-A1F98A7A50E9}"/>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INA 214 (b) VISA DENIALS</a:t>
            </a:r>
          </a:p>
        </p:txBody>
      </p:sp>
      <p:sp>
        <p:nvSpPr>
          <p:cNvPr id="46082" name="Rectangle 2">
            <a:extLst>
              <a:ext uri="{FF2B5EF4-FFF2-40B4-BE49-F238E27FC236}">
                <a16:creationId xmlns:a16="http://schemas.microsoft.com/office/drawing/2014/main" id="{EF072964-B8A1-448F-B3AA-406724977AC4}"/>
              </a:ext>
            </a:extLst>
          </p:cNvPr>
          <p:cNvSpPr>
            <a:spLocks noGrp="1" noChangeArrowheads="1"/>
          </p:cNvSpPr>
          <p:nvPr>
            <p:ph type="body" idx="4294967295"/>
          </p:nvPr>
        </p:nvSpPr>
        <p:spPr>
          <a:xfrm>
            <a:off x="1752600" y="1295400"/>
            <a:ext cx="5638800" cy="4864100"/>
          </a:xfrm>
          <a:ln/>
        </p:spPr>
        <p:txBody>
          <a:bodyPr/>
          <a:lstStyle/>
          <a:p>
            <a:pPr marL="0" indent="0">
              <a:lnSpc>
                <a:spcPct val="90000"/>
              </a:lnSpc>
              <a:spcBef>
                <a:spcPts val="450"/>
              </a:spcBef>
              <a:buClrTx/>
              <a:buSzPct val="8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US" altLang="en-US" sz="1800"/>
              <a:t>“Every alien shall be presumed to be an immigrant until he establishes to the satisfaction of the consular officer, at the time of application for admission, that he is entitled to a nonimmigrant status...”</a:t>
            </a:r>
          </a:p>
          <a:p>
            <a:pPr marL="0" indent="0">
              <a:lnSpc>
                <a:spcPct val="90000"/>
              </a:lnSpc>
              <a:spcBef>
                <a:spcPts val="450"/>
              </a:spcBef>
              <a:buClrTx/>
              <a:buSzPct val="8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pPr>
            <a:endParaRPr lang="en-US" altLang="en-US" sz="1800"/>
          </a:p>
          <a:p>
            <a:pPr marL="0" indent="0">
              <a:lnSpc>
                <a:spcPct val="90000"/>
              </a:lnSpc>
              <a:spcBef>
                <a:spcPts val="450"/>
              </a:spcBef>
              <a:buClrTx/>
              <a:buSzPct val="8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pPr>
            <a:endParaRPr lang="en-US" altLang="en-US" sz="1800" i="1"/>
          </a:p>
          <a:p>
            <a:pPr marL="0" indent="0">
              <a:lnSpc>
                <a:spcPct val="90000"/>
              </a:lnSpc>
              <a:spcBef>
                <a:spcPts val="450"/>
              </a:spcBef>
              <a:buClrTx/>
              <a:buSzPct val="8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US" altLang="en-US" sz="1800" b="1" i="1">
                <a:solidFill>
                  <a:srgbClr val="FFFFCC"/>
                </a:solidFill>
              </a:rPr>
              <a:t>WHAT CONSTITUTES "STRONG TIES"?</a:t>
            </a:r>
          </a:p>
          <a:p>
            <a:pPr lvl="1" indent="-3175">
              <a:lnSpc>
                <a:spcPct val="90000"/>
              </a:lnSpc>
              <a:spcBef>
                <a:spcPts val="400"/>
              </a:spcBef>
              <a:buClrTx/>
              <a:buFontTx/>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US" altLang="en-US" sz="1600"/>
              <a:t>“Strong ties differ from country to country, city to city, individual to individual. Some examples of ties can be a job, a house, a family, a bank account. ‘Ties’ are the various aspects of your life that bind you to your country of residence: your possessions, employment, social and family relationships.”</a:t>
            </a:r>
          </a:p>
          <a:p>
            <a:pPr marL="0" indent="0">
              <a:lnSpc>
                <a:spcPct val="90000"/>
              </a:lnSpc>
              <a:spcBef>
                <a:spcPts val="250"/>
              </a:spcBef>
              <a:buClrTx/>
              <a:buSzPct val="8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pPr>
            <a:endParaRPr lang="en-US" altLang="en-US" sz="1000"/>
          </a:p>
          <a:p>
            <a:pPr marL="0" indent="0">
              <a:lnSpc>
                <a:spcPct val="90000"/>
              </a:lnSpc>
              <a:spcBef>
                <a:spcPts val="250"/>
              </a:spcBef>
              <a:buClrTx/>
              <a:buSzPct val="8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pPr>
            <a:endParaRPr lang="en-US" altLang="en-US" sz="1000"/>
          </a:p>
          <a:p>
            <a:pPr marL="0" indent="0">
              <a:lnSpc>
                <a:spcPct val="90000"/>
              </a:lnSpc>
              <a:spcBef>
                <a:spcPts val="250"/>
              </a:spcBef>
              <a:buClrTx/>
              <a:buSzPct val="8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pPr>
            <a:endParaRPr lang="en-US" altLang="en-US" sz="1000"/>
          </a:p>
          <a:p>
            <a:pPr marL="0" indent="0">
              <a:lnSpc>
                <a:spcPct val="90000"/>
              </a:lnSpc>
              <a:spcBef>
                <a:spcPts val="250"/>
              </a:spcBef>
              <a:buClrTx/>
              <a:buSzPct val="8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pPr>
            <a:endParaRPr lang="en-US" altLang="en-US" sz="1000"/>
          </a:p>
          <a:p>
            <a:pPr marL="0" indent="0">
              <a:lnSpc>
                <a:spcPct val="90000"/>
              </a:lnSpc>
              <a:spcBef>
                <a:spcPts val="250"/>
              </a:spcBef>
              <a:buClrTx/>
              <a:buSzPct val="8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pPr>
            <a:endParaRPr lang="en-US" altLang="en-US" sz="1000"/>
          </a:p>
          <a:p>
            <a:pPr marL="0" indent="0">
              <a:lnSpc>
                <a:spcPct val="90000"/>
              </a:lnSpc>
              <a:spcBef>
                <a:spcPts val="300"/>
              </a:spcBef>
              <a:buClrTx/>
              <a:buSzPct val="8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US" altLang="en-US" sz="1200">
                <a:solidFill>
                  <a:srgbClr val="FFFFCC"/>
                </a:solidFill>
              </a:rPr>
              <a:t>SOURCE:  </a:t>
            </a:r>
            <a:r>
              <a:rPr lang="en-US" altLang="en-US" sz="1200" u="sng">
                <a:solidFill>
                  <a:srgbClr val="FFFFCC"/>
                </a:solidFill>
              </a:rPr>
              <a:t>http://travel.state.gov/visa/frvi_denials.html</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45B5C19E-79A2-49BC-ADE9-73A5EA787CC9}"/>
              </a:ext>
            </a:extLst>
          </p:cNvPr>
          <p:cNvSpPr>
            <a:spLocks noGrp="1"/>
          </p:cNvSpPr>
          <p:nvPr>
            <p:ph type="sldNum" idx="12"/>
          </p:nvPr>
        </p:nvSpPr>
        <p:spPr/>
        <p:txBody>
          <a:bodyPr/>
          <a:lstStyle/>
          <a:p>
            <a:fld id="{C849E5CB-3F1B-4B93-BBC4-9C69E19008C7}" type="slidenum">
              <a:rPr lang="en-US" altLang="en-US"/>
              <a:pPr/>
              <a:t>43</a:t>
            </a:fld>
            <a:endParaRPr lang="en-US" altLang="en-US"/>
          </a:p>
        </p:txBody>
      </p:sp>
      <p:sp>
        <p:nvSpPr>
          <p:cNvPr id="47105" name="Rectangle 1">
            <a:extLst>
              <a:ext uri="{FF2B5EF4-FFF2-40B4-BE49-F238E27FC236}">
                <a16:creationId xmlns:a16="http://schemas.microsoft.com/office/drawing/2014/main" id="{43D0968D-7A05-4C6A-88E9-1FF2C32A4CB4}"/>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P.L. 107-173</a:t>
            </a:r>
          </a:p>
        </p:txBody>
      </p:sp>
      <p:sp>
        <p:nvSpPr>
          <p:cNvPr id="47106" name="Rectangle 2">
            <a:extLst>
              <a:ext uri="{FF2B5EF4-FFF2-40B4-BE49-F238E27FC236}">
                <a16:creationId xmlns:a16="http://schemas.microsoft.com/office/drawing/2014/main" id="{13A05137-68E6-4357-843E-334B8AA50C56}"/>
              </a:ext>
            </a:extLst>
          </p:cNvPr>
          <p:cNvSpPr>
            <a:spLocks noGrp="1" noChangeArrowheads="1"/>
          </p:cNvSpPr>
          <p:nvPr>
            <p:ph type="body" idx="4294967295"/>
          </p:nvPr>
        </p:nvSpPr>
        <p:spPr>
          <a:xfrm>
            <a:off x="1371600" y="1524000"/>
            <a:ext cx="6477000" cy="5224463"/>
          </a:xfrm>
          <a:ln/>
        </p:spPr>
        <p:txBody>
          <a:bodyPr/>
          <a:lstStyle/>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“Enhanced Border Security and Visa Entry Reform Act of 2002”</a:t>
            </a:r>
          </a:p>
          <a:p>
            <a:pPr marL="341313" indent="-341313">
              <a:lnSpc>
                <a:spcPct val="80000"/>
              </a:lnSpc>
              <a:spcBef>
                <a:spcPts val="4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“America is not a fortress; no, we never want to be a fortress. We're a free country; we're an open society. And we must always protect the rights of our law--of law-abiding citizens from around the world who come here to conduct business or to study or to spend time with their family,” according to President Bush on 14 May 2002.</a:t>
            </a:r>
            <a:br>
              <a:rPr lang="en-US" altLang="en-US" sz="1800"/>
            </a:br>
            <a:endParaRPr lang="en-US" altLang="en-US" sz="1800"/>
          </a:p>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Title 3 (Visa Issuance), Section 306 “State Sponsored Terrorism”</a:t>
            </a:r>
          </a:p>
          <a:p>
            <a:pPr marL="341313" indent="-341313">
              <a:lnSpc>
                <a:spcPct val="80000"/>
              </a:lnSpc>
              <a:spcBef>
                <a:spcPts val="4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State met the 26 October 2004 deadline for biometric finger scans of all visa applicants; also done at port of entry (POE) </a:t>
            </a:r>
          </a:p>
          <a:p>
            <a:pPr marL="341313" indent="-341313">
              <a:lnSpc>
                <a:spcPct val="80000"/>
              </a:lnSpc>
              <a:spcBef>
                <a:spcPts val="4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4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600"/>
          </a:p>
          <a:p>
            <a:pPr marL="341313" indent="-341313">
              <a:lnSpc>
                <a:spcPct val="80000"/>
              </a:lnSpc>
              <a:spcBef>
                <a:spcPts val="4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600"/>
          </a:p>
          <a:p>
            <a:pPr marL="341313" indent="-341313">
              <a:lnSpc>
                <a:spcPct val="80000"/>
              </a:lnSpc>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200">
                <a:solidFill>
                  <a:srgbClr val="FFFFCC"/>
                </a:solidFill>
              </a:rPr>
              <a:t>SOURCE:  </a:t>
            </a:r>
            <a:r>
              <a:rPr lang="en-US" altLang="en-US" sz="1200" u="sng">
                <a:solidFill>
                  <a:srgbClr val="FFFFCC"/>
                </a:solidFill>
              </a:rPr>
              <a:t>http://frwebgate.access.gpo.gov/cgi-bin/getdoc.cgi?dbname=107_cong_public_laws&amp;docid=f:publ173.107</a:t>
            </a:r>
          </a:p>
          <a:p>
            <a:pPr marL="341313" indent="-341313">
              <a:lnSpc>
                <a:spcPct val="80000"/>
              </a:lnSpc>
              <a:spcBef>
                <a:spcPts val="3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200" u="sng">
              <a:solidFill>
                <a:srgbClr val="FFFFCC"/>
              </a:solidFill>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240CBA92-5AE1-43BC-A2DF-1E1F4BD1321E}"/>
              </a:ext>
            </a:extLst>
          </p:cNvPr>
          <p:cNvSpPr>
            <a:spLocks noGrp="1"/>
          </p:cNvSpPr>
          <p:nvPr>
            <p:ph type="sldNum" idx="12"/>
          </p:nvPr>
        </p:nvSpPr>
        <p:spPr/>
        <p:txBody>
          <a:bodyPr/>
          <a:lstStyle/>
          <a:p>
            <a:fld id="{304F1101-AA9B-4BFB-A733-A78D2698032F}" type="slidenum">
              <a:rPr lang="en-US" altLang="en-US"/>
              <a:pPr/>
              <a:t>44</a:t>
            </a:fld>
            <a:endParaRPr lang="en-US" altLang="en-US"/>
          </a:p>
        </p:txBody>
      </p:sp>
      <p:sp>
        <p:nvSpPr>
          <p:cNvPr id="48129" name="Rectangle 1">
            <a:extLst>
              <a:ext uri="{FF2B5EF4-FFF2-40B4-BE49-F238E27FC236}">
                <a16:creationId xmlns:a16="http://schemas.microsoft.com/office/drawing/2014/main" id="{D7A1F996-D951-403F-ADE0-80E674676182}"/>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SUCCESS…VISA IS ISSUED</a:t>
            </a:r>
          </a:p>
        </p:txBody>
      </p:sp>
      <p:sp>
        <p:nvSpPr>
          <p:cNvPr id="48130" name="Rectangle 2">
            <a:extLst>
              <a:ext uri="{FF2B5EF4-FFF2-40B4-BE49-F238E27FC236}">
                <a16:creationId xmlns:a16="http://schemas.microsoft.com/office/drawing/2014/main" id="{5E3D313C-8569-4939-A73A-D695631F4AC1}"/>
              </a:ext>
            </a:extLst>
          </p:cNvPr>
          <p:cNvSpPr>
            <a:spLocks noGrp="1" noChangeArrowheads="1"/>
          </p:cNvSpPr>
          <p:nvPr>
            <p:ph type="body" idx="4294967295"/>
          </p:nvPr>
        </p:nvSpPr>
        <p:spPr>
          <a:xfrm>
            <a:off x="1371600" y="1295400"/>
            <a:ext cx="6477000" cy="4724400"/>
          </a:xfrm>
          <a:ln/>
        </p:spPr>
        <p:txBody>
          <a:bodyPr/>
          <a:lstStyle/>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Waiting for an approved:</a:t>
            </a:r>
          </a:p>
          <a:p>
            <a:pPr marL="741363" lvl="1" indent="-284163">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I-129 “Petition for a Non-immigrant Worker”</a:t>
            </a:r>
          </a:p>
          <a:p>
            <a:pPr marL="741363" lvl="1" indent="-284163">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I-797 “Notice of Action”</a:t>
            </a:r>
          </a:p>
          <a:p>
            <a:pPr marL="741363" lvl="1" indent="-284163">
              <a:buClrTx/>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 </a:t>
            </a:r>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from the DHS, Bureau of Citizenship and Immigration Services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lide Number Placeholder 5">
            <a:extLst>
              <a:ext uri="{FF2B5EF4-FFF2-40B4-BE49-F238E27FC236}">
                <a16:creationId xmlns:a16="http://schemas.microsoft.com/office/drawing/2014/main" id="{956A4C47-2321-4254-B8E8-798426205B3F}"/>
              </a:ext>
            </a:extLst>
          </p:cNvPr>
          <p:cNvSpPr>
            <a:spLocks noGrp="1"/>
          </p:cNvSpPr>
          <p:nvPr>
            <p:ph type="sldNum" idx="12"/>
          </p:nvPr>
        </p:nvSpPr>
        <p:spPr/>
        <p:txBody>
          <a:bodyPr/>
          <a:lstStyle/>
          <a:p>
            <a:fld id="{AC3F49EB-1F2B-4881-9539-65EA16E96935}" type="slidenum">
              <a:rPr lang="en-US" altLang="en-US"/>
              <a:pPr/>
              <a:t>45</a:t>
            </a:fld>
            <a:endParaRPr lang="en-US" altLang="en-US"/>
          </a:p>
        </p:txBody>
      </p:sp>
      <p:sp>
        <p:nvSpPr>
          <p:cNvPr id="49153" name="Rectangle 1">
            <a:extLst>
              <a:ext uri="{FF2B5EF4-FFF2-40B4-BE49-F238E27FC236}">
                <a16:creationId xmlns:a16="http://schemas.microsoft.com/office/drawing/2014/main" id="{4AE6AD15-21BA-4E57-B7AA-F2AA97A92A23}"/>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FY 2003 F-1 VISA DENIALS (GAO)</a:t>
            </a:r>
          </a:p>
        </p:txBody>
      </p:sp>
      <p:graphicFrame>
        <p:nvGraphicFramePr>
          <p:cNvPr id="49154" name="Group 2">
            <a:extLst>
              <a:ext uri="{FF2B5EF4-FFF2-40B4-BE49-F238E27FC236}">
                <a16:creationId xmlns:a16="http://schemas.microsoft.com/office/drawing/2014/main" id="{0D1B6E07-438E-4E1A-B423-3DCD0CEB0774}"/>
              </a:ext>
            </a:extLst>
          </p:cNvPr>
          <p:cNvGraphicFramePr>
            <a:graphicFrameLocks noGrp="1"/>
          </p:cNvGraphicFramePr>
          <p:nvPr/>
        </p:nvGraphicFramePr>
        <p:xfrm>
          <a:off x="1371600" y="1295400"/>
          <a:ext cx="6478588" cy="3851275"/>
        </p:xfrm>
        <a:graphic>
          <a:graphicData uri="http://schemas.openxmlformats.org/drawingml/2006/table">
            <a:tbl>
              <a:tblPr/>
              <a:tblGrid>
                <a:gridCol w="1679575">
                  <a:extLst>
                    <a:ext uri="{9D8B030D-6E8A-4147-A177-3AD203B41FA5}">
                      <a16:colId xmlns:a16="http://schemas.microsoft.com/office/drawing/2014/main" val="3378804264"/>
                    </a:ext>
                  </a:extLst>
                </a:gridCol>
                <a:gridCol w="1146175">
                  <a:extLst>
                    <a:ext uri="{9D8B030D-6E8A-4147-A177-3AD203B41FA5}">
                      <a16:colId xmlns:a16="http://schemas.microsoft.com/office/drawing/2014/main" val="3121604600"/>
                    </a:ext>
                  </a:extLst>
                </a:gridCol>
                <a:gridCol w="1146175">
                  <a:extLst>
                    <a:ext uri="{9D8B030D-6E8A-4147-A177-3AD203B41FA5}">
                      <a16:colId xmlns:a16="http://schemas.microsoft.com/office/drawing/2014/main" val="973625021"/>
                    </a:ext>
                  </a:extLst>
                </a:gridCol>
                <a:gridCol w="1146175">
                  <a:extLst>
                    <a:ext uri="{9D8B030D-6E8A-4147-A177-3AD203B41FA5}">
                      <a16:colId xmlns:a16="http://schemas.microsoft.com/office/drawing/2014/main" val="3083162303"/>
                    </a:ext>
                  </a:extLst>
                </a:gridCol>
                <a:gridCol w="1360488">
                  <a:extLst>
                    <a:ext uri="{9D8B030D-6E8A-4147-A177-3AD203B41FA5}">
                      <a16:colId xmlns:a16="http://schemas.microsoft.com/office/drawing/2014/main" val="1070048030"/>
                    </a:ext>
                  </a:extLst>
                </a:gridCol>
              </a:tblGrid>
              <a:tr h="493713">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1" i="0" u="none" strike="noStrike" cap="none" normalizeH="0" baseline="0">
                          <a:ln>
                            <a:noFill/>
                          </a:ln>
                          <a:solidFill>
                            <a:srgbClr val="000000"/>
                          </a:solidFill>
                          <a:effectLst/>
                          <a:latin typeface="Gill Sans MT" panose="020B0502020104020203" pitchFamily="34" charset="0"/>
                          <a:cs typeface="Arial" panose="020B0604020202020204" pitchFamily="34" charset="0"/>
                        </a:rPr>
                        <a:t>Nationality</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1" i="0" u="none" strike="noStrike" cap="none" normalizeH="0" baseline="0">
                          <a:ln>
                            <a:noFill/>
                          </a:ln>
                          <a:solidFill>
                            <a:srgbClr val="000000"/>
                          </a:solidFill>
                          <a:effectLst/>
                          <a:latin typeface="Gill Sans MT" panose="020B0502020104020203" pitchFamily="34" charset="0"/>
                          <a:cs typeface="Arial" panose="020B0604020202020204" pitchFamily="34" charset="0"/>
                        </a:rPr>
                        <a:t>F-1 Issued</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1" i="0" u="none" strike="noStrike" cap="none" normalizeH="0" baseline="0">
                          <a:ln>
                            <a:noFill/>
                          </a:ln>
                          <a:solidFill>
                            <a:srgbClr val="000000"/>
                          </a:solidFill>
                          <a:effectLst/>
                          <a:latin typeface="Gill Sans MT" panose="020B0502020104020203" pitchFamily="34" charset="0"/>
                          <a:cs typeface="Arial" panose="020B0604020202020204" pitchFamily="34" charset="0"/>
                        </a:rPr>
                        <a:t>F-1 Refused</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1" i="0" u="none" strike="noStrike" cap="none" normalizeH="0" baseline="0">
                          <a:ln>
                            <a:noFill/>
                          </a:ln>
                          <a:solidFill>
                            <a:srgbClr val="000000"/>
                          </a:solidFill>
                          <a:effectLst/>
                          <a:latin typeface="Gill Sans MT" panose="020B0502020104020203" pitchFamily="34" charset="0"/>
                          <a:cs typeface="Arial" panose="020B0604020202020204" pitchFamily="34" charset="0"/>
                        </a:rPr>
                        <a:t>F Workload</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9pPr>
                    </a:lstStyle>
                    <a:p>
                      <a:pPr marL="0" marR="0" lvl="0" indent="0" algn="ctr" defTabSz="457200" rtl="0" eaLnBrk="1" fontAlgn="base" latinLnBrk="0" hangingPunct="1">
                        <a:lnSpc>
                          <a:spcPct val="93000"/>
                        </a:lnSpc>
                        <a:spcBef>
                          <a:spcPct val="0"/>
                        </a:spcBef>
                        <a:spcAft>
                          <a:spcPct val="0"/>
                        </a:spcAft>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1000" b="1" i="0" u="none" strike="noStrike" cap="none" normalizeH="0" baseline="0">
                          <a:ln>
                            <a:noFill/>
                          </a:ln>
                          <a:solidFill>
                            <a:srgbClr val="000000"/>
                          </a:solidFill>
                          <a:effectLst/>
                          <a:latin typeface="Gill Sans MT" panose="020B0502020104020203" pitchFamily="34" charset="0"/>
                          <a:cs typeface="Arial" panose="020B0604020202020204" pitchFamily="34" charset="0"/>
                        </a:rPr>
                        <a:t>Rough Estimate of % Refused</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388932157"/>
                  </a:ext>
                </a:extLst>
              </a:tr>
              <a:tr h="304800">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South Korea</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34,697</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8,119</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42,816</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18.96</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extLst>
                  <a:ext uri="{0D108BD9-81ED-4DB2-BD59-A6C34878D82A}">
                    <a16:rowId xmlns:a16="http://schemas.microsoft.com/office/drawing/2014/main" val="2915089274"/>
                  </a:ext>
                </a:extLst>
              </a:tr>
              <a:tr h="304800">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China (and Taiwan)</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31,322</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22,995</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54,317</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42.33</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3542914272"/>
                  </a:ext>
                </a:extLst>
              </a:tr>
              <a:tr h="304800">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Japan</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25,962</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1,387</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27,349</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5.07</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4174310117"/>
                  </a:ext>
                </a:extLst>
              </a:tr>
              <a:tr h="306388">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India</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20,320</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17,973</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38,293</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46.94</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2010069702"/>
                  </a:ext>
                </a:extLst>
              </a:tr>
              <a:tr h="304800">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Brazil</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7,625</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1,761</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9,386</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18.76</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3108284153"/>
                  </a:ext>
                </a:extLst>
              </a:tr>
              <a:tr h="304800">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Germany</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5,376</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1,122</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6,498</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17.27</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2140270920"/>
                  </a:ext>
                </a:extLst>
              </a:tr>
              <a:tr h="304800">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Great Britain</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3,536</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874</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4,410</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19.82</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778476715"/>
                  </a:ext>
                </a:extLst>
              </a:tr>
              <a:tr h="304800">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Russia</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1,645</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1,325</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2,970</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44.61</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2508787038"/>
                  </a:ext>
                </a:extLst>
              </a:tr>
              <a:tr h="306388">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Poland</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1,243</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906</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2,149</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42.16</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551239372"/>
                  </a:ext>
                </a:extLst>
              </a:tr>
              <a:tr h="304800">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All others</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103,853</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71,733</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175,586</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40.85</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2037391733"/>
                  </a:ext>
                </a:extLst>
              </a:tr>
              <a:tr h="304800">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1" i="0" u="none" strike="noStrike" cap="none" normalizeH="0" baseline="0">
                          <a:ln>
                            <a:noFill/>
                          </a:ln>
                          <a:solidFill>
                            <a:srgbClr val="000000"/>
                          </a:solidFill>
                          <a:effectLst/>
                          <a:latin typeface="Gill Sans MT" panose="020B0502020104020203" pitchFamily="34" charset="0"/>
                          <a:cs typeface="Arial" panose="020B0604020202020204" pitchFamily="34" charset="0"/>
                        </a:rPr>
                        <a:t>TOTAL</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w="576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1" i="0" u="none" strike="noStrike" cap="none" normalizeH="0" baseline="0">
                          <a:ln>
                            <a:noFill/>
                          </a:ln>
                          <a:solidFill>
                            <a:srgbClr val="000000"/>
                          </a:solidFill>
                          <a:effectLst/>
                          <a:latin typeface="Gill Sans MT" panose="020B0502020104020203" pitchFamily="34" charset="0"/>
                          <a:cs typeface="Arial" panose="020B0604020202020204" pitchFamily="34" charset="0"/>
                        </a:rPr>
                        <a:t>235,579</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w="576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1" i="0" u="none" strike="noStrike" cap="none" normalizeH="0" baseline="0">
                          <a:ln>
                            <a:noFill/>
                          </a:ln>
                          <a:solidFill>
                            <a:srgbClr val="000000"/>
                          </a:solidFill>
                          <a:effectLst/>
                          <a:latin typeface="Gill Sans MT" panose="020B0502020104020203" pitchFamily="34" charset="0"/>
                          <a:cs typeface="Arial" panose="020B0604020202020204" pitchFamily="34" charset="0"/>
                        </a:rPr>
                        <a:t>128,195</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w="576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1" i="0" u="none" strike="noStrike" cap="none" normalizeH="0" baseline="0">
                          <a:ln>
                            <a:noFill/>
                          </a:ln>
                          <a:solidFill>
                            <a:srgbClr val="000000"/>
                          </a:solidFill>
                          <a:effectLst/>
                          <a:latin typeface="Gill Sans MT" panose="020B0502020104020203" pitchFamily="34" charset="0"/>
                          <a:cs typeface="Arial" panose="020B0604020202020204" pitchFamily="34" charset="0"/>
                        </a:rPr>
                        <a:t>363,774</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w="576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1" i="0" u="none" strike="noStrike" cap="none" normalizeH="0" baseline="0">
                          <a:ln>
                            <a:noFill/>
                          </a:ln>
                          <a:solidFill>
                            <a:srgbClr val="000000"/>
                          </a:solidFill>
                          <a:effectLst/>
                          <a:latin typeface="Gill Sans MT" panose="020B0502020104020203" pitchFamily="34" charset="0"/>
                          <a:cs typeface="Arial" panose="020B0604020202020204" pitchFamily="34" charset="0"/>
                        </a:rPr>
                        <a:t>35.24</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w="5760" cap="flat" cmpd="sng" algn="ctr">
                      <a:solidFill>
                        <a:srgbClr val="000000"/>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2155004582"/>
                  </a:ext>
                </a:extLst>
              </a:tr>
            </a:tbl>
          </a:graphicData>
        </a:graphic>
      </p:graphicFrame>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Slide Number Placeholder 5">
            <a:extLst>
              <a:ext uri="{FF2B5EF4-FFF2-40B4-BE49-F238E27FC236}">
                <a16:creationId xmlns:a16="http://schemas.microsoft.com/office/drawing/2014/main" id="{EA19F292-4C37-46DC-873A-AAF423D349D8}"/>
              </a:ext>
            </a:extLst>
          </p:cNvPr>
          <p:cNvSpPr>
            <a:spLocks noGrp="1"/>
          </p:cNvSpPr>
          <p:nvPr>
            <p:ph type="sldNum" idx="12"/>
          </p:nvPr>
        </p:nvSpPr>
        <p:spPr/>
        <p:txBody>
          <a:bodyPr/>
          <a:lstStyle/>
          <a:p>
            <a:fld id="{A8385BF1-1760-4C48-A972-1C0A33DFB90A}" type="slidenum">
              <a:rPr lang="en-US" altLang="en-US"/>
              <a:pPr/>
              <a:t>46</a:t>
            </a:fld>
            <a:endParaRPr lang="en-US" altLang="en-US"/>
          </a:p>
        </p:txBody>
      </p:sp>
      <p:sp>
        <p:nvSpPr>
          <p:cNvPr id="50177" name="Rectangle 1">
            <a:extLst>
              <a:ext uri="{FF2B5EF4-FFF2-40B4-BE49-F238E27FC236}">
                <a16:creationId xmlns:a16="http://schemas.microsoft.com/office/drawing/2014/main" id="{AE3D00EE-092A-4687-98C8-2960D8C2542A}"/>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FY 2003 J-1 VISA APPROVALS (GAO)</a:t>
            </a:r>
          </a:p>
        </p:txBody>
      </p:sp>
      <p:graphicFrame>
        <p:nvGraphicFramePr>
          <p:cNvPr id="50178" name="Group 2">
            <a:extLst>
              <a:ext uri="{FF2B5EF4-FFF2-40B4-BE49-F238E27FC236}">
                <a16:creationId xmlns:a16="http://schemas.microsoft.com/office/drawing/2014/main" id="{82B6615A-18F9-4331-B091-44F8843AF16C}"/>
              </a:ext>
            </a:extLst>
          </p:cNvPr>
          <p:cNvGraphicFramePr>
            <a:graphicFrameLocks noGrp="1"/>
          </p:cNvGraphicFramePr>
          <p:nvPr/>
        </p:nvGraphicFramePr>
        <p:xfrm>
          <a:off x="1371600" y="1295400"/>
          <a:ext cx="6478588" cy="4510088"/>
        </p:xfrm>
        <a:graphic>
          <a:graphicData uri="http://schemas.openxmlformats.org/drawingml/2006/table">
            <a:tbl>
              <a:tblPr/>
              <a:tblGrid>
                <a:gridCol w="1752600">
                  <a:extLst>
                    <a:ext uri="{9D8B030D-6E8A-4147-A177-3AD203B41FA5}">
                      <a16:colId xmlns:a16="http://schemas.microsoft.com/office/drawing/2014/main" val="129750949"/>
                    </a:ext>
                  </a:extLst>
                </a:gridCol>
                <a:gridCol w="1219200">
                  <a:extLst>
                    <a:ext uri="{9D8B030D-6E8A-4147-A177-3AD203B41FA5}">
                      <a16:colId xmlns:a16="http://schemas.microsoft.com/office/drawing/2014/main" val="2885153646"/>
                    </a:ext>
                  </a:extLst>
                </a:gridCol>
                <a:gridCol w="1220788">
                  <a:extLst>
                    <a:ext uri="{9D8B030D-6E8A-4147-A177-3AD203B41FA5}">
                      <a16:colId xmlns:a16="http://schemas.microsoft.com/office/drawing/2014/main" val="738848056"/>
                    </a:ext>
                  </a:extLst>
                </a:gridCol>
                <a:gridCol w="1143000">
                  <a:extLst>
                    <a:ext uri="{9D8B030D-6E8A-4147-A177-3AD203B41FA5}">
                      <a16:colId xmlns:a16="http://schemas.microsoft.com/office/drawing/2014/main" val="1324480122"/>
                    </a:ext>
                  </a:extLst>
                </a:gridCol>
                <a:gridCol w="1143000">
                  <a:extLst>
                    <a:ext uri="{9D8B030D-6E8A-4147-A177-3AD203B41FA5}">
                      <a16:colId xmlns:a16="http://schemas.microsoft.com/office/drawing/2014/main" val="4147574045"/>
                    </a:ext>
                  </a:extLst>
                </a:gridCol>
              </a:tblGrid>
              <a:tr h="571500">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l"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1" i="0" u="none" strike="noStrike" cap="none" normalizeH="0" baseline="0">
                          <a:ln>
                            <a:noFill/>
                          </a:ln>
                          <a:solidFill>
                            <a:srgbClr val="000000"/>
                          </a:solidFill>
                          <a:effectLst/>
                          <a:latin typeface="Gill Sans MT" panose="020B0502020104020203" pitchFamily="34" charset="0"/>
                          <a:cs typeface="Arial" panose="020B0604020202020204" pitchFamily="34" charset="0"/>
                        </a:rPr>
                        <a:t>Nationality</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1" i="0" u="none" strike="noStrike" cap="none" normalizeH="0" baseline="0">
                          <a:ln>
                            <a:noFill/>
                          </a:ln>
                          <a:solidFill>
                            <a:srgbClr val="000000"/>
                          </a:solidFill>
                          <a:effectLst/>
                          <a:latin typeface="Gill Sans MT" panose="020B0502020104020203" pitchFamily="34" charset="0"/>
                          <a:cs typeface="Arial" panose="020B0604020202020204" pitchFamily="34" charset="0"/>
                        </a:rPr>
                        <a:t>J visas issued</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1" i="0" u="none" strike="noStrike" cap="none" normalizeH="0" baseline="0">
                          <a:ln>
                            <a:noFill/>
                          </a:ln>
                          <a:solidFill>
                            <a:srgbClr val="000000"/>
                          </a:solidFill>
                          <a:effectLst/>
                          <a:latin typeface="Gill Sans MT" panose="020B0502020104020203" pitchFamily="34" charset="0"/>
                          <a:cs typeface="Arial" panose="020B0604020202020204" pitchFamily="34" charset="0"/>
                        </a:rPr>
                        <a:t>J visas refused</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1" i="0" u="none" strike="noStrike" cap="none" normalizeH="0" baseline="0">
                          <a:ln>
                            <a:noFill/>
                          </a:ln>
                          <a:solidFill>
                            <a:srgbClr val="000000"/>
                          </a:solidFill>
                          <a:effectLst/>
                          <a:latin typeface="Gill Sans MT" panose="020B0502020104020203" pitchFamily="34" charset="0"/>
                          <a:cs typeface="Arial" panose="020B0604020202020204" pitchFamily="34" charset="0"/>
                        </a:rPr>
                        <a:t>J workload</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FFFFFF"/>
                          </a:solidFill>
                          <a:latin typeface="Gill Sans MT" panose="020B0502020104020203" pitchFamily="34" charset="0"/>
                          <a:cs typeface="Arial" panose="020B0604020202020204" pitchFamily="34" charset="0"/>
                        </a:defRPr>
                      </a:lvl9pPr>
                    </a:lstStyle>
                    <a:p>
                      <a:pPr marL="0" marR="0" lvl="0" indent="0" algn="l" defTabSz="457200" rtl="0" eaLnBrk="1" fontAlgn="base" latinLnBrk="0" hangingPunct="1">
                        <a:lnSpc>
                          <a:spcPct val="93000"/>
                        </a:lnSpc>
                        <a:spcBef>
                          <a:spcPct val="0"/>
                        </a:spcBef>
                        <a:spcAft>
                          <a:spcPct val="0"/>
                        </a:spcAft>
                        <a:buClrTx/>
                        <a:buSzPct val="8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1000" b="1" i="0" u="none" strike="noStrike" cap="none" normalizeH="0" baseline="0">
                          <a:ln>
                            <a:noFill/>
                          </a:ln>
                          <a:solidFill>
                            <a:srgbClr val="000000"/>
                          </a:solidFill>
                          <a:effectLst/>
                          <a:latin typeface="Gill Sans MT" panose="020B0502020104020203" pitchFamily="34" charset="0"/>
                          <a:cs typeface="Arial" panose="020B0604020202020204" pitchFamily="34" charset="0"/>
                        </a:rPr>
                        <a:t>Rough Estimate of % Approved</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300518410"/>
                  </a:ext>
                </a:extLst>
              </a:tr>
              <a:tr h="355600">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l"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South Korea</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14,218</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1,507</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15,725</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90.4</a:t>
                      </a:r>
                    </a:p>
                  </a:txBody>
                  <a:tcPr marL="90000" marR="90000" marT="55620" marB="46800" anchor="b" horzOverflow="overflow">
                    <a:lnL w="5760" cap="flat" cmpd="sng" algn="ctr">
                      <a:solidFill>
                        <a:srgbClr val="000000"/>
                      </a:solidFill>
                      <a:prstDash val="solid"/>
                      <a:round/>
                      <a:headEnd type="none" w="med" len="med"/>
                      <a:tailEnd type="none" w="med" len="med"/>
                    </a:lnL>
                    <a:lnR>
                      <a:noFill/>
                    </a:lnR>
                    <a:lnT w="576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extLst>
                  <a:ext uri="{0D108BD9-81ED-4DB2-BD59-A6C34878D82A}">
                    <a16:rowId xmlns:a16="http://schemas.microsoft.com/office/drawing/2014/main" val="1242043276"/>
                  </a:ext>
                </a:extLst>
              </a:tr>
              <a:tr h="398463">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l"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China (mainland and Taiwan)</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10,171</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7,003</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17,174</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59.2</a:t>
                      </a:r>
                    </a:p>
                  </a:txBody>
                  <a:tcPr marL="90000" marR="90000" marT="55620" marB="46800" anchor="b"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535002982"/>
                  </a:ext>
                </a:extLst>
              </a:tr>
              <a:tr h="352425">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l"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Japan</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11,377</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305</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11,682</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97.4</a:t>
                      </a:r>
                    </a:p>
                  </a:txBody>
                  <a:tcPr marL="90000" marR="90000" marT="55620" marB="46800" anchor="b"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1381287438"/>
                  </a:ext>
                </a:extLst>
              </a:tr>
              <a:tr h="354013">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l"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India</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5,311</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1,718</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7,029</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75.6</a:t>
                      </a:r>
                    </a:p>
                  </a:txBody>
                  <a:tcPr marL="90000" marR="90000" marT="55620" marB="46800" anchor="b"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1609901052"/>
                  </a:ext>
                </a:extLst>
              </a:tr>
              <a:tr h="354013">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l"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Brazil</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8,297</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520</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8,817</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94.1</a:t>
                      </a:r>
                    </a:p>
                  </a:txBody>
                  <a:tcPr marL="90000" marR="90000" marT="55620" marB="46800" anchor="b"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687429501"/>
                  </a:ext>
                </a:extLst>
              </a:tr>
              <a:tr h="354013">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l"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Germany</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22,600</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923</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23,523</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96.1</a:t>
                      </a:r>
                    </a:p>
                  </a:txBody>
                  <a:tcPr marL="90000" marR="90000" marT="55620" marB="46800" anchor="b"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2453022834"/>
                  </a:ext>
                </a:extLst>
              </a:tr>
              <a:tr h="354013">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l"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Great Britain</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17,354</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1,052</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18,406</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94.3</a:t>
                      </a:r>
                    </a:p>
                  </a:txBody>
                  <a:tcPr marL="90000" marR="90000" marT="55620" marB="46800" anchor="b"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887544101"/>
                  </a:ext>
                </a:extLst>
              </a:tr>
              <a:tr h="354013">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l"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Russia</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17,185</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8,412</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25,597</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67.1</a:t>
                      </a:r>
                    </a:p>
                  </a:txBody>
                  <a:tcPr marL="90000" marR="90000" marT="55620" marB="46800" anchor="b"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3193225030"/>
                  </a:ext>
                </a:extLst>
              </a:tr>
              <a:tr h="352425">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l"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Poland</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20,675</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2,637</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23,312</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88.7</a:t>
                      </a:r>
                    </a:p>
                  </a:txBody>
                  <a:tcPr marL="90000" marR="90000" marT="55620" marB="46800" anchor="b"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1893476695"/>
                  </a:ext>
                </a:extLst>
              </a:tr>
              <a:tr h="355600">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l"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All others</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156,472</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30,537</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187,009</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0" i="0" u="none" strike="noStrike" cap="none" normalizeH="0" baseline="0">
                          <a:ln>
                            <a:noFill/>
                          </a:ln>
                          <a:solidFill>
                            <a:srgbClr val="000000"/>
                          </a:solidFill>
                          <a:effectLst/>
                          <a:latin typeface="Gill Sans MT" panose="020B0502020104020203" pitchFamily="34" charset="0"/>
                          <a:cs typeface="Arial" panose="020B0604020202020204" pitchFamily="34" charset="0"/>
                        </a:rPr>
                        <a:t>83.4</a:t>
                      </a:r>
                    </a:p>
                  </a:txBody>
                  <a:tcPr marL="90000" marR="90000" marT="55620" marB="46800" anchor="b"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2776828822"/>
                  </a:ext>
                </a:extLst>
              </a:tr>
              <a:tr h="352425">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l"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1" i="0" u="none" strike="noStrike" cap="none" normalizeH="0" baseline="0">
                          <a:ln>
                            <a:noFill/>
                          </a:ln>
                          <a:solidFill>
                            <a:srgbClr val="000000"/>
                          </a:solidFill>
                          <a:effectLst/>
                          <a:latin typeface="Gill Sans MT" panose="020B0502020104020203" pitchFamily="34" charset="0"/>
                          <a:cs typeface="Arial" panose="020B0604020202020204" pitchFamily="34" charset="0"/>
                        </a:rPr>
                        <a:t>Total</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w="576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1" i="0" u="none" strike="noStrike" cap="none" normalizeH="0" baseline="0">
                          <a:ln>
                            <a:noFill/>
                          </a:ln>
                          <a:solidFill>
                            <a:srgbClr val="000000"/>
                          </a:solidFill>
                          <a:effectLst/>
                          <a:latin typeface="Gill Sans MT" panose="020B0502020104020203" pitchFamily="34" charset="0"/>
                          <a:cs typeface="Arial" panose="020B0604020202020204" pitchFamily="34" charset="0"/>
                        </a:rPr>
                        <a:t>283,660</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w="576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1" i="0" u="none" strike="noStrike" cap="none" normalizeH="0" baseline="0">
                          <a:ln>
                            <a:noFill/>
                          </a:ln>
                          <a:solidFill>
                            <a:srgbClr val="000000"/>
                          </a:solidFill>
                          <a:effectLst/>
                          <a:latin typeface="Gill Sans MT" panose="020B0502020104020203" pitchFamily="34" charset="0"/>
                          <a:cs typeface="Arial" panose="020B0604020202020204" pitchFamily="34" charset="0"/>
                        </a:rPr>
                        <a:t>54,614</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w="576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1" i="0" u="none" strike="noStrike" cap="none" normalizeH="0" baseline="0">
                          <a:ln>
                            <a:noFill/>
                          </a:ln>
                          <a:solidFill>
                            <a:srgbClr val="000000"/>
                          </a:solidFill>
                          <a:effectLst/>
                          <a:latin typeface="Gill Sans MT" panose="020B0502020104020203" pitchFamily="34" charset="0"/>
                          <a:cs typeface="Arial" panose="020B0604020202020204" pitchFamily="34" charset="0"/>
                        </a:rPr>
                        <a:t>338,274</a:t>
                      </a:r>
                    </a:p>
                  </a:txBody>
                  <a:tcPr marL="90000" marR="90000" marT="55620" marB="46800" anchor="b"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w="576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342900" indent="-341313">
                        <a:spcBef>
                          <a:spcPts val="6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2000">
                          <a:solidFill>
                            <a:srgbClr val="FFFFFF"/>
                          </a:solidFill>
                          <a:latin typeface="Gill Sans MT" panose="020B0502020104020203" pitchFamily="34" charset="0"/>
                          <a:cs typeface="Arial" panose="020B0604020202020204" pitchFamily="34" charset="0"/>
                        </a:defRPr>
                      </a:lvl1pPr>
                      <a:lvl2pPr>
                        <a:spcBef>
                          <a:spcPts val="5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solidFill>
                            <a:srgbClr val="FFFFFF"/>
                          </a:solidFill>
                          <a:latin typeface="Gill Sans MT" panose="020B0502020104020203" pitchFamily="34" charset="0"/>
                          <a:cs typeface="Arial" panose="020B0604020202020204" pitchFamily="34" charset="0"/>
                        </a:defRPr>
                      </a:lvl2pPr>
                      <a:lvl3pPr>
                        <a:spcBef>
                          <a:spcPts val="4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600">
                          <a:solidFill>
                            <a:srgbClr val="FFFFFF"/>
                          </a:solidFill>
                          <a:latin typeface="Gill Sans MT" panose="020B0502020104020203" pitchFamily="34" charset="0"/>
                          <a:cs typeface="Arial" panose="020B0604020202020204" pitchFamily="34" charset="0"/>
                        </a:defRPr>
                      </a:lvl3pPr>
                      <a:lvl4pPr>
                        <a:spcBef>
                          <a:spcPts val="40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400">
                          <a:solidFill>
                            <a:srgbClr val="FFFFFF"/>
                          </a:solidFill>
                          <a:latin typeface="Gill Sans MT" panose="020B0502020104020203" pitchFamily="34" charset="0"/>
                          <a:cs typeface="Arial" panose="020B0604020202020204" pitchFamily="34" charset="0"/>
                        </a:defRPr>
                      </a:lvl4pPr>
                      <a:lvl5pPr>
                        <a:spcBef>
                          <a:spcPts val="350"/>
                        </a:spcBef>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5pPr>
                      <a:lvl6pPr marL="25146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6pPr>
                      <a:lvl7pPr marL="29718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7pPr>
                      <a:lvl8pPr marL="34290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8pPr>
                      <a:lvl9pPr marL="3886200" indent="-228600" defTabSz="457200" fontAlgn="base">
                        <a:spcBef>
                          <a:spcPts val="350"/>
                        </a:spcBef>
                        <a:spcAft>
                          <a:spcPct val="0"/>
                        </a:spcAft>
                        <a:buClr>
                          <a:srgbClr val="000000"/>
                        </a:buClr>
                        <a:buSzPct val="100000"/>
                        <a:buFont typeface="Times New Roman" panose="02020603050405020304" pitchFamily="18" charset="0"/>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sz="1200">
                          <a:solidFill>
                            <a:srgbClr val="FFFFFF"/>
                          </a:solidFill>
                          <a:latin typeface="Gill Sans MT" panose="020B0502020104020203" pitchFamily="34" charset="0"/>
                          <a:cs typeface="Arial" panose="020B0604020202020204" pitchFamily="34" charset="0"/>
                        </a:defRPr>
                      </a:lvl9pPr>
                    </a:lstStyle>
                    <a:p>
                      <a:pPr marL="342900" marR="0" lvl="0" indent="-341313" algn="ctr" defTabSz="457200" rtl="0" eaLnBrk="1" fontAlgn="base" latinLnBrk="0" hangingPunct="1">
                        <a:lnSpc>
                          <a:spcPct val="93000"/>
                        </a:lnSpc>
                        <a:spcBef>
                          <a:spcPct val="0"/>
                        </a:spcBef>
                        <a:spcAft>
                          <a:spcPct val="0"/>
                        </a:spcAft>
                        <a:buClrTx/>
                        <a:buSzPct val="80000"/>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pPr>
                      <a:r>
                        <a:rPr kumimoji="0" lang="en-US" altLang="en-US" sz="1000" b="1" i="0" u="none" strike="noStrike" cap="none" normalizeH="0" baseline="0">
                          <a:ln>
                            <a:noFill/>
                          </a:ln>
                          <a:solidFill>
                            <a:srgbClr val="000000"/>
                          </a:solidFill>
                          <a:effectLst/>
                          <a:latin typeface="Gill Sans MT" panose="020B0502020104020203" pitchFamily="34" charset="0"/>
                          <a:cs typeface="Arial" panose="020B0604020202020204" pitchFamily="34" charset="0"/>
                        </a:rPr>
                        <a:t>83</a:t>
                      </a:r>
                    </a:p>
                  </a:txBody>
                  <a:tcPr marL="90000" marR="90000" marT="55620" marB="46800" anchor="b"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99CCFF"/>
                    </a:solidFill>
                  </a:tcPr>
                </a:tc>
                <a:extLst>
                  <a:ext uri="{0D108BD9-81ED-4DB2-BD59-A6C34878D82A}">
                    <a16:rowId xmlns:a16="http://schemas.microsoft.com/office/drawing/2014/main" val="1182355654"/>
                  </a:ext>
                </a:extLst>
              </a:tr>
            </a:tbl>
          </a:graphicData>
        </a:graphic>
      </p:graphicFrame>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7E3F6A75-FD7A-47CD-B7D2-7A9D7173D8C6}"/>
              </a:ext>
            </a:extLst>
          </p:cNvPr>
          <p:cNvSpPr>
            <a:spLocks noGrp="1"/>
          </p:cNvSpPr>
          <p:nvPr>
            <p:ph type="sldNum" idx="12"/>
          </p:nvPr>
        </p:nvSpPr>
        <p:spPr/>
        <p:txBody>
          <a:bodyPr/>
          <a:lstStyle/>
          <a:p>
            <a:fld id="{6ACB4022-3A2C-41B2-9188-61061E5FECFE}" type="slidenum">
              <a:rPr lang="en-US" altLang="en-US"/>
              <a:pPr/>
              <a:t>47</a:t>
            </a:fld>
            <a:endParaRPr lang="en-US" altLang="en-US"/>
          </a:p>
        </p:txBody>
      </p:sp>
      <p:sp>
        <p:nvSpPr>
          <p:cNvPr id="51201" name="Rectangle 1">
            <a:extLst>
              <a:ext uri="{FF2B5EF4-FFF2-40B4-BE49-F238E27FC236}">
                <a16:creationId xmlns:a16="http://schemas.microsoft.com/office/drawing/2014/main" id="{179FB136-3E8C-4BF8-86AE-653A5F5F474E}"/>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1800"/>
              <a:t>COMPUTER ASSISTED PASSENGER PRESCREENING PROGRAM II (TSA)</a:t>
            </a:r>
          </a:p>
        </p:txBody>
      </p:sp>
      <p:sp>
        <p:nvSpPr>
          <p:cNvPr id="51202" name="Rectangle 2">
            <a:extLst>
              <a:ext uri="{FF2B5EF4-FFF2-40B4-BE49-F238E27FC236}">
                <a16:creationId xmlns:a16="http://schemas.microsoft.com/office/drawing/2014/main" id="{9D58A18B-E42D-4325-AB50-D464B6896B08}"/>
              </a:ext>
            </a:extLst>
          </p:cNvPr>
          <p:cNvSpPr>
            <a:spLocks noGrp="1" noChangeArrowheads="1"/>
          </p:cNvSpPr>
          <p:nvPr>
            <p:ph type="body" idx="4294967295"/>
          </p:nvPr>
        </p:nvSpPr>
        <p:spPr>
          <a:xfrm>
            <a:off x="1371600" y="1295400"/>
            <a:ext cx="6477000" cy="4732338"/>
          </a:xfrm>
          <a:ln/>
        </p:spPr>
        <p:txBody>
          <a:bodyPr/>
          <a:lstStyle/>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15 minutes before departure; airline manifest is shared with US government</a:t>
            </a:r>
          </a:p>
          <a:p>
            <a:pPr marL="341313" indent="-341313">
              <a:lnSpc>
                <a:spcPct val="80000"/>
              </a:lnSpc>
              <a:spcBef>
                <a:spcPts val="4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Proposed on January 2003, CAPPS II (Passenger and Aviation Security Screening Records) would compare “passenger records…against commercial data-bases [such as Lexis-Nexis and Acxiom, using name, home address and telephone, and DOB]…and [then] national security information [looking for criminal and terrorist records].”</a:t>
            </a:r>
          </a:p>
          <a:p>
            <a:pPr marL="341313" indent="-341313">
              <a:lnSpc>
                <a:spcPct val="80000"/>
              </a:lnSpc>
              <a:spcBef>
                <a:spcPts val="4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Would score all passengers, but especially non-US citizens, with a number and a color</a:t>
            </a:r>
          </a:p>
          <a:p>
            <a:pPr marL="341313" indent="-341313">
              <a:lnSpc>
                <a:spcPct val="80000"/>
              </a:lnSpc>
              <a:spcBef>
                <a:spcPts val="4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45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Currently, cash customers and one-way ticket purchases are subject to secondary screening; “SSS” or “***” is marked on the boarding pass</a:t>
            </a:r>
          </a:p>
          <a:p>
            <a:pPr marL="341313" indent="-341313">
              <a:lnSpc>
                <a:spcPct val="80000"/>
              </a:lnSpc>
              <a:spcBef>
                <a:spcPts val="4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45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a:p>
            <a:pPr marL="341313" indent="-341313">
              <a:lnSpc>
                <a:spcPct val="80000"/>
              </a:lnSpc>
              <a:spcBef>
                <a:spcPts val="300"/>
              </a:spcBef>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200">
                <a:solidFill>
                  <a:srgbClr val="FFFFCC"/>
                </a:solidFill>
              </a:rPr>
              <a:t>SOURCE: </a:t>
            </a:r>
            <a:r>
              <a:rPr lang="en-US" altLang="en-US" sz="1200" u="sng">
                <a:solidFill>
                  <a:srgbClr val="FFFFCC"/>
                </a:solidFill>
              </a:rPr>
              <a:t>http://www.dhs.gov/dhspublic/display?content=1115</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771BE4D3-E40C-479A-8EFA-197895610BCE}"/>
              </a:ext>
            </a:extLst>
          </p:cNvPr>
          <p:cNvSpPr>
            <a:spLocks noGrp="1"/>
          </p:cNvSpPr>
          <p:nvPr>
            <p:ph type="sldNum" idx="12"/>
          </p:nvPr>
        </p:nvSpPr>
        <p:spPr/>
        <p:txBody>
          <a:bodyPr/>
          <a:lstStyle/>
          <a:p>
            <a:fld id="{0719D527-D979-4E9D-A5BA-EF8375606D25}" type="slidenum">
              <a:rPr lang="en-US" altLang="en-US"/>
              <a:pPr/>
              <a:t>48</a:t>
            </a:fld>
            <a:endParaRPr lang="en-US" altLang="en-US"/>
          </a:p>
        </p:txBody>
      </p:sp>
      <p:sp>
        <p:nvSpPr>
          <p:cNvPr id="52225" name="Rectangle 1">
            <a:extLst>
              <a:ext uri="{FF2B5EF4-FFF2-40B4-BE49-F238E27FC236}">
                <a16:creationId xmlns:a16="http://schemas.microsoft.com/office/drawing/2014/main" id="{64BB43AE-B310-4088-B604-62DB77D5C9C5}"/>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PORT OF ENTRY</a:t>
            </a:r>
          </a:p>
        </p:txBody>
      </p:sp>
      <p:sp>
        <p:nvSpPr>
          <p:cNvPr id="52226" name="Rectangle 2">
            <a:extLst>
              <a:ext uri="{FF2B5EF4-FFF2-40B4-BE49-F238E27FC236}">
                <a16:creationId xmlns:a16="http://schemas.microsoft.com/office/drawing/2014/main" id="{0F1E220B-4AEF-46B1-B011-7FE6E442296F}"/>
              </a:ext>
            </a:extLst>
          </p:cNvPr>
          <p:cNvSpPr>
            <a:spLocks noGrp="1" noChangeArrowheads="1"/>
          </p:cNvSpPr>
          <p:nvPr>
            <p:ph type="body" idx="4294967295"/>
          </p:nvPr>
        </p:nvSpPr>
        <p:spPr>
          <a:xfrm>
            <a:off x="1371600" y="1143000"/>
            <a:ext cx="6477000" cy="5826125"/>
          </a:xfrm>
          <a:ln/>
        </p:spPr>
        <p:txBody>
          <a:bodyPr/>
          <a:lstStyle/>
          <a:p>
            <a:pPr marL="0" indent="0">
              <a:lnSpc>
                <a:spcPct val="80000"/>
              </a:lnSpc>
              <a:spcBef>
                <a:spcPts val="400"/>
              </a:spcBef>
              <a:buClrTx/>
              <a:buSzPct val="8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US" altLang="en-US" sz="1600" b="1"/>
              <a:t>“Your passport, valid for at least six months beyond the date of your expected stay;</a:t>
            </a:r>
            <a:r>
              <a:rPr lang="en-US" altLang="en-US" sz="1600"/>
              <a:t> </a:t>
            </a:r>
          </a:p>
          <a:p>
            <a:pPr marL="0" indent="0">
              <a:lnSpc>
                <a:spcPct val="80000"/>
              </a:lnSpc>
              <a:spcBef>
                <a:spcPts val="400"/>
              </a:spcBef>
              <a:buClrTx/>
              <a:buSzPct val="8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pPr>
            <a:endParaRPr lang="en-US" altLang="en-US" sz="1600"/>
          </a:p>
          <a:p>
            <a:pPr marL="0" indent="0">
              <a:lnSpc>
                <a:spcPct val="80000"/>
              </a:lnSpc>
              <a:spcBef>
                <a:spcPts val="400"/>
              </a:spcBef>
              <a:buClrTx/>
              <a:buSzPct val="8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US" altLang="en-US" sz="1600" b="1"/>
              <a:t>With the attached envelope;</a:t>
            </a:r>
            <a:r>
              <a:rPr lang="en-US" altLang="en-US" sz="1600"/>
              <a:t> When you receive your nonimmigrant visa at a U.S. embassy or consulate, the consular officer will seal your immigration documents in an envelope and attach it to your passport. You should not open this envelope! The Customs and Border Protection Officer at the U.S. Port of Entry will open the envelope; and </a:t>
            </a:r>
          </a:p>
          <a:p>
            <a:pPr marL="0" indent="0">
              <a:lnSpc>
                <a:spcPct val="80000"/>
              </a:lnSpc>
              <a:spcBef>
                <a:spcPts val="400"/>
              </a:spcBef>
              <a:buClr>
                <a:srgbClr val="FFFFCC"/>
              </a:buClr>
              <a:buSzPct val="80000"/>
              <a:buFont typeface="Gill Sans MT" panose="020B0502020104020203" pitchFamily="34" charset="0"/>
              <a:buNone/>
              <a:tabLst>
                <a:tab pos="569913" algn="l"/>
                <a:tab pos="1484313" algn="l"/>
                <a:tab pos="2398713" algn="l"/>
                <a:tab pos="3313113" algn="l"/>
                <a:tab pos="4227513" algn="l"/>
                <a:tab pos="5141913" algn="l"/>
                <a:tab pos="6056313" algn="l"/>
                <a:tab pos="6970713" algn="l"/>
                <a:tab pos="7885113" algn="l"/>
                <a:tab pos="8799513" algn="l"/>
                <a:tab pos="9713913" algn="l"/>
              </a:tabLst>
            </a:pPr>
            <a:endParaRPr lang="en-US" altLang="en-US" sz="1600"/>
          </a:p>
          <a:p>
            <a:pPr marL="0" indent="0">
              <a:lnSpc>
                <a:spcPct val="80000"/>
              </a:lnSpc>
              <a:spcBef>
                <a:spcPts val="400"/>
              </a:spcBef>
              <a:buClrTx/>
              <a:buSzPct val="8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US" altLang="en-US" sz="1600" b="1"/>
              <a:t>SEVIS Form I-20.”</a:t>
            </a:r>
          </a:p>
          <a:p>
            <a:pPr marL="0" indent="0">
              <a:lnSpc>
                <a:spcPct val="80000"/>
              </a:lnSpc>
              <a:spcBef>
                <a:spcPts val="400"/>
              </a:spcBef>
              <a:buClrTx/>
              <a:buSzPct val="8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pPr>
            <a:endParaRPr lang="en-US" altLang="en-US" sz="1600" i="1"/>
          </a:p>
          <a:p>
            <a:pPr marL="0" indent="0">
              <a:lnSpc>
                <a:spcPct val="80000"/>
              </a:lnSpc>
              <a:spcBef>
                <a:spcPts val="400"/>
              </a:spcBef>
              <a:buClrTx/>
              <a:buSzPct val="8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US" altLang="en-US" sz="1600" i="1"/>
              <a:t>“In addition, it is strongly recommended that you also hand carry the following documentation:</a:t>
            </a:r>
          </a:p>
          <a:p>
            <a:pPr marL="952500" lvl="1" indent="-266700">
              <a:lnSpc>
                <a:spcPct val="80000"/>
              </a:lnSpc>
              <a:spcBef>
                <a:spcPts val="350"/>
              </a:spcBef>
              <a:buClr>
                <a:srgbClr val="FFFFCC"/>
              </a:buClr>
              <a:buFont typeface="Gill Sans MT" panose="020B0502020104020203" pitchFamily="34" charset="0"/>
              <a:buChar char="•"/>
              <a:tabLst>
                <a:tab pos="569913" algn="l"/>
                <a:tab pos="1484313" algn="l"/>
                <a:tab pos="2398713" algn="l"/>
                <a:tab pos="3313113" algn="l"/>
                <a:tab pos="4227513" algn="l"/>
                <a:tab pos="5141913" algn="l"/>
                <a:tab pos="6056313" algn="l"/>
                <a:tab pos="6970713" algn="l"/>
                <a:tab pos="7885113" algn="l"/>
                <a:tab pos="8799513" algn="l"/>
                <a:tab pos="9713913" algn="l"/>
              </a:tabLst>
            </a:pPr>
            <a:r>
              <a:rPr lang="en-US" altLang="en-US" sz="1400"/>
              <a:t>Evidence of financial resources; </a:t>
            </a:r>
          </a:p>
          <a:p>
            <a:pPr marL="952500" lvl="1" indent="-266700">
              <a:lnSpc>
                <a:spcPct val="80000"/>
              </a:lnSpc>
              <a:spcBef>
                <a:spcPts val="350"/>
              </a:spcBef>
              <a:buClr>
                <a:srgbClr val="FFFFCC"/>
              </a:buClr>
              <a:buFont typeface="Gill Sans MT" panose="020B0502020104020203" pitchFamily="34" charset="0"/>
              <a:buChar char="•"/>
              <a:tabLst>
                <a:tab pos="569913" algn="l"/>
                <a:tab pos="1484313" algn="l"/>
                <a:tab pos="2398713" algn="l"/>
                <a:tab pos="3313113" algn="l"/>
                <a:tab pos="4227513" algn="l"/>
                <a:tab pos="5141913" algn="l"/>
                <a:tab pos="6056313" algn="l"/>
                <a:tab pos="6970713" algn="l"/>
                <a:tab pos="7885113" algn="l"/>
                <a:tab pos="8799513" algn="l"/>
                <a:tab pos="9713913" algn="l"/>
              </a:tabLst>
            </a:pPr>
            <a:r>
              <a:rPr lang="en-US" altLang="en-US" sz="1400"/>
              <a:t>Evidence of student status, such as recent tuition receipts and transcripts; </a:t>
            </a:r>
          </a:p>
          <a:p>
            <a:pPr marL="952500" lvl="1" indent="-266700">
              <a:lnSpc>
                <a:spcPct val="80000"/>
              </a:lnSpc>
              <a:spcBef>
                <a:spcPts val="350"/>
              </a:spcBef>
              <a:buClr>
                <a:srgbClr val="FFFFCC"/>
              </a:buClr>
              <a:buFont typeface="Gill Sans MT" panose="020B0502020104020203" pitchFamily="34" charset="0"/>
              <a:buChar char="•"/>
              <a:tabLst>
                <a:tab pos="569913" algn="l"/>
                <a:tab pos="1484313" algn="l"/>
                <a:tab pos="2398713" algn="l"/>
                <a:tab pos="3313113" algn="l"/>
                <a:tab pos="4227513" algn="l"/>
                <a:tab pos="5141913" algn="l"/>
                <a:tab pos="6056313" algn="l"/>
                <a:tab pos="6970713" algn="l"/>
                <a:tab pos="7885113" algn="l"/>
                <a:tab pos="8799513" algn="l"/>
                <a:tab pos="9713913" algn="l"/>
              </a:tabLst>
            </a:pPr>
            <a:r>
              <a:rPr lang="en-US" altLang="en-US" sz="1400"/>
              <a:t>Paper receipt for the SEVIS fee, Form I-797, and </a:t>
            </a:r>
          </a:p>
          <a:p>
            <a:pPr marL="952500" lvl="1" indent="-266700">
              <a:lnSpc>
                <a:spcPct val="80000"/>
              </a:lnSpc>
              <a:spcBef>
                <a:spcPts val="350"/>
              </a:spcBef>
              <a:buClr>
                <a:srgbClr val="FFFFCC"/>
              </a:buClr>
              <a:buFont typeface="Gill Sans MT" panose="020B0502020104020203" pitchFamily="34" charset="0"/>
              <a:buChar char="•"/>
              <a:tabLst>
                <a:tab pos="569913" algn="l"/>
                <a:tab pos="1484313" algn="l"/>
                <a:tab pos="2398713" algn="l"/>
                <a:tab pos="3313113" algn="l"/>
                <a:tab pos="4227513" algn="l"/>
                <a:tab pos="5141913" algn="l"/>
                <a:tab pos="6056313" algn="l"/>
                <a:tab pos="6970713" algn="l"/>
                <a:tab pos="7885113" algn="l"/>
                <a:tab pos="8799513" algn="l"/>
                <a:tab pos="9713913" algn="l"/>
              </a:tabLst>
            </a:pPr>
            <a:r>
              <a:rPr lang="en-US" altLang="en-US" sz="1400"/>
              <a:t>Name and contact information for your “Designated School Official”, including a 24-hour emergency contact number at the school.”</a:t>
            </a:r>
          </a:p>
          <a:p>
            <a:pPr marL="0" indent="0">
              <a:lnSpc>
                <a:spcPct val="80000"/>
              </a:lnSpc>
              <a:spcBef>
                <a:spcPts val="400"/>
              </a:spcBef>
              <a:buClr>
                <a:srgbClr val="FFFFCC"/>
              </a:buClr>
              <a:buSzPct val="80000"/>
              <a:buFont typeface="Gill Sans MT" panose="020B0502020104020203" pitchFamily="34" charset="0"/>
              <a:buNone/>
              <a:tabLst>
                <a:tab pos="569913" algn="l"/>
                <a:tab pos="1484313" algn="l"/>
                <a:tab pos="2398713" algn="l"/>
                <a:tab pos="3313113" algn="l"/>
                <a:tab pos="4227513" algn="l"/>
                <a:tab pos="5141913" algn="l"/>
                <a:tab pos="6056313" algn="l"/>
                <a:tab pos="6970713" algn="l"/>
                <a:tab pos="7885113" algn="l"/>
                <a:tab pos="8799513" algn="l"/>
                <a:tab pos="9713913" algn="l"/>
              </a:tabLst>
            </a:pPr>
            <a:endParaRPr lang="en-US" altLang="en-US" sz="1600"/>
          </a:p>
          <a:p>
            <a:pPr marL="0" indent="0">
              <a:lnSpc>
                <a:spcPct val="80000"/>
              </a:lnSpc>
              <a:spcBef>
                <a:spcPts val="400"/>
              </a:spcBef>
              <a:buClrTx/>
              <a:buSzPct val="8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US" altLang="en-US" sz="1600" b="1"/>
              <a:t>“If Arriving By Air:</a:t>
            </a:r>
            <a:r>
              <a:rPr lang="en-US" altLang="en-US" sz="1600"/>
              <a:t> Flight attendants will distribute Customs Declaration Forms (CF-6059) and Arrival Departure Record Forms (I-94). These must be completed prior to landing.”</a:t>
            </a:r>
          </a:p>
          <a:p>
            <a:pPr marL="0" indent="0">
              <a:lnSpc>
                <a:spcPct val="80000"/>
              </a:lnSpc>
              <a:spcBef>
                <a:spcPts val="400"/>
              </a:spcBef>
              <a:buClr>
                <a:srgbClr val="FFFFCC"/>
              </a:buClr>
              <a:buSzPct val="80000"/>
              <a:buFont typeface="Gill Sans MT" panose="020B0502020104020203" pitchFamily="34" charset="0"/>
              <a:buNone/>
              <a:tabLst>
                <a:tab pos="569913" algn="l"/>
                <a:tab pos="1484313" algn="l"/>
                <a:tab pos="2398713" algn="l"/>
                <a:tab pos="3313113" algn="l"/>
                <a:tab pos="4227513" algn="l"/>
                <a:tab pos="5141913" algn="l"/>
                <a:tab pos="6056313" algn="l"/>
                <a:tab pos="6970713" algn="l"/>
                <a:tab pos="7885113" algn="l"/>
                <a:tab pos="8799513" algn="l"/>
                <a:tab pos="9713913" algn="l"/>
              </a:tabLst>
            </a:pPr>
            <a:endParaRPr lang="en-US" altLang="en-US" sz="1600"/>
          </a:p>
          <a:p>
            <a:pPr marL="0" indent="0">
              <a:lnSpc>
                <a:spcPct val="80000"/>
              </a:lnSpc>
              <a:spcBef>
                <a:spcPts val="300"/>
              </a:spcBef>
              <a:buClrTx/>
              <a:buSzPct val="8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US" altLang="en-US" sz="1200">
                <a:solidFill>
                  <a:srgbClr val="FFFFCC"/>
                </a:solidFill>
              </a:rPr>
              <a:t>SOURCE:  </a:t>
            </a:r>
            <a:r>
              <a:rPr lang="en-US" altLang="en-US" sz="1200" u="sng">
                <a:solidFill>
                  <a:srgbClr val="FFFFCC"/>
                </a:solidFill>
              </a:rPr>
              <a:t>http://www.ice.gov/graphics/sevis/factsheet/100104ent_stdnt_fs.htm</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92B2007F-7A39-486A-BACD-BF81C4C5532B}"/>
              </a:ext>
            </a:extLst>
          </p:cNvPr>
          <p:cNvSpPr>
            <a:spLocks noGrp="1"/>
          </p:cNvSpPr>
          <p:nvPr>
            <p:ph type="sldNum" idx="12"/>
          </p:nvPr>
        </p:nvSpPr>
        <p:spPr/>
        <p:txBody>
          <a:bodyPr/>
          <a:lstStyle/>
          <a:p>
            <a:fld id="{E6E90D21-382C-4226-9798-700DAB1069D4}" type="slidenum">
              <a:rPr lang="en-US" altLang="en-US"/>
              <a:pPr/>
              <a:t>49</a:t>
            </a:fld>
            <a:endParaRPr lang="en-US" altLang="en-US"/>
          </a:p>
        </p:txBody>
      </p:sp>
      <p:sp>
        <p:nvSpPr>
          <p:cNvPr id="53249" name="Rectangle 1">
            <a:extLst>
              <a:ext uri="{FF2B5EF4-FFF2-40B4-BE49-F238E27FC236}">
                <a16:creationId xmlns:a16="http://schemas.microsoft.com/office/drawing/2014/main" id="{C78C8A8C-8FC6-4E72-ADB9-F8D35419A67E}"/>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PORT OF ENTRY DIGITAL SCREENING</a:t>
            </a:r>
          </a:p>
        </p:txBody>
      </p:sp>
      <p:sp>
        <p:nvSpPr>
          <p:cNvPr id="53250" name="Rectangle 2">
            <a:extLst>
              <a:ext uri="{FF2B5EF4-FFF2-40B4-BE49-F238E27FC236}">
                <a16:creationId xmlns:a16="http://schemas.microsoft.com/office/drawing/2014/main" id="{6019BAA4-B342-4415-A245-56EDDB3CFA0A}"/>
              </a:ext>
            </a:extLst>
          </p:cNvPr>
          <p:cNvSpPr>
            <a:spLocks noGrp="1" noChangeArrowheads="1"/>
          </p:cNvSpPr>
          <p:nvPr>
            <p:ph type="body" idx="4294967295"/>
          </p:nvPr>
        </p:nvSpPr>
        <p:spPr>
          <a:xfrm>
            <a:off x="1371600" y="1295400"/>
            <a:ext cx="6477000" cy="4892675"/>
          </a:xfrm>
          <a:ln/>
        </p:spPr>
        <p:txBody>
          <a:bodyPr/>
          <a:lstStyle/>
          <a:p>
            <a:pPr marL="0" indent="0">
              <a:lnSpc>
                <a:spcPct val="90000"/>
              </a:lnSpc>
              <a:spcBef>
                <a:spcPts val="500"/>
              </a:spcBef>
              <a:buClrTx/>
              <a:buSzPct val="8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US" altLang="en-US" sz="2000"/>
              <a:t>US-VISIT (United States Visitor and Immigrant Status Indicator Technology) involves:</a:t>
            </a:r>
          </a:p>
          <a:p>
            <a:pPr marL="0" indent="0">
              <a:lnSpc>
                <a:spcPct val="90000"/>
              </a:lnSpc>
              <a:spcBef>
                <a:spcPts val="500"/>
              </a:spcBef>
              <a:buClr>
                <a:srgbClr val="FFFFCC"/>
              </a:buClr>
              <a:buSzPct val="80000"/>
              <a:buFont typeface="Gill Sans MT" panose="020B0502020104020203" pitchFamily="34" charset="0"/>
              <a:buNone/>
              <a:tabLst>
                <a:tab pos="569913" algn="l"/>
                <a:tab pos="1484313" algn="l"/>
                <a:tab pos="2398713" algn="l"/>
                <a:tab pos="3313113" algn="l"/>
                <a:tab pos="4227513" algn="l"/>
                <a:tab pos="5141913" algn="l"/>
                <a:tab pos="6056313" algn="l"/>
                <a:tab pos="6970713" algn="l"/>
                <a:tab pos="7885113" algn="l"/>
                <a:tab pos="8799513" algn="l"/>
                <a:tab pos="9713913" algn="l"/>
              </a:tabLst>
            </a:pPr>
            <a:endParaRPr lang="en-US" altLang="en-US" sz="2000"/>
          </a:p>
          <a:p>
            <a:pPr marL="890588" lvl="1" indent="-381000">
              <a:lnSpc>
                <a:spcPct val="90000"/>
              </a:lnSpc>
              <a:spcBef>
                <a:spcPts val="450"/>
              </a:spcBef>
              <a:buClr>
                <a:srgbClr val="FFFFCC"/>
              </a:buClr>
              <a:buFont typeface="Gill Sans MT" panose="020B0502020104020203" pitchFamily="34" charset="0"/>
              <a:buChar char="–"/>
              <a:tabLst>
                <a:tab pos="569913" algn="l"/>
                <a:tab pos="1484313" algn="l"/>
                <a:tab pos="2398713" algn="l"/>
                <a:tab pos="3313113" algn="l"/>
                <a:tab pos="4227513" algn="l"/>
                <a:tab pos="5141913" algn="l"/>
                <a:tab pos="6056313" algn="l"/>
                <a:tab pos="6970713" algn="l"/>
                <a:tab pos="7885113" algn="l"/>
                <a:tab pos="8799513" algn="l"/>
                <a:tab pos="9713913" algn="l"/>
              </a:tabLst>
            </a:pPr>
            <a:r>
              <a:rPr lang="en-US" altLang="en-US" sz="1800"/>
              <a:t>“Inkless, digital finger scanner captures scans of left and right index fingers.</a:t>
            </a:r>
          </a:p>
          <a:p>
            <a:pPr marL="890588" lvl="1" indent="-381000">
              <a:lnSpc>
                <a:spcPct val="90000"/>
              </a:lnSpc>
              <a:spcBef>
                <a:spcPts val="450"/>
              </a:spcBef>
              <a:buClr>
                <a:srgbClr val="FFFFCC"/>
              </a:buClr>
              <a:buFont typeface="Gill Sans MT" panose="020B0502020104020203" pitchFamily="34" charset="0"/>
              <a:buNone/>
              <a:tabLst>
                <a:tab pos="569913" algn="l"/>
                <a:tab pos="1484313" algn="l"/>
                <a:tab pos="2398713" algn="l"/>
                <a:tab pos="3313113" algn="l"/>
                <a:tab pos="4227513" algn="l"/>
                <a:tab pos="5141913" algn="l"/>
                <a:tab pos="6056313" algn="l"/>
                <a:tab pos="6970713" algn="l"/>
                <a:tab pos="7885113" algn="l"/>
                <a:tab pos="8799513" algn="l"/>
                <a:tab pos="9713913" algn="l"/>
              </a:tabLst>
            </a:pPr>
            <a:endParaRPr lang="en-US" altLang="en-US" sz="1800"/>
          </a:p>
          <a:p>
            <a:pPr marL="890588" lvl="1" indent="-381000">
              <a:lnSpc>
                <a:spcPct val="90000"/>
              </a:lnSpc>
              <a:spcBef>
                <a:spcPts val="450"/>
              </a:spcBef>
              <a:buClr>
                <a:srgbClr val="FFFFCC"/>
              </a:buClr>
              <a:buFont typeface="Gill Sans MT" panose="020B0502020104020203" pitchFamily="34" charset="0"/>
              <a:buChar char="–"/>
              <a:tabLst>
                <a:tab pos="569913" algn="l"/>
                <a:tab pos="1484313" algn="l"/>
                <a:tab pos="2398713" algn="l"/>
                <a:tab pos="3313113" algn="l"/>
                <a:tab pos="4227513" algn="l"/>
                <a:tab pos="5141913" algn="l"/>
                <a:tab pos="6056313" algn="l"/>
                <a:tab pos="6970713" algn="l"/>
                <a:tab pos="7885113" algn="l"/>
                <a:tab pos="8799513" algn="l"/>
                <a:tab pos="9713913" algn="l"/>
              </a:tabLst>
            </a:pPr>
            <a:r>
              <a:rPr lang="en-US" altLang="en-US" sz="1800"/>
              <a:t>Officer then takes a digital photograph.</a:t>
            </a:r>
          </a:p>
          <a:p>
            <a:pPr marL="890588" lvl="1" indent="-381000">
              <a:lnSpc>
                <a:spcPct val="90000"/>
              </a:lnSpc>
              <a:spcBef>
                <a:spcPts val="450"/>
              </a:spcBef>
              <a:buClr>
                <a:srgbClr val="FFFFCC"/>
              </a:buClr>
              <a:buFont typeface="Gill Sans MT" panose="020B0502020104020203" pitchFamily="34" charset="0"/>
              <a:buNone/>
              <a:tabLst>
                <a:tab pos="569913" algn="l"/>
                <a:tab pos="1484313" algn="l"/>
                <a:tab pos="2398713" algn="l"/>
                <a:tab pos="3313113" algn="l"/>
                <a:tab pos="4227513" algn="l"/>
                <a:tab pos="5141913" algn="l"/>
                <a:tab pos="6056313" algn="l"/>
                <a:tab pos="6970713" algn="l"/>
                <a:tab pos="7885113" algn="l"/>
                <a:tab pos="8799513" algn="l"/>
                <a:tab pos="9713913" algn="l"/>
              </a:tabLst>
            </a:pPr>
            <a:endParaRPr lang="en-US" altLang="en-US" sz="1800"/>
          </a:p>
          <a:p>
            <a:pPr marL="890588" lvl="1" indent="-381000">
              <a:lnSpc>
                <a:spcPct val="90000"/>
              </a:lnSpc>
              <a:spcBef>
                <a:spcPts val="450"/>
              </a:spcBef>
              <a:buClr>
                <a:srgbClr val="FFFFCC"/>
              </a:buClr>
              <a:buFont typeface="Gill Sans MT" panose="020B0502020104020203" pitchFamily="34" charset="0"/>
              <a:buChar char="–"/>
              <a:tabLst>
                <a:tab pos="569913" algn="l"/>
                <a:tab pos="1484313" algn="l"/>
                <a:tab pos="2398713" algn="l"/>
                <a:tab pos="3313113" algn="l"/>
                <a:tab pos="4227513" algn="l"/>
                <a:tab pos="5141913" algn="l"/>
                <a:tab pos="6056313" algn="l"/>
                <a:tab pos="6970713" algn="l"/>
                <a:tab pos="7885113" algn="l"/>
                <a:tab pos="8799513" algn="l"/>
                <a:tab pos="9713913" algn="l"/>
              </a:tabLst>
            </a:pPr>
            <a:r>
              <a:rPr lang="en-US" altLang="en-US" sz="1800"/>
              <a:t>Biographic and biometric data are used to match identity against State Department data acquired when visa was issued.”</a:t>
            </a:r>
          </a:p>
          <a:p>
            <a:pPr marL="0" indent="0">
              <a:lnSpc>
                <a:spcPct val="90000"/>
              </a:lnSpc>
              <a:spcBef>
                <a:spcPts val="300"/>
              </a:spcBef>
              <a:buClr>
                <a:srgbClr val="FFFFCC"/>
              </a:buClr>
              <a:buSzPct val="80000"/>
              <a:buFont typeface="Gill Sans MT" panose="020B0502020104020203" pitchFamily="34" charset="0"/>
              <a:buNone/>
              <a:tabLst>
                <a:tab pos="569913" algn="l"/>
                <a:tab pos="1484313" algn="l"/>
                <a:tab pos="2398713" algn="l"/>
                <a:tab pos="3313113" algn="l"/>
                <a:tab pos="4227513" algn="l"/>
                <a:tab pos="5141913" algn="l"/>
                <a:tab pos="6056313" algn="l"/>
                <a:tab pos="6970713" algn="l"/>
                <a:tab pos="7885113" algn="l"/>
                <a:tab pos="8799513" algn="l"/>
                <a:tab pos="9713913" algn="l"/>
              </a:tabLst>
            </a:pPr>
            <a:endParaRPr lang="en-US" altLang="en-US" sz="1200"/>
          </a:p>
          <a:p>
            <a:pPr marL="0" indent="0">
              <a:lnSpc>
                <a:spcPct val="90000"/>
              </a:lnSpc>
              <a:spcBef>
                <a:spcPts val="300"/>
              </a:spcBef>
              <a:buClr>
                <a:srgbClr val="FFFFCC"/>
              </a:buClr>
              <a:buSzPct val="80000"/>
              <a:buFont typeface="Gill Sans MT" panose="020B0502020104020203" pitchFamily="34" charset="0"/>
              <a:buNone/>
              <a:tabLst>
                <a:tab pos="569913" algn="l"/>
                <a:tab pos="1484313" algn="l"/>
                <a:tab pos="2398713" algn="l"/>
                <a:tab pos="3313113" algn="l"/>
                <a:tab pos="4227513" algn="l"/>
                <a:tab pos="5141913" algn="l"/>
                <a:tab pos="6056313" algn="l"/>
                <a:tab pos="6970713" algn="l"/>
                <a:tab pos="7885113" algn="l"/>
                <a:tab pos="8799513" algn="l"/>
                <a:tab pos="9713913" algn="l"/>
              </a:tabLst>
            </a:pPr>
            <a:endParaRPr lang="en-US" altLang="en-US" sz="1200"/>
          </a:p>
          <a:p>
            <a:pPr marL="0" indent="0">
              <a:lnSpc>
                <a:spcPct val="90000"/>
              </a:lnSpc>
              <a:spcBef>
                <a:spcPts val="300"/>
              </a:spcBef>
              <a:buClr>
                <a:srgbClr val="FFFFCC"/>
              </a:buClr>
              <a:buSzPct val="80000"/>
              <a:buFont typeface="Gill Sans MT" panose="020B0502020104020203" pitchFamily="34" charset="0"/>
              <a:buNone/>
              <a:tabLst>
                <a:tab pos="569913" algn="l"/>
                <a:tab pos="1484313" algn="l"/>
                <a:tab pos="2398713" algn="l"/>
                <a:tab pos="3313113" algn="l"/>
                <a:tab pos="4227513" algn="l"/>
                <a:tab pos="5141913" algn="l"/>
                <a:tab pos="6056313" algn="l"/>
                <a:tab pos="6970713" algn="l"/>
                <a:tab pos="7885113" algn="l"/>
                <a:tab pos="8799513" algn="l"/>
                <a:tab pos="9713913" algn="l"/>
              </a:tabLst>
            </a:pPr>
            <a:endParaRPr lang="en-US" altLang="en-US" sz="1200"/>
          </a:p>
          <a:p>
            <a:pPr marL="0" indent="0">
              <a:lnSpc>
                <a:spcPct val="90000"/>
              </a:lnSpc>
              <a:spcBef>
                <a:spcPts val="300"/>
              </a:spcBef>
              <a:buClr>
                <a:srgbClr val="FFFFCC"/>
              </a:buClr>
              <a:buSzPct val="80000"/>
              <a:buFont typeface="Gill Sans MT" panose="020B0502020104020203" pitchFamily="34" charset="0"/>
              <a:buNone/>
              <a:tabLst>
                <a:tab pos="569913" algn="l"/>
                <a:tab pos="1484313" algn="l"/>
                <a:tab pos="2398713" algn="l"/>
                <a:tab pos="3313113" algn="l"/>
                <a:tab pos="4227513" algn="l"/>
                <a:tab pos="5141913" algn="l"/>
                <a:tab pos="6056313" algn="l"/>
                <a:tab pos="6970713" algn="l"/>
                <a:tab pos="7885113" algn="l"/>
                <a:tab pos="8799513" algn="l"/>
                <a:tab pos="9713913" algn="l"/>
              </a:tabLst>
            </a:pPr>
            <a:endParaRPr lang="en-US" altLang="en-US" sz="1200"/>
          </a:p>
          <a:p>
            <a:pPr marL="0" indent="0">
              <a:lnSpc>
                <a:spcPct val="90000"/>
              </a:lnSpc>
              <a:spcBef>
                <a:spcPts val="300"/>
              </a:spcBef>
              <a:buClr>
                <a:srgbClr val="FFFFCC"/>
              </a:buClr>
              <a:buSzPct val="80000"/>
              <a:buFont typeface="Gill Sans MT" panose="020B0502020104020203" pitchFamily="34" charset="0"/>
              <a:buNone/>
              <a:tabLst>
                <a:tab pos="569913" algn="l"/>
                <a:tab pos="1484313" algn="l"/>
                <a:tab pos="2398713" algn="l"/>
                <a:tab pos="3313113" algn="l"/>
                <a:tab pos="4227513" algn="l"/>
                <a:tab pos="5141913" algn="l"/>
                <a:tab pos="6056313" algn="l"/>
                <a:tab pos="6970713" algn="l"/>
                <a:tab pos="7885113" algn="l"/>
                <a:tab pos="8799513" algn="l"/>
                <a:tab pos="9713913" algn="l"/>
              </a:tabLst>
            </a:pPr>
            <a:endParaRPr lang="en-US" altLang="en-US" sz="1200">
              <a:solidFill>
                <a:srgbClr val="FFFFCC"/>
              </a:solidFill>
            </a:endParaRPr>
          </a:p>
          <a:p>
            <a:pPr marL="0" indent="0">
              <a:lnSpc>
                <a:spcPct val="90000"/>
              </a:lnSpc>
              <a:spcBef>
                <a:spcPts val="300"/>
              </a:spcBef>
              <a:buClrTx/>
              <a:buSzPct val="80000"/>
              <a:buFontTx/>
              <a:buNone/>
              <a:tabLst>
                <a:tab pos="569913" algn="l"/>
                <a:tab pos="1484313" algn="l"/>
                <a:tab pos="2398713" algn="l"/>
                <a:tab pos="3313113" algn="l"/>
                <a:tab pos="4227513" algn="l"/>
                <a:tab pos="5141913" algn="l"/>
                <a:tab pos="6056313" algn="l"/>
                <a:tab pos="6970713" algn="l"/>
                <a:tab pos="7885113" algn="l"/>
                <a:tab pos="8799513" algn="l"/>
                <a:tab pos="9713913" algn="l"/>
              </a:tabLst>
            </a:pPr>
            <a:r>
              <a:rPr lang="en-US" altLang="en-US" sz="1200">
                <a:solidFill>
                  <a:srgbClr val="FFFFCC"/>
                </a:solidFill>
              </a:rPr>
              <a:t>SOURCE: DHS; “More Ports of Entry to Use Digital Screening,” </a:t>
            </a:r>
            <a:r>
              <a:rPr lang="en-US" altLang="en-US" sz="1200" u="sng">
                <a:solidFill>
                  <a:srgbClr val="FFFFCC"/>
                </a:solidFill>
              </a:rPr>
              <a:t>LA Times</a:t>
            </a:r>
            <a:r>
              <a:rPr lang="en-US" altLang="en-US" sz="1200">
                <a:solidFill>
                  <a:srgbClr val="FFFFCC"/>
                </a:solidFill>
              </a:rPr>
              <a:t>, 4 January 2005, p. A14.</a:t>
            </a:r>
          </a:p>
          <a:p>
            <a:pPr marL="0" indent="0">
              <a:lnSpc>
                <a:spcPct val="90000"/>
              </a:lnSpc>
              <a:spcBef>
                <a:spcPts val="300"/>
              </a:spcBef>
              <a:buClr>
                <a:srgbClr val="FFFFCC"/>
              </a:buClr>
              <a:buSzPct val="80000"/>
              <a:buFont typeface="Gill Sans MT" panose="020B0502020104020203" pitchFamily="34" charset="0"/>
              <a:buNone/>
              <a:tabLst>
                <a:tab pos="569913" algn="l"/>
                <a:tab pos="1484313" algn="l"/>
                <a:tab pos="2398713" algn="l"/>
                <a:tab pos="3313113" algn="l"/>
                <a:tab pos="4227513" algn="l"/>
                <a:tab pos="5141913" algn="l"/>
                <a:tab pos="6056313" algn="l"/>
                <a:tab pos="6970713" algn="l"/>
                <a:tab pos="7885113" algn="l"/>
                <a:tab pos="8799513" algn="l"/>
                <a:tab pos="9713913" algn="l"/>
              </a:tabLst>
            </a:pPr>
            <a:endParaRPr lang="en-US" altLang="en-US" sz="1200">
              <a:solidFill>
                <a:srgbClr val="FFFFCC"/>
              </a:solidFill>
            </a:endParaRP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1E70AC5A-9204-41CD-80C0-4C95CF47AD3D}"/>
              </a:ext>
            </a:extLst>
          </p:cNvPr>
          <p:cNvSpPr>
            <a:spLocks noGrp="1"/>
          </p:cNvSpPr>
          <p:nvPr>
            <p:ph type="sldNum" idx="12"/>
          </p:nvPr>
        </p:nvSpPr>
        <p:spPr/>
        <p:txBody>
          <a:bodyPr/>
          <a:lstStyle/>
          <a:p>
            <a:fld id="{6DA32507-ACEA-40D3-ABD5-A738867ADF44}" type="slidenum">
              <a:rPr lang="en-US" altLang="en-US"/>
              <a:pPr/>
              <a:t>50</a:t>
            </a:fld>
            <a:endParaRPr lang="en-US" altLang="en-US"/>
          </a:p>
        </p:txBody>
      </p:sp>
      <p:sp>
        <p:nvSpPr>
          <p:cNvPr id="54273" name="Rectangle 1">
            <a:extLst>
              <a:ext uri="{FF2B5EF4-FFF2-40B4-BE49-F238E27FC236}">
                <a16:creationId xmlns:a16="http://schemas.microsoft.com/office/drawing/2014/main" id="{734A74C6-ED7A-4D9A-8F16-AD8FB5C568BB}"/>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THINGS TO AVOID…	</a:t>
            </a:r>
          </a:p>
        </p:txBody>
      </p:sp>
      <p:sp>
        <p:nvSpPr>
          <p:cNvPr id="54274" name="Rectangle 2">
            <a:extLst>
              <a:ext uri="{FF2B5EF4-FFF2-40B4-BE49-F238E27FC236}">
                <a16:creationId xmlns:a16="http://schemas.microsoft.com/office/drawing/2014/main" id="{FAE92D7F-B52F-4077-8C06-1E0A08FCEB6D}"/>
              </a:ext>
            </a:extLst>
          </p:cNvPr>
          <p:cNvSpPr>
            <a:spLocks noGrp="1" noChangeArrowheads="1"/>
          </p:cNvSpPr>
          <p:nvPr>
            <p:ph type="body" idx="4294967295"/>
          </p:nvPr>
        </p:nvSpPr>
        <p:spPr>
          <a:xfrm>
            <a:off x="1371600" y="1295400"/>
            <a:ext cx="6019800" cy="4724400"/>
          </a:xfrm>
          <a:ln/>
        </p:spPr>
        <p:txBody>
          <a:bodyPr/>
          <a:lstStyle/>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Congressional offices cannot expedite visas</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Embassies and consulates probably should not be contacted directly about particular visa applications</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80E15F4D-AD65-4735-9709-1EE1E23D923D}"/>
              </a:ext>
            </a:extLst>
          </p:cNvPr>
          <p:cNvSpPr>
            <a:spLocks noGrp="1"/>
          </p:cNvSpPr>
          <p:nvPr>
            <p:ph type="sldNum" idx="12"/>
          </p:nvPr>
        </p:nvSpPr>
        <p:spPr/>
        <p:txBody>
          <a:bodyPr/>
          <a:lstStyle/>
          <a:p>
            <a:fld id="{29B24E52-7707-4F2D-AB70-848006BE696E}" type="slidenum">
              <a:rPr lang="en-US" altLang="en-US"/>
              <a:pPr/>
              <a:t>51</a:t>
            </a:fld>
            <a:endParaRPr lang="en-US" altLang="en-US"/>
          </a:p>
        </p:txBody>
      </p:sp>
      <p:sp>
        <p:nvSpPr>
          <p:cNvPr id="55297" name="Rectangle 1">
            <a:extLst>
              <a:ext uri="{FF2B5EF4-FFF2-40B4-BE49-F238E27FC236}">
                <a16:creationId xmlns:a16="http://schemas.microsoft.com/office/drawing/2014/main" id="{357A49BF-F1C9-4A71-A3FD-C30077D186F7}"/>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APPLICANT RECOMMENDATIONS</a:t>
            </a:r>
          </a:p>
        </p:txBody>
      </p:sp>
      <p:sp>
        <p:nvSpPr>
          <p:cNvPr id="55298" name="Rectangle 2">
            <a:extLst>
              <a:ext uri="{FF2B5EF4-FFF2-40B4-BE49-F238E27FC236}">
                <a16:creationId xmlns:a16="http://schemas.microsoft.com/office/drawing/2014/main" id="{97EBCDD8-2C9B-49EF-952C-B3D9F3973448}"/>
              </a:ext>
            </a:extLst>
          </p:cNvPr>
          <p:cNvSpPr>
            <a:spLocks noGrp="1" noChangeArrowheads="1"/>
          </p:cNvSpPr>
          <p:nvPr>
            <p:ph type="body" idx="4294967295"/>
          </p:nvPr>
        </p:nvSpPr>
        <p:spPr>
          <a:xfrm>
            <a:off x="1371600" y="1295400"/>
            <a:ext cx="5867400" cy="4724400"/>
          </a:xfrm>
          <a:ln/>
        </p:spPr>
        <p:txBody>
          <a:bodyPr/>
          <a:lstStyle/>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Applicants should consistently use their passport name on all other official documentation</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Follow the recommendations and tips at </a:t>
            </a:r>
            <a:r>
              <a:rPr lang="en-US" altLang="en-US" u="sng"/>
              <a:t>http://travel.state.gov</a:t>
            </a:r>
            <a:r>
              <a:rPr lang="en-US" altLang="en-US"/>
              <a:t> for the US consular office which has jurisdiction…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5AD261B4-3376-4BB5-876A-612612B4257A}"/>
              </a:ext>
            </a:extLst>
          </p:cNvPr>
          <p:cNvSpPr>
            <a:spLocks noGrp="1"/>
          </p:cNvSpPr>
          <p:nvPr>
            <p:ph type="sldNum" idx="12"/>
          </p:nvPr>
        </p:nvSpPr>
        <p:spPr/>
        <p:txBody>
          <a:bodyPr/>
          <a:lstStyle/>
          <a:p>
            <a:fld id="{8F23823E-244C-42E3-8B10-ADA1CD7DB60E}" type="slidenum">
              <a:rPr lang="en-US" altLang="en-US"/>
              <a:pPr/>
              <a:t>52</a:t>
            </a:fld>
            <a:endParaRPr lang="en-US" altLang="en-US"/>
          </a:p>
        </p:txBody>
      </p:sp>
      <p:sp>
        <p:nvSpPr>
          <p:cNvPr id="56321" name="Rectangle 1">
            <a:extLst>
              <a:ext uri="{FF2B5EF4-FFF2-40B4-BE49-F238E27FC236}">
                <a16:creationId xmlns:a16="http://schemas.microsoft.com/office/drawing/2014/main" id="{451239CC-CBED-4C0B-A627-72B8AA4830D0}"/>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FACULTY RECOMMENDATIONS</a:t>
            </a:r>
          </a:p>
        </p:txBody>
      </p:sp>
      <p:sp>
        <p:nvSpPr>
          <p:cNvPr id="56322" name="Rectangle 2">
            <a:extLst>
              <a:ext uri="{FF2B5EF4-FFF2-40B4-BE49-F238E27FC236}">
                <a16:creationId xmlns:a16="http://schemas.microsoft.com/office/drawing/2014/main" id="{906A2AE6-711C-4E0F-8640-D4EBF3B26909}"/>
              </a:ext>
            </a:extLst>
          </p:cNvPr>
          <p:cNvSpPr>
            <a:spLocks noGrp="1" noChangeArrowheads="1"/>
          </p:cNvSpPr>
          <p:nvPr>
            <p:ph type="body" idx="4294967295"/>
          </p:nvPr>
        </p:nvSpPr>
        <p:spPr>
          <a:xfrm>
            <a:off x="1371600" y="1295400"/>
            <a:ext cx="6019800" cy="4724400"/>
          </a:xfrm>
          <a:ln/>
        </p:spPr>
        <p:txBody>
          <a:bodyPr/>
          <a:lstStyle/>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On international trips, give a talk about getting into US graduate schools</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Make earlier departmental decisions</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Increase departmental support to international students</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Goal: change perception that the US is not welcoming and that visas are hard to get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7C25AEAB-2F54-4EC6-A5EA-75008D692967}"/>
              </a:ext>
            </a:extLst>
          </p:cNvPr>
          <p:cNvSpPr>
            <a:spLocks noGrp="1"/>
          </p:cNvSpPr>
          <p:nvPr>
            <p:ph type="sldNum" idx="12"/>
          </p:nvPr>
        </p:nvSpPr>
        <p:spPr/>
        <p:txBody>
          <a:bodyPr/>
          <a:lstStyle/>
          <a:p>
            <a:fld id="{4DB2294B-07D2-4B3B-81F3-82AB0F0449E7}" type="slidenum">
              <a:rPr lang="en-US" altLang="en-US"/>
              <a:pPr/>
              <a:t>53</a:t>
            </a:fld>
            <a:endParaRPr lang="en-US" altLang="en-US"/>
          </a:p>
        </p:txBody>
      </p:sp>
      <p:sp>
        <p:nvSpPr>
          <p:cNvPr id="57345" name="Rectangle 1">
            <a:extLst>
              <a:ext uri="{FF2B5EF4-FFF2-40B4-BE49-F238E27FC236}">
                <a16:creationId xmlns:a16="http://schemas.microsoft.com/office/drawing/2014/main" id="{0D45B00E-6F15-4975-8605-BC320DF6E569}"/>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DEAN RECOMMENDATIONS</a:t>
            </a:r>
          </a:p>
        </p:txBody>
      </p:sp>
      <p:sp>
        <p:nvSpPr>
          <p:cNvPr id="57346" name="Rectangle 2">
            <a:extLst>
              <a:ext uri="{FF2B5EF4-FFF2-40B4-BE49-F238E27FC236}">
                <a16:creationId xmlns:a16="http://schemas.microsoft.com/office/drawing/2014/main" id="{1819A902-C800-4CF3-85A5-4771CE9D3859}"/>
              </a:ext>
            </a:extLst>
          </p:cNvPr>
          <p:cNvSpPr>
            <a:spLocks noGrp="1" noChangeArrowheads="1"/>
          </p:cNvSpPr>
          <p:nvPr>
            <p:ph type="body" idx="4294967295"/>
          </p:nvPr>
        </p:nvSpPr>
        <p:spPr>
          <a:xfrm>
            <a:off x="1371600" y="1295400"/>
            <a:ext cx="5867400" cy="6288088"/>
          </a:xfrm>
          <a:ln/>
        </p:spPr>
        <p:txBody>
          <a:bodyPr/>
          <a:lstStyle/>
          <a:p>
            <a:pPr marL="341313" indent="-341313">
              <a:lnSpc>
                <a:spcPct val="90000"/>
              </a:lnSpc>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NRT waivers and IELTS/TOEFL inter-changeability</a:t>
            </a:r>
          </a:p>
          <a:p>
            <a:pPr marL="341313" indent="-341313">
              <a:lnSpc>
                <a:spcPct val="90000"/>
              </a:lnSpc>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lnSpc>
                <a:spcPct val="90000"/>
              </a:lnSpc>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Propose paying for SEVIS fee</a:t>
            </a:r>
          </a:p>
          <a:p>
            <a:pPr marL="341313" indent="-341313">
              <a:lnSpc>
                <a:spcPct val="90000"/>
              </a:lnSpc>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lnSpc>
                <a:spcPct val="90000"/>
              </a:lnSpc>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Support staff membership in NAFSA</a:t>
            </a:r>
          </a:p>
          <a:p>
            <a:pPr marL="341313" indent="-341313">
              <a:lnSpc>
                <a:spcPct val="90000"/>
              </a:lnSpc>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lnSpc>
                <a:spcPct val="90000"/>
              </a:lnSpc>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Consider visiting US Congress on macro visa topics:</a:t>
            </a:r>
          </a:p>
          <a:p>
            <a:pPr marL="741363" lvl="1" indent="-284163">
              <a:lnSpc>
                <a:spcPct val="90000"/>
              </a:lnSpc>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Representative (Boehner, R-OH; Lugar, R-IN)</a:t>
            </a:r>
          </a:p>
          <a:p>
            <a:pPr marL="741363" lvl="1" indent="-284163">
              <a:lnSpc>
                <a:spcPct val="90000"/>
              </a:lnSpc>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Senator (Gregg, R-NH; Kennedy, D-MA)</a:t>
            </a:r>
          </a:p>
          <a:p>
            <a:pPr marL="741363" lvl="1" indent="-284163">
              <a:lnSpc>
                <a:spcPct val="90000"/>
              </a:lnSpc>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Members, Committee on Government Reform</a:t>
            </a:r>
          </a:p>
          <a:p>
            <a:pPr marL="341313" indent="-341313">
              <a:lnSpc>
                <a:spcPct val="90000"/>
              </a:lnSpc>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lnSpc>
                <a:spcPct val="90000"/>
              </a:lnSpc>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lnSpc>
                <a:spcPct val="90000"/>
              </a:lnSpc>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CF814153-DDDC-45F3-9469-5FEB200AFB06}"/>
              </a:ext>
            </a:extLst>
          </p:cNvPr>
          <p:cNvSpPr>
            <a:spLocks noGrp="1"/>
          </p:cNvSpPr>
          <p:nvPr>
            <p:ph type="sldNum" idx="12"/>
          </p:nvPr>
        </p:nvSpPr>
        <p:spPr/>
        <p:txBody>
          <a:bodyPr/>
          <a:lstStyle/>
          <a:p>
            <a:fld id="{9A0D2437-7253-4E17-A888-9A68B42BE756}" type="slidenum">
              <a:rPr lang="en-US" altLang="en-US"/>
              <a:pPr/>
              <a:t>54</a:t>
            </a:fld>
            <a:endParaRPr lang="en-US" altLang="en-US"/>
          </a:p>
        </p:txBody>
      </p:sp>
      <p:sp>
        <p:nvSpPr>
          <p:cNvPr id="58369" name="Rectangle 1">
            <a:extLst>
              <a:ext uri="{FF2B5EF4-FFF2-40B4-BE49-F238E27FC236}">
                <a16:creationId xmlns:a16="http://schemas.microsoft.com/office/drawing/2014/main" id="{E65E93A6-7CB1-4E87-8177-7C26EE49D33D}"/>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UNIVERSITY STAFF RECOMMENDATIONS</a:t>
            </a:r>
          </a:p>
        </p:txBody>
      </p:sp>
      <p:sp>
        <p:nvSpPr>
          <p:cNvPr id="58370" name="Rectangle 2">
            <a:extLst>
              <a:ext uri="{FF2B5EF4-FFF2-40B4-BE49-F238E27FC236}">
                <a16:creationId xmlns:a16="http://schemas.microsoft.com/office/drawing/2014/main" id="{3C824D00-65AF-45E9-8FFA-69FC553E3202}"/>
              </a:ext>
            </a:extLst>
          </p:cNvPr>
          <p:cNvSpPr>
            <a:spLocks noGrp="1" noChangeArrowheads="1"/>
          </p:cNvSpPr>
          <p:nvPr>
            <p:ph type="body" idx="4294967295"/>
          </p:nvPr>
        </p:nvSpPr>
        <p:spPr>
          <a:xfrm>
            <a:off x="1371600" y="1295400"/>
            <a:ext cx="6477000" cy="4870450"/>
          </a:xfrm>
          <a:ln/>
        </p:spPr>
        <p:txBody>
          <a:bodyPr/>
          <a:lstStyle/>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Encourage applicants to use name on passport consistently on all official documents</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Campaign for NRT waivers</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Consider writing US Congress re macro issues:</a:t>
            </a:r>
          </a:p>
          <a:p>
            <a:pPr marL="741363" lvl="1" indent="-284163">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Representative</a:t>
            </a:r>
          </a:p>
          <a:p>
            <a:pPr marL="741363" lvl="1" indent="-284163">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Senator</a:t>
            </a:r>
          </a:p>
          <a:p>
            <a:pPr marL="741363" lvl="1" indent="-284163">
              <a:buClr>
                <a:srgbClr val="FFFFCC"/>
              </a:buClr>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Members, Committee on Government Reform</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9D43C0F2-17C1-4021-8B0E-E86A39EA9949}"/>
              </a:ext>
            </a:extLst>
          </p:cNvPr>
          <p:cNvSpPr>
            <a:spLocks noGrp="1"/>
          </p:cNvSpPr>
          <p:nvPr>
            <p:ph type="sldNum" idx="12"/>
          </p:nvPr>
        </p:nvSpPr>
        <p:spPr/>
        <p:txBody>
          <a:bodyPr/>
          <a:lstStyle/>
          <a:p>
            <a:fld id="{01F09B57-CE10-4009-9D36-ABB8994E7F37}" type="slidenum">
              <a:rPr lang="en-US" altLang="en-US"/>
              <a:pPr/>
              <a:t>55</a:t>
            </a:fld>
            <a:endParaRPr lang="en-US" altLang="en-US"/>
          </a:p>
        </p:txBody>
      </p:sp>
      <p:sp>
        <p:nvSpPr>
          <p:cNvPr id="59393" name="Rectangle 1">
            <a:extLst>
              <a:ext uri="{FF2B5EF4-FFF2-40B4-BE49-F238E27FC236}">
                <a16:creationId xmlns:a16="http://schemas.microsoft.com/office/drawing/2014/main" id="{E4C2D996-630B-4B68-98BC-9DFE159C3E37}"/>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FURTHER QUESTIONS</a:t>
            </a:r>
          </a:p>
        </p:txBody>
      </p:sp>
      <p:sp>
        <p:nvSpPr>
          <p:cNvPr id="59394" name="Rectangle 2">
            <a:extLst>
              <a:ext uri="{FF2B5EF4-FFF2-40B4-BE49-F238E27FC236}">
                <a16:creationId xmlns:a16="http://schemas.microsoft.com/office/drawing/2014/main" id="{152B5867-B6E9-4904-8722-29763DC33C09}"/>
              </a:ext>
            </a:extLst>
          </p:cNvPr>
          <p:cNvSpPr>
            <a:spLocks noGrp="1" noChangeArrowheads="1"/>
          </p:cNvSpPr>
          <p:nvPr>
            <p:ph type="body" idx="4294967295"/>
          </p:nvPr>
        </p:nvSpPr>
        <p:spPr>
          <a:xfrm>
            <a:off x="1371600" y="1295400"/>
            <a:ext cx="6477000" cy="4724400"/>
          </a:xfrm>
          <a:ln/>
        </p:spPr>
        <p:txBody>
          <a:bodyPr/>
          <a:lstStyle/>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What else would you like to know about?</a:t>
            </a:r>
          </a:p>
          <a:p>
            <a:pPr marL="341313" indent="-341313">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a:p>
          <a:p>
            <a:pPr marL="341313" indent="-341313">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What other questions do you have?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66F93CAD-F99C-4F27-AF7B-27E7D5D48E1C}"/>
              </a:ext>
            </a:extLst>
          </p:cNvPr>
          <p:cNvSpPr>
            <a:spLocks noGrp="1"/>
          </p:cNvSpPr>
          <p:nvPr>
            <p:ph type="sldNum" idx="12"/>
          </p:nvPr>
        </p:nvSpPr>
        <p:spPr/>
        <p:txBody>
          <a:bodyPr/>
          <a:lstStyle/>
          <a:p>
            <a:fld id="{A9B2908F-C080-41AA-8EE3-B4F031997349}" type="slidenum">
              <a:rPr lang="en-US" altLang="en-US"/>
              <a:pPr/>
              <a:t>56</a:t>
            </a:fld>
            <a:endParaRPr lang="en-US" altLang="en-US"/>
          </a:p>
        </p:txBody>
      </p:sp>
      <p:sp>
        <p:nvSpPr>
          <p:cNvPr id="60417" name="Rectangle 1">
            <a:extLst>
              <a:ext uri="{FF2B5EF4-FFF2-40B4-BE49-F238E27FC236}">
                <a16:creationId xmlns:a16="http://schemas.microsoft.com/office/drawing/2014/main" id="{8E60D9C3-7237-46A9-97AB-461361DE2F69}"/>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READINGS</a:t>
            </a:r>
          </a:p>
        </p:txBody>
      </p:sp>
      <p:sp>
        <p:nvSpPr>
          <p:cNvPr id="60418" name="Rectangle 2">
            <a:extLst>
              <a:ext uri="{FF2B5EF4-FFF2-40B4-BE49-F238E27FC236}">
                <a16:creationId xmlns:a16="http://schemas.microsoft.com/office/drawing/2014/main" id="{C366AAF4-3E96-4747-8D10-0B7E67FE8850}"/>
              </a:ext>
            </a:extLst>
          </p:cNvPr>
          <p:cNvSpPr>
            <a:spLocks noGrp="1" noChangeArrowheads="1"/>
          </p:cNvSpPr>
          <p:nvPr>
            <p:ph type="body" idx="4294967295"/>
          </p:nvPr>
        </p:nvSpPr>
        <p:spPr>
          <a:xfrm>
            <a:off x="1371600" y="1295400"/>
            <a:ext cx="6477000" cy="5294313"/>
          </a:xfrm>
          <a:ln/>
        </p:spPr>
        <p:txBody>
          <a:bodyPr/>
          <a:lstStyle/>
          <a:p>
            <a:pPr indent="-341313">
              <a:lnSpc>
                <a:spcPct val="80000"/>
              </a:lnSpc>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200"/>
              <a:t>Barr, Stephen. “At Foreign Service, Road to the Top Will Run Through Hardship Posts,” </a:t>
            </a:r>
            <a:r>
              <a:rPr lang="en-US" altLang="en-US" sz="1200" u="sng"/>
              <a:t>The Washington Post</a:t>
            </a:r>
            <a:r>
              <a:rPr lang="en-US" altLang="en-US" sz="1200"/>
              <a:t>, 10 December 2004, p. B2.</a:t>
            </a:r>
          </a:p>
          <a:p>
            <a:pPr indent="-341313">
              <a:lnSpc>
                <a:spcPct val="80000"/>
              </a:lnSpc>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200"/>
          </a:p>
          <a:p>
            <a:pPr indent="-341313">
              <a:lnSpc>
                <a:spcPct val="80000"/>
              </a:lnSpc>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200"/>
              <a:t>Brender, Alan.  “South Korean Seeks Huge Increaser in Number of Foreign Students,” </a:t>
            </a:r>
            <a:r>
              <a:rPr lang="en-US" altLang="en-US" sz="1200" u="sng"/>
              <a:t>Chronicle of Higher Education</a:t>
            </a:r>
            <a:r>
              <a:rPr lang="en-US" altLang="en-US" sz="1200"/>
              <a:t> 51 (4 March 2005): A36 </a:t>
            </a:r>
          </a:p>
          <a:p>
            <a:pPr indent="-341313">
              <a:lnSpc>
                <a:spcPct val="80000"/>
              </a:lnSpc>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200"/>
          </a:p>
          <a:p>
            <a:pPr indent="-341313">
              <a:lnSpc>
                <a:spcPct val="80000"/>
              </a:lnSpc>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200"/>
              <a:t>Brown, Heath A. and Syverson, Peter D. </a:t>
            </a:r>
            <a:r>
              <a:rPr lang="en-US" altLang="en-US" sz="1200" u="sng"/>
              <a:t>International Graduate Admissions Survey Program</a:t>
            </a:r>
            <a:r>
              <a:rPr lang="en-US" altLang="en-US" sz="1200"/>
              <a:t>.  Washington, DC: Council of Graduate Schools, Summer 2004.</a:t>
            </a:r>
          </a:p>
          <a:p>
            <a:pPr indent="-341313">
              <a:lnSpc>
                <a:spcPct val="80000"/>
              </a:lnSpc>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200"/>
          </a:p>
          <a:p>
            <a:pPr indent="-341313">
              <a:lnSpc>
                <a:spcPct val="80000"/>
              </a:lnSpc>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200"/>
              <a:t>Freedman, Samuel G. “Grad School’s International Glow Dims,” </a:t>
            </a:r>
            <a:r>
              <a:rPr lang="en-US" altLang="en-US" sz="1200" u="sng"/>
              <a:t>New York Times</a:t>
            </a:r>
            <a:r>
              <a:rPr lang="en-US" altLang="en-US" sz="1200"/>
              <a:t>, 27 October 2004.</a:t>
            </a:r>
          </a:p>
          <a:p>
            <a:pPr indent="-341313">
              <a:lnSpc>
                <a:spcPct val="80000"/>
              </a:lnSpc>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200"/>
          </a:p>
          <a:p>
            <a:pPr indent="-341313">
              <a:lnSpc>
                <a:spcPct val="80000"/>
              </a:lnSpc>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200"/>
              <a:t>Gordon, Charles; Stanley Mailman and Stephen Yale-Loeh. </a:t>
            </a:r>
            <a:r>
              <a:rPr lang="en-US" altLang="en-US" sz="1200" u="sng"/>
              <a:t>Immigration Law &amp; Procedure</a:t>
            </a:r>
            <a:r>
              <a:rPr lang="en-US" altLang="en-US" sz="1200"/>
              <a:t>.  ***: Matthew Bender, 2004.</a:t>
            </a:r>
          </a:p>
          <a:p>
            <a:pPr indent="-341313">
              <a:lnSpc>
                <a:spcPct val="80000"/>
              </a:lnSpc>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200"/>
          </a:p>
          <a:p>
            <a:pPr indent="-341313">
              <a:lnSpc>
                <a:spcPct val="80000"/>
              </a:lnSpc>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200"/>
              <a:t>Hanassab, Shideh and Tidwell, Romeria.  “International Students in Higher Education: Identification of Needs and Implications for Policy and Practice,” </a:t>
            </a:r>
            <a:r>
              <a:rPr lang="en-US" altLang="en-US" sz="1200" u="sng"/>
              <a:t>Journal of Studies in International Education</a:t>
            </a:r>
            <a:r>
              <a:rPr lang="en-US" altLang="en-US" sz="1200"/>
              <a:t> 6 (Winter 2002): 305-322.</a:t>
            </a:r>
          </a:p>
          <a:p>
            <a:pPr indent="-341313">
              <a:lnSpc>
                <a:spcPct val="80000"/>
              </a:lnSpc>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200"/>
          </a:p>
          <a:p>
            <a:pPr indent="-341313">
              <a:lnSpc>
                <a:spcPct val="80000"/>
              </a:lnSpc>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200"/>
              <a:t>Harty, Maury.  “US Visa Policy: Securing Borders and Opening Doors,”  </a:t>
            </a:r>
            <a:r>
              <a:rPr lang="en-US" altLang="en-US" sz="1200" u="sng"/>
              <a:t>Washington Quarterly</a:t>
            </a:r>
            <a:r>
              <a:rPr lang="en-US" altLang="en-US" sz="1200"/>
              <a:t> 28 (Spring 2005): 23-34.</a:t>
            </a:r>
          </a:p>
          <a:p>
            <a:pPr indent="-341313">
              <a:lnSpc>
                <a:spcPct val="80000"/>
              </a:lnSpc>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200"/>
          </a:p>
          <a:p>
            <a:pPr indent="-341313">
              <a:lnSpc>
                <a:spcPct val="80000"/>
              </a:lnSpc>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200"/>
              <a:t>Hunt, Gaillard .  </a:t>
            </a:r>
            <a:r>
              <a:rPr lang="en-US" altLang="en-US" sz="1200" u="sng"/>
              <a:t>The American passport; its history and a digest of laws, rulings and regulations governing its issuance</a:t>
            </a:r>
            <a:r>
              <a:rPr lang="en-US" altLang="en-US" sz="1200"/>
              <a:t> Washington, DC: GPO, 1898.</a:t>
            </a:r>
          </a:p>
          <a:p>
            <a:pPr indent="-341313">
              <a:lnSpc>
                <a:spcPct val="80000"/>
              </a:lnSpc>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200"/>
          </a:p>
          <a:p>
            <a:pPr indent="-341313">
              <a:lnSpc>
                <a:spcPct val="80000"/>
              </a:lnSpc>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200"/>
              <a:t>Mervis, Jeffrey.  “Is the U.S. Brain Gain Faltering?” </a:t>
            </a:r>
            <a:r>
              <a:rPr lang="en-US" altLang="en-US" sz="1200" u="sng"/>
              <a:t>Science</a:t>
            </a:r>
            <a:r>
              <a:rPr lang="en-US" altLang="en-US" sz="1200"/>
              <a:t> 304 (no. 5675, 28 May 2004): 1278-1282.</a:t>
            </a:r>
          </a:p>
          <a:p>
            <a:pPr indent="-341313">
              <a:lnSpc>
                <a:spcPct val="80000"/>
              </a:lnSpc>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200"/>
          </a:p>
          <a:p>
            <a:pPr indent="-341313">
              <a:lnSpc>
                <a:spcPct val="80000"/>
              </a:lnSpc>
              <a:spcBef>
                <a:spcPts val="30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200"/>
              <a:t>Olaniran, Bolanle A.  and Williams, David E. ”Communication Distortion: An Intercultural Lesson from the Visa Application Process,” </a:t>
            </a:r>
            <a:r>
              <a:rPr lang="en-US" altLang="en-US" sz="1200" b="1"/>
              <a:t> </a:t>
            </a:r>
            <a:r>
              <a:rPr lang="en-US" altLang="en-US" sz="1200" u="sng"/>
              <a:t>Communication Quarterly</a:t>
            </a:r>
            <a:r>
              <a:rPr lang="en-US" altLang="en-US" sz="1200"/>
              <a:t> 43 n2 (Spring 1995): 225-40.</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B76EA18-52A7-4993-A833-FBBEDBB29765}"/>
              </a:ext>
            </a:extLst>
          </p:cNvPr>
          <p:cNvSpPr>
            <a:spLocks noGrp="1"/>
          </p:cNvSpPr>
          <p:nvPr>
            <p:ph type="sldNum" idx="12"/>
          </p:nvPr>
        </p:nvSpPr>
        <p:spPr/>
        <p:txBody>
          <a:bodyPr/>
          <a:lstStyle/>
          <a:p>
            <a:fld id="{BA72E9B4-DA44-4B00-AF99-404D39BADCCA}" type="slidenum">
              <a:rPr lang="en-US" altLang="en-US"/>
              <a:pPr/>
              <a:t>57</a:t>
            </a:fld>
            <a:endParaRPr lang="en-US" altLang="en-US"/>
          </a:p>
        </p:txBody>
      </p:sp>
      <p:sp>
        <p:nvSpPr>
          <p:cNvPr id="61441" name="Rectangle 1">
            <a:extLst>
              <a:ext uri="{FF2B5EF4-FFF2-40B4-BE49-F238E27FC236}">
                <a16:creationId xmlns:a16="http://schemas.microsoft.com/office/drawing/2014/main" id="{0F9815E0-130C-445A-AD73-5EFE823F7AA6}"/>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EVEN MORE READINGS</a:t>
            </a:r>
          </a:p>
        </p:txBody>
      </p:sp>
      <p:sp>
        <p:nvSpPr>
          <p:cNvPr id="61442" name="Rectangle 2">
            <a:extLst>
              <a:ext uri="{FF2B5EF4-FFF2-40B4-BE49-F238E27FC236}">
                <a16:creationId xmlns:a16="http://schemas.microsoft.com/office/drawing/2014/main" id="{7674494B-0554-4E6D-82EB-6AD0B2423ED2}"/>
              </a:ext>
            </a:extLst>
          </p:cNvPr>
          <p:cNvSpPr>
            <a:spLocks noGrp="1" noChangeArrowheads="1"/>
          </p:cNvSpPr>
          <p:nvPr>
            <p:ph type="body" idx="4294967295"/>
          </p:nvPr>
        </p:nvSpPr>
        <p:spPr>
          <a:xfrm>
            <a:off x="1371600" y="1295400"/>
            <a:ext cx="6477000" cy="5413375"/>
          </a:xfrm>
          <a:ln/>
        </p:spPr>
        <p:txBody>
          <a:bodyPr/>
          <a:lstStyle/>
          <a:p>
            <a:pPr indent="-341313">
              <a:lnSpc>
                <a:spcPct val="80000"/>
              </a:lnSpc>
              <a:spcBef>
                <a:spcPts val="35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400"/>
              <a:t>Reid, T.R. </a:t>
            </a:r>
            <a:r>
              <a:rPr lang="en-US" altLang="en-US" sz="1400" u="sng"/>
              <a:t>The United States Of Europe: The New Superpower and the End of American Supremacy</a:t>
            </a:r>
            <a:r>
              <a:rPr lang="en-US" altLang="en-US" sz="1400"/>
              <a:t> .  New York: Penguin, 2004.</a:t>
            </a:r>
          </a:p>
          <a:p>
            <a:pPr indent="-341313">
              <a:lnSpc>
                <a:spcPct val="80000"/>
              </a:lnSpc>
              <a:spcBef>
                <a:spcPts val="35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400"/>
          </a:p>
          <a:p>
            <a:pPr indent="-341313">
              <a:lnSpc>
                <a:spcPct val="80000"/>
              </a:lnSpc>
              <a:spcBef>
                <a:spcPts val="35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400"/>
              <a:t>Selvaratnam, Viswanathan.</a:t>
            </a:r>
            <a:r>
              <a:rPr lang="en-US" altLang="en-US" sz="1400" u="sng"/>
              <a:t>  Innovations in Higher Education. Singapore at the Competitive Edge</a:t>
            </a:r>
            <a:r>
              <a:rPr lang="en-US" altLang="en-US" sz="1400"/>
              <a:t>. Washington, D.C.: The World Bank, 1994. </a:t>
            </a:r>
          </a:p>
          <a:p>
            <a:pPr indent="-341313">
              <a:lnSpc>
                <a:spcPct val="80000"/>
              </a:lnSpc>
              <a:spcBef>
                <a:spcPts val="35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400"/>
          </a:p>
          <a:p>
            <a:pPr indent="-341313">
              <a:lnSpc>
                <a:spcPct val="80000"/>
              </a:lnSpc>
              <a:spcBef>
                <a:spcPts val="35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400"/>
              <a:t>Stimpson, Catharine.  “Foreign Students Need Not Apply,” </a:t>
            </a:r>
            <a:r>
              <a:rPr lang="en-US" altLang="en-US" sz="1400" u="sng"/>
              <a:t>CGS Communicator</a:t>
            </a:r>
            <a:r>
              <a:rPr lang="en-US" altLang="en-US" sz="1400"/>
              <a:t> 39, no. 9 (November 2003): 1, 4.</a:t>
            </a:r>
          </a:p>
          <a:p>
            <a:pPr indent="-341313">
              <a:lnSpc>
                <a:spcPct val="80000"/>
              </a:lnSpc>
              <a:spcBef>
                <a:spcPts val="35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400"/>
          </a:p>
          <a:p>
            <a:pPr indent="-341313">
              <a:lnSpc>
                <a:spcPct val="80000"/>
              </a:lnSpc>
              <a:spcBef>
                <a:spcPts val="35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400"/>
              <a:t>Torpey, John et al.  </a:t>
            </a:r>
            <a:r>
              <a:rPr lang="en-US" altLang="en-US" sz="1400" u="sng"/>
              <a:t>The Invention of the Passport: Surveillance, Citizenship and the State</a:t>
            </a:r>
            <a:r>
              <a:rPr lang="en-US" altLang="en-US" sz="1400"/>
              <a:t>.  Cambridge: CUP, 2000.</a:t>
            </a:r>
          </a:p>
          <a:p>
            <a:pPr indent="-341313">
              <a:lnSpc>
                <a:spcPct val="80000"/>
              </a:lnSpc>
              <a:spcBef>
                <a:spcPts val="35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400"/>
          </a:p>
          <a:p>
            <a:pPr indent="-341313">
              <a:lnSpc>
                <a:spcPct val="80000"/>
              </a:lnSpc>
              <a:spcBef>
                <a:spcPts val="35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400"/>
              <a:t>U.S. Department of State, Office of the Inspector General.  </a:t>
            </a:r>
            <a:r>
              <a:rPr lang="en-US" altLang="en-US" sz="1400" u="sng"/>
              <a:t>Review of Nonimmigrant Visa Issuance Policy and Procedure</a:t>
            </a:r>
            <a:r>
              <a:rPr lang="en-US" altLang="en-US" sz="1400"/>
              <a:t>.  Memorandum Report ISP-I-03-26.  Washington, DC: December 2002.</a:t>
            </a:r>
          </a:p>
          <a:p>
            <a:pPr indent="-341313">
              <a:lnSpc>
                <a:spcPct val="80000"/>
              </a:lnSpc>
              <a:spcBef>
                <a:spcPts val="35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400"/>
          </a:p>
          <a:p>
            <a:pPr indent="-341313">
              <a:lnSpc>
                <a:spcPct val="80000"/>
              </a:lnSpc>
              <a:spcBef>
                <a:spcPts val="35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400"/>
              <a:t>U.S. Department of State, “Technology Alert List,” 9 </a:t>
            </a:r>
            <a:r>
              <a:rPr lang="en-US" altLang="en-US" sz="1400" u="sng"/>
              <a:t>FAM</a:t>
            </a:r>
            <a:r>
              <a:rPr lang="en-US" altLang="en-US" sz="1400"/>
              <a:t> 40.31, Exhibit I.</a:t>
            </a:r>
          </a:p>
          <a:p>
            <a:pPr indent="-341313">
              <a:lnSpc>
                <a:spcPct val="80000"/>
              </a:lnSpc>
              <a:spcBef>
                <a:spcPts val="35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400"/>
          </a:p>
          <a:p>
            <a:pPr indent="-341313">
              <a:lnSpc>
                <a:spcPct val="80000"/>
              </a:lnSpc>
              <a:spcBef>
                <a:spcPts val="35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400"/>
              <a:t>U.S. Department of State, Office of the Coordinator for Counterterrorism, “Overview of State-Sponsored Terrorism” (30 April 2001).</a:t>
            </a:r>
          </a:p>
          <a:p>
            <a:pPr indent="-341313">
              <a:lnSpc>
                <a:spcPct val="80000"/>
              </a:lnSpc>
              <a:spcBef>
                <a:spcPts val="35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400"/>
          </a:p>
          <a:p>
            <a:pPr indent="-341313">
              <a:lnSpc>
                <a:spcPct val="80000"/>
              </a:lnSpc>
              <a:spcBef>
                <a:spcPts val="350"/>
              </a:spcBef>
              <a:buClrTx/>
              <a:buSzPct val="80000"/>
              <a:buFontTx/>
              <a:buNone/>
              <a:tabLst>
                <a:tab pos="912813" algn="l"/>
                <a:tab pos="1827213" algn="l"/>
                <a:tab pos="2741613" algn="l"/>
                <a:tab pos="3656013" algn="l"/>
                <a:tab pos="4570413" algn="l"/>
                <a:tab pos="5484813" algn="l"/>
                <a:tab pos="6399213" algn="l"/>
                <a:tab pos="7313613" algn="l"/>
                <a:tab pos="8228013" algn="l"/>
                <a:tab pos="9142413" algn="l"/>
                <a:tab pos="10056813" algn="l"/>
              </a:tabLst>
            </a:pPr>
            <a:r>
              <a:rPr lang="en-US" altLang="en-US" sz="1400"/>
              <a:t> U.S. Congress. House of Representatives. “Dealing with Foreign Students and Scholars in an Age of Terrorism: Visa Backlogs and Tracking Systems.” Hearing before the Committee on Science. House of    Representatives, One Hundred Eighth Congress, First Session (March 26, 2003).</a:t>
            </a:r>
          </a:p>
          <a:p>
            <a:pPr indent="-341313">
              <a:lnSpc>
                <a:spcPct val="80000"/>
              </a:lnSpc>
              <a:spcBef>
                <a:spcPts val="350"/>
              </a:spcBef>
              <a:buClr>
                <a:srgbClr val="FFFFCC"/>
              </a:buClr>
              <a:buSzPct val="80000"/>
              <a:buFont typeface="Gill Sans MT" panose="020B0502020104020203" pitchFamily="34" charset="0"/>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400"/>
          </a:p>
          <a:p>
            <a:pPr indent="-341313">
              <a:lnSpc>
                <a:spcPct val="80000"/>
              </a:lnSpc>
              <a:spcBef>
                <a:spcPts val="350"/>
              </a:spcBef>
              <a:buClr>
                <a:srgbClr val="FFFFCC"/>
              </a:buClr>
              <a:buSzPct val="80000"/>
              <a:buFont typeface="Gill Sans MT" panose="020B0502020104020203" pitchFamily="34" charset="0"/>
              <a:buNone/>
              <a:tabLst>
                <a:tab pos="912813" algn="l"/>
                <a:tab pos="1827213" algn="l"/>
                <a:tab pos="2741613" algn="l"/>
                <a:tab pos="3656013" algn="l"/>
                <a:tab pos="4570413" algn="l"/>
                <a:tab pos="5484813" algn="l"/>
                <a:tab pos="6399213" algn="l"/>
                <a:tab pos="7313613" algn="l"/>
                <a:tab pos="8228013" algn="l"/>
                <a:tab pos="9142413" algn="l"/>
                <a:tab pos="10056813" algn="l"/>
              </a:tabLst>
            </a:pPr>
            <a:endParaRPr lang="en-US" altLang="en-US" sz="1400"/>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9D3569B5-2B98-4F31-AD5B-7730A8D2158D}"/>
              </a:ext>
            </a:extLst>
          </p:cNvPr>
          <p:cNvSpPr>
            <a:spLocks noGrp="1"/>
          </p:cNvSpPr>
          <p:nvPr>
            <p:ph type="sldNum" idx="12"/>
          </p:nvPr>
        </p:nvSpPr>
        <p:spPr/>
        <p:txBody>
          <a:bodyPr/>
          <a:lstStyle/>
          <a:p>
            <a:fld id="{F6AEF6BB-1438-43CB-989C-21D650A3F91F}" type="slidenum">
              <a:rPr lang="en-US" altLang="en-US"/>
              <a:pPr/>
              <a:t>58</a:t>
            </a:fld>
            <a:endParaRPr lang="en-US" altLang="en-US"/>
          </a:p>
        </p:txBody>
      </p:sp>
      <p:sp>
        <p:nvSpPr>
          <p:cNvPr id="62465" name="Rectangle 1">
            <a:extLst>
              <a:ext uri="{FF2B5EF4-FFF2-40B4-BE49-F238E27FC236}">
                <a16:creationId xmlns:a16="http://schemas.microsoft.com/office/drawing/2014/main" id="{BD0B1410-2451-49B8-9558-EF234C0055A7}"/>
              </a:ext>
            </a:extLst>
          </p:cNvPr>
          <p:cNvSpPr>
            <a:spLocks noGrp="1" noChangeArrowheads="1"/>
          </p:cNvSpPr>
          <p:nvPr>
            <p:ph type="title" idx="4294967295"/>
          </p:nvPr>
        </p:nvSpPr>
        <p:spPr>
          <a:xfrm>
            <a:off x="1066800" y="152400"/>
            <a:ext cx="7010400" cy="9144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ACKNOWLEDGMENTS</a:t>
            </a:r>
          </a:p>
        </p:txBody>
      </p:sp>
      <p:sp>
        <p:nvSpPr>
          <p:cNvPr id="62466" name="Rectangle 2">
            <a:extLst>
              <a:ext uri="{FF2B5EF4-FFF2-40B4-BE49-F238E27FC236}">
                <a16:creationId xmlns:a16="http://schemas.microsoft.com/office/drawing/2014/main" id="{98C56389-5CE9-4181-8AD2-ED83A00DBDC2}"/>
              </a:ext>
            </a:extLst>
          </p:cNvPr>
          <p:cNvSpPr>
            <a:spLocks noGrp="1" noChangeArrowheads="1"/>
          </p:cNvSpPr>
          <p:nvPr>
            <p:ph type="body" idx="4294967295"/>
          </p:nvPr>
        </p:nvSpPr>
        <p:spPr>
          <a:xfrm>
            <a:off x="1371600" y="1295400"/>
            <a:ext cx="6477000" cy="4724400"/>
          </a:xfrm>
          <a:ln/>
        </p:spPr>
        <p:txBody>
          <a:bodyPr/>
          <a:lstStyle/>
          <a:p>
            <a:pPr marL="341313" indent="-341313">
              <a:lnSpc>
                <a:spcPct val="9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In UCLA’s Graduate Division: Dan Bennett (Graduate Admissions/Student &amp; Academic Affairs), Mats Granlund (IRIS), Ken Hill (GEL), Jacqueline Nagatsuka (IRIS), Pamela Taylor (IRIS), Jim Turner (former AVC), and Mary Watkins (IRIS);</a:t>
            </a:r>
          </a:p>
          <a:p>
            <a:pPr marL="341313" indent="-341313">
              <a:lnSpc>
                <a:spcPct val="9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9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In UCLA’s Graduate Student Association: Amanda Moussa and Michelle Sugi; and</a:t>
            </a:r>
          </a:p>
          <a:p>
            <a:pPr marL="341313" indent="-341313">
              <a:lnSpc>
                <a:spcPct val="9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90000"/>
              </a:lnSpc>
              <a:spcBef>
                <a:spcPts val="500"/>
              </a:spcBef>
              <a:buClr>
                <a:srgbClr val="FFFFCC"/>
              </a:buClr>
              <a:buSzPct val="80000"/>
              <a:buFont typeface="Gill Sans MT" panose="020B0502020104020203"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At US State Department: Kelly Shannon and Stephen “Tony” Edson (Head of Visa Services).</a:t>
            </a:r>
          </a:p>
          <a:p>
            <a:pPr marL="341313" indent="-341313">
              <a:lnSpc>
                <a:spcPct val="9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a:p>
            <a:pPr marL="341313" indent="-341313">
              <a:lnSpc>
                <a:spcPct val="90000"/>
              </a:lnSpc>
              <a:spcBef>
                <a:spcPts val="500"/>
              </a:spcBef>
              <a:buClr>
                <a:srgbClr val="FFFFCC"/>
              </a:buClr>
              <a:buSzPct val="80000"/>
              <a:buFont typeface="Gill Sans MT" panose="020B0502020104020203"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200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Gill Sans MT"/>
        <a:ea typeface=""/>
        <a:cs typeface="Arial"/>
      </a:majorFont>
      <a:minorFont>
        <a:latin typeface="Gill Sans MT"/>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Arial" panose="020B0604020202020204" pitchFamily="34" charset="0"/>
            <a:cs typeface="Arial" panose="020B0604020202020204" pitchFamily="34"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Gill Sans MT"/>
        <a:ea typeface=""/>
        <a:cs typeface="Arial"/>
      </a:majorFont>
      <a:minorFont>
        <a:latin typeface="Gill Sans MT"/>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Arial" panose="020B0604020202020204" pitchFamily="34" charset="0"/>
            <a:cs typeface="Arial" panose="020B0604020202020204" pitchFamily="34"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6938</TotalTime>
  <Words>6471</Words>
  <Application>Microsoft Office PowerPoint</Application>
  <PresentationFormat>On-screen Show (4:3)</PresentationFormat>
  <Paragraphs>883</Paragraphs>
  <Slides>58</Slides>
  <Notes>58</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0</vt:i4>
      </vt:variant>
      <vt:variant>
        <vt:lpstr>Slide Titles</vt:lpstr>
      </vt:variant>
      <vt:variant>
        <vt:i4>58</vt:i4>
      </vt:variant>
    </vt:vector>
  </HeadingPairs>
  <TitlesOfParts>
    <vt:vector size="66" baseType="lpstr">
      <vt:lpstr>Times New Roman</vt:lpstr>
      <vt:lpstr>Gill Sans MT</vt:lpstr>
      <vt:lpstr>Arial</vt:lpstr>
      <vt:lpstr>Lucida Sans Unicode</vt:lpstr>
      <vt:lpstr>Wingdings</vt:lpstr>
      <vt:lpstr>Arial Black</vt:lpstr>
      <vt:lpstr>Office Theme</vt:lpstr>
      <vt:lpstr>Office Theme</vt:lpstr>
      <vt:lpstr>INTERNATIONAL GRADUATE STUDENTS: Conflicts between Security and Science in the Issuing of Visas</vt:lpstr>
      <vt:lpstr>INTERNATIONAL STUDENT ENROLLMENT DECLINES</vt:lpstr>
      <vt:lpstr>GRADUATE APPLICATIONS DECLINE</vt:lpstr>
      <vt:lpstr>A SERIOUS PROBLEM NATIONALLY</vt:lpstr>
      <vt:lpstr>MULTIPLE REASONS</vt:lpstr>
      <vt:lpstr>INCREASE IN NRT AT UCLA</vt:lpstr>
      <vt:lpstr>EUROPEAN UNION (EU)</vt:lpstr>
      <vt:lpstr>EU HEADS OF STATE (LISBON, 2000)</vt:lpstr>
      <vt:lpstr>EU’S AREA OF HIGHER EDUCATION</vt:lpstr>
      <vt:lpstr>HONG KONG</vt:lpstr>
      <vt:lpstr>SINGAPORE</vt:lpstr>
      <vt:lpstr>SOUTH KOREA</vt:lpstr>
      <vt:lpstr>AUSTRALIA AND NEW ZEALAND</vt:lpstr>
      <vt:lpstr>FIRST US DECLINE SINCE 1971</vt:lpstr>
      <vt:lpstr>GRE SUSPENSIONS</vt:lpstr>
      <vt:lpstr>FEWER GRE EXAM TAKERS</vt:lpstr>
      <vt:lpstr>ATTITUDES AND PERCEPTIONS</vt:lpstr>
      <vt:lpstr>PERCEPTUAL CHANGES,1999 TO 2003</vt:lpstr>
      <vt:lpstr>A TYPICAL GRADUATE STUDENT</vt:lpstr>
      <vt:lpstr>UCLA INTERNATIONAL STUDENTS, 2001</vt:lpstr>
      <vt:lpstr>UCLA INTERNATIONAL STUDENTS, 2001</vt:lpstr>
      <vt:lpstr>BUREAU OF CONSULAR AFFAIRS (STATE)</vt:lpstr>
      <vt:lpstr>WHAT IS A VISA?</vt:lpstr>
      <vt:lpstr>VISAS ISSUED, 1995 TO PRESENT</vt:lpstr>
      <vt:lpstr>STUDENT &amp; EXCHANGE VISITOR INFORMATION SYSTEM (DHS/ICE)</vt:lpstr>
      <vt:lpstr>APPLICANT CALLS POST FOR…</vt:lpstr>
      <vt:lpstr>JURIDICAL PERSONS (PASSPORTS)</vt:lpstr>
      <vt:lpstr>SEVERAL PROBLEMATIC PASSPORTS</vt:lpstr>
      <vt:lpstr>STATE SPONSORED TERRORISM (STATE)</vt:lpstr>
      <vt:lpstr>CONSULAR POST</vt:lpstr>
      <vt:lpstr>CONSULAR OFFICER</vt:lpstr>
      <vt:lpstr>A CONSULAR INTERVIEW</vt:lpstr>
      <vt:lpstr>CLASS (State)</vt:lpstr>
      <vt:lpstr>CONSULAR CONSOLIDATED DATABASE</vt:lpstr>
      <vt:lpstr>SECURITY ADVISORY OPINION </vt:lpstr>
      <vt:lpstr>SAO (State)</vt:lpstr>
      <vt:lpstr>  (State)</vt:lpstr>
      <vt:lpstr>VISAS MANTIS (codeword1)</vt:lpstr>
      <vt:lpstr>VISAS MANTIS (State)</vt:lpstr>
      <vt:lpstr>MANTIS SAO BACKLOGS DECLINE</vt:lpstr>
      <vt:lpstr>IMMIGRATION AND NATIONALITY ACT</vt:lpstr>
      <vt:lpstr>INA 214 (b) VISA DENIALS</vt:lpstr>
      <vt:lpstr>P.L. 107-173</vt:lpstr>
      <vt:lpstr>SUCCESS…VISA IS ISSUED</vt:lpstr>
      <vt:lpstr>FY 2003 F-1 VISA DENIALS (GAO)</vt:lpstr>
      <vt:lpstr>FY 2003 J-1 VISA APPROVALS (GAO)</vt:lpstr>
      <vt:lpstr>COMPUTER ASSISTED PASSENGER PRESCREENING PROGRAM II (TSA)</vt:lpstr>
      <vt:lpstr>PORT OF ENTRY</vt:lpstr>
      <vt:lpstr>PORT OF ENTRY DIGITAL SCREENING</vt:lpstr>
      <vt:lpstr>THINGS TO AVOID… </vt:lpstr>
      <vt:lpstr>APPLICANT RECOMMENDATIONS</vt:lpstr>
      <vt:lpstr>FACULTY RECOMMENDATIONS</vt:lpstr>
      <vt:lpstr>DEAN RECOMMENDATIONS</vt:lpstr>
      <vt:lpstr>UNIVERSITY STAFF RECOMMENDATIONS</vt:lpstr>
      <vt:lpstr>FURTHER QUESTIONS</vt:lpstr>
      <vt:lpstr>READINGS</vt:lpstr>
      <vt:lpstr>EVEN MORE READINGS</vt:lpstr>
      <vt:lpstr>ACKNOWLEDGMENTS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Students: Visa Processes</dc:title>
  <dc:creator>Dr. John V. Richardson Jr.</dc:creator>
  <cp:lastModifiedBy>kiritdani57@gmail.com</cp:lastModifiedBy>
  <cp:revision>348</cp:revision>
  <cp:lastPrinted>1601-01-01T00:00:00Z</cp:lastPrinted>
  <dcterms:created xsi:type="dcterms:W3CDTF">2004-11-17T21:42:10Z</dcterms:created>
  <dcterms:modified xsi:type="dcterms:W3CDTF">2021-02-10T05:59:16Z</dcterms:modified>
</cp:coreProperties>
</file>