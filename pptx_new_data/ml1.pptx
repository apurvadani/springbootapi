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9" r:id="rId1"/>
  </p:sldMasterIdLst>
  <p:notesMasterIdLst>
    <p:notesMasterId r:id="rId23"/>
  </p:notesMasterIdLst>
  <p:handoutMasterIdLst>
    <p:handoutMasterId r:id="rId24"/>
  </p:handoutMasterIdLst>
  <p:sldIdLst>
    <p:sldId id="264" r:id="rId2"/>
    <p:sldId id="415" r:id="rId3"/>
    <p:sldId id="257" r:id="rId4"/>
    <p:sldId id="272" r:id="rId5"/>
    <p:sldId id="284" r:id="rId6"/>
    <p:sldId id="418" r:id="rId7"/>
    <p:sldId id="271" r:id="rId8"/>
    <p:sldId id="273" r:id="rId9"/>
    <p:sldId id="258" r:id="rId10"/>
    <p:sldId id="274" r:id="rId11"/>
    <p:sldId id="417" r:id="rId12"/>
    <p:sldId id="276" r:id="rId13"/>
    <p:sldId id="285" r:id="rId14"/>
    <p:sldId id="275" r:id="rId15"/>
    <p:sldId id="277" r:id="rId16"/>
    <p:sldId id="278" r:id="rId17"/>
    <p:sldId id="279" r:id="rId18"/>
    <p:sldId id="280" r:id="rId19"/>
    <p:sldId id="281" r:id="rId20"/>
    <p:sldId id="419" r:id="rId21"/>
    <p:sldId id="420" r:id="rId22"/>
  </p:sldIdLst>
  <p:sldSz cx="9144000" cy="6858000" type="screen4x3"/>
  <p:notesSz cx="10234613" cy="7099300"/>
  <p:defaultTextStyle>
    <a:defPPr>
      <a:defRPr lang="tr-TR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Palatino Linotype" panose="0204050205050503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Palatino Linotype" panose="0204050205050503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Palatino Linotype" panose="0204050205050503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Palatino Linotype" panose="0204050205050503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Palatino Linotype" panose="02040502050505030304" pitchFamily="18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Palatino Linotype" panose="02040502050505030304" pitchFamily="18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Palatino Linotype" panose="02040502050505030304" pitchFamily="18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Palatino Linotype" panose="02040502050505030304" pitchFamily="18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Palatino Linotype" panose="0204050205050503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6">
          <p15:clr>
            <a:srgbClr val="A4A3A4"/>
          </p15:clr>
        </p15:guide>
        <p15:guide id="2" pos="322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66FF33"/>
    <a:srgbClr val="3333FF"/>
    <a:srgbClr val="990033"/>
    <a:srgbClr val="FF6600"/>
    <a:srgbClr val="FF0000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94241" autoAdjust="0"/>
  </p:normalViewPr>
  <p:slideViewPr>
    <p:cSldViewPr>
      <p:cViewPr varScale="1">
        <p:scale>
          <a:sx n="64" d="100"/>
          <a:sy n="64" d="100"/>
        </p:scale>
        <p:origin x="156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-702" y="-84"/>
      </p:cViewPr>
      <p:guideLst>
        <p:guide orient="horz" pos="2236"/>
        <p:guide pos="322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2B361890-7F3E-409A-B9A0-0D65B8F72BB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3DEF72EA-8CDD-45C2-94DE-3AE1C2FDB3E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797550" y="0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129028" name="Rectangle 4">
            <a:extLst>
              <a:ext uri="{FF2B5EF4-FFF2-40B4-BE49-F238E27FC236}">
                <a16:creationId xmlns:a16="http://schemas.microsoft.com/office/drawing/2014/main" id="{BD6BAF9A-818D-414C-901E-C809AE3E6ED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742113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Ch. </a:t>
            </a:r>
            <a:r>
              <a:rPr lang="en-US" err="1"/>
              <a:t>Eick</a:t>
            </a:r>
            <a:r>
              <a:rPr lang="en-US"/>
              <a:t>: COSC 6342: ML</a:t>
            </a:r>
            <a:endParaRPr lang="tr-TR"/>
          </a:p>
        </p:txBody>
      </p:sp>
      <p:sp>
        <p:nvSpPr>
          <p:cNvPr id="129029" name="Rectangle 5">
            <a:extLst>
              <a:ext uri="{FF2B5EF4-FFF2-40B4-BE49-F238E27FC236}">
                <a16:creationId xmlns:a16="http://schemas.microsoft.com/office/drawing/2014/main" id="{A13A2ED5-22C7-42D5-A000-D0B4ECA687F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797550" y="6742113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panose="020B0604020202020204" pitchFamily="34" charset="0"/>
              </a:defRPr>
            </a:lvl1pPr>
          </a:lstStyle>
          <a:p>
            <a:fld id="{77D9C7E1-83FE-46BC-A73B-A7087919D1E1}" type="slidenum">
              <a:rPr lang="tr-TR" altLang="en-US"/>
              <a:pPr/>
              <a:t>‹#›</a:t>
            </a:fld>
            <a:endParaRPr lang="tr-T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DB480C64-B0A9-4DBD-82C2-307B1563F70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01FF2246-A71B-4F6C-8EEB-D74D05573E1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797550" y="0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FA1D99E8-B076-479D-BACF-7C022C1F2572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3341688" y="531813"/>
            <a:ext cx="3549650" cy="26622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7" name="Rectangle 5">
            <a:extLst>
              <a:ext uri="{FF2B5EF4-FFF2-40B4-BE49-F238E27FC236}">
                <a16:creationId xmlns:a16="http://schemas.microsoft.com/office/drawing/2014/main" id="{CABFBB36-317D-4805-9E26-044E56AFC3C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23938" y="3371850"/>
            <a:ext cx="8186737" cy="319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noProof="0"/>
              <a:t>Click to edit Master text styles</a:t>
            </a:r>
          </a:p>
          <a:p>
            <a:pPr lvl="1"/>
            <a:r>
              <a:rPr lang="tr-TR" noProof="0"/>
              <a:t>Second level</a:t>
            </a:r>
          </a:p>
          <a:p>
            <a:pPr lvl="2"/>
            <a:r>
              <a:rPr lang="tr-TR" noProof="0"/>
              <a:t>Third level</a:t>
            </a:r>
          </a:p>
          <a:p>
            <a:pPr lvl="3"/>
            <a:r>
              <a:rPr lang="tr-TR" noProof="0"/>
              <a:t>Fourth level</a:t>
            </a:r>
          </a:p>
          <a:p>
            <a:pPr lvl="4"/>
            <a:r>
              <a:rPr lang="tr-TR" noProof="0"/>
              <a:t>Fifth level</a:t>
            </a:r>
          </a:p>
        </p:txBody>
      </p:sp>
      <p:sp>
        <p:nvSpPr>
          <p:cNvPr id="79878" name="Rectangle 6">
            <a:extLst>
              <a:ext uri="{FF2B5EF4-FFF2-40B4-BE49-F238E27FC236}">
                <a16:creationId xmlns:a16="http://schemas.microsoft.com/office/drawing/2014/main" id="{0573BE45-1E49-4E82-B79A-91F1C226CAF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742113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79879" name="Rectangle 7">
            <a:extLst>
              <a:ext uri="{FF2B5EF4-FFF2-40B4-BE49-F238E27FC236}">
                <a16:creationId xmlns:a16="http://schemas.microsoft.com/office/drawing/2014/main" id="{01FE9C13-8478-49EC-8F33-E3A1271824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7550" y="6742113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panose="020B0604020202020204" pitchFamily="34" charset="0"/>
              </a:defRPr>
            </a:lvl1pPr>
          </a:lstStyle>
          <a:p>
            <a:fld id="{7F66706D-0E1B-43CB-B6FA-D01B40E88B76}" type="slidenum">
              <a:rPr lang="tr-TR" altLang="en-US"/>
              <a:pPr/>
              <a:t>‹#›</a:t>
            </a:fld>
            <a:endParaRPr lang="tr-T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1EDCE784-9BDA-402B-B822-1E920FDE74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396DEEE4-0413-4E62-8012-19648BB0E2CD}" type="slidenum">
              <a:rPr lang="tr-TR" altLang="en-US" sz="1300">
                <a:latin typeface="Arial" panose="020B0604020202020204" pitchFamily="34" charset="0"/>
              </a:rPr>
              <a:pPr eaLnBrk="1" hangingPunct="1"/>
              <a:t>3</a:t>
            </a:fld>
            <a:endParaRPr lang="tr-TR" altLang="en-US" sz="1300">
              <a:latin typeface="Arial" panose="020B0604020202020204" pitchFamily="34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31FE4786-9E42-40DE-AE19-7E3B5B1B75D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330EF4B9-9154-4E34-9E7E-CEBE265023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4AE0BA50-7F28-4A67-873A-5F62B3B08F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2D737DDF-9134-4885-942D-490F6AADF6CD}" type="slidenum">
              <a:rPr lang="tr-TR" altLang="en-US" sz="1300">
                <a:latin typeface="Arial" panose="020B0604020202020204" pitchFamily="34" charset="0"/>
              </a:rPr>
              <a:pPr eaLnBrk="1" hangingPunct="1"/>
              <a:t>11</a:t>
            </a:fld>
            <a:endParaRPr lang="tr-TR" altLang="en-US" sz="1300">
              <a:latin typeface="Arial" panose="020B0604020202020204" pitchFamily="34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9476BAA2-233C-420F-A6F9-9EA22D8D344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3C49665D-4DD5-4FF0-BD11-E2C285C77D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2DE9105A-72CE-47BC-8DA1-2E3338AA7A57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B18F9992-14FE-4540-9349-0A19BF795E5D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 sz="2400">
                <a:latin typeface="Times New Roman" pitchFamily="18" charset="0"/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2BE000CC-AC17-41F4-844E-F337BD504530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 sz="2400">
                <a:latin typeface="Times New Roman" pitchFamily="18" charset="0"/>
              </a:endParaRPr>
            </a:p>
          </p:txBody>
        </p:sp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0677FDBD-EC69-4DE6-A96B-4A1AB6176D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>
                <a:extLst>
                  <a:ext uri="{FF2B5EF4-FFF2-40B4-BE49-F238E27FC236}">
                    <a16:creationId xmlns:a16="http://schemas.microsoft.com/office/drawing/2014/main" id="{509DCE8C-47B7-4084-9BBF-B02E186A511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83627253-2D18-4BD7-83BB-CEDCE082312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>
                <a:extLst>
                  <a:ext uri="{FF2B5EF4-FFF2-40B4-BE49-F238E27FC236}">
                    <a16:creationId xmlns:a16="http://schemas.microsoft.com/office/drawing/2014/main" id="{D880553E-6A8E-4761-8E0A-1BA0D5A1ABE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>
                <a:extLst>
                  <a:ext uri="{FF2B5EF4-FFF2-40B4-BE49-F238E27FC236}">
                    <a16:creationId xmlns:a16="http://schemas.microsoft.com/office/drawing/2014/main" id="{1BC36E12-3C7E-43B4-84FA-83436FFBCD0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>
                <a:extLst>
                  <a:ext uri="{FF2B5EF4-FFF2-40B4-BE49-F238E27FC236}">
                    <a16:creationId xmlns:a16="http://schemas.microsoft.com/office/drawing/2014/main" id="{BAED827F-970E-4258-A7DB-035C204033F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>
                <a:extLst>
                  <a:ext uri="{FF2B5EF4-FFF2-40B4-BE49-F238E27FC236}">
                    <a16:creationId xmlns:a16="http://schemas.microsoft.com/office/drawing/2014/main" id="{87CEAD4E-489C-4F6E-A4CF-CC9A7486F9F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>
                <a:extLst>
                  <a:ext uri="{FF2B5EF4-FFF2-40B4-BE49-F238E27FC236}">
                    <a16:creationId xmlns:a16="http://schemas.microsoft.com/office/drawing/2014/main" id="{B29B0293-BF89-49A5-B60D-C08EC931E2E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>
                <a:extLst>
                  <a:ext uri="{FF2B5EF4-FFF2-40B4-BE49-F238E27FC236}">
                    <a16:creationId xmlns:a16="http://schemas.microsoft.com/office/drawing/2014/main" id="{771A7D95-8AF1-4FA9-8D0A-897138F5BC6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>
                <a:extLst>
                  <a:ext uri="{FF2B5EF4-FFF2-40B4-BE49-F238E27FC236}">
                    <a16:creationId xmlns:a16="http://schemas.microsoft.com/office/drawing/2014/main" id="{6C31224A-DAE8-4480-AFE9-3CC3E8B72CE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>
                <a:extLst>
                  <a:ext uri="{FF2B5EF4-FFF2-40B4-BE49-F238E27FC236}">
                    <a16:creationId xmlns:a16="http://schemas.microsoft.com/office/drawing/2014/main" id="{9FD955B3-E4B7-4A0B-9A0C-C724F9439FD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3688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4800">
                <a:solidFill>
                  <a:srgbClr val="FFFFFF"/>
                </a:solidFill>
                <a:latin typeface="Palatino Linotype" pitchFamily="18" charset="0"/>
              </a:defRPr>
            </a:lvl1pPr>
          </a:lstStyle>
          <a:p>
            <a:r>
              <a:rPr lang="tr-TR"/>
              <a:t>Click to edit Master title style</a:t>
            </a:r>
          </a:p>
        </p:txBody>
      </p:sp>
      <p:sp>
        <p:nvSpPr>
          <p:cNvPr id="3688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>
                <a:latin typeface="Palatino Linotype" pitchFamily="18" charset="0"/>
              </a:defRPr>
            </a:lvl1pPr>
          </a:lstStyle>
          <a:p>
            <a:r>
              <a:rPr lang="tr-TR"/>
              <a:t>Click to edit Master subtitle style</a:t>
            </a: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5C356288-A310-49BE-BC20-550B7A236C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68313" y="537368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19" name="Rectangle 21">
            <a:extLst>
              <a:ext uri="{FF2B5EF4-FFF2-40B4-BE49-F238E27FC236}">
                <a16:creationId xmlns:a16="http://schemas.microsoft.com/office/drawing/2014/main" id="{FBBC9E0F-E015-4A91-9A25-68E6F0E74A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Ch. </a:t>
            </a:r>
            <a:r>
              <a:rPr lang="en-US" err="1"/>
              <a:t>Eick</a:t>
            </a:r>
            <a:r>
              <a:rPr lang="en-US"/>
              <a:t>: COSC 6342 ML Topic`</a:t>
            </a:r>
            <a:endParaRPr lang="tr-TR"/>
          </a:p>
        </p:txBody>
      </p:sp>
      <p:sp>
        <p:nvSpPr>
          <p:cNvPr id="20" name="Rectangle 22">
            <a:extLst>
              <a:ext uri="{FF2B5EF4-FFF2-40B4-BE49-F238E27FC236}">
                <a16:creationId xmlns:a16="http://schemas.microsoft.com/office/drawing/2014/main" id="{CD76C19F-A03E-4D1A-B4A3-B71B155F4B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99BD73-8BE1-4DAA-863A-1084CD7D32E4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4090804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8C56F4-23F3-4E12-9E61-3B5C1C578F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Alpydin &amp; Ch. Eick: ML Topic1</a:t>
            </a:r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6193B0-B608-4E52-855F-AE7AFB980B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9B4F224-1632-4E16-9BC4-48E0D7514A4B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2872649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4015D37-E112-4DAF-95DB-8594E7E2F4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CA5BF2B-B1A9-46C0-844C-5E636E22EDD0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4160882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33A8C4CA-D09D-4442-8F36-40EAF46C3BE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642100"/>
            <a:ext cx="604837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000" i="1">
                <a:latin typeface="+mn-lt"/>
              </a:defRPr>
            </a:lvl1pPr>
          </a:lstStyle>
          <a:p>
            <a:pPr>
              <a:defRPr/>
            </a:pPr>
            <a:r>
              <a:rPr lang="en-US"/>
              <a:t>Alpaydin &amp; Christoph F. Eick: COSC 6342; Topic1</a:t>
            </a:r>
            <a:endParaRPr lang="tr-TR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A11E8746-9779-44BE-94A5-FFF50F6A921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88125" y="623728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i="1"/>
            </a:lvl1pPr>
          </a:lstStyle>
          <a:p>
            <a:fld id="{C91BBE0F-CF44-40E6-9286-2D2F47CC12C3}" type="slidenum">
              <a:rPr lang="tr-TR" altLang="en-US"/>
              <a:pPr/>
              <a:t>‹#›</a:t>
            </a:fld>
            <a:endParaRPr lang="tr-TR" altLang="en-US"/>
          </a:p>
        </p:txBody>
      </p:sp>
      <p:grpSp>
        <p:nvGrpSpPr>
          <p:cNvPr id="2052" name="Group 4">
            <a:extLst>
              <a:ext uri="{FF2B5EF4-FFF2-40B4-BE49-F238E27FC236}">
                <a16:creationId xmlns:a16="http://schemas.microsoft.com/office/drawing/2014/main" id="{A9495176-AB1F-4ED4-A53B-705BA82A80A2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35845" name="Rectangle 5">
              <a:extLst>
                <a:ext uri="{FF2B5EF4-FFF2-40B4-BE49-F238E27FC236}">
                  <a16:creationId xmlns:a16="http://schemas.microsoft.com/office/drawing/2014/main" id="{75389E84-59EB-4142-8EE0-440EF252C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 sz="2400">
                <a:latin typeface="Times New Roman" pitchFamily="18" charset="0"/>
              </a:endParaRPr>
            </a:p>
          </p:txBody>
        </p:sp>
        <p:sp>
          <p:nvSpPr>
            <p:cNvPr id="35846" name="Rectangle 6">
              <a:extLst>
                <a:ext uri="{FF2B5EF4-FFF2-40B4-BE49-F238E27FC236}">
                  <a16:creationId xmlns:a16="http://schemas.microsoft.com/office/drawing/2014/main" id="{A4F93658-5D21-4CEE-A7F7-315C45D09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 sz="2400">
                <a:latin typeface="Times New Roman" pitchFamily="18" charset="0"/>
              </a:endParaRPr>
            </a:p>
          </p:txBody>
        </p:sp>
        <p:sp>
          <p:nvSpPr>
            <p:cNvPr id="35847" name="Rectangle 7">
              <a:extLst>
                <a:ext uri="{FF2B5EF4-FFF2-40B4-BE49-F238E27FC236}">
                  <a16:creationId xmlns:a16="http://schemas.microsoft.com/office/drawing/2014/main" id="{D90C74FD-0261-4984-AE62-8F8378DAFF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 sz="1800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35848" name="Rectangle 8">
              <a:extLst>
                <a:ext uri="{FF2B5EF4-FFF2-40B4-BE49-F238E27FC236}">
                  <a16:creationId xmlns:a16="http://schemas.microsoft.com/office/drawing/2014/main" id="{BEFB5647-7D5F-46ED-8FA7-210345879C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 sz="1800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35849" name="Rectangle 9">
              <a:extLst>
                <a:ext uri="{FF2B5EF4-FFF2-40B4-BE49-F238E27FC236}">
                  <a16:creationId xmlns:a16="http://schemas.microsoft.com/office/drawing/2014/main" id="{5B8C9FD7-D6A4-4332-9DE1-F7DF64EA7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 sz="1800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35850" name="Rectangle 10">
              <a:extLst>
                <a:ext uri="{FF2B5EF4-FFF2-40B4-BE49-F238E27FC236}">
                  <a16:creationId xmlns:a16="http://schemas.microsoft.com/office/drawing/2014/main" id="{A5D2DDCF-30AD-45CB-B368-793734D61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 sz="1800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35851" name="Rectangle 11">
              <a:extLst>
                <a:ext uri="{FF2B5EF4-FFF2-40B4-BE49-F238E27FC236}">
                  <a16:creationId xmlns:a16="http://schemas.microsoft.com/office/drawing/2014/main" id="{40F54FC5-2EFC-428D-95AA-8751AAE1E2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 sz="2400">
                <a:latin typeface="Times New Roman" pitchFamily="18" charset="0"/>
              </a:endParaRPr>
            </a:p>
          </p:txBody>
        </p:sp>
        <p:sp>
          <p:nvSpPr>
            <p:cNvPr id="35852" name="Rectangle 12">
              <a:extLst>
                <a:ext uri="{FF2B5EF4-FFF2-40B4-BE49-F238E27FC236}">
                  <a16:creationId xmlns:a16="http://schemas.microsoft.com/office/drawing/2014/main" id="{96001522-96FC-4168-B243-59FD56945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 sz="1800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35853" name="Rectangle 13">
              <a:extLst>
                <a:ext uri="{FF2B5EF4-FFF2-40B4-BE49-F238E27FC236}">
                  <a16:creationId xmlns:a16="http://schemas.microsoft.com/office/drawing/2014/main" id="{1F324308-E6F5-4058-9CCE-0B04A3F3E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GB" sz="1800">
                <a:solidFill>
                  <a:schemeClr val="accent2"/>
                </a:solidFill>
                <a:latin typeface="Arial" charset="0"/>
              </a:endParaRPr>
            </a:p>
          </p:txBody>
        </p:sp>
      </p:grpSp>
      <p:sp>
        <p:nvSpPr>
          <p:cNvPr id="2053" name="Rectangle 14">
            <a:extLst>
              <a:ext uri="{FF2B5EF4-FFF2-40B4-BE49-F238E27FC236}">
                <a16:creationId xmlns:a16="http://schemas.microsoft.com/office/drawing/2014/main" id="{E753D14B-CA82-40DF-8E9B-0F216B3EF5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r-TR" altLang="en-US"/>
              <a:t>Click to edit Master title style</a:t>
            </a:r>
          </a:p>
        </p:txBody>
      </p:sp>
      <p:sp>
        <p:nvSpPr>
          <p:cNvPr id="2054" name="Rectangle 15">
            <a:extLst>
              <a:ext uri="{FF2B5EF4-FFF2-40B4-BE49-F238E27FC236}">
                <a16:creationId xmlns:a16="http://schemas.microsoft.com/office/drawing/2014/main" id="{A46212AD-C21B-4E07-926A-23EC025077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altLang="en-US"/>
              <a:t>Click to edit Master text styles</a:t>
            </a:r>
          </a:p>
          <a:p>
            <a:pPr lvl="1"/>
            <a:r>
              <a:rPr lang="tr-TR" altLang="en-US"/>
              <a:t>Second level</a:t>
            </a:r>
          </a:p>
          <a:p>
            <a:pPr lvl="2"/>
            <a:r>
              <a:rPr lang="tr-TR" altLang="en-US"/>
              <a:t>Third level</a:t>
            </a:r>
          </a:p>
          <a:p>
            <a:pPr lvl="3"/>
            <a:r>
              <a:rPr lang="tr-TR" altLang="en-US"/>
              <a:t>Fourth level</a:t>
            </a:r>
          </a:p>
          <a:p>
            <a:pPr lvl="4"/>
            <a:r>
              <a:rPr lang="tr-TR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i="1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i="1">
          <a:solidFill>
            <a:schemeClr val="bg2"/>
          </a:solidFill>
          <a:latin typeface="Lucida Bright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i="1">
          <a:solidFill>
            <a:schemeClr val="bg2"/>
          </a:solidFill>
          <a:latin typeface="Lucida Bright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i="1">
          <a:solidFill>
            <a:schemeClr val="bg2"/>
          </a:solidFill>
          <a:latin typeface="Lucida Bright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i="1">
          <a:solidFill>
            <a:schemeClr val="bg2"/>
          </a:solidFill>
          <a:latin typeface="Lucida Bright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i="1">
          <a:solidFill>
            <a:schemeClr val="bg2"/>
          </a:solidFill>
          <a:latin typeface="Lucida Bright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i="1">
          <a:solidFill>
            <a:schemeClr val="bg2"/>
          </a:solidFill>
          <a:latin typeface="Lucida Bright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i="1">
          <a:solidFill>
            <a:schemeClr val="bg2"/>
          </a:solidFill>
          <a:latin typeface="Lucida Bright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i="1">
          <a:solidFill>
            <a:schemeClr val="bg2"/>
          </a:solidFill>
          <a:latin typeface="Lucida Bright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kdd.ics.uci.edu/summary.data.application.html" TargetMode="External"/><Relationship Id="rId2" Type="http://schemas.openxmlformats.org/officeDocument/2006/relationships/hyperlink" Target="http://www.ics.uci.edu/~mlearn/MLRepository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cs.utoronto.ca/~delve/" TargetMode="External"/><Relationship Id="rId4" Type="http://schemas.openxmlformats.org/officeDocument/2006/relationships/hyperlink" Target="http://lib.stat.cmu.edu/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jmlr.org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6F9CD79A-11DB-478B-A8D6-5F4994F6C17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tr-TR" altLang="en-US" sz="2000" i="0"/>
              <a:t>CHAPTER 1:</a:t>
            </a:r>
            <a:r>
              <a:rPr lang="tr-TR" altLang="en-US"/>
              <a:t> </a:t>
            </a:r>
            <a:br>
              <a:rPr lang="tr-TR" altLang="en-US"/>
            </a:br>
            <a:r>
              <a:rPr lang="tr-TR" altLang="en-US"/>
              <a:t>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4">
            <a:extLst>
              <a:ext uri="{FF2B5EF4-FFF2-40B4-BE49-F238E27FC236}">
                <a16:creationId xmlns:a16="http://schemas.microsoft.com/office/drawing/2014/main" id="{1DE5DDE5-89BD-4E6C-B218-29371C4E43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ADB7FF82-68AF-46DA-AE26-512168FDBB3E}" type="slidenum">
              <a:rPr lang="tr-TR" altLang="en-US" sz="1400"/>
              <a:pPr eaLnBrk="1" hangingPunct="1"/>
              <a:t>2</a:t>
            </a:fld>
            <a:endParaRPr lang="tr-TR" altLang="en-US" sz="14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D9EAFDD5-1BA9-4CE4-8EF6-913AAF5EE2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Why “Learn”?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FF19367E-7DAE-4896-B005-88F60BDA92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r-TR" altLang="en-US"/>
              <a:t>Machine learning is programming computers to optimize a performance criterion using example data or past experience.</a:t>
            </a:r>
          </a:p>
          <a:p>
            <a:pPr eaLnBrk="1" hangingPunct="1">
              <a:lnSpc>
                <a:spcPct val="90000"/>
              </a:lnSpc>
            </a:pPr>
            <a:r>
              <a:rPr lang="tr-TR" altLang="en-US"/>
              <a:t>There is no need to “learn” to calculate payroll</a:t>
            </a:r>
          </a:p>
          <a:p>
            <a:pPr eaLnBrk="1" hangingPunct="1">
              <a:lnSpc>
                <a:spcPct val="90000"/>
              </a:lnSpc>
            </a:pPr>
            <a:r>
              <a:rPr lang="tr-TR" altLang="en-US"/>
              <a:t>Learning is used when:</a:t>
            </a:r>
          </a:p>
          <a:p>
            <a:pPr lvl="1" eaLnBrk="1" hangingPunct="1">
              <a:lnSpc>
                <a:spcPct val="90000"/>
              </a:lnSpc>
            </a:pPr>
            <a:r>
              <a:rPr lang="tr-TR" altLang="en-US"/>
              <a:t>Human expertise does not exist (navigating on Mars),</a:t>
            </a:r>
          </a:p>
          <a:p>
            <a:pPr lvl="1" eaLnBrk="1" hangingPunct="1">
              <a:lnSpc>
                <a:spcPct val="90000"/>
              </a:lnSpc>
            </a:pPr>
            <a:r>
              <a:rPr lang="tr-TR" altLang="en-US"/>
              <a:t>Humans are unable to explain their expertise (speech recognition)</a:t>
            </a:r>
          </a:p>
          <a:p>
            <a:pPr lvl="1" eaLnBrk="1" hangingPunct="1">
              <a:lnSpc>
                <a:spcPct val="90000"/>
              </a:lnSpc>
            </a:pPr>
            <a:r>
              <a:rPr lang="tr-TR" altLang="en-US"/>
              <a:t>Solution changes in time (routing on a computer network)</a:t>
            </a:r>
          </a:p>
          <a:p>
            <a:pPr lvl="1" eaLnBrk="1" hangingPunct="1">
              <a:lnSpc>
                <a:spcPct val="90000"/>
              </a:lnSpc>
            </a:pPr>
            <a:r>
              <a:rPr lang="tr-TR" altLang="en-US"/>
              <a:t>Solution needs to be adapted to particular cases (user biometrics)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4">
            <a:extLst>
              <a:ext uri="{FF2B5EF4-FFF2-40B4-BE49-F238E27FC236}">
                <a16:creationId xmlns:a16="http://schemas.microsoft.com/office/drawing/2014/main" id="{8A2B8BE4-B628-4556-B683-E82A169CE9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DFE5250E-FC4D-4BC2-9B49-841FD3133B29}" type="slidenum">
              <a:rPr lang="tr-TR" altLang="en-US" sz="1400"/>
              <a:pPr eaLnBrk="1" hangingPunct="1"/>
              <a:t>3</a:t>
            </a:fld>
            <a:endParaRPr lang="tr-TR" altLang="en-US" sz="1400"/>
          </a:p>
        </p:txBody>
      </p:sp>
      <p:sp>
        <p:nvSpPr>
          <p:cNvPr id="8195" name="Rectangle 4">
            <a:extLst>
              <a:ext uri="{FF2B5EF4-FFF2-40B4-BE49-F238E27FC236}">
                <a16:creationId xmlns:a16="http://schemas.microsoft.com/office/drawing/2014/main" id="{AEF5C40F-00B3-4D2B-96A4-B421B93863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What We Talk About When We  Talk About“Learning”</a:t>
            </a:r>
          </a:p>
        </p:txBody>
      </p:sp>
      <p:sp>
        <p:nvSpPr>
          <p:cNvPr id="8196" name="Rectangle 6">
            <a:extLst>
              <a:ext uri="{FF2B5EF4-FFF2-40B4-BE49-F238E27FC236}">
                <a16:creationId xmlns:a16="http://schemas.microsoft.com/office/drawing/2014/main" id="{91C2FE38-D4F6-4640-85FB-F933574352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Learning general models from a data of particular examples </a:t>
            </a:r>
          </a:p>
          <a:p>
            <a:pPr eaLnBrk="1" hangingPunct="1"/>
            <a:r>
              <a:rPr lang="tr-TR" altLang="en-US"/>
              <a:t>Data is cheap and abundant (data warehouses, data marts); knowledge is expensive and scarce. </a:t>
            </a:r>
          </a:p>
          <a:p>
            <a:pPr eaLnBrk="1" hangingPunct="1"/>
            <a:r>
              <a:rPr lang="tr-TR" altLang="en-US"/>
              <a:t>Example in retail: Customer transactions to consumer behavior: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tr-TR" altLang="en-US" sz="2400"/>
              <a:t>	</a:t>
            </a:r>
            <a:r>
              <a:rPr lang="tr-TR" altLang="en-US" i="1"/>
              <a:t>People who bought “Da Vinci Code” also bought “The Five People You Meet in Heaven”  (www.amazon.com)</a:t>
            </a:r>
          </a:p>
          <a:p>
            <a:pPr eaLnBrk="1" hangingPunct="1"/>
            <a:r>
              <a:rPr lang="tr-TR" altLang="en-US"/>
              <a:t>Build a model that is </a:t>
            </a:r>
            <a:r>
              <a:rPr lang="tr-TR" altLang="en-US" i="1">
                <a:solidFill>
                  <a:schemeClr val="bg2"/>
                </a:solidFill>
              </a:rPr>
              <a:t>a good and useful approximation</a:t>
            </a:r>
            <a:r>
              <a:rPr lang="tr-TR" altLang="en-US"/>
              <a:t> to the data.</a:t>
            </a:r>
            <a:r>
              <a:rPr lang="tr-TR" altLang="en-US" i="1"/>
              <a:t> </a:t>
            </a:r>
            <a:r>
              <a:rPr lang="tr-TR" altLang="en-US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4">
            <a:extLst>
              <a:ext uri="{FF2B5EF4-FFF2-40B4-BE49-F238E27FC236}">
                <a16:creationId xmlns:a16="http://schemas.microsoft.com/office/drawing/2014/main" id="{79F75100-ED15-494C-9B72-DF9C9FA575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E2D8FD92-59B2-4D66-AC22-9D082B1422BF}" type="slidenum">
              <a:rPr lang="tr-TR" altLang="en-US" sz="1400"/>
              <a:pPr eaLnBrk="1" hangingPunct="1"/>
              <a:t>4</a:t>
            </a:fld>
            <a:endParaRPr lang="tr-TR" altLang="en-US" sz="14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1D88841D-1F30-45DB-B213-C8885F852B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357313"/>
          </a:xfrm>
        </p:spPr>
        <p:txBody>
          <a:bodyPr/>
          <a:lstStyle/>
          <a:p>
            <a:pPr eaLnBrk="1" hangingPunct="1"/>
            <a:r>
              <a:rPr lang="tr-TR" altLang="en-US"/>
              <a:t>Data Mining</a:t>
            </a:r>
            <a:r>
              <a:rPr lang="en-US" altLang="en-US"/>
              <a:t>/KDD</a:t>
            </a:r>
            <a:endParaRPr lang="tr-TR" altLang="en-US"/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D7D1C68E-D9C5-420D-9A0D-B915EAAD06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928938"/>
            <a:ext cx="8229600" cy="29384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r-TR" altLang="en-US">
                <a:solidFill>
                  <a:schemeClr val="bg2"/>
                </a:solidFill>
              </a:rPr>
              <a:t>Retail:</a:t>
            </a:r>
            <a:r>
              <a:rPr lang="tr-TR" altLang="en-US"/>
              <a:t> Market basket analysis, Customer relationship management (CRM)</a:t>
            </a:r>
          </a:p>
          <a:p>
            <a:pPr eaLnBrk="1" hangingPunct="1">
              <a:lnSpc>
                <a:spcPct val="90000"/>
              </a:lnSpc>
            </a:pPr>
            <a:r>
              <a:rPr lang="tr-TR" altLang="en-US">
                <a:solidFill>
                  <a:schemeClr val="bg2"/>
                </a:solidFill>
              </a:rPr>
              <a:t>Finance:</a:t>
            </a:r>
            <a:r>
              <a:rPr lang="tr-TR" altLang="en-US"/>
              <a:t> Credit scoring, fraud detection</a:t>
            </a:r>
          </a:p>
          <a:p>
            <a:pPr eaLnBrk="1" hangingPunct="1">
              <a:lnSpc>
                <a:spcPct val="90000"/>
              </a:lnSpc>
            </a:pPr>
            <a:r>
              <a:rPr lang="tr-TR" altLang="en-US">
                <a:solidFill>
                  <a:schemeClr val="bg2"/>
                </a:solidFill>
              </a:rPr>
              <a:t>Manufacturing:</a:t>
            </a:r>
            <a:r>
              <a:rPr lang="tr-TR" altLang="en-US"/>
              <a:t> Optimization, troubleshooting</a:t>
            </a:r>
          </a:p>
          <a:p>
            <a:pPr eaLnBrk="1" hangingPunct="1">
              <a:lnSpc>
                <a:spcPct val="90000"/>
              </a:lnSpc>
            </a:pPr>
            <a:r>
              <a:rPr lang="tr-TR" altLang="en-US">
                <a:solidFill>
                  <a:schemeClr val="bg2"/>
                </a:solidFill>
              </a:rPr>
              <a:t>Medicine:</a:t>
            </a:r>
            <a:r>
              <a:rPr lang="tr-TR" altLang="en-US"/>
              <a:t> Medical diagnosis</a:t>
            </a:r>
          </a:p>
          <a:p>
            <a:pPr eaLnBrk="1" hangingPunct="1">
              <a:lnSpc>
                <a:spcPct val="90000"/>
              </a:lnSpc>
            </a:pPr>
            <a:r>
              <a:rPr lang="tr-TR" altLang="en-US">
                <a:solidFill>
                  <a:schemeClr val="bg2"/>
                </a:solidFill>
              </a:rPr>
              <a:t>Telecommunications:</a:t>
            </a:r>
            <a:r>
              <a:rPr lang="tr-TR" altLang="en-US"/>
              <a:t> Quality of service optimization</a:t>
            </a:r>
          </a:p>
          <a:p>
            <a:pPr eaLnBrk="1" hangingPunct="1">
              <a:lnSpc>
                <a:spcPct val="90000"/>
              </a:lnSpc>
            </a:pPr>
            <a:r>
              <a:rPr lang="tr-TR" altLang="en-US">
                <a:solidFill>
                  <a:schemeClr val="bg2"/>
                </a:solidFill>
              </a:rPr>
              <a:t>Bioinformatics:</a:t>
            </a:r>
            <a:r>
              <a:rPr lang="tr-TR" altLang="en-US"/>
              <a:t> Motifs, alignment</a:t>
            </a:r>
          </a:p>
          <a:p>
            <a:pPr eaLnBrk="1" hangingPunct="1">
              <a:lnSpc>
                <a:spcPct val="90000"/>
              </a:lnSpc>
            </a:pPr>
            <a:r>
              <a:rPr lang="tr-TR" altLang="en-US">
                <a:solidFill>
                  <a:schemeClr val="bg2"/>
                </a:solidFill>
              </a:rPr>
              <a:t>Web mining:</a:t>
            </a:r>
            <a:r>
              <a:rPr lang="tr-TR" altLang="en-US"/>
              <a:t> Search engines</a:t>
            </a:r>
          </a:p>
          <a:p>
            <a:pPr eaLnBrk="1" hangingPunct="1">
              <a:lnSpc>
                <a:spcPct val="90000"/>
              </a:lnSpc>
            </a:pPr>
            <a:r>
              <a:rPr lang="tr-TR" altLang="en-US"/>
              <a:t>...</a:t>
            </a:r>
          </a:p>
        </p:txBody>
      </p:sp>
      <p:sp>
        <p:nvSpPr>
          <p:cNvPr id="9221" name="TextBox 5">
            <a:extLst>
              <a:ext uri="{FF2B5EF4-FFF2-40B4-BE49-F238E27FC236}">
                <a16:creationId xmlns:a16="http://schemas.microsoft.com/office/drawing/2014/main" id="{B97D06B8-CE39-4611-A3A8-264F0C1B6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1143000"/>
            <a:ext cx="696277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r>
              <a:rPr lang="en-US" altLang="en-US" sz="2400" u="sng"/>
              <a:t>Definition</a:t>
            </a:r>
            <a:r>
              <a:rPr lang="en-US" altLang="en-US" sz="2400"/>
              <a:t> := </a:t>
            </a:r>
            <a:r>
              <a:rPr lang="en-US" altLang="en-US" sz="2400" i="1"/>
              <a:t>“KDD is the non-trivial process of </a:t>
            </a:r>
          </a:p>
          <a:p>
            <a:pPr eaLnBrk="1" hangingPunct="1"/>
            <a:r>
              <a:rPr lang="en-US" altLang="en-US" sz="2400" i="1"/>
              <a:t>identifying valid, novel, potentially useful, and </a:t>
            </a:r>
          </a:p>
          <a:p>
            <a:pPr eaLnBrk="1" hangingPunct="1"/>
            <a:r>
              <a:rPr lang="en-US" altLang="en-US" sz="2400" i="1"/>
              <a:t>ultimately understandable patterns in data” </a:t>
            </a:r>
            <a:r>
              <a:rPr lang="en-US" altLang="en-US" sz="2400"/>
              <a:t>(Fayyad</a:t>
            </a:r>
            <a:r>
              <a:rPr lang="en-US" altLang="en-US"/>
              <a:t>)</a:t>
            </a:r>
          </a:p>
        </p:txBody>
      </p:sp>
      <p:sp>
        <p:nvSpPr>
          <p:cNvPr id="9222" name="TextBox 6">
            <a:extLst>
              <a:ext uri="{FF2B5EF4-FFF2-40B4-BE49-F238E27FC236}">
                <a16:creationId xmlns:a16="http://schemas.microsoft.com/office/drawing/2014/main" id="{B2CE8DE6-39C0-4BAD-A017-62A4007DDB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2428875"/>
            <a:ext cx="2246312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r>
              <a:rPr lang="en-US" altLang="en-US" sz="2600">
                <a:solidFill>
                  <a:srgbClr val="FF6600"/>
                </a:solidFill>
              </a:rPr>
              <a:t>Applications: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4">
            <a:extLst>
              <a:ext uri="{FF2B5EF4-FFF2-40B4-BE49-F238E27FC236}">
                <a16:creationId xmlns:a16="http://schemas.microsoft.com/office/drawing/2014/main" id="{5B8C755B-770E-4587-818F-CDA6A9D31F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D9D1382C-8689-415F-AA3A-70D3B20D1D84}" type="slidenum">
              <a:rPr lang="tr-TR" altLang="en-US" sz="1400"/>
              <a:pPr eaLnBrk="1" hangingPunct="1"/>
              <a:t>5</a:t>
            </a:fld>
            <a:endParaRPr lang="tr-TR" altLang="en-US" sz="14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D29096E-FFBF-4140-A621-D41EF22BCE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What is Machine Learning?</a:t>
            </a:r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1624BE8A-F49C-48B7-9B5C-385CE53DEC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85875"/>
            <a:ext cx="8229600" cy="4581525"/>
          </a:xfrm>
        </p:spPr>
        <p:txBody>
          <a:bodyPr/>
          <a:lstStyle/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Machine Learning</a:t>
            </a:r>
          </a:p>
          <a:p>
            <a:pPr lvl="1" eaLnBrk="1" hangingPunct="1">
              <a:defRPr/>
            </a:pPr>
            <a:r>
              <a:rPr lang="en-US" dirty="0">
                <a:ea typeface="+mn-ea"/>
                <a:cs typeface="+mn-cs"/>
              </a:rPr>
              <a:t>Study of algorithms that</a:t>
            </a:r>
          </a:p>
          <a:p>
            <a:pPr lvl="1" eaLnBrk="1" hangingPunct="1">
              <a:defRPr/>
            </a:pPr>
            <a:r>
              <a:rPr lang="en-US" dirty="0">
                <a:ea typeface="+mn-ea"/>
                <a:cs typeface="+mn-cs"/>
              </a:rPr>
              <a:t>improve their performance</a:t>
            </a:r>
          </a:p>
          <a:p>
            <a:pPr lvl="1" eaLnBrk="1" hangingPunct="1">
              <a:defRPr/>
            </a:pPr>
            <a:r>
              <a:rPr lang="en-US" dirty="0">
                <a:ea typeface="+mn-ea"/>
                <a:cs typeface="+mn-cs"/>
              </a:rPr>
              <a:t>at some task</a:t>
            </a:r>
          </a:p>
          <a:p>
            <a:pPr lvl="1" eaLnBrk="1" hangingPunct="1">
              <a:defRPr/>
            </a:pPr>
            <a:r>
              <a:rPr lang="en-US" dirty="0">
                <a:ea typeface="+mn-ea"/>
                <a:cs typeface="+mn-cs"/>
              </a:rPr>
              <a:t>with experience</a:t>
            </a:r>
          </a:p>
          <a:p>
            <a:pPr eaLnBrk="1" hangingPunct="1">
              <a:defRPr/>
            </a:pPr>
            <a:r>
              <a:rPr lang="tr-TR" dirty="0"/>
              <a:t>Optimize a performance criterion using example data or past experience.</a:t>
            </a:r>
          </a:p>
          <a:p>
            <a:pPr eaLnBrk="1" hangingPunct="1">
              <a:defRPr/>
            </a:pPr>
            <a:r>
              <a:rPr lang="tr-TR" dirty="0"/>
              <a:t>Role of Statistics: Inference from a sample</a:t>
            </a:r>
          </a:p>
          <a:p>
            <a:pPr eaLnBrk="1" hangingPunct="1">
              <a:defRPr/>
            </a:pPr>
            <a:r>
              <a:rPr lang="tr-TR" dirty="0"/>
              <a:t>Role of Computer science: Efficient algorithms to</a:t>
            </a:r>
          </a:p>
          <a:p>
            <a:pPr lvl="1" eaLnBrk="1" hangingPunct="1">
              <a:defRPr/>
            </a:pPr>
            <a:r>
              <a:rPr lang="tr-TR" sz="2400" dirty="0"/>
              <a:t>Solve the optimization problem</a:t>
            </a:r>
          </a:p>
          <a:p>
            <a:pPr lvl="1" eaLnBrk="1" hangingPunct="1">
              <a:defRPr/>
            </a:pPr>
            <a:r>
              <a:rPr lang="tr-TR" sz="2400" dirty="0"/>
              <a:t>Representing and evaluating the model for inference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2A3C6588-B615-4FCB-8609-6A67D9C25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58175" cy="757238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Growth of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4F0D4-1E99-4110-B272-DE96A3A44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57313"/>
            <a:ext cx="9144000" cy="4510087"/>
          </a:xfrm>
        </p:spPr>
        <p:txBody>
          <a:bodyPr/>
          <a:lstStyle/>
          <a:p>
            <a:pPr eaLnBrk="1" hangingPunct="1">
              <a:defRPr/>
            </a:pPr>
            <a:r>
              <a:rPr lang="en-US" sz="2000" dirty="0"/>
              <a:t>Machine learning is preferred approach to</a:t>
            </a:r>
          </a:p>
          <a:p>
            <a:pPr lvl="1" eaLnBrk="1" hangingPunct="1">
              <a:defRPr/>
            </a:pPr>
            <a:r>
              <a:rPr lang="en-US" dirty="0">
                <a:ea typeface="+mn-ea"/>
                <a:cs typeface="+mn-cs"/>
              </a:rPr>
              <a:t>Speech recognition, Natural language processing</a:t>
            </a:r>
          </a:p>
          <a:p>
            <a:pPr lvl="1" eaLnBrk="1" hangingPunct="1">
              <a:defRPr/>
            </a:pPr>
            <a:r>
              <a:rPr lang="en-US" dirty="0">
                <a:ea typeface="+mn-ea"/>
                <a:cs typeface="+mn-cs"/>
              </a:rPr>
              <a:t>Computer vision</a:t>
            </a:r>
          </a:p>
          <a:p>
            <a:pPr lvl="1" eaLnBrk="1" hangingPunct="1">
              <a:defRPr/>
            </a:pPr>
            <a:r>
              <a:rPr lang="en-US" dirty="0">
                <a:ea typeface="+mn-ea"/>
                <a:cs typeface="+mn-cs"/>
              </a:rPr>
              <a:t>Medical outcomes analysis</a:t>
            </a:r>
          </a:p>
          <a:p>
            <a:pPr lvl="1" eaLnBrk="1" hangingPunct="1">
              <a:defRPr/>
            </a:pPr>
            <a:r>
              <a:rPr lang="en-US" dirty="0">
                <a:ea typeface="+mn-ea"/>
                <a:cs typeface="+mn-cs"/>
              </a:rPr>
              <a:t>Robot control</a:t>
            </a:r>
          </a:p>
          <a:p>
            <a:pPr lvl="1" eaLnBrk="1" hangingPunct="1">
              <a:defRPr/>
            </a:pPr>
            <a:r>
              <a:rPr lang="en-US" dirty="0">
                <a:ea typeface="+mn-ea"/>
                <a:cs typeface="+mn-cs"/>
              </a:rPr>
              <a:t>Computational biology</a:t>
            </a:r>
          </a:p>
          <a:p>
            <a:pPr eaLnBrk="1" hangingPunct="1">
              <a:defRPr/>
            </a:pPr>
            <a:r>
              <a:rPr lang="en-US" sz="2000" dirty="0"/>
              <a:t>This trend is accelerating</a:t>
            </a:r>
          </a:p>
          <a:p>
            <a:pPr lvl="1" eaLnBrk="1" hangingPunct="1">
              <a:defRPr/>
            </a:pPr>
            <a:r>
              <a:rPr lang="en-US" dirty="0">
                <a:ea typeface="+mn-ea"/>
                <a:cs typeface="+mn-cs"/>
              </a:rPr>
              <a:t>Improved machine learning algorithms</a:t>
            </a:r>
          </a:p>
          <a:p>
            <a:pPr lvl="1" eaLnBrk="1" hangingPunct="1">
              <a:defRPr/>
            </a:pPr>
            <a:r>
              <a:rPr lang="en-US" dirty="0">
                <a:ea typeface="+mn-ea"/>
                <a:cs typeface="+mn-cs"/>
              </a:rPr>
              <a:t>Improved data capture, networking, faster computers</a:t>
            </a:r>
          </a:p>
          <a:p>
            <a:pPr lvl="1" eaLnBrk="1" hangingPunct="1">
              <a:defRPr/>
            </a:pPr>
            <a:r>
              <a:rPr lang="en-US" dirty="0">
                <a:ea typeface="+mn-ea"/>
                <a:cs typeface="+mn-cs"/>
              </a:rPr>
              <a:t>Software too complex to write by hand</a:t>
            </a:r>
          </a:p>
          <a:p>
            <a:pPr lvl="1" eaLnBrk="1" hangingPunct="1">
              <a:defRPr/>
            </a:pPr>
            <a:r>
              <a:rPr lang="en-US" dirty="0">
                <a:ea typeface="+mn-ea"/>
                <a:cs typeface="+mn-cs"/>
              </a:rPr>
              <a:t>New sensors / IO devices</a:t>
            </a:r>
          </a:p>
          <a:p>
            <a:pPr lvl="1" eaLnBrk="1" hangingPunct="1">
              <a:defRPr/>
            </a:pPr>
            <a:r>
              <a:rPr lang="en-US" dirty="0">
                <a:ea typeface="+mn-ea"/>
                <a:cs typeface="+mn-cs"/>
              </a:rPr>
              <a:t>Demand for self-customization to user, environment</a:t>
            </a:r>
          </a:p>
          <a:p>
            <a:pPr lvl="1" eaLnBrk="1" hangingPunct="1">
              <a:defRPr/>
            </a:pPr>
            <a:r>
              <a:rPr lang="en-US" dirty="0">
                <a:ea typeface="+mn-ea"/>
                <a:cs typeface="+mn-cs"/>
              </a:rPr>
              <a:t>It turns out to be difficult to extract knowledge from human </a:t>
            </a:r>
            <a:r>
              <a:rPr lang="en-US" dirty="0" err="1">
                <a:ea typeface="+mn-ea"/>
                <a:cs typeface="+mn-cs"/>
              </a:rPr>
              <a:t>experts</a:t>
            </a:r>
            <a:r>
              <a:rPr lang="en-US" dirty="0" err="1">
                <a:ea typeface="+mn-ea"/>
                <a:cs typeface="+mn-cs"/>
                <a:sym typeface="Wingdings" pitchFamily="2" charset="2"/>
              </a:rPr>
              <a:t></a:t>
            </a:r>
            <a:r>
              <a:rPr lang="en-US" i="1" dirty="0" err="1">
                <a:ea typeface="+mn-ea"/>
                <a:cs typeface="+mn-cs"/>
                <a:sym typeface="Wingdings" pitchFamily="2" charset="2"/>
              </a:rPr>
              <a:t>failure</a:t>
            </a:r>
            <a:r>
              <a:rPr lang="en-US" i="1" dirty="0">
                <a:ea typeface="+mn-ea"/>
                <a:cs typeface="+mn-cs"/>
                <a:sym typeface="Wingdings" pitchFamily="2" charset="2"/>
              </a:rPr>
              <a:t> of expert systems in the 1980’s.</a:t>
            </a:r>
            <a:endParaRPr lang="en-US" i="1" dirty="0"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CB359-DE90-40B0-B917-0C7F238971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Alpydin &amp; Ch. Eick: ML Topic1</a:t>
            </a:r>
            <a:endParaRPr lang="tr-TR"/>
          </a:p>
        </p:txBody>
      </p:sp>
      <p:sp>
        <p:nvSpPr>
          <p:cNvPr id="11269" name="Slide Number Placeholder 4">
            <a:extLst>
              <a:ext uri="{FF2B5EF4-FFF2-40B4-BE49-F238E27FC236}">
                <a16:creationId xmlns:a16="http://schemas.microsoft.com/office/drawing/2014/main" id="{748B7C79-1656-4DD9-A2CC-8AB85C230F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44EB9C3F-E14E-4DDC-B178-65477D63277A}" type="slidenum">
              <a:rPr lang="tr-TR" altLang="en-US" sz="1400"/>
              <a:pPr eaLnBrk="1" hangingPunct="1"/>
              <a:t>6</a:t>
            </a:fld>
            <a:endParaRPr lang="tr-TR" altLang="en-US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4">
            <a:extLst>
              <a:ext uri="{FF2B5EF4-FFF2-40B4-BE49-F238E27FC236}">
                <a16:creationId xmlns:a16="http://schemas.microsoft.com/office/drawing/2014/main" id="{09DB2C6A-D1FE-41FE-9FA6-C88C39F7CB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ADDE79DA-2FEA-4286-A2E0-D9AF80FAD05D}" type="slidenum">
              <a:rPr lang="tr-TR" altLang="en-US" sz="1400"/>
              <a:pPr eaLnBrk="1" hangingPunct="1"/>
              <a:t>7</a:t>
            </a:fld>
            <a:endParaRPr lang="tr-TR" altLang="en-US" sz="14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34DDCCDB-94EB-4F6D-AF54-80F9EB88E9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Applications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27F15AE7-4AC7-4922-8C32-77970821E2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Association</a:t>
            </a:r>
            <a:r>
              <a:rPr lang="en-US" altLang="en-US"/>
              <a:t> Analysis</a:t>
            </a:r>
            <a:endParaRPr lang="tr-TR" altLang="en-US"/>
          </a:p>
          <a:p>
            <a:pPr eaLnBrk="1" hangingPunct="1"/>
            <a:r>
              <a:rPr lang="tr-TR" altLang="en-US"/>
              <a:t>Supervised Learning</a:t>
            </a:r>
          </a:p>
          <a:p>
            <a:pPr lvl="1" eaLnBrk="1" hangingPunct="1"/>
            <a:r>
              <a:rPr lang="tr-TR" altLang="en-US"/>
              <a:t>Classification</a:t>
            </a:r>
          </a:p>
          <a:p>
            <a:pPr lvl="1" eaLnBrk="1" hangingPunct="1"/>
            <a:r>
              <a:rPr lang="tr-TR" altLang="en-US"/>
              <a:t>Regression</a:t>
            </a:r>
            <a:r>
              <a:rPr lang="en-US" altLang="en-US"/>
              <a:t>/Prediction </a:t>
            </a:r>
            <a:endParaRPr lang="tr-TR" altLang="en-US"/>
          </a:p>
          <a:p>
            <a:pPr eaLnBrk="1" hangingPunct="1"/>
            <a:r>
              <a:rPr lang="tr-TR" altLang="en-US"/>
              <a:t>Unsupervised Learning</a:t>
            </a:r>
          </a:p>
          <a:p>
            <a:pPr eaLnBrk="1" hangingPunct="1"/>
            <a:r>
              <a:rPr lang="tr-TR" altLang="en-US"/>
              <a:t>Reinforcement Learning</a:t>
            </a: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endParaRPr lang="tr-T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>
            <a:extLst>
              <a:ext uri="{FF2B5EF4-FFF2-40B4-BE49-F238E27FC236}">
                <a16:creationId xmlns:a16="http://schemas.microsoft.com/office/drawing/2014/main" id="{61FB75D9-8868-4061-9879-A668D6595C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14425"/>
          </a:xfrm>
        </p:spPr>
        <p:txBody>
          <a:bodyPr/>
          <a:lstStyle/>
          <a:p>
            <a:pPr eaLnBrk="1" hangingPunct="1"/>
            <a:r>
              <a:rPr lang="tr-TR" altLang="en-US"/>
              <a:t>Learning Associations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2436462A-4294-4CAB-8BD2-9F6B484251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71625"/>
            <a:ext cx="8229600" cy="4295775"/>
          </a:xfrm>
        </p:spPr>
        <p:txBody>
          <a:bodyPr/>
          <a:lstStyle/>
          <a:p>
            <a:pPr eaLnBrk="1" hangingPunct="1"/>
            <a:r>
              <a:rPr lang="tr-TR" altLang="en-US"/>
              <a:t>Basket analysis: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r-TR" altLang="en-US"/>
              <a:t>	</a:t>
            </a:r>
            <a:r>
              <a:rPr lang="tr-TR" altLang="en-US" i="1"/>
              <a:t>P </a:t>
            </a:r>
            <a:r>
              <a:rPr lang="tr-TR" altLang="en-US"/>
              <a:t>(</a:t>
            </a:r>
            <a:r>
              <a:rPr lang="tr-TR" altLang="en-US" i="1"/>
              <a:t>Y </a:t>
            </a:r>
            <a:r>
              <a:rPr lang="tr-TR" altLang="en-US"/>
              <a:t>| </a:t>
            </a:r>
            <a:r>
              <a:rPr lang="tr-TR" altLang="en-US" i="1"/>
              <a:t>X </a:t>
            </a:r>
            <a:r>
              <a:rPr lang="tr-TR" altLang="en-US"/>
              <a:t>) probability that somebody who buys </a:t>
            </a:r>
            <a:r>
              <a:rPr lang="tr-TR" altLang="en-US" i="1"/>
              <a:t>X</a:t>
            </a:r>
            <a:r>
              <a:rPr lang="tr-TR" altLang="en-US"/>
              <a:t> also buys </a:t>
            </a:r>
            <a:r>
              <a:rPr lang="tr-TR" altLang="en-US" i="1"/>
              <a:t>Y </a:t>
            </a:r>
            <a:r>
              <a:rPr lang="tr-TR" altLang="en-US"/>
              <a:t>where </a:t>
            </a:r>
            <a:r>
              <a:rPr lang="tr-TR" altLang="en-US" i="1"/>
              <a:t>X</a:t>
            </a:r>
            <a:r>
              <a:rPr lang="tr-TR" altLang="en-US"/>
              <a:t> and </a:t>
            </a:r>
            <a:r>
              <a:rPr lang="tr-TR" altLang="en-US" i="1"/>
              <a:t>Y</a:t>
            </a:r>
            <a:r>
              <a:rPr lang="tr-TR" altLang="en-US"/>
              <a:t> are products/services.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r-TR" altLang="en-US"/>
              <a:t>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r-TR" altLang="en-US"/>
              <a:t>	Example: </a:t>
            </a:r>
            <a:r>
              <a:rPr lang="tr-TR" altLang="en-US" i="1"/>
              <a:t>P </a:t>
            </a:r>
            <a:r>
              <a:rPr lang="tr-TR" altLang="en-US"/>
              <a:t>( chips | beer ) = 0.7</a:t>
            </a:r>
          </a:p>
        </p:txBody>
      </p:sp>
      <p:sp>
        <p:nvSpPr>
          <p:cNvPr id="1029" name="Text Box 4">
            <a:extLst>
              <a:ext uri="{FF2B5EF4-FFF2-40B4-BE49-F238E27FC236}">
                <a16:creationId xmlns:a16="http://schemas.microsoft.com/office/drawing/2014/main" id="{0C3CADE9-A848-4146-BDF5-17C15EF9F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4000500"/>
            <a:ext cx="419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solidFill>
                  <a:srgbClr val="0C6D9C"/>
                </a:solidFill>
              </a:rPr>
              <a:t>Market-Basket transactions</a:t>
            </a:r>
          </a:p>
        </p:txBody>
      </p:sp>
      <p:graphicFrame>
        <p:nvGraphicFramePr>
          <p:cNvPr id="1026" name="Object 5">
            <a:extLst>
              <a:ext uri="{FF2B5EF4-FFF2-40B4-BE49-F238E27FC236}">
                <a16:creationId xmlns:a16="http://schemas.microsoft.com/office/drawing/2014/main" id="{BA96A003-62D4-4CD3-8AEE-23AFB64C1A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0988" y="4325938"/>
          <a:ext cx="4343400" cy="2532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Document" r:id="rId3" imgW="3433292" imgH="1998228" progId="Word.Document.8">
                  <p:embed/>
                </p:oleObj>
              </mc:Choice>
              <mc:Fallback>
                <p:oleObj name="Document" r:id="rId3" imgW="3433292" imgH="1998228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8" y="4325938"/>
                        <a:ext cx="4343400" cy="2532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4">
            <a:extLst>
              <a:ext uri="{FF2B5EF4-FFF2-40B4-BE49-F238E27FC236}">
                <a16:creationId xmlns:a16="http://schemas.microsoft.com/office/drawing/2014/main" id="{A1FEDFC8-4661-43ED-83B1-A2F117D804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CBECDD5A-D076-4566-8541-F0F14EFEBE3D}" type="slidenum">
              <a:rPr lang="tr-TR" altLang="en-US" sz="1400"/>
              <a:pPr eaLnBrk="1" hangingPunct="1"/>
              <a:t>9</a:t>
            </a:fld>
            <a:endParaRPr lang="tr-TR" altLang="en-US" sz="1400"/>
          </a:p>
        </p:txBody>
      </p:sp>
      <p:pic>
        <p:nvPicPr>
          <p:cNvPr id="13315" name="Picture 9">
            <a:extLst>
              <a:ext uri="{FF2B5EF4-FFF2-40B4-BE49-F238E27FC236}">
                <a16:creationId xmlns:a16="http://schemas.microsoft.com/office/drawing/2014/main" id="{126DE163-73A2-4A71-9BFD-79DF5A216614}"/>
              </a:ext>
            </a:extLst>
          </p:cNvPr>
          <p:cNvPicPr>
            <a:picLocks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95738" y="549275"/>
            <a:ext cx="4689475" cy="4464050"/>
          </a:xfrm>
        </p:spPr>
      </p:pic>
      <p:sp>
        <p:nvSpPr>
          <p:cNvPr id="13316" name="Rectangle 2">
            <a:extLst>
              <a:ext uri="{FF2B5EF4-FFF2-40B4-BE49-F238E27FC236}">
                <a16:creationId xmlns:a16="http://schemas.microsoft.com/office/drawing/2014/main" id="{4E047251-DB8B-4B28-876E-D15A5D29A6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Classification</a:t>
            </a:r>
          </a:p>
        </p:txBody>
      </p:sp>
      <p:sp>
        <p:nvSpPr>
          <p:cNvPr id="13317" name="Rectangle 3">
            <a:extLst>
              <a:ext uri="{FF2B5EF4-FFF2-40B4-BE49-F238E27FC236}">
                <a16:creationId xmlns:a16="http://schemas.microsoft.com/office/drawing/2014/main" id="{EDA370DA-B75C-4181-A38E-A1C9E94D8EFB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68313" y="1844675"/>
            <a:ext cx="3322637" cy="3168650"/>
          </a:xfrm>
        </p:spPr>
        <p:txBody>
          <a:bodyPr/>
          <a:lstStyle/>
          <a:p>
            <a:pPr eaLnBrk="1" hangingPunct="1"/>
            <a:r>
              <a:rPr lang="tr-TR" altLang="en-US"/>
              <a:t>Example: Credit scoring</a:t>
            </a:r>
          </a:p>
          <a:p>
            <a:pPr eaLnBrk="1" hangingPunct="1"/>
            <a:r>
              <a:rPr lang="tr-TR" altLang="en-US"/>
              <a:t>Differentiating between </a:t>
            </a:r>
            <a:r>
              <a:rPr lang="tr-TR" altLang="en-US">
                <a:solidFill>
                  <a:srgbClr val="FF33CC"/>
                </a:solidFill>
              </a:rPr>
              <a:t>low-risk</a:t>
            </a:r>
            <a:r>
              <a:rPr lang="tr-TR" altLang="en-US"/>
              <a:t> and </a:t>
            </a:r>
            <a:r>
              <a:rPr lang="tr-TR" altLang="en-US">
                <a:solidFill>
                  <a:srgbClr val="FF0000"/>
                </a:solidFill>
              </a:rPr>
              <a:t>high-risk</a:t>
            </a:r>
            <a:r>
              <a:rPr lang="tr-TR" altLang="en-US"/>
              <a:t> customers from their </a:t>
            </a:r>
            <a:r>
              <a:rPr lang="tr-TR" altLang="en-US" i="1"/>
              <a:t>income</a:t>
            </a:r>
            <a:r>
              <a:rPr lang="tr-TR" altLang="en-US"/>
              <a:t> and </a:t>
            </a:r>
            <a:r>
              <a:rPr lang="tr-TR" altLang="en-US" i="1"/>
              <a:t>savings</a:t>
            </a:r>
          </a:p>
        </p:txBody>
      </p:sp>
      <p:sp>
        <p:nvSpPr>
          <p:cNvPr id="13318" name="Rectangle 10">
            <a:extLst>
              <a:ext uri="{FF2B5EF4-FFF2-40B4-BE49-F238E27FC236}">
                <a16:creationId xmlns:a16="http://schemas.microsoft.com/office/drawing/2014/main" id="{2B84A173-7C80-4D24-99E2-99C9B6DF8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5157788"/>
            <a:ext cx="777716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tr-TR" altLang="en-US" sz="2400">
                <a:solidFill>
                  <a:srgbClr val="3333FF"/>
                </a:solidFill>
                <a:latin typeface="Lucida Bright" panose="02040602050505020304" pitchFamily="18" charset="0"/>
              </a:rPr>
              <a:t>Discriminant:</a:t>
            </a:r>
            <a:r>
              <a:rPr lang="tr-TR" altLang="en-US" sz="2400">
                <a:latin typeface="Lucida Bright" panose="02040602050505020304" pitchFamily="18" charset="0"/>
              </a:rPr>
              <a:t> IF </a:t>
            </a:r>
            <a:r>
              <a:rPr lang="tr-TR" altLang="en-US" sz="2400" i="1">
                <a:latin typeface="Lucida Bright" panose="02040602050505020304" pitchFamily="18" charset="0"/>
              </a:rPr>
              <a:t>income</a:t>
            </a:r>
            <a:r>
              <a:rPr lang="tr-TR" altLang="en-US" sz="2400">
                <a:latin typeface="Lucida Bright" panose="02040602050505020304" pitchFamily="18" charset="0"/>
              </a:rPr>
              <a:t> &gt; θ</a:t>
            </a:r>
            <a:r>
              <a:rPr lang="tr-TR" altLang="en-US" sz="2400" baseline="-25000">
                <a:latin typeface="Lucida Bright" panose="02040602050505020304" pitchFamily="18" charset="0"/>
              </a:rPr>
              <a:t>1</a:t>
            </a:r>
            <a:r>
              <a:rPr lang="tr-TR" altLang="en-US" sz="2400">
                <a:latin typeface="Lucida Bright" panose="02040602050505020304" pitchFamily="18" charset="0"/>
              </a:rPr>
              <a:t> AND </a:t>
            </a:r>
            <a:r>
              <a:rPr lang="tr-TR" altLang="en-US" sz="2400" i="1">
                <a:latin typeface="Lucida Bright" panose="02040602050505020304" pitchFamily="18" charset="0"/>
              </a:rPr>
              <a:t>savings</a:t>
            </a:r>
            <a:r>
              <a:rPr lang="tr-TR" altLang="en-US" sz="2400">
                <a:latin typeface="Lucida Bright" panose="02040602050505020304" pitchFamily="18" charset="0"/>
              </a:rPr>
              <a:t> &gt; θ</a:t>
            </a:r>
            <a:r>
              <a:rPr lang="tr-TR" altLang="en-US" sz="2400" baseline="-25000">
                <a:latin typeface="Lucida Bright" panose="02040602050505020304" pitchFamily="18" charset="0"/>
              </a:rPr>
              <a:t>2</a:t>
            </a:r>
            <a:r>
              <a:rPr lang="tr-TR" altLang="en-US" sz="2400">
                <a:latin typeface="Lucida Bright" panose="02040602050505020304" pitchFamily="18" charset="0"/>
              </a:rPr>
              <a:t>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tr-TR" altLang="en-US" sz="2400">
                <a:latin typeface="Lucida Bright" panose="02040602050505020304" pitchFamily="18" charset="0"/>
              </a:rPr>
              <a:t>				THEN </a:t>
            </a:r>
            <a:r>
              <a:rPr lang="tr-TR" altLang="en-US" sz="2400">
                <a:solidFill>
                  <a:srgbClr val="FF33CC"/>
                </a:solidFill>
                <a:latin typeface="Lucida Bright" panose="02040602050505020304" pitchFamily="18" charset="0"/>
              </a:rPr>
              <a:t>low-risk </a:t>
            </a:r>
            <a:r>
              <a:rPr lang="tr-TR" altLang="en-US" sz="2400">
                <a:latin typeface="Lucida Bright" panose="02040602050505020304" pitchFamily="18" charset="0"/>
              </a:rPr>
              <a:t>ELSE </a:t>
            </a:r>
            <a:r>
              <a:rPr lang="tr-TR" altLang="en-US" sz="2400">
                <a:solidFill>
                  <a:srgbClr val="FF0000"/>
                </a:solidFill>
                <a:latin typeface="Lucida Bright" panose="02040602050505020304" pitchFamily="18" charset="0"/>
              </a:rPr>
              <a:t>high-risk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59E4655-C522-4E4B-BF66-9D71A89F1871}"/>
              </a:ext>
            </a:extLst>
          </p:cNvPr>
          <p:cNvCxnSpPr/>
          <p:nvPr/>
        </p:nvCxnSpPr>
        <p:spPr>
          <a:xfrm rot="10800000" flipV="1">
            <a:off x="1500188" y="5500688"/>
            <a:ext cx="928687" cy="785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20" name="TextBox 10">
            <a:extLst>
              <a:ext uri="{FF2B5EF4-FFF2-40B4-BE49-F238E27FC236}">
                <a16:creationId xmlns:a16="http://schemas.microsoft.com/office/drawing/2014/main" id="{260C2E0C-D04A-4CB8-A679-6FBB13D5A5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5" y="6286500"/>
            <a:ext cx="9223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r>
              <a:rPr lang="en-US" altLang="en-US" sz="2000"/>
              <a:t>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4">
            <a:extLst>
              <a:ext uri="{FF2B5EF4-FFF2-40B4-BE49-F238E27FC236}">
                <a16:creationId xmlns:a16="http://schemas.microsoft.com/office/drawing/2014/main" id="{DDF97419-E301-4004-A211-F798C791BA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F944D0B6-D7F0-4DF9-BB2B-629CC66E4123}" type="slidenum">
              <a:rPr lang="tr-TR" altLang="en-US" sz="1400"/>
              <a:pPr eaLnBrk="1" hangingPunct="1"/>
              <a:t>10</a:t>
            </a:fld>
            <a:endParaRPr lang="tr-TR" altLang="en-US" sz="14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5874ADEB-7526-43C9-873E-5E7F7530DB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Classification: Applications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04867B3F-43EE-43BC-8749-E39AA146B3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r-TR" altLang="en-US"/>
              <a:t>Aka Pattern recognition</a:t>
            </a:r>
          </a:p>
          <a:p>
            <a:pPr eaLnBrk="1" hangingPunct="1">
              <a:lnSpc>
                <a:spcPct val="90000"/>
              </a:lnSpc>
            </a:pPr>
            <a:r>
              <a:rPr lang="tr-TR" altLang="en-US">
                <a:solidFill>
                  <a:schemeClr val="bg2"/>
                </a:solidFill>
              </a:rPr>
              <a:t>Face recognition:</a:t>
            </a:r>
            <a:r>
              <a:rPr lang="tr-TR" altLang="en-US"/>
              <a:t> Pose, lighting, occlusion (glasses, beard), make-up, hair style </a:t>
            </a:r>
          </a:p>
          <a:p>
            <a:pPr eaLnBrk="1" hangingPunct="1">
              <a:lnSpc>
                <a:spcPct val="90000"/>
              </a:lnSpc>
            </a:pPr>
            <a:r>
              <a:rPr lang="tr-TR" altLang="en-US">
                <a:solidFill>
                  <a:schemeClr val="bg2"/>
                </a:solidFill>
              </a:rPr>
              <a:t>Character recognition:</a:t>
            </a:r>
            <a:r>
              <a:rPr lang="tr-TR" altLang="en-US"/>
              <a:t> Different handwriting styles.</a:t>
            </a:r>
          </a:p>
          <a:p>
            <a:pPr eaLnBrk="1" hangingPunct="1">
              <a:lnSpc>
                <a:spcPct val="90000"/>
              </a:lnSpc>
            </a:pPr>
            <a:r>
              <a:rPr lang="tr-TR" altLang="en-US">
                <a:solidFill>
                  <a:schemeClr val="bg2"/>
                </a:solidFill>
              </a:rPr>
              <a:t>Speech recognition:</a:t>
            </a:r>
            <a:r>
              <a:rPr lang="tr-TR" altLang="en-US"/>
              <a:t> Temporal dependency. </a:t>
            </a:r>
          </a:p>
          <a:p>
            <a:pPr lvl="1" eaLnBrk="1" hangingPunct="1">
              <a:lnSpc>
                <a:spcPct val="90000"/>
              </a:lnSpc>
            </a:pPr>
            <a:r>
              <a:rPr lang="tr-TR" altLang="en-US"/>
              <a:t>Use of a dictionary or the syntax of the language. </a:t>
            </a:r>
          </a:p>
          <a:p>
            <a:pPr lvl="1" eaLnBrk="1" hangingPunct="1">
              <a:lnSpc>
                <a:spcPct val="90000"/>
              </a:lnSpc>
            </a:pPr>
            <a:r>
              <a:rPr lang="tr-TR" altLang="en-US"/>
              <a:t>Sensor fusion: Combine multiple modalities; eg, visual (lip image) and acoustic for speech</a:t>
            </a:r>
          </a:p>
          <a:p>
            <a:pPr eaLnBrk="1" hangingPunct="1">
              <a:lnSpc>
                <a:spcPct val="90000"/>
              </a:lnSpc>
            </a:pPr>
            <a:r>
              <a:rPr lang="tr-TR" altLang="en-US">
                <a:solidFill>
                  <a:schemeClr val="bg2"/>
                </a:solidFill>
              </a:rPr>
              <a:t>Medical diagnosis:</a:t>
            </a:r>
            <a:r>
              <a:rPr lang="tr-TR" altLang="en-US"/>
              <a:t> From symptoms to illnesses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solidFill>
                  <a:schemeClr val="bg2"/>
                </a:solidFill>
              </a:rPr>
              <a:t>Web Advertizing: </a:t>
            </a:r>
            <a:r>
              <a:rPr lang="en-US" altLang="en-US"/>
              <a:t>Predict if a user clicks on an ad on the Internet.</a:t>
            </a:r>
            <a:endParaRPr lang="tr-T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4">
            <a:extLst>
              <a:ext uri="{FF2B5EF4-FFF2-40B4-BE49-F238E27FC236}">
                <a16:creationId xmlns:a16="http://schemas.microsoft.com/office/drawing/2014/main" id="{9C24B440-7595-4696-A000-EC14F63128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969A1FAC-6831-43FB-AD2C-B8073FAA67A3}" type="slidenum">
              <a:rPr lang="tr-TR" altLang="en-US" sz="1400"/>
              <a:pPr eaLnBrk="1" hangingPunct="1"/>
              <a:t>11</a:t>
            </a:fld>
            <a:endParaRPr lang="tr-TR" altLang="en-US" sz="14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EE31C34C-080E-49B4-9021-78921ACE50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Face Recognition</a:t>
            </a:r>
          </a:p>
        </p:txBody>
      </p:sp>
      <p:pic>
        <p:nvPicPr>
          <p:cNvPr id="15364" name="Picture 17" descr="011">
            <a:extLst>
              <a:ext uri="{FF2B5EF4-FFF2-40B4-BE49-F238E27FC236}">
                <a16:creationId xmlns:a16="http://schemas.microsoft.com/office/drawing/2014/main" id="{FE0537A1-4B87-4F9C-BA98-4EBEBB56E5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2492375"/>
            <a:ext cx="8763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18" descr="012">
            <a:extLst>
              <a:ext uri="{FF2B5EF4-FFF2-40B4-BE49-F238E27FC236}">
                <a16:creationId xmlns:a16="http://schemas.microsoft.com/office/drawing/2014/main" id="{4EF14E14-B254-45E2-B5A7-232D2A097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2492375"/>
            <a:ext cx="8763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Picture 19" descr="010">
            <a:extLst>
              <a:ext uri="{FF2B5EF4-FFF2-40B4-BE49-F238E27FC236}">
                <a16:creationId xmlns:a16="http://schemas.microsoft.com/office/drawing/2014/main" id="{AAEDCFB2-C273-426C-931D-DA68E2DF5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2492375"/>
            <a:ext cx="8763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7" name="Picture 20" descr="013">
            <a:extLst>
              <a:ext uri="{FF2B5EF4-FFF2-40B4-BE49-F238E27FC236}">
                <a16:creationId xmlns:a16="http://schemas.microsoft.com/office/drawing/2014/main" id="{518E3E30-28B0-4839-A6F2-B89C3E2D3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838" y="2492375"/>
            <a:ext cx="8763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8" name="Picture 21" descr="014">
            <a:extLst>
              <a:ext uri="{FF2B5EF4-FFF2-40B4-BE49-F238E27FC236}">
                <a16:creationId xmlns:a16="http://schemas.microsoft.com/office/drawing/2014/main" id="{A27628F1-276F-43F4-B046-6FC6FED4B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4508500"/>
            <a:ext cx="8763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9" name="Picture 22" descr="020">
            <a:extLst>
              <a:ext uri="{FF2B5EF4-FFF2-40B4-BE49-F238E27FC236}">
                <a16:creationId xmlns:a16="http://schemas.microsoft.com/office/drawing/2014/main" id="{D662D589-6473-432C-A4AC-381DC742A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4508500"/>
            <a:ext cx="8763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0" name="Picture 23" descr="105">
            <a:extLst>
              <a:ext uri="{FF2B5EF4-FFF2-40B4-BE49-F238E27FC236}">
                <a16:creationId xmlns:a16="http://schemas.microsoft.com/office/drawing/2014/main" id="{572E49C4-1375-4A0A-9E77-F2680A692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338" y="4508500"/>
            <a:ext cx="8763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1" name="Picture 24" descr="350">
            <a:extLst>
              <a:ext uri="{FF2B5EF4-FFF2-40B4-BE49-F238E27FC236}">
                <a16:creationId xmlns:a16="http://schemas.microsoft.com/office/drawing/2014/main" id="{11D5F845-6AC5-4F70-8C29-74DC7774F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400" y="4508500"/>
            <a:ext cx="8763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72" name="Text Box 25">
            <a:extLst>
              <a:ext uri="{FF2B5EF4-FFF2-40B4-BE49-F238E27FC236}">
                <a16:creationId xmlns:a16="http://schemas.microsoft.com/office/drawing/2014/main" id="{1E5D298A-3A51-40C0-8DB1-A15D493FE0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844675"/>
            <a:ext cx="4684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r>
              <a:rPr lang="tr-TR" altLang="en-US" sz="2400">
                <a:latin typeface="Lucida Bright" panose="02040602050505020304" pitchFamily="18" charset="0"/>
              </a:rPr>
              <a:t>Training examples of a person</a:t>
            </a:r>
          </a:p>
        </p:txBody>
      </p:sp>
      <p:sp>
        <p:nvSpPr>
          <p:cNvPr id="15373" name="Text Box 26">
            <a:extLst>
              <a:ext uri="{FF2B5EF4-FFF2-40B4-BE49-F238E27FC236}">
                <a16:creationId xmlns:a16="http://schemas.microsoft.com/office/drawing/2014/main" id="{FE0AE15E-F32F-4E13-8D06-1B48CFE39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933825"/>
            <a:ext cx="1951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r>
              <a:rPr lang="tr-TR" altLang="en-US" sz="2400">
                <a:latin typeface="Lucida Bright" panose="02040602050505020304" pitchFamily="18" charset="0"/>
              </a:rPr>
              <a:t>Test images</a:t>
            </a:r>
          </a:p>
        </p:txBody>
      </p:sp>
      <p:sp>
        <p:nvSpPr>
          <p:cNvPr id="15374" name="Text Box 27">
            <a:extLst>
              <a:ext uri="{FF2B5EF4-FFF2-40B4-BE49-F238E27FC236}">
                <a16:creationId xmlns:a16="http://schemas.microsoft.com/office/drawing/2014/main" id="{D3E83DF8-1F04-443B-B511-617297CC8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5949950"/>
            <a:ext cx="333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r>
              <a:rPr lang="tr-TR" altLang="en-US" sz="1400">
                <a:latin typeface="Lucida Bright" panose="02040602050505020304" pitchFamily="18" charset="0"/>
              </a:rPr>
              <a:t>AT&amp;T Laboratories, Cambridge UK</a:t>
            </a:r>
          </a:p>
          <a:p>
            <a:pPr eaLnBrk="1" hangingPunct="1"/>
            <a:r>
              <a:rPr lang="tr-TR" altLang="en-US" sz="1000">
                <a:latin typeface="Lucida Bright" panose="02040602050505020304" pitchFamily="18" charset="0"/>
              </a:rPr>
              <a:t>http://www.uk.research.att.com/facedatabase.html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>
            <a:extLst>
              <a:ext uri="{FF2B5EF4-FFF2-40B4-BE49-F238E27FC236}">
                <a16:creationId xmlns:a16="http://schemas.microsoft.com/office/drawing/2014/main" id="{202BF67B-7718-40AE-8A47-65BAA83BCC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7A7F333E-4E2D-46AB-87AC-58D2768F5AA1}" type="slidenum">
              <a:rPr lang="tr-TR" altLang="en-US" sz="1400"/>
              <a:pPr eaLnBrk="1" hangingPunct="1"/>
              <a:t>12</a:t>
            </a:fld>
            <a:endParaRPr lang="tr-TR" altLang="en-US" sz="1400"/>
          </a:p>
        </p:txBody>
      </p:sp>
      <p:pic>
        <p:nvPicPr>
          <p:cNvPr id="16387" name="Picture 6">
            <a:extLst>
              <a:ext uri="{FF2B5EF4-FFF2-40B4-BE49-F238E27FC236}">
                <a16:creationId xmlns:a16="http://schemas.microsoft.com/office/drawing/2014/main" id="{BFB683C4-0A8D-4D62-A2E4-203A474D9710}"/>
              </a:ext>
            </a:extLst>
          </p:cNvPr>
          <p:cNvPicPr>
            <a:picLocks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40200" y="1492250"/>
            <a:ext cx="4546600" cy="4375150"/>
          </a:xfrm>
        </p:spPr>
      </p:pic>
      <p:sp>
        <p:nvSpPr>
          <p:cNvPr id="16388" name="Rectangle 4">
            <a:extLst>
              <a:ext uri="{FF2B5EF4-FFF2-40B4-BE49-F238E27FC236}">
                <a16:creationId xmlns:a16="http://schemas.microsoft.com/office/drawing/2014/main" id="{8649829D-3546-452E-8E74-76BA2A72FB5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Prediction: </a:t>
            </a:r>
            <a:r>
              <a:rPr lang="tr-TR" altLang="en-US"/>
              <a:t>Regression</a:t>
            </a:r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70CE979B-265A-4207-BC74-76B9E8046B2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Example: Price of a used car</a:t>
            </a:r>
          </a:p>
          <a:p>
            <a:pPr eaLnBrk="1" hangingPunct="1"/>
            <a:r>
              <a:rPr lang="tr-TR" altLang="en-US" i="1"/>
              <a:t>x </a:t>
            </a:r>
            <a:r>
              <a:rPr lang="tr-TR" altLang="en-US"/>
              <a:t>: car attributes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r-TR" altLang="en-US"/>
              <a:t>	</a:t>
            </a:r>
            <a:r>
              <a:rPr lang="tr-TR" altLang="en-US" i="1"/>
              <a:t>y </a:t>
            </a:r>
            <a:r>
              <a:rPr lang="tr-TR" altLang="en-US"/>
              <a:t>: price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r-TR" altLang="en-US"/>
              <a:t>		</a:t>
            </a:r>
            <a:r>
              <a:rPr lang="tr-TR" altLang="en-US" i="1"/>
              <a:t>y </a:t>
            </a:r>
            <a:r>
              <a:rPr lang="tr-TR" altLang="en-US"/>
              <a:t>= </a:t>
            </a:r>
            <a:r>
              <a:rPr lang="tr-TR" altLang="en-US" i="1"/>
              <a:t>g </a:t>
            </a:r>
            <a:r>
              <a:rPr lang="tr-TR" altLang="en-US"/>
              <a:t>(</a:t>
            </a:r>
            <a:r>
              <a:rPr lang="tr-TR" altLang="en-US" i="1"/>
              <a:t>x </a:t>
            </a:r>
            <a:r>
              <a:rPr lang="tr-TR" altLang="en-US"/>
              <a:t>| </a:t>
            </a:r>
            <a:r>
              <a:rPr lang="tr-TR" altLang="en-US" i="1"/>
              <a:t>θ</a:t>
            </a:r>
            <a:r>
              <a:rPr lang="tr-TR" altLang="en-US">
                <a:latin typeface="Symbol" panose="05050102010706020507" pitchFamily="18" charset="2"/>
              </a:rPr>
              <a:t> </a:t>
            </a:r>
            <a:r>
              <a:rPr lang="tr-TR" altLang="en-US"/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r-TR" altLang="en-US"/>
              <a:t>	</a:t>
            </a:r>
            <a:r>
              <a:rPr lang="tr-TR" altLang="en-US" i="1"/>
              <a:t>g </a:t>
            </a:r>
            <a:r>
              <a:rPr lang="tr-TR" altLang="en-US"/>
              <a:t>( ) model,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r-TR" altLang="en-US">
                <a:latin typeface="Symbol" panose="05050102010706020507" pitchFamily="18" charset="2"/>
              </a:rPr>
              <a:t>	</a:t>
            </a:r>
            <a:r>
              <a:rPr lang="tr-TR" altLang="en-US" i="1"/>
              <a:t>θ</a:t>
            </a:r>
            <a:r>
              <a:rPr lang="tr-TR" altLang="en-US"/>
              <a:t> parameters</a:t>
            </a:r>
          </a:p>
        </p:txBody>
      </p:sp>
      <p:sp>
        <p:nvSpPr>
          <p:cNvPr id="16390" name="Text Box 9">
            <a:extLst>
              <a:ext uri="{FF2B5EF4-FFF2-40B4-BE49-F238E27FC236}">
                <a16:creationId xmlns:a16="http://schemas.microsoft.com/office/drawing/2014/main" id="{9A37F2B0-8452-451D-BAB2-5463DB943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2779713"/>
            <a:ext cx="1681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r>
              <a:rPr lang="tr-TR" altLang="en-US" sz="2400" i="1">
                <a:latin typeface="Lucida Bright" panose="02040602050505020304" pitchFamily="18" charset="0"/>
              </a:rPr>
              <a:t>y </a:t>
            </a:r>
            <a:r>
              <a:rPr lang="tr-TR" altLang="en-US" sz="2400">
                <a:latin typeface="Lucida Bright" panose="02040602050505020304" pitchFamily="18" charset="0"/>
              </a:rPr>
              <a:t>= </a:t>
            </a:r>
            <a:r>
              <a:rPr lang="tr-TR" altLang="en-US" sz="2400" i="1">
                <a:latin typeface="Lucida Bright" panose="02040602050505020304" pitchFamily="18" charset="0"/>
              </a:rPr>
              <a:t>wx</a:t>
            </a:r>
            <a:r>
              <a:rPr lang="tr-TR" altLang="en-US" sz="2400">
                <a:latin typeface="Lucida Bright" panose="02040602050505020304" pitchFamily="18" charset="0"/>
              </a:rPr>
              <a:t>+</a:t>
            </a:r>
            <a:r>
              <a:rPr lang="tr-TR" altLang="en-US" sz="2400" i="1">
                <a:latin typeface="Lucida Bright" panose="02040602050505020304" pitchFamily="18" charset="0"/>
              </a:rPr>
              <a:t>w</a:t>
            </a:r>
            <a:r>
              <a:rPr lang="tr-TR" altLang="en-US" sz="2400" baseline="-25000">
                <a:latin typeface="Lucida Bright" panose="02040602050505020304" pitchFamily="18" charset="0"/>
              </a:rPr>
              <a:t>0</a:t>
            </a:r>
            <a:endParaRPr lang="en-GB" altLang="en-US" sz="2400" baseline="-25000">
              <a:latin typeface="Lucida Bright" panose="020406020505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4">
            <a:extLst>
              <a:ext uri="{FF2B5EF4-FFF2-40B4-BE49-F238E27FC236}">
                <a16:creationId xmlns:a16="http://schemas.microsoft.com/office/drawing/2014/main" id="{C0293226-9D6C-466B-AB48-13FBA066F3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643688" y="6215063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19C7121C-9FCE-459E-8387-744CA146CA15}" type="slidenum">
              <a:rPr lang="tr-TR" altLang="en-US" sz="1400"/>
              <a:pPr eaLnBrk="1" hangingPunct="1"/>
              <a:t>13</a:t>
            </a:fld>
            <a:endParaRPr lang="tr-TR" altLang="en-US" sz="14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BE5C4A02-FA47-4EC0-8B02-ED5F0EF887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Regression Applications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F3AB2562-AB6B-4B00-8F6D-8CA462FE1E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229600" cy="1808163"/>
          </a:xfrm>
        </p:spPr>
        <p:txBody>
          <a:bodyPr/>
          <a:lstStyle/>
          <a:p>
            <a:pPr eaLnBrk="1" hangingPunct="1"/>
            <a:r>
              <a:rPr lang="tr-TR" altLang="en-US"/>
              <a:t>Navigating a car: Angle of the steering wheel (CMU NavLab)</a:t>
            </a:r>
          </a:p>
          <a:p>
            <a:pPr eaLnBrk="1" hangingPunct="1"/>
            <a:r>
              <a:rPr lang="tr-TR" altLang="en-US"/>
              <a:t>Kinematics of a robot arm</a:t>
            </a:r>
          </a:p>
        </p:txBody>
      </p:sp>
      <p:sp>
        <p:nvSpPr>
          <p:cNvPr id="17413" name="Rectangle 8">
            <a:extLst>
              <a:ext uri="{FF2B5EF4-FFF2-40B4-BE49-F238E27FC236}">
                <a16:creationId xmlns:a16="http://schemas.microsoft.com/office/drawing/2014/main" id="{BB5C16CF-4C31-47C1-9777-14EE52105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3284538"/>
            <a:ext cx="2232025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tr-TR" altLang="en-US" sz="2400" i="1">
                <a:latin typeface="Lucida Bright" panose="02040602050505020304" pitchFamily="18" charset="0"/>
              </a:rPr>
              <a:t>α</a:t>
            </a:r>
            <a:r>
              <a:rPr lang="tr-TR" altLang="en-US" sz="2000" baseline="-25000">
                <a:latin typeface="Lucida Bright" panose="02040602050505020304" pitchFamily="18" charset="0"/>
              </a:rPr>
              <a:t>1</a:t>
            </a:r>
            <a:r>
              <a:rPr lang="tr-TR" altLang="en-US" sz="2400">
                <a:latin typeface="Lucida Bright" panose="02040602050505020304" pitchFamily="18" charset="0"/>
              </a:rPr>
              <a:t>= </a:t>
            </a:r>
            <a:r>
              <a:rPr lang="tr-TR" altLang="en-US" sz="2400" i="1">
                <a:latin typeface="Lucida Bright" panose="02040602050505020304" pitchFamily="18" charset="0"/>
              </a:rPr>
              <a:t>g</a:t>
            </a:r>
            <a:r>
              <a:rPr lang="tr-TR" altLang="en-US" sz="2000" baseline="-25000">
                <a:latin typeface="Lucida Bright" panose="02040602050505020304" pitchFamily="18" charset="0"/>
              </a:rPr>
              <a:t>1</a:t>
            </a:r>
            <a:r>
              <a:rPr lang="tr-TR" altLang="en-US" sz="2400">
                <a:latin typeface="Lucida Bright" panose="02040602050505020304" pitchFamily="18" charset="0"/>
              </a:rPr>
              <a:t>(</a:t>
            </a:r>
            <a:r>
              <a:rPr lang="tr-TR" altLang="en-US" sz="2400" i="1">
                <a:latin typeface="Lucida Bright" panose="02040602050505020304" pitchFamily="18" charset="0"/>
              </a:rPr>
              <a:t>x</a:t>
            </a:r>
            <a:r>
              <a:rPr lang="tr-TR" altLang="en-US" sz="2400">
                <a:latin typeface="Lucida Bright" panose="02040602050505020304" pitchFamily="18" charset="0"/>
              </a:rPr>
              <a:t>,</a:t>
            </a:r>
            <a:r>
              <a:rPr lang="tr-TR" altLang="en-US" sz="2400" i="1">
                <a:latin typeface="Lucida Bright" panose="02040602050505020304" pitchFamily="18" charset="0"/>
              </a:rPr>
              <a:t>y</a:t>
            </a:r>
            <a:r>
              <a:rPr lang="tr-TR" altLang="en-US" sz="2400">
                <a:latin typeface="Lucida Bright" panose="02040602050505020304" pitchFamily="18" charset="0"/>
              </a:rPr>
              <a:t>)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tr-TR" altLang="en-US" sz="2400" i="1">
                <a:latin typeface="Lucida Bright" panose="02040602050505020304" pitchFamily="18" charset="0"/>
              </a:rPr>
              <a:t>α</a:t>
            </a:r>
            <a:r>
              <a:rPr lang="tr-TR" altLang="en-US" sz="2000" baseline="-25000">
                <a:latin typeface="Lucida Bright" panose="02040602050505020304" pitchFamily="18" charset="0"/>
              </a:rPr>
              <a:t>2</a:t>
            </a:r>
            <a:r>
              <a:rPr lang="tr-TR" altLang="en-US" sz="2400">
                <a:latin typeface="Lucida Bright" panose="02040602050505020304" pitchFamily="18" charset="0"/>
              </a:rPr>
              <a:t>= </a:t>
            </a:r>
            <a:r>
              <a:rPr lang="tr-TR" altLang="en-US" sz="2400" i="1">
                <a:latin typeface="Lucida Bright" panose="02040602050505020304" pitchFamily="18" charset="0"/>
              </a:rPr>
              <a:t>g</a:t>
            </a:r>
            <a:r>
              <a:rPr lang="tr-TR" altLang="en-US" sz="2000" baseline="-25000">
                <a:latin typeface="Lucida Bright" panose="02040602050505020304" pitchFamily="18" charset="0"/>
              </a:rPr>
              <a:t>2</a:t>
            </a:r>
            <a:r>
              <a:rPr lang="tr-TR" altLang="en-US" sz="2400">
                <a:latin typeface="Lucida Bright" panose="02040602050505020304" pitchFamily="18" charset="0"/>
              </a:rPr>
              <a:t>(</a:t>
            </a:r>
            <a:r>
              <a:rPr lang="tr-TR" altLang="en-US" sz="2400" i="1">
                <a:latin typeface="Lucida Bright" panose="02040602050505020304" pitchFamily="18" charset="0"/>
              </a:rPr>
              <a:t>x</a:t>
            </a:r>
            <a:r>
              <a:rPr lang="tr-TR" altLang="en-US" sz="2400">
                <a:latin typeface="Lucida Bright" panose="02040602050505020304" pitchFamily="18" charset="0"/>
              </a:rPr>
              <a:t>,</a:t>
            </a:r>
            <a:r>
              <a:rPr lang="tr-TR" altLang="en-US" sz="2400" i="1">
                <a:latin typeface="Lucida Bright" panose="02040602050505020304" pitchFamily="18" charset="0"/>
              </a:rPr>
              <a:t>y</a:t>
            </a:r>
            <a:r>
              <a:rPr lang="tr-TR" altLang="en-US" sz="2400">
                <a:latin typeface="Lucida Bright" panose="02040602050505020304" pitchFamily="18" charset="0"/>
              </a:rPr>
              <a:t>)</a:t>
            </a:r>
          </a:p>
        </p:txBody>
      </p:sp>
      <p:grpSp>
        <p:nvGrpSpPr>
          <p:cNvPr id="17414" name="Group 19">
            <a:extLst>
              <a:ext uri="{FF2B5EF4-FFF2-40B4-BE49-F238E27FC236}">
                <a16:creationId xmlns:a16="http://schemas.microsoft.com/office/drawing/2014/main" id="{29D6EFE8-D1AA-42F4-A5D7-F80466003BCF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3284538"/>
            <a:ext cx="2374900" cy="2244725"/>
            <a:chOff x="930" y="2288"/>
            <a:chExt cx="1496" cy="1414"/>
          </a:xfrm>
        </p:grpSpPr>
        <p:sp>
          <p:nvSpPr>
            <p:cNvPr id="17415" name="Line 4">
              <a:extLst>
                <a:ext uri="{FF2B5EF4-FFF2-40B4-BE49-F238E27FC236}">
                  <a16:creationId xmlns:a16="http://schemas.microsoft.com/office/drawing/2014/main" id="{B02CD856-C116-4A1A-A877-CD97DEB47F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0" y="3702"/>
              <a:ext cx="77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6" name="Line 5">
              <a:extLst>
                <a:ext uri="{FF2B5EF4-FFF2-40B4-BE49-F238E27FC236}">
                  <a16:creationId xmlns:a16="http://schemas.microsoft.com/office/drawing/2014/main" id="{BD8134D5-B334-41C3-BBE9-92546D738F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2" y="3158"/>
              <a:ext cx="681" cy="5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7" name="Line 6">
              <a:extLst>
                <a:ext uri="{FF2B5EF4-FFF2-40B4-BE49-F238E27FC236}">
                  <a16:creationId xmlns:a16="http://schemas.microsoft.com/office/drawing/2014/main" id="{98B59F35-E3D8-4381-B5AC-472DBC5A86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01" y="2523"/>
              <a:ext cx="271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8" name="Line 7">
              <a:extLst>
                <a:ext uri="{FF2B5EF4-FFF2-40B4-BE49-F238E27FC236}">
                  <a16:creationId xmlns:a16="http://schemas.microsoft.com/office/drawing/2014/main" id="{0252BD9B-C70C-4F03-996D-774AE0A978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4" y="3158"/>
              <a:ext cx="9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9" name="Rectangle 10">
              <a:extLst>
                <a:ext uri="{FF2B5EF4-FFF2-40B4-BE49-F238E27FC236}">
                  <a16:creationId xmlns:a16="http://schemas.microsoft.com/office/drawing/2014/main" id="{4CB10DDB-3242-4D57-8569-873FC7427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5" y="3331"/>
              <a:ext cx="2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Palatino Linotype" panose="02040502050505030304" pitchFamily="18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Palatino Linotype" panose="02040502050505030304" pitchFamily="18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Palatino Linotype" panose="02040502050505030304" pitchFamily="18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Palatino Linotype" panose="02040502050505030304" pitchFamily="18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Palatino Linotype" panose="0204050205050503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Palatino Linotype" panose="0204050205050503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Palatino Linotype" panose="0204050205050503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Palatino Linotype" panose="0204050205050503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Palatino Linotype" panose="02040502050505030304" pitchFamily="18" charset="0"/>
                </a:defRPr>
              </a:lvl9pPr>
            </a:lstStyle>
            <a:p>
              <a:pPr eaLnBrk="1" hangingPunct="1"/>
              <a:r>
                <a:rPr lang="tr-TR" altLang="en-US" sz="2400">
                  <a:latin typeface="Lucida Bright" panose="02040602050505020304" pitchFamily="18" charset="0"/>
                </a:rPr>
                <a:t>α</a:t>
              </a:r>
              <a:r>
                <a:rPr lang="tr-TR" altLang="en-US" sz="2400" baseline="-25000">
                  <a:latin typeface="Lucida Bright" panose="02040602050505020304" pitchFamily="18" charset="0"/>
                </a:rPr>
                <a:t>1</a:t>
              </a:r>
            </a:p>
          </p:txBody>
        </p:sp>
        <p:sp>
          <p:nvSpPr>
            <p:cNvPr id="17420" name="Rectangle 11">
              <a:extLst>
                <a:ext uri="{FF2B5EF4-FFF2-40B4-BE49-F238E27FC236}">
                  <a16:creationId xmlns:a16="http://schemas.microsoft.com/office/drawing/2014/main" id="{723117F3-E4FD-491A-BF12-D285ECAC8F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2750"/>
              <a:ext cx="2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Palatino Linotype" panose="02040502050505030304" pitchFamily="18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Palatino Linotype" panose="02040502050505030304" pitchFamily="18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Palatino Linotype" panose="02040502050505030304" pitchFamily="18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Palatino Linotype" panose="02040502050505030304" pitchFamily="18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Palatino Linotype" panose="0204050205050503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Palatino Linotype" panose="0204050205050503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Palatino Linotype" panose="0204050205050503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Palatino Linotype" panose="0204050205050503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Palatino Linotype" panose="02040502050505030304" pitchFamily="18" charset="0"/>
                </a:defRPr>
              </a:lvl9pPr>
            </a:lstStyle>
            <a:p>
              <a:pPr eaLnBrk="1" hangingPunct="1"/>
              <a:r>
                <a:rPr lang="tr-TR" altLang="en-US" sz="2400">
                  <a:latin typeface="Lucida Bright" panose="02040602050505020304" pitchFamily="18" charset="0"/>
                </a:rPr>
                <a:t>α</a:t>
              </a:r>
              <a:r>
                <a:rPr lang="tr-TR" altLang="en-US" sz="2400" baseline="-25000">
                  <a:latin typeface="Lucida Bright" panose="02040602050505020304" pitchFamily="18" charset="0"/>
                </a:rPr>
                <a:t>2</a:t>
              </a:r>
            </a:p>
          </p:txBody>
        </p:sp>
        <p:sp>
          <p:nvSpPr>
            <p:cNvPr id="17421" name="Arc 15">
              <a:extLst>
                <a:ext uri="{FF2B5EF4-FFF2-40B4-BE49-F238E27FC236}">
                  <a16:creationId xmlns:a16="http://schemas.microsoft.com/office/drawing/2014/main" id="{2D371954-3D8E-403D-8CA3-AFF954CD7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7" y="3067"/>
              <a:ext cx="137" cy="9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2" name="Arc 16">
              <a:extLst>
                <a:ext uri="{FF2B5EF4-FFF2-40B4-BE49-F238E27FC236}">
                  <a16:creationId xmlns:a16="http://schemas.microsoft.com/office/drawing/2014/main" id="{E81207AB-F150-4028-8B5B-BC31995372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4" y="3566"/>
              <a:ext cx="136" cy="1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3" name="Rectangle 17">
              <a:extLst>
                <a:ext uri="{FF2B5EF4-FFF2-40B4-BE49-F238E27FC236}">
                  <a16:creationId xmlns:a16="http://schemas.microsoft.com/office/drawing/2014/main" id="{35E1FEBA-4B90-4B5C-B846-16A9C1E8C9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" y="2288"/>
              <a:ext cx="49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Palatino Linotype" panose="02040502050505030304" pitchFamily="18" charset="0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Palatino Linotype" panose="02040502050505030304" pitchFamily="18" charset="0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Palatino Linotype" panose="02040502050505030304" pitchFamily="18" charset="0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Palatino Linotype" panose="02040502050505030304" pitchFamily="18" charset="0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Palatino Linotype" panose="0204050205050503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Palatino Linotype" panose="0204050205050503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Palatino Linotype" panose="0204050205050503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Palatino Linotype" panose="0204050205050503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Palatino Linotype" panose="02040502050505030304" pitchFamily="18" charset="0"/>
                </a:defRPr>
              </a:lvl9pPr>
            </a:lstStyle>
            <a:p>
              <a:pPr eaLnBrk="1" hangingPunct="1"/>
              <a:r>
                <a:rPr lang="tr-TR" altLang="en-US" sz="2400">
                  <a:latin typeface="Lucida Bright" panose="02040602050505020304" pitchFamily="18" charset="0"/>
                </a:rPr>
                <a:t>(</a:t>
              </a:r>
              <a:r>
                <a:rPr lang="tr-TR" altLang="en-US" sz="2400" i="1">
                  <a:latin typeface="Lucida Bright" panose="02040602050505020304" pitchFamily="18" charset="0"/>
                </a:rPr>
                <a:t>x</a:t>
              </a:r>
              <a:r>
                <a:rPr lang="tr-TR" altLang="en-US" sz="2400">
                  <a:latin typeface="Lucida Bright" panose="02040602050505020304" pitchFamily="18" charset="0"/>
                </a:rPr>
                <a:t>,</a:t>
              </a:r>
              <a:r>
                <a:rPr lang="tr-TR" altLang="en-US" sz="2400" i="1">
                  <a:latin typeface="Lucida Bright" panose="02040602050505020304" pitchFamily="18" charset="0"/>
                </a:rPr>
                <a:t>y</a:t>
              </a:r>
              <a:r>
                <a:rPr lang="tr-TR" altLang="en-US" sz="2400">
                  <a:latin typeface="Lucida Bright" panose="02040602050505020304" pitchFamily="18" charset="0"/>
                </a:rPr>
                <a:t>)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4">
            <a:extLst>
              <a:ext uri="{FF2B5EF4-FFF2-40B4-BE49-F238E27FC236}">
                <a16:creationId xmlns:a16="http://schemas.microsoft.com/office/drawing/2014/main" id="{6837201D-8B7B-4EBE-AC52-7367F5C423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CBFA6EE9-B51B-40D9-B3EC-826579483C16}" type="slidenum">
              <a:rPr lang="tr-TR" altLang="en-US" sz="1400"/>
              <a:pPr eaLnBrk="1" hangingPunct="1"/>
              <a:t>14</a:t>
            </a:fld>
            <a:endParaRPr lang="tr-TR" altLang="en-US" sz="14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6C1686E3-767A-4BF5-B046-B51DD61CC0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476250"/>
            <a:ext cx="8229600" cy="952500"/>
          </a:xfrm>
        </p:spPr>
        <p:txBody>
          <a:bodyPr/>
          <a:lstStyle/>
          <a:p>
            <a:pPr eaLnBrk="1" hangingPunct="1"/>
            <a:r>
              <a:rPr lang="tr-TR" altLang="en-US"/>
              <a:t>Supervised Learning: Uses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AC1112D7-6D3B-4213-906F-E307F7AC40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tr-TR" altLang="en-US">
                <a:solidFill>
                  <a:schemeClr val="bg2"/>
                </a:solidFill>
              </a:rPr>
              <a:t>Prediction of future cases:</a:t>
            </a:r>
            <a:r>
              <a:rPr lang="tr-TR" altLang="en-US"/>
              <a:t> Use the rule to predict the output for future inputs</a:t>
            </a:r>
          </a:p>
          <a:p>
            <a:pPr eaLnBrk="1" hangingPunct="1"/>
            <a:r>
              <a:rPr lang="tr-TR" altLang="en-US">
                <a:solidFill>
                  <a:schemeClr val="bg2"/>
                </a:solidFill>
              </a:rPr>
              <a:t>Knowledge extraction:</a:t>
            </a:r>
            <a:r>
              <a:rPr lang="tr-TR" altLang="en-US"/>
              <a:t> The rule is easy to understand</a:t>
            </a:r>
          </a:p>
          <a:p>
            <a:pPr eaLnBrk="1" hangingPunct="1"/>
            <a:r>
              <a:rPr lang="tr-TR" altLang="en-US">
                <a:solidFill>
                  <a:schemeClr val="bg2"/>
                </a:solidFill>
              </a:rPr>
              <a:t>Compression:</a:t>
            </a:r>
            <a:r>
              <a:rPr lang="tr-TR" altLang="en-US"/>
              <a:t> The rule is simpler than the data it explains</a:t>
            </a:r>
          </a:p>
          <a:p>
            <a:pPr eaLnBrk="1" hangingPunct="1"/>
            <a:r>
              <a:rPr lang="tr-TR" altLang="en-US">
                <a:solidFill>
                  <a:schemeClr val="bg2"/>
                </a:solidFill>
              </a:rPr>
              <a:t>Outlier detection:</a:t>
            </a:r>
            <a:r>
              <a:rPr lang="tr-TR" altLang="en-US"/>
              <a:t> Exceptions that are not covered by the rule, e.g., fraud</a:t>
            </a:r>
          </a:p>
        </p:txBody>
      </p:sp>
      <p:sp>
        <p:nvSpPr>
          <p:cNvPr id="18437" name="TextBox 4">
            <a:extLst>
              <a:ext uri="{FF2B5EF4-FFF2-40B4-BE49-F238E27FC236}">
                <a16:creationId xmlns:a16="http://schemas.microsoft.com/office/drawing/2014/main" id="{C4EAAC02-5ACA-4A26-803C-A3DBC4BA8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357313"/>
            <a:ext cx="8501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r>
              <a:rPr lang="en-US" altLang="en-US"/>
              <a:t>Example: decision trees tools that create rules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4">
            <a:extLst>
              <a:ext uri="{FF2B5EF4-FFF2-40B4-BE49-F238E27FC236}">
                <a16:creationId xmlns:a16="http://schemas.microsoft.com/office/drawing/2014/main" id="{EB2A0A45-F529-40F3-BD8E-C4C6B9BBB4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21FC78B3-8E8A-4093-9D53-2CBE456E89BB}" type="slidenum">
              <a:rPr lang="tr-TR" altLang="en-US" sz="1400"/>
              <a:pPr eaLnBrk="1" hangingPunct="1"/>
              <a:t>15</a:t>
            </a:fld>
            <a:endParaRPr lang="tr-TR" altLang="en-US" sz="14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BD5CC1A5-6D64-47EE-A051-1A0E901B28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Unsupervised Learning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6D7B5AB1-D868-4407-BA63-3F6ABB8573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Learning “what normally happens”</a:t>
            </a:r>
          </a:p>
          <a:p>
            <a:pPr eaLnBrk="1" hangingPunct="1"/>
            <a:r>
              <a:rPr lang="tr-TR" altLang="en-US"/>
              <a:t>No output</a:t>
            </a:r>
          </a:p>
          <a:p>
            <a:pPr eaLnBrk="1" hangingPunct="1"/>
            <a:r>
              <a:rPr lang="tr-TR" altLang="en-US"/>
              <a:t>Clustering: Grouping similar instances</a:t>
            </a:r>
            <a:endParaRPr lang="en-US" altLang="en-US"/>
          </a:p>
          <a:p>
            <a:pPr eaLnBrk="1" hangingPunct="1"/>
            <a:r>
              <a:rPr lang="en-US" altLang="en-US"/>
              <a:t>Other applications: Summarization, Association Analysis</a:t>
            </a:r>
            <a:endParaRPr lang="tr-TR" altLang="en-US"/>
          </a:p>
          <a:p>
            <a:pPr eaLnBrk="1" hangingPunct="1"/>
            <a:r>
              <a:rPr lang="tr-TR" altLang="en-US"/>
              <a:t>Example applications</a:t>
            </a:r>
          </a:p>
          <a:p>
            <a:pPr lvl="1" eaLnBrk="1" hangingPunct="1"/>
            <a:r>
              <a:rPr lang="tr-TR" altLang="en-US" sz="2400"/>
              <a:t>Customer segmentation in CRM</a:t>
            </a:r>
          </a:p>
          <a:p>
            <a:pPr lvl="1" eaLnBrk="1" hangingPunct="1"/>
            <a:r>
              <a:rPr lang="tr-TR" altLang="en-US" sz="2400"/>
              <a:t>Image compression: Color quantization</a:t>
            </a:r>
          </a:p>
          <a:p>
            <a:pPr lvl="1" eaLnBrk="1" hangingPunct="1"/>
            <a:r>
              <a:rPr lang="tr-TR" altLang="en-US" sz="2400"/>
              <a:t>Bioinformatics: Learning motifs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4">
            <a:extLst>
              <a:ext uri="{FF2B5EF4-FFF2-40B4-BE49-F238E27FC236}">
                <a16:creationId xmlns:a16="http://schemas.microsoft.com/office/drawing/2014/main" id="{5E2DCB61-EF4B-4DEB-8545-0E72ABF31E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4E6D4413-67B8-44DA-B2E3-90578A0B6258}" type="slidenum">
              <a:rPr lang="tr-TR" altLang="en-US" sz="1400"/>
              <a:pPr eaLnBrk="1" hangingPunct="1"/>
              <a:t>16</a:t>
            </a:fld>
            <a:endParaRPr lang="tr-TR" altLang="en-US" sz="14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F74FAC1E-F1D2-4DD7-8061-F6BCE3D2CB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Reinforcement Learning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0B683FF4-7F69-4440-B914-CFDF46974E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Topics:</a:t>
            </a:r>
          </a:p>
          <a:p>
            <a:pPr lvl="1" eaLnBrk="1" hangingPunct="1"/>
            <a:r>
              <a:rPr lang="en-US" altLang="en-US"/>
              <a:t>Policies</a:t>
            </a:r>
            <a:r>
              <a:rPr lang="tr-TR" altLang="en-US"/>
              <a:t>: </a:t>
            </a:r>
            <a:r>
              <a:rPr lang="en-US" altLang="en-US"/>
              <a:t>what actions should an agent take in a particular situation</a:t>
            </a:r>
          </a:p>
          <a:p>
            <a:pPr lvl="1" eaLnBrk="1" hangingPunct="1"/>
            <a:r>
              <a:rPr lang="en-US" altLang="en-US"/>
              <a:t>Utility estimation: how good is a state (</a:t>
            </a:r>
            <a:r>
              <a:rPr lang="en-US" altLang="en-US">
                <a:sym typeface="Wingdings" panose="05000000000000000000" pitchFamily="2" charset="2"/>
              </a:rPr>
              <a:t>used by policy)</a:t>
            </a:r>
            <a:endParaRPr lang="tr-TR" altLang="en-US"/>
          </a:p>
          <a:p>
            <a:pPr eaLnBrk="1" hangingPunct="1"/>
            <a:r>
              <a:rPr lang="tr-TR" altLang="en-US"/>
              <a:t>No supervised output but delayed reward</a:t>
            </a:r>
          </a:p>
          <a:p>
            <a:pPr eaLnBrk="1" hangingPunct="1"/>
            <a:r>
              <a:rPr lang="tr-TR" altLang="en-US"/>
              <a:t>Credit assignment problem</a:t>
            </a:r>
            <a:r>
              <a:rPr lang="en-US" altLang="en-US"/>
              <a:t> (what was responsible for the outcome) </a:t>
            </a:r>
          </a:p>
          <a:p>
            <a:pPr eaLnBrk="1" hangingPunct="1"/>
            <a:r>
              <a:rPr lang="en-US" altLang="en-US"/>
              <a:t>Applications: </a:t>
            </a:r>
            <a:endParaRPr lang="tr-TR" altLang="en-US"/>
          </a:p>
          <a:p>
            <a:pPr lvl="1" eaLnBrk="1" hangingPunct="1"/>
            <a:r>
              <a:rPr lang="tr-TR" altLang="en-US"/>
              <a:t>Game playing</a:t>
            </a:r>
          </a:p>
          <a:p>
            <a:pPr lvl="1" eaLnBrk="1" hangingPunct="1"/>
            <a:r>
              <a:rPr lang="tr-TR" altLang="en-US"/>
              <a:t>Robot in a maze</a:t>
            </a:r>
          </a:p>
          <a:p>
            <a:pPr lvl="1" eaLnBrk="1" hangingPunct="1"/>
            <a:r>
              <a:rPr lang="tr-TR" altLang="en-US"/>
              <a:t>Multiple agents, partial observability, ...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4">
            <a:extLst>
              <a:ext uri="{FF2B5EF4-FFF2-40B4-BE49-F238E27FC236}">
                <a16:creationId xmlns:a16="http://schemas.microsoft.com/office/drawing/2014/main" id="{6734363E-6576-4D0C-844C-8DD64BD5B5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21B8351B-4EE3-4796-88E4-359627D66593}" type="slidenum">
              <a:rPr lang="tr-TR" altLang="en-US" sz="1400"/>
              <a:pPr eaLnBrk="1" hangingPunct="1"/>
              <a:t>17</a:t>
            </a:fld>
            <a:endParaRPr lang="tr-TR" altLang="en-US" sz="140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D5BCE3B8-3514-4C98-8A25-AF9034138D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Resources: Datasets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70E3311F-94BF-4978-A99F-56D4C2C40B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UCI Repository: </a:t>
            </a:r>
            <a:r>
              <a:rPr lang="tr-TR" altLang="en-US" sz="2000">
                <a:solidFill>
                  <a:srgbClr val="3333FF"/>
                </a:solidFill>
                <a:hlinkClick r:id="rId2"/>
              </a:rPr>
              <a:t>http://www.ics.uci.edu/~mlearn/MLRepository.html</a:t>
            </a:r>
            <a:endParaRPr lang="tr-TR" altLang="en-US" sz="2000">
              <a:solidFill>
                <a:srgbClr val="3333FF"/>
              </a:solidFill>
            </a:endParaRPr>
          </a:p>
          <a:p>
            <a:pPr eaLnBrk="1" hangingPunct="1"/>
            <a:r>
              <a:rPr lang="tr-TR" altLang="en-US"/>
              <a:t>UCI KDD Archive: </a:t>
            </a:r>
            <a:r>
              <a:rPr lang="tr-TR" altLang="en-US" sz="2000">
                <a:hlinkClick r:id="rId3"/>
              </a:rPr>
              <a:t>http://kdd.ics.uci.edu/summary.data.application.html</a:t>
            </a:r>
            <a:endParaRPr lang="tr-TR" altLang="en-US" sz="2000"/>
          </a:p>
          <a:p>
            <a:pPr eaLnBrk="1" hangingPunct="1"/>
            <a:r>
              <a:rPr lang="tr-TR" altLang="en-US"/>
              <a:t>Statlib: </a:t>
            </a:r>
            <a:r>
              <a:rPr lang="tr-TR" altLang="en-US" sz="2000">
                <a:hlinkClick r:id="rId4"/>
              </a:rPr>
              <a:t>http://lib.stat.cmu.edu/</a:t>
            </a:r>
            <a:endParaRPr lang="tr-TR" altLang="en-US" sz="2000"/>
          </a:p>
          <a:p>
            <a:pPr eaLnBrk="1" hangingPunct="1"/>
            <a:r>
              <a:rPr lang="tr-TR" altLang="en-US"/>
              <a:t>Delve: </a:t>
            </a:r>
            <a:r>
              <a:rPr lang="tr-TR" altLang="en-US" sz="2000">
                <a:hlinkClick r:id="rId5"/>
              </a:rPr>
              <a:t>http://www.cs.utoronto.ca/~delve/</a:t>
            </a:r>
            <a:endParaRPr lang="tr-TR" altLang="en-US"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4">
            <a:extLst>
              <a:ext uri="{FF2B5EF4-FFF2-40B4-BE49-F238E27FC236}">
                <a16:creationId xmlns:a16="http://schemas.microsoft.com/office/drawing/2014/main" id="{BC016A87-CCD9-42CE-98BF-47E07E775C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14E387A6-3029-4718-99BF-5C63CB10C62E}" type="slidenum">
              <a:rPr lang="tr-TR" altLang="en-US" sz="1400"/>
              <a:pPr eaLnBrk="1" hangingPunct="1"/>
              <a:t>18</a:t>
            </a:fld>
            <a:endParaRPr lang="tr-TR" altLang="en-US" sz="14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697FF868-7C08-42CE-B381-ED03223C52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Resources: Journals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92DE69D8-2C4C-4139-88EC-B12EEC4F6C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Journal of Machine Learning Research </a:t>
            </a:r>
            <a:r>
              <a:rPr lang="tr-TR" altLang="en-US">
                <a:hlinkClick r:id="rId2"/>
              </a:rPr>
              <a:t>www.jmlr.org</a:t>
            </a:r>
            <a:endParaRPr lang="tr-TR" altLang="en-US"/>
          </a:p>
          <a:p>
            <a:pPr eaLnBrk="1" hangingPunct="1"/>
            <a:r>
              <a:rPr lang="tr-TR" altLang="en-US"/>
              <a:t>Machine Learning </a:t>
            </a:r>
          </a:p>
          <a:p>
            <a:pPr eaLnBrk="1" hangingPunct="1"/>
            <a:r>
              <a:rPr lang="tr-TR" altLang="en-US"/>
              <a:t>IEEE Transactions on Neural Networks</a:t>
            </a:r>
          </a:p>
          <a:p>
            <a:pPr eaLnBrk="1" hangingPunct="1"/>
            <a:r>
              <a:rPr lang="tr-TR" altLang="en-US"/>
              <a:t>IEEE Transactions on Pattern Analysis and Machine Intelligence</a:t>
            </a:r>
          </a:p>
          <a:p>
            <a:pPr eaLnBrk="1" hangingPunct="1"/>
            <a:r>
              <a:rPr lang="tr-TR" altLang="en-US"/>
              <a:t>Annals of Statistics</a:t>
            </a:r>
          </a:p>
          <a:p>
            <a:pPr eaLnBrk="1" hangingPunct="1"/>
            <a:r>
              <a:rPr lang="tr-TR" altLang="en-US"/>
              <a:t>Journal of the American Statistical Association</a:t>
            </a:r>
          </a:p>
          <a:p>
            <a:pPr eaLnBrk="1" hangingPunct="1"/>
            <a:r>
              <a:rPr lang="tr-TR" altLang="en-US"/>
              <a:t>...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4">
            <a:extLst>
              <a:ext uri="{FF2B5EF4-FFF2-40B4-BE49-F238E27FC236}">
                <a16:creationId xmlns:a16="http://schemas.microsoft.com/office/drawing/2014/main" id="{EA313457-4E10-4A4A-BB4C-C19B61120D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F78779F9-92D8-4577-81E0-7C324CBCF036}" type="slidenum">
              <a:rPr lang="tr-TR" altLang="en-US" sz="1400"/>
              <a:pPr eaLnBrk="1" hangingPunct="1"/>
              <a:t>19</a:t>
            </a:fld>
            <a:endParaRPr lang="tr-TR" altLang="en-US" sz="14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117CF3AA-FC7B-4B21-AEBA-7B9CA074CE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Resources: Conferences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46233AFC-4EE7-435D-9B97-ADFC00AA78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2875" y="1643063"/>
            <a:ext cx="9001125" cy="42862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tr-TR" altLang="en-US" sz="2000"/>
              <a:t>International Conference on Machine Learning (ICML) </a:t>
            </a:r>
          </a:p>
          <a:p>
            <a:pPr eaLnBrk="1" hangingPunct="1">
              <a:lnSpc>
                <a:spcPct val="80000"/>
              </a:lnSpc>
            </a:pPr>
            <a:r>
              <a:rPr lang="tr-TR" altLang="en-US" sz="2000"/>
              <a:t>European Conference on Machine Learning (ECML)</a:t>
            </a:r>
          </a:p>
          <a:p>
            <a:pPr eaLnBrk="1" hangingPunct="1">
              <a:lnSpc>
                <a:spcPct val="80000"/>
              </a:lnSpc>
            </a:pPr>
            <a:r>
              <a:rPr lang="tr-TR" altLang="en-US" sz="2000"/>
              <a:t>Neural Information Processing Systems (NIPS)</a:t>
            </a:r>
          </a:p>
          <a:p>
            <a:pPr eaLnBrk="1" hangingPunct="1">
              <a:lnSpc>
                <a:spcPct val="80000"/>
              </a:lnSpc>
            </a:pPr>
            <a:r>
              <a:rPr lang="tr-TR" altLang="en-US" sz="2000"/>
              <a:t>Computational Learning </a:t>
            </a:r>
            <a:endParaRPr lang="en-US" altLang="en-US" sz="2000"/>
          </a:p>
          <a:p>
            <a:pPr eaLnBrk="1" hangingPunct="1">
              <a:lnSpc>
                <a:spcPct val="80000"/>
              </a:lnSpc>
            </a:pPr>
            <a:r>
              <a:rPr lang="tr-TR" altLang="en-US" sz="2000"/>
              <a:t>International Joint Conference on Artificial Intelligence (IJCAI)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ACM SIGKDD Conference on Knowledge Discovery and Data Mining (KDD)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IEEE Int. Conf. on Data Mining (ICDM)</a:t>
            </a:r>
            <a:endParaRPr lang="tr-TR" altLang="en-US"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C9875133-A1B0-4314-911E-0EF136F87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8" y="357188"/>
            <a:ext cx="8229600" cy="685800"/>
          </a:xfrm>
        </p:spPr>
        <p:txBody>
          <a:bodyPr/>
          <a:lstStyle/>
          <a:p>
            <a:pPr eaLnBrk="1" hangingPunct="1"/>
            <a:br>
              <a:rPr lang="en-US" altLang="en-US"/>
            </a:br>
            <a:r>
              <a:rPr lang="en-US" altLang="en-US"/>
              <a:t>Summary COSC 6342 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77D30C06-08ED-49C5-8F0D-DCAF1ED92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71563"/>
            <a:ext cx="8229600" cy="4795837"/>
          </a:xfrm>
        </p:spPr>
        <p:txBody>
          <a:bodyPr/>
          <a:lstStyle/>
          <a:p>
            <a:pPr eaLnBrk="1" hangingPunct="1"/>
            <a:r>
              <a:rPr lang="en-US" altLang="en-US" sz="2000"/>
              <a:t>Introductory course that covers a wide range of machine learning techniques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altLang="en-US" sz="2000"/>
              <a:t>from basic to state-of-the-art.</a:t>
            </a:r>
          </a:p>
          <a:p>
            <a:pPr eaLnBrk="1" hangingPunct="1"/>
            <a:r>
              <a:rPr lang="en-US" altLang="en-US" sz="2000"/>
              <a:t>More theoretical/statistics oriented, compared to other courses I teach</a:t>
            </a:r>
            <a:r>
              <a:rPr lang="en-US" altLang="en-US" sz="2000">
                <a:sym typeface="Wingdings" panose="05000000000000000000" pitchFamily="2" charset="2"/>
              </a:rPr>
              <a:t> might need continuous work not “to get lost”. </a:t>
            </a:r>
            <a:endParaRPr lang="en-US" altLang="en-US" sz="2000"/>
          </a:p>
          <a:p>
            <a:pPr eaLnBrk="1" hangingPunct="1"/>
            <a:r>
              <a:rPr lang="en-US" altLang="en-US" sz="2000"/>
              <a:t> You will learn about the methods you heard about: </a:t>
            </a:r>
            <a:r>
              <a:rPr lang="en-US" altLang="en-US" sz="1800"/>
              <a:t>Naïve Bayes’, belief networks, regression, nearest-neighbor (kNN), decision trees, support vector machines, learning ensembles, over-fitting, regularization, dimensionality reduction &amp; PCA, error bounds, parameter estimation, mixture models, comparing models, density estimation, clustering centering on K-means, EM, and DBSCAN, active and reinforcement learning.</a:t>
            </a:r>
          </a:p>
          <a:p>
            <a:pPr eaLnBrk="1" hangingPunct="1"/>
            <a:r>
              <a:rPr lang="en-US" altLang="en-US" sz="2000"/>
              <a:t>Covers algorithms, theory and applications</a:t>
            </a:r>
          </a:p>
          <a:p>
            <a:pPr eaLnBrk="1" hangingPunct="1"/>
            <a:r>
              <a:rPr lang="en-US" altLang="en-US" sz="2000" b="1"/>
              <a:t>It’s going to be fun and hard work </a:t>
            </a:r>
          </a:p>
          <a:p>
            <a:pPr eaLnBrk="1" hangingPunct="1"/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18BDA1-152E-4624-97AD-88611AEED8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Alpydin &amp; Ch. Eick: ML Topic1</a:t>
            </a:r>
            <a:endParaRPr lang="tr-TR"/>
          </a:p>
        </p:txBody>
      </p:sp>
      <p:sp>
        <p:nvSpPr>
          <p:cNvPr id="24581" name="Slide Number Placeholder 4">
            <a:extLst>
              <a:ext uri="{FF2B5EF4-FFF2-40B4-BE49-F238E27FC236}">
                <a16:creationId xmlns:a16="http://schemas.microsoft.com/office/drawing/2014/main" id="{A084E146-C909-4BDC-B173-1F8565C6AF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F71E9A24-E8A6-460F-B1D7-CF95269DF4A5}" type="slidenum">
              <a:rPr lang="tr-TR" altLang="en-US" sz="1400"/>
              <a:pPr eaLnBrk="1" hangingPunct="1"/>
              <a:t>20</a:t>
            </a:fld>
            <a:endParaRPr lang="tr-TR" altLang="en-US" sz="1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E99A0384-8884-4CEA-913A-30D31DE89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-171450"/>
            <a:ext cx="8229600" cy="1046163"/>
          </a:xfrm>
        </p:spPr>
        <p:txBody>
          <a:bodyPr/>
          <a:lstStyle/>
          <a:p>
            <a:pPr algn="ctr" eaLnBrk="1" hangingPunct="1"/>
            <a:br>
              <a:rPr lang="en-US" altLang="en-US"/>
            </a:br>
            <a:r>
              <a:rPr lang="en-US" altLang="en-US" sz="2400" b="1" i="0">
                <a:solidFill>
                  <a:srgbClr val="FF0000"/>
                </a:solidFill>
              </a:rPr>
              <a:t>Which Topics Deserve More Coverage</a:t>
            </a:r>
            <a:br>
              <a:rPr lang="en-US" altLang="en-US" sz="2400" b="1" i="0">
                <a:solidFill>
                  <a:srgbClr val="FF0000"/>
                </a:solidFill>
              </a:rPr>
            </a:br>
            <a:r>
              <a:rPr lang="en-US" altLang="en-US" sz="2400" b="1" i="0">
                <a:solidFill>
                  <a:srgbClr val="FF0000"/>
                </a:solidFill>
              </a:rPr>
              <a:t>—if we had more time?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A92F9675-FF51-4B8E-BC03-BD1E9E44B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071563"/>
            <a:ext cx="8569325" cy="4795837"/>
          </a:xfrm>
        </p:spPr>
        <p:txBody>
          <a:bodyPr/>
          <a:lstStyle/>
          <a:p>
            <a:pPr eaLnBrk="1" hangingPunct="1"/>
            <a:r>
              <a:rPr lang="en-US" altLang="en-US"/>
              <a:t>Graphical Models/Belief Networks (just ran out of time)</a:t>
            </a:r>
          </a:p>
          <a:p>
            <a:pPr eaLnBrk="1" hangingPunct="1"/>
            <a:r>
              <a:rPr lang="en-US" altLang="en-US"/>
              <a:t>More on Adaptive Systems</a:t>
            </a:r>
          </a:p>
          <a:p>
            <a:pPr eaLnBrk="1" hangingPunct="1"/>
            <a:r>
              <a:rPr lang="en-US" altLang="en-US"/>
              <a:t>Learning Theory</a:t>
            </a:r>
          </a:p>
          <a:p>
            <a:pPr eaLnBrk="1" hangingPunct="1"/>
            <a:r>
              <a:rPr lang="en-US" altLang="en-US"/>
              <a:t>More on Clustering and Association Analysis</a:t>
            </a:r>
            <a:r>
              <a:rPr lang="en-US" altLang="en-US">
                <a:solidFill>
                  <a:srgbClr val="00B050"/>
                </a:solidFill>
                <a:sym typeface="Wingdings" panose="05000000000000000000" pitchFamily="2" charset="2"/>
              </a:rPr>
              <a:t>covered by Data Mining Course</a:t>
            </a:r>
          </a:p>
          <a:p>
            <a:pPr eaLnBrk="1" hangingPunct="1"/>
            <a:r>
              <a:rPr lang="en-US" altLang="en-US">
                <a:sym typeface="Wingdings" panose="05000000000000000000" pitchFamily="2" charset="2"/>
              </a:rPr>
              <a:t>More on Feature Selection, Feature Creation </a:t>
            </a:r>
          </a:p>
          <a:p>
            <a:pPr eaLnBrk="1" hangingPunct="1"/>
            <a:r>
              <a:rPr lang="en-US" altLang="en-US">
                <a:sym typeface="Wingdings" panose="05000000000000000000" pitchFamily="2" charset="2"/>
              </a:rPr>
              <a:t>More on Prediction </a:t>
            </a:r>
          </a:p>
          <a:p>
            <a:pPr eaLnBrk="1" hangingPunct="1"/>
            <a:r>
              <a:rPr lang="en-US" altLang="en-US">
                <a:sym typeface="Wingdings" panose="05000000000000000000" pitchFamily="2" charset="2"/>
              </a:rPr>
              <a:t>Possibly: More depth coverage of optimization techniques, neural networks, hidden Markov models, how to conduct a machine learning experiment, comparing machine learning algorithms,…</a:t>
            </a:r>
            <a:endParaRPr lang="en-US" altLang="en-US"/>
          </a:p>
          <a:p>
            <a:pPr eaLnBrk="1" hangingPunct="1"/>
            <a:endParaRPr lang="en-US" altLang="en-US" sz="2000" b="1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186BBB-E41C-4A6F-84B4-5CC0C1A4FD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Alpydin &amp; Ch. Eick: ML Topic1</a:t>
            </a:r>
            <a:endParaRPr lang="tr-TR"/>
          </a:p>
        </p:txBody>
      </p:sp>
      <p:sp>
        <p:nvSpPr>
          <p:cNvPr id="25605" name="Slide Number Placeholder 4">
            <a:extLst>
              <a:ext uri="{FF2B5EF4-FFF2-40B4-BE49-F238E27FC236}">
                <a16:creationId xmlns:a16="http://schemas.microsoft.com/office/drawing/2014/main" id="{3FE4EA29-0F92-4F94-84A5-3EFD9F0B80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635BA0E5-4217-4CAB-9A28-3C1DDE226F98}" type="slidenum">
              <a:rPr lang="tr-TR" altLang="en-US" sz="1400"/>
              <a:pPr eaLnBrk="1" hangingPunct="1"/>
              <a:t>21</a:t>
            </a:fld>
            <a:endParaRPr lang="tr-TR" alt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0">
      <a:dk1>
        <a:srgbClr val="000000"/>
      </a:dk1>
      <a:lt1>
        <a:srgbClr val="FFFFFF"/>
      </a:lt1>
      <a:dk2>
        <a:srgbClr val="000000"/>
      </a:dk2>
      <a:lt2>
        <a:srgbClr val="FF9900"/>
      </a:lt2>
      <a:accent1>
        <a:srgbClr val="FFCC99"/>
      </a:accent1>
      <a:accent2>
        <a:srgbClr val="FBA313"/>
      </a:accent2>
      <a:accent3>
        <a:srgbClr val="FFFFFF"/>
      </a:accent3>
      <a:accent4>
        <a:srgbClr val="000000"/>
      </a:accent4>
      <a:accent5>
        <a:srgbClr val="FFE2CA"/>
      </a:accent5>
      <a:accent6>
        <a:srgbClr val="E39310"/>
      </a:accent6>
      <a:hlink>
        <a:srgbClr val="CC3300"/>
      </a:hlink>
      <a:folHlink>
        <a:srgbClr val="FCC66E"/>
      </a:folHlink>
    </a:clrScheme>
    <a:fontScheme name="Pixel">
      <a:majorFont>
        <a:latin typeface="Lucida Bright"/>
        <a:ea typeface=""/>
        <a:cs typeface=""/>
      </a:majorFont>
      <a:minorFont>
        <a:latin typeface="Lucida Br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Slit</Template>
  <TotalTime>3372</TotalTime>
  <Words>1274</Words>
  <Application>Microsoft Office PowerPoint</Application>
  <PresentationFormat>On-screen Show (4:3)</PresentationFormat>
  <Paragraphs>187</Paragraphs>
  <Slides>21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Palatino Linotype</vt:lpstr>
      <vt:lpstr>Arial</vt:lpstr>
      <vt:lpstr>Lucida Bright</vt:lpstr>
      <vt:lpstr>Wingdings</vt:lpstr>
      <vt:lpstr>Times New Roman</vt:lpstr>
      <vt:lpstr>Symbol</vt:lpstr>
      <vt:lpstr>Pixel</vt:lpstr>
      <vt:lpstr>Microsoft Word Document</vt:lpstr>
      <vt:lpstr>CHAPTER 1:  Introduction</vt:lpstr>
      <vt:lpstr>Why “Learn”?</vt:lpstr>
      <vt:lpstr>What We Talk About When We  Talk About“Learning”</vt:lpstr>
      <vt:lpstr>Data Mining/KDD</vt:lpstr>
      <vt:lpstr>What is Machine Learning?</vt:lpstr>
      <vt:lpstr>Growth of Machine Learning</vt:lpstr>
      <vt:lpstr>Applications</vt:lpstr>
      <vt:lpstr>Learning Associations</vt:lpstr>
      <vt:lpstr>Classification</vt:lpstr>
      <vt:lpstr>Classification: Applications</vt:lpstr>
      <vt:lpstr>Face Recognition</vt:lpstr>
      <vt:lpstr>Prediction: Regression</vt:lpstr>
      <vt:lpstr>Regression Applications</vt:lpstr>
      <vt:lpstr>Supervised Learning: Uses</vt:lpstr>
      <vt:lpstr>Unsupervised Learning</vt:lpstr>
      <vt:lpstr>Reinforcement Learning</vt:lpstr>
      <vt:lpstr>Resources: Datasets</vt:lpstr>
      <vt:lpstr>Resources: Journals</vt:lpstr>
      <vt:lpstr>Resources: Conferences</vt:lpstr>
      <vt:lpstr> Summary COSC 6342  </vt:lpstr>
      <vt:lpstr> Which Topics Deserve More Coverage —if we had more time?</vt:lpstr>
    </vt:vector>
  </TitlesOfParts>
  <Company>BOGAZICI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</dc:title>
  <dc:creator>ethem</dc:creator>
  <cp:lastModifiedBy>kiritdani57@gmail.com</cp:lastModifiedBy>
  <cp:revision>194</cp:revision>
  <dcterms:created xsi:type="dcterms:W3CDTF">2005-01-24T14:46:28Z</dcterms:created>
  <dcterms:modified xsi:type="dcterms:W3CDTF">2021-02-12T07:20:04Z</dcterms:modified>
</cp:coreProperties>
</file>