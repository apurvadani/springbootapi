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0CBB7A3-46FE-4691-A099-2A4D06BE71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D2CC5E3-8C18-4108-87B0-EE57F15E86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2B397D7-1DD0-4057-A878-EF3EB60F30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3200"/>
            <a:ext cx="2895600" cy="1524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037DDE3B-F710-44A1-A218-7378B3EB0B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304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81344E12-BA13-4D88-B19D-D059222E18AE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9398" name="Picture 6">
            <a:extLst>
              <a:ext uri="{FF2B5EF4-FFF2-40B4-BE49-F238E27FC236}">
                <a16:creationId xmlns:a16="http://schemas.microsoft.com/office/drawing/2014/main" id="{CBE8268F-F2FA-482C-8CAB-1E7E5E55A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5562600"/>
            <a:ext cx="920750" cy="65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9" name="Line 7">
            <a:extLst>
              <a:ext uri="{FF2B5EF4-FFF2-40B4-BE49-F238E27FC236}">
                <a16:creationId xmlns:a16="http://schemas.microsoft.com/office/drawing/2014/main" id="{3DEB0049-66C8-4881-B958-0E77E9D34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762000"/>
            <a:ext cx="807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5B24-4467-46FD-86AA-C1532C6C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25CA2-10D9-43CC-99D9-A5E366EA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889F-9932-4888-9436-ADF24C0ED2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26A3A-2652-43BE-BBF3-1E2E8DD8F1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CD6D98-EF5E-4E99-A8BD-55BBBDB970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901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A8A9-45C7-4B23-A8F3-AF28511EF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2ABB8-4859-450F-BF3C-0CC2FF1D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3594B-E38F-44BE-ABF1-C6F176F47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964EF-BE7E-492D-B97D-527A47B0B4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6DAEBD3-53F7-4B1D-81B4-5A001CD82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388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08AD-639A-4E20-860F-74EA8E93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90EB-85C0-4308-8756-8DC9AE185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FF258-807C-49C8-9A93-0B79DF780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51DB-40BB-454A-9C20-FA8DB728E6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31B75-A901-4CBB-ACE7-BA69AB9B01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A4615E-55A0-4292-B089-097C3A183D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88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4D83-EDDE-4E7D-91A2-7D814822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88C41-6EC3-4893-BEEF-655F63286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D21C2-7444-48AC-83D8-818CBCB9B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5FA9F-9CB3-4CD5-8C2C-B69D1A492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06F58-7341-4EF3-8D4D-7BF9D9892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672CAF-DBFD-481D-B1FC-CE87423C8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75F77B-EA7B-4B81-BF26-A2549157E6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412FAD0-097C-4E09-8E4A-FB9473580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04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7159-CA1B-45CD-9895-2FE7D8D1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148A0-F244-44E0-953B-A6569A6804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841B7-4E58-4193-8E27-6B3599631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45FB240-FE76-4F52-88EE-342E5683CF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320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D54905-A00D-4957-8C43-CBA945DF3E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4896DC-B06F-4F4C-A55C-06F8CD31CB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329F05-CBBE-4C12-A8E1-59C073A748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2678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6690-6A5C-484B-AA4D-C20DDE1B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238A-F321-4026-8351-4AA460BA2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DEBC-E726-4D2B-8CD8-19CE0C222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391EF-A1B4-4E99-93D1-DFD566E167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12EEC-403D-46E9-AB2F-8FDC43C1D4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A8036F-36EB-482F-8150-47D0B1494A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7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85CD-9FD7-47E4-802D-9447F09E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E33ED-53FC-468E-9748-1D9C0F397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D40D7-35A7-4BBB-9F44-AF2A39222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D41A9-9445-4C78-BDAD-F99EFF45B7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D7523-9E40-43CA-A680-FA29FF7D6D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DDAF89-1BA3-4CFA-9280-887764192F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98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83B0-DE23-4BC4-AC84-EF326E7B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D1ADC-17D4-4147-99CB-FD9DAA1CD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55390-2B1B-4A60-AA3F-E53F97EC57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E79AB-4A35-406F-A0D4-ACAC8C5386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935AEB-C371-43EF-9B07-836F393BB5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960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01C8E3-0BAB-4117-92A5-D0927ACA6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53200" y="381000"/>
            <a:ext cx="19812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B4D52-4294-4B8C-B145-7EA3F101A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7912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3D58E-AC68-4A7C-A976-600A181CD9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5CE85-B9D5-4E4D-A1BD-986939DC64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07DC0D-1025-4AA9-A74D-C8EE0FC1B2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371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C705-52F6-4A35-AB82-CD2424CE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8A18E-BFD7-4395-88BC-2D65117BD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79248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816DF-5785-4586-842A-A95E3C95E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695700"/>
            <a:ext cx="79248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0D8D-417B-4DF7-A564-7B3B35CF1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1D355-E51C-43E9-8365-44E2615ED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0ABAEBA1-4CA8-48AD-AE8F-48717CE1C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22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52B7-CAC1-4A02-9C30-9665BCA8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2D531-0066-47D8-9AF6-710F514D422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79248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25935-E8AB-494B-B2EB-D61D9A391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3695700"/>
            <a:ext cx="79248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B637-FE0F-44D8-98FA-5F61FD1E15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FF857-19C5-45D6-A944-BCB215003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5ADD4495-EE5D-4494-961A-B760D54A41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839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870C6-BFC0-4F33-A8AB-AF955F19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22671-11B2-4641-8A75-75D6661FF3C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E117E-000A-402A-B2AD-71BF63AFA64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219200"/>
            <a:ext cx="38862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5D00A0-C837-4203-841D-B013BC22FEAF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695700"/>
            <a:ext cx="3886200" cy="232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5614D-2605-4AF2-96E5-051C62FEEE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183FA-E23B-4C31-B11C-B40BE04856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3CFDD427-1091-492C-AD08-AE511F1C56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729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7290-C022-4792-A7A3-22C08728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3BB61-8CA7-4139-A775-2C45E7BAD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B58E5-4C05-4219-8565-718D4793C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82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21A27-05C6-440E-B0A8-342FDE5EA8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E47D4-8FF3-4EB7-B3A2-56BD7AF4B7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7FC59B96-BF2A-41B9-81E4-304A646B21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3398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EA406-8928-49E5-A3C8-FA082C2CD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223E-FDB7-4678-B29E-713E8467A54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59BC4-8088-432F-9A84-662C77035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0D0D3-5CF7-4BB5-9A0E-7D40CC2047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675EE-E987-487B-8180-F857116C9C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10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E717F57C-EB44-4BD0-BC2F-E6FA4621D6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9EBF4333-FF9F-45CB-A711-5D43DAE69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ADC9709-8376-4368-B2DE-6AC5C2208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3B670466-33AC-4D60-9796-C68FAF3576F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Times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D063120A-EAE3-4A66-B763-A67FE197CD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4770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latin typeface="Times" panose="02020603050405020304" pitchFamily="18" charset="0"/>
              </a:defRPr>
            </a:lvl1pPr>
          </a:lstStyle>
          <a:p>
            <a:fld id="{F962269F-E2A2-4F4A-A84D-745CFB7658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8374" name="Line 6">
            <a:extLst>
              <a:ext uri="{FF2B5EF4-FFF2-40B4-BE49-F238E27FC236}">
                <a16:creationId xmlns:a16="http://schemas.microsoft.com/office/drawing/2014/main" id="{31CC9032-A05F-4550-875E-4EADB51FC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990600"/>
            <a:ext cx="8077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8375" name="Picture 7">
            <a:extLst>
              <a:ext uri="{FF2B5EF4-FFF2-40B4-BE49-F238E27FC236}">
                <a16:creationId xmlns:a16="http://schemas.microsoft.com/office/drawing/2014/main" id="{E27CE826-95B5-48BA-8166-0CD6C5535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6105525"/>
            <a:ext cx="844550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714887E-BE42-4110-B085-B5A3841BDC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590800"/>
            <a:ext cx="7772400" cy="1143000"/>
          </a:xfrm>
        </p:spPr>
        <p:txBody>
          <a:bodyPr/>
          <a:lstStyle/>
          <a:p>
            <a:r>
              <a:rPr lang="en-US" altLang="en-US"/>
              <a:t>Machine Learning: An Overview</a:t>
            </a:r>
            <a:endParaRPr lang="en-US" altLang="en-US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69CD5217-B322-4C11-9973-760AD08A8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E3C41DC-B233-482D-BB03-715158F61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AAAI.  Machine Learning.  </a:t>
            </a:r>
            <a:r>
              <a:rPr lang="en-US" altLang="en-US" sz="1800" i="1"/>
              <a:t>http://www.aaai.org/Pathfinder/html/machine.html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Dietterich, T. (2003). Machine Learning. </a:t>
            </a:r>
            <a:r>
              <a:rPr lang="en-US" altLang="en-US" sz="1800" i="1"/>
              <a:t>Nature Encyclopedia of Cognitive Science.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Doyle, P. Machine Learning. </a:t>
            </a:r>
            <a:r>
              <a:rPr lang="en-US" altLang="en-US" sz="1800" i="1"/>
              <a:t>http://www.cs.dartmouth.edu/~brd/Teaching/AI/Lectures/Summaries/learning.html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Dyer, C. (2004). Machine Learning. </a:t>
            </a:r>
            <a:r>
              <a:rPr lang="en-US" altLang="en-US" sz="1800" i="1"/>
              <a:t>http://www.cs.wisc.edu/~dyer/cs540/notes/learning.html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Mitchell, T. (1997).</a:t>
            </a:r>
            <a:r>
              <a:rPr lang="en-US" altLang="en-US" sz="1800" i="1"/>
              <a:t> Machine Learning</a:t>
            </a:r>
            <a:r>
              <a:rPr lang="en-US" altLang="en-US" sz="1800"/>
              <a:t>.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Nilsson, N. (2004). Introduction to Machine Learning. </a:t>
            </a:r>
            <a:r>
              <a:rPr lang="en-US" altLang="en-US" sz="1800" i="1"/>
              <a:t>http://robotics.stanford.edu/people/nilsson/mlbook.html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Russell, S. (1997). Machine Learning. </a:t>
            </a:r>
            <a:r>
              <a:rPr lang="en-US" altLang="en-US" sz="1800" i="1"/>
              <a:t>Handbook of Perception and Cognition</a:t>
            </a:r>
            <a:r>
              <a:rPr lang="en-US" altLang="en-US" sz="1800"/>
              <a:t>, Vol. 14, Chap. 4.</a:t>
            </a:r>
          </a:p>
          <a:p>
            <a:pPr>
              <a:lnSpc>
                <a:spcPct val="80000"/>
              </a:lnSpc>
              <a:spcBef>
                <a:spcPct val="40000"/>
              </a:spcBef>
            </a:pPr>
            <a:r>
              <a:rPr lang="en-US" altLang="en-US" sz="1800"/>
              <a:t>Russell, S. (2002). </a:t>
            </a:r>
            <a:r>
              <a:rPr lang="en-US" altLang="en-US" sz="1800" i="1"/>
              <a:t>Artificial Intelligence: A Modern Approach</a:t>
            </a:r>
            <a:r>
              <a:rPr lang="en-US" altLang="en-US" sz="1800"/>
              <a:t>, Chap. 18-20. </a:t>
            </a:r>
            <a:r>
              <a:rPr lang="en-US" altLang="en-US" sz="1800" i="1"/>
              <a:t>http://aima.cs.berkeley.edu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6B102ED-65E7-45E2-B289-B2C032861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Learning?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A603C56-D9A2-49F1-AAD1-94CC0E079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i="1"/>
              <a:t>“Learning denotes changes in a system that ... enable a system to do the same task … more efficiently the next time.”  - </a:t>
            </a:r>
            <a:r>
              <a:rPr lang="en-US" altLang="en-US" sz="2400"/>
              <a:t>Herbert Simon</a:t>
            </a:r>
            <a:r>
              <a:rPr lang="en-US" altLang="en-US" sz="2400" i="1"/>
              <a:t> </a:t>
            </a:r>
          </a:p>
          <a:p>
            <a:r>
              <a:rPr lang="en-US" altLang="en-US" sz="2400" i="1"/>
              <a:t>“Learning is constructing or modifying representations of what is being experienced.” - </a:t>
            </a:r>
            <a:r>
              <a:rPr lang="en-US" altLang="en-US" sz="2400"/>
              <a:t>Ryszard Michalski</a:t>
            </a:r>
            <a:r>
              <a:rPr lang="en-US" altLang="en-US" sz="2400" i="1"/>
              <a:t> </a:t>
            </a:r>
          </a:p>
          <a:p>
            <a:r>
              <a:rPr lang="en-US" altLang="en-US" sz="2400" i="1"/>
              <a:t>“Learning is making useful changes in our minds.” - </a:t>
            </a:r>
            <a:r>
              <a:rPr lang="en-US" altLang="en-US" sz="2400"/>
              <a:t>Marvin Minsky</a:t>
            </a:r>
            <a:r>
              <a:rPr lang="en-US" altLang="en-US" sz="2400" i="1"/>
              <a:t> </a:t>
            </a:r>
          </a:p>
          <a:p>
            <a:endParaRPr lang="en-US" altLang="en-US" sz="2400" i="1"/>
          </a:p>
          <a:p>
            <a:endParaRPr lang="en-US" altLang="en-US" sz="2400" i="1"/>
          </a:p>
          <a:p>
            <a:pPr>
              <a:buFontTx/>
              <a:buNone/>
            </a:pPr>
            <a:r>
              <a:rPr lang="en-US" altLang="en-US" sz="2400" i="1"/>
              <a:t>	“Machine learning refers to a system capable of the autonomous acquisition and integration of knowledge.”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76D0FA1E-1C00-44DE-8FAE-A347F37C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800600"/>
            <a:ext cx="7772400" cy="9906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240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1C96D9E-3607-4920-AF89-8B2F38349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Machine Learning?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B0D86F7-7967-465D-888A-D35A236AE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No human experts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industrial/manufacturing control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mass spectrometer analysis, drug design, astronomic discovery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Black-box human expertise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face/handwriting/speech recognition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driving a car, flying a plane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Rapidly changing phenomena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credit scoring, financial modeling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diagnosis, fraud detection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Need for customization/personalization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personalized news reader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movie/book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EA12535-CC0A-441A-9D25-8D1BE159A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Related Fields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606DA352-02C0-49C7-9369-3BDFD3BFD01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5181600"/>
            <a:ext cx="7924800" cy="990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i="1"/>
              <a:t>Machine learning</a:t>
            </a:r>
            <a:r>
              <a:rPr lang="en-US" altLang="en-US" sz="2400"/>
              <a:t> is primarily concerned with the accuracy and effectiveness of the </a:t>
            </a:r>
            <a:r>
              <a:rPr lang="en-US" altLang="en-US" sz="2400" i="1"/>
              <a:t>computer system</a:t>
            </a:r>
            <a:r>
              <a:rPr lang="en-US" altLang="en-US" sz="2400"/>
              <a:t>.</a:t>
            </a:r>
            <a:endParaRPr lang="en-US" altLang="en-US" sz="2400" i="1"/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DAA80E1F-4DA4-40E9-8EA8-2D3EB7D01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429000"/>
            <a:ext cx="2743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psychological models</a:t>
            </a:r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36C28037-BC05-4398-A37F-96BD8FC82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066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</a:t>
            </a:r>
          </a:p>
          <a:p>
            <a:pPr algn="ctr" eaLnBrk="0" hangingPunct="0"/>
            <a:r>
              <a:rPr lang="en-US" altLang="en-US"/>
              <a:t>mining</a:t>
            </a:r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FB07C505-BD3F-4C02-83A4-AFFF884E0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22860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cognitive science</a:t>
            </a:r>
          </a:p>
        </p:txBody>
      </p:sp>
      <p:sp>
        <p:nvSpPr>
          <p:cNvPr id="64519" name="Oval 7">
            <a:extLst>
              <a:ext uri="{FF2B5EF4-FFF2-40B4-BE49-F238E27FC236}">
                <a16:creationId xmlns:a16="http://schemas.microsoft.com/office/drawing/2014/main" id="{2F6082D4-FD2B-4788-AF8B-E5E304A8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133600"/>
            <a:ext cx="21336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decision theory</a:t>
            </a:r>
          </a:p>
        </p:txBody>
      </p:sp>
      <p:sp>
        <p:nvSpPr>
          <p:cNvPr id="64520" name="Oval 8">
            <a:extLst>
              <a:ext uri="{FF2B5EF4-FFF2-40B4-BE49-F238E27FC236}">
                <a16:creationId xmlns:a16="http://schemas.microsoft.com/office/drawing/2014/main" id="{A3BB56E3-30FA-4CA0-B371-0F3FA2265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438400"/>
            <a:ext cx="26670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information theory</a:t>
            </a:r>
          </a:p>
        </p:txBody>
      </p:sp>
      <p:sp>
        <p:nvSpPr>
          <p:cNvPr id="64521" name="Oval 9">
            <a:extLst>
              <a:ext uri="{FF2B5EF4-FFF2-40B4-BE49-F238E27FC236}">
                <a16:creationId xmlns:a16="http://schemas.microsoft.com/office/drawing/2014/main" id="{332F603E-11F8-40B5-B2DA-9151E29B1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048000"/>
            <a:ext cx="1752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databases</a:t>
            </a:r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A89BDB25-0856-4226-AAE7-1A2AAC804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752600"/>
            <a:ext cx="2286000" cy="2362200"/>
          </a:xfrm>
          <a:prstGeom prst="ellips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000" b="1" i="1"/>
              <a:t>machine</a:t>
            </a:r>
          </a:p>
          <a:p>
            <a:pPr algn="ctr" eaLnBrk="0" hangingPunct="0"/>
            <a:r>
              <a:rPr lang="en-US" altLang="en-US" sz="2000" b="1" i="1"/>
              <a:t>learning</a:t>
            </a:r>
          </a:p>
        </p:txBody>
      </p:sp>
      <p:sp>
        <p:nvSpPr>
          <p:cNvPr id="64523" name="Oval 11">
            <a:extLst>
              <a:ext uri="{FF2B5EF4-FFF2-40B4-BE49-F238E27FC236}">
                <a16:creationId xmlns:a16="http://schemas.microsoft.com/office/drawing/2014/main" id="{8C9B56B6-EE17-4A54-9900-28D7B51FA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733800"/>
            <a:ext cx="16764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neuroscience</a:t>
            </a:r>
          </a:p>
        </p:txBody>
      </p:sp>
      <p:sp>
        <p:nvSpPr>
          <p:cNvPr id="64524" name="Oval 12">
            <a:extLst>
              <a:ext uri="{FF2B5EF4-FFF2-40B4-BE49-F238E27FC236}">
                <a16:creationId xmlns:a16="http://schemas.microsoft.com/office/drawing/2014/main" id="{D5B90C09-3739-48D8-A2F3-45BAC3737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600200"/>
            <a:ext cx="18288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statistics</a:t>
            </a:r>
          </a:p>
        </p:txBody>
      </p:sp>
      <p:sp>
        <p:nvSpPr>
          <p:cNvPr id="64525" name="Oval 13">
            <a:extLst>
              <a:ext uri="{FF2B5EF4-FFF2-40B4-BE49-F238E27FC236}">
                <a16:creationId xmlns:a16="http://schemas.microsoft.com/office/drawing/2014/main" id="{D373C510-ACAB-4C1A-9241-822D2BA69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33800"/>
            <a:ext cx="1447800" cy="1295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evolutionary</a:t>
            </a:r>
          </a:p>
          <a:p>
            <a:pPr algn="ctr" eaLnBrk="0" hangingPunct="0"/>
            <a:r>
              <a:rPr lang="en-US" altLang="en-US"/>
              <a:t>models</a:t>
            </a:r>
          </a:p>
        </p:txBody>
      </p:sp>
      <p:sp>
        <p:nvSpPr>
          <p:cNvPr id="64526" name="Oval 14">
            <a:extLst>
              <a:ext uri="{FF2B5EF4-FFF2-40B4-BE49-F238E27FC236}">
                <a16:creationId xmlns:a16="http://schemas.microsoft.com/office/drawing/2014/main" id="{CBDE6C71-CF00-47B5-9C35-196C7B13C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295400"/>
            <a:ext cx="1981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/>
              <a:t>control 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654C0F1-CECA-4B08-A8EE-8BB216EA5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Machine Learning Paradigms 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E3461BC-EB9C-447F-9199-FB21A74DA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>
                <a:solidFill>
                  <a:srgbClr val="000000"/>
                </a:solidFill>
              </a:rPr>
              <a:t>rote learning</a:t>
            </a:r>
          </a:p>
          <a:p>
            <a:r>
              <a:rPr lang="en-US" altLang="en-US" sz="2400" b="1">
                <a:solidFill>
                  <a:srgbClr val="000000"/>
                </a:solidFill>
              </a:rPr>
              <a:t>learning by being told (advice-taking)</a:t>
            </a:r>
            <a:endParaRPr lang="en-US" altLang="en-US" sz="2400">
              <a:solidFill>
                <a:srgbClr val="000000"/>
              </a:solidFill>
            </a:endParaRPr>
          </a:p>
          <a:p>
            <a:r>
              <a:rPr lang="en-US" altLang="en-US" sz="2400" b="1">
                <a:solidFill>
                  <a:srgbClr val="000000"/>
                </a:solidFill>
              </a:rPr>
              <a:t>learning from examples (induction)</a:t>
            </a:r>
            <a:endParaRPr lang="en-US" altLang="en-US" sz="2400">
              <a:solidFill>
                <a:srgbClr val="000000"/>
              </a:solidFill>
            </a:endParaRPr>
          </a:p>
          <a:p>
            <a:r>
              <a:rPr lang="en-US" altLang="en-US" sz="2400" b="1">
                <a:solidFill>
                  <a:srgbClr val="000000"/>
                </a:solidFill>
              </a:rPr>
              <a:t>learning by analogy</a:t>
            </a:r>
          </a:p>
          <a:p>
            <a:r>
              <a:rPr lang="en-US" altLang="en-US" sz="2400" b="1">
                <a:solidFill>
                  <a:srgbClr val="000000"/>
                </a:solidFill>
              </a:rPr>
              <a:t>speed-up learning</a:t>
            </a:r>
            <a:endParaRPr lang="en-US" altLang="en-US" sz="2400">
              <a:solidFill>
                <a:srgbClr val="000000"/>
              </a:solidFill>
            </a:endParaRPr>
          </a:p>
          <a:p>
            <a:r>
              <a:rPr lang="en-US" altLang="en-US" sz="2400" b="1">
                <a:solidFill>
                  <a:srgbClr val="000000"/>
                </a:solidFill>
              </a:rPr>
              <a:t>concept learning</a:t>
            </a:r>
          </a:p>
          <a:p>
            <a:r>
              <a:rPr lang="en-US" altLang="en-US" sz="2400" b="1">
                <a:solidFill>
                  <a:srgbClr val="000000"/>
                </a:solidFill>
              </a:rPr>
              <a:t>clustering</a:t>
            </a:r>
            <a:endParaRPr lang="en-US" altLang="en-US" sz="2400">
              <a:solidFill>
                <a:srgbClr val="000000"/>
              </a:solidFill>
            </a:endParaRPr>
          </a:p>
          <a:p>
            <a:r>
              <a:rPr lang="en-US" altLang="en-US" sz="2400" b="1">
                <a:solidFill>
                  <a:srgbClr val="000000"/>
                </a:solidFill>
              </a:rPr>
              <a:t>discovery</a:t>
            </a:r>
          </a:p>
          <a:p>
            <a:r>
              <a:rPr lang="en-US" altLang="en-US" sz="2400" b="1">
                <a:solidFill>
                  <a:srgbClr val="000000"/>
                </a:solidFill>
              </a:rPr>
              <a:t>…</a:t>
            </a:r>
          </a:p>
          <a:p>
            <a:endParaRPr lang="en-US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212BA8C-387A-440D-844F-386BA9677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Architecture of a Learning System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A600C73-2B20-45ED-B096-46C5BE36F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124200"/>
            <a:ext cx="19812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/>
              <a:t>learning</a:t>
            </a:r>
          </a:p>
          <a:p>
            <a:pPr algn="ctr" eaLnBrk="0" hangingPunct="0"/>
            <a:r>
              <a:rPr lang="en-US" altLang="en-US" sz="2400" b="1"/>
              <a:t>element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90F72AC4-3B9A-4425-9058-6801ECBC1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676400"/>
            <a:ext cx="1981200" cy="10668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/>
              <a:t>critic</a:t>
            </a: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9B0DA2ED-4B69-42AD-8070-19E6B0564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724400"/>
            <a:ext cx="1981200" cy="10668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/>
              <a:t>problem</a:t>
            </a:r>
          </a:p>
          <a:p>
            <a:pPr algn="ctr" eaLnBrk="0" hangingPunct="0"/>
            <a:r>
              <a:rPr lang="en-US" altLang="en-US" sz="2400"/>
              <a:t>generator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DC5B0FD3-CC6C-41A8-8300-76C92F72A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3124200"/>
            <a:ext cx="1981200" cy="1066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/>
              <a:t>performance</a:t>
            </a:r>
          </a:p>
          <a:p>
            <a:pPr algn="ctr" eaLnBrk="0" hangingPunct="0"/>
            <a:r>
              <a:rPr lang="en-US" altLang="en-US" sz="2400" b="1"/>
              <a:t>element</a:t>
            </a:r>
          </a:p>
        </p:txBody>
      </p:sp>
      <p:sp>
        <p:nvSpPr>
          <p:cNvPr id="66567" name="Line 7">
            <a:extLst>
              <a:ext uri="{FF2B5EF4-FFF2-40B4-BE49-F238E27FC236}">
                <a16:creationId xmlns:a16="http://schemas.microsoft.com/office/drawing/2014/main" id="{48888CF3-0EAD-4EFE-B87A-C7C59AC85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429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4E8E2B08-7B07-4E2D-8DF5-11B2E9F82C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38862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Line 9">
            <a:extLst>
              <a:ext uri="{FF2B5EF4-FFF2-40B4-BE49-F238E27FC236}">
                <a16:creationId xmlns:a16="http://schemas.microsoft.com/office/drawing/2014/main" id="{C6A2F258-9872-4725-94E2-1565D04C22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257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Line 10">
            <a:extLst>
              <a:ext uri="{FF2B5EF4-FFF2-40B4-BE49-F238E27FC236}">
                <a16:creationId xmlns:a16="http://schemas.microsoft.com/office/drawing/2014/main" id="{4F11854A-E74A-48A5-8852-1F6F268EAF8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41910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Line 11">
            <a:extLst>
              <a:ext uri="{FF2B5EF4-FFF2-40B4-BE49-F238E27FC236}">
                <a16:creationId xmlns:a16="http://schemas.microsoft.com/office/drawing/2014/main" id="{20DAA517-7EFD-455C-81BB-7176F1493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1430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Text Box 12">
            <a:extLst>
              <a:ext uri="{FF2B5EF4-FFF2-40B4-BE49-F238E27FC236}">
                <a16:creationId xmlns:a16="http://schemas.microsoft.com/office/drawing/2014/main" id="{EABB7D4F-9023-446A-83A4-0042098DA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892425"/>
            <a:ext cx="1873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/>
              <a:t>ENVIRONMENT</a:t>
            </a:r>
          </a:p>
        </p:txBody>
      </p:sp>
      <p:sp>
        <p:nvSpPr>
          <p:cNvPr id="66573" name="Line 13">
            <a:extLst>
              <a:ext uri="{FF2B5EF4-FFF2-40B4-BE49-F238E27FC236}">
                <a16:creationId xmlns:a16="http://schemas.microsoft.com/office/drawing/2014/main" id="{64C91C01-D362-430E-A7E3-FDA822025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4">
            <a:extLst>
              <a:ext uri="{FF2B5EF4-FFF2-40B4-BE49-F238E27FC236}">
                <a16:creationId xmlns:a16="http://schemas.microsoft.com/office/drawing/2014/main" id="{C8EC84C1-9E8F-475E-964D-CCB30F9B33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2209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Line 15">
            <a:extLst>
              <a:ext uri="{FF2B5EF4-FFF2-40B4-BE49-F238E27FC236}">
                <a16:creationId xmlns:a16="http://schemas.microsoft.com/office/drawing/2014/main" id="{65FE0398-4189-4277-B9D9-C6800458DF8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3657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6" name="Line 16">
            <a:extLst>
              <a:ext uri="{FF2B5EF4-FFF2-40B4-BE49-F238E27FC236}">
                <a16:creationId xmlns:a16="http://schemas.microsoft.com/office/drawing/2014/main" id="{035BE7D3-B03D-46BE-A771-53A0ECAC56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00200" y="22098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7" name="Line 17">
            <a:extLst>
              <a:ext uri="{FF2B5EF4-FFF2-40B4-BE49-F238E27FC236}">
                <a16:creationId xmlns:a16="http://schemas.microsoft.com/office/drawing/2014/main" id="{BD1E9E72-169B-4D19-9F9A-54633AF42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2098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8" name="Text Box 18">
            <a:extLst>
              <a:ext uri="{FF2B5EF4-FFF2-40B4-BE49-F238E27FC236}">
                <a16:creationId xmlns:a16="http://schemas.microsoft.com/office/drawing/2014/main" id="{C5FCBEF0-C07D-415D-9990-5C4B624D6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828800"/>
            <a:ext cx="10080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feedback</a:t>
            </a:r>
          </a:p>
        </p:txBody>
      </p:sp>
      <p:sp>
        <p:nvSpPr>
          <p:cNvPr id="66579" name="Text Box 19">
            <a:extLst>
              <a:ext uri="{FF2B5EF4-FFF2-40B4-BE49-F238E27FC236}">
                <a16:creationId xmlns:a16="http://schemas.microsoft.com/office/drawing/2014/main" id="{BAC28863-CE48-4A0C-AF88-D51DC04A7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3048000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changes</a:t>
            </a:r>
          </a:p>
        </p:txBody>
      </p:sp>
      <p:sp>
        <p:nvSpPr>
          <p:cNvPr id="66580" name="Text Box 20">
            <a:extLst>
              <a:ext uri="{FF2B5EF4-FFF2-40B4-BE49-F238E27FC236}">
                <a16:creationId xmlns:a16="http://schemas.microsoft.com/office/drawing/2014/main" id="{BD7C15B2-21A2-4D18-BCC0-7C2B99AC7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267200"/>
            <a:ext cx="14462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learning goals</a:t>
            </a:r>
          </a:p>
        </p:txBody>
      </p:sp>
      <p:sp>
        <p:nvSpPr>
          <p:cNvPr id="66581" name="Text Box 21">
            <a:extLst>
              <a:ext uri="{FF2B5EF4-FFF2-40B4-BE49-F238E27FC236}">
                <a16:creationId xmlns:a16="http://schemas.microsoft.com/office/drawing/2014/main" id="{95D8D751-5BB0-4E81-9D1E-CA1E62C9D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657600"/>
            <a:ext cx="8270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actions</a:t>
            </a:r>
          </a:p>
        </p:txBody>
      </p:sp>
      <p:sp>
        <p:nvSpPr>
          <p:cNvPr id="66582" name="Text Box 22">
            <a:extLst>
              <a:ext uri="{FF2B5EF4-FFF2-40B4-BE49-F238E27FC236}">
                <a16:creationId xmlns:a16="http://schemas.microsoft.com/office/drawing/2014/main" id="{1EA4B5FC-F4D2-4240-B9F5-605EF46DB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9636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percepts</a:t>
            </a:r>
          </a:p>
        </p:txBody>
      </p:sp>
      <p:sp>
        <p:nvSpPr>
          <p:cNvPr id="66583" name="Text Box 23">
            <a:extLst>
              <a:ext uri="{FF2B5EF4-FFF2-40B4-BE49-F238E27FC236}">
                <a16:creationId xmlns:a16="http://schemas.microsoft.com/office/drawing/2014/main" id="{1ECD1991-0DD0-43CA-8D79-CDB17F62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828800"/>
            <a:ext cx="21732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performance standard</a:t>
            </a:r>
          </a:p>
        </p:txBody>
      </p:sp>
      <p:sp>
        <p:nvSpPr>
          <p:cNvPr id="66584" name="Text Box 24">
            <a:extLst>
              <a:ext uri="{FF2B5EF4-FFF2-40B4-BE49-F238E27FC236}">
                <a16:creationId xmlns:a16="http://schemas.microsoft.com/office/drawing/2014/main" id="{A4016700-3158-4802-9C09-43B14808A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886200"/>
            <a:ext cx="11525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1600" i="1"/>
              <a:t>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509CBA8-39F7-4C2E-BBA2-B45BB3DE6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Element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DE20E65-2840-4554-8AC4-3D98A72C9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Design affected by: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performance element</a:t>
            </a:r>
            <a:r>
              <a:rPr lang="en-US" altLang="en-US"/>
              <a:t> used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utility-based agent, reactive agent, logical agent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functional component</a:t>
            </a:r>
            <a:r>
              <a:rPr lang="en-US" altLang="en-US"/>
              <a:t> to be learned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classifier, evaluation function, perception-action function, 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representation</a:t>
            </a:r>
            <a:r>
              <a:rPr lang="en-US" altLang="en-US"/>
              <a:t> of functional component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weighted linear function, logical theory, HMM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feedback</a:t>
            </a:r>
            <a:r>
              <a:rPr lang="en-US" altLang="en-US"/>
              <a:t> available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correct action, reward, relative preferences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8544D23-D003-44C9-9CD0-D96BE1F71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Dimensions of Learning Systems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E1D57B7-B0CA-446A-AA6F-AAA9C473F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type of feedback</a:t>
            </a:r>
          </a:p>
          <a:p>
            <a:pPr lvl="1"/>
            <a:r>
              <a:rPr lang="en-US" altLang="en-US"/>
              <a:t>supervised (labeled examples)</a:t>
            </a:r>
          </a:p>
          <a:p>
            <a:pPr lvl="1"/>
            <a:r>
              <a:rPr lang="en-US" altLang="en-US"/>
              <a:t>unsupervised (unlabeled examples)</a:t>
            </a:r>
          </a:p>
          <a:p>
            <a:pPr lvl="1"/>
            <a:r>
              <a:rPr lang="en-US" altLang="en-US"/>
              <a:t>reinforcement (reward)</a:t>
            </a:r>
          </a:p>
          <a:p>
            <a:r>
              <a:rPr lang="en-US" altLang="en-US"/>
              <a:t>representation</a:t>
            </a:r>
          </a:p>
          <a:p>
            <a:pPr lvl="1"/>
            <a:r>
              <a:rPr lang="en-US" altLang="en-US"/>
              <a:t>attribute-based (feature vector)</a:t>
            </a:r>
          </a:p>
          <a:p>
            <a:pPr lvl="1"/>
            <a:r>
              <a:rPr lang="en-US" altLang="en-US"/>
              <a:t>relational (first-order logic)</a:t>
            </a:r>
          </a:p>
          <a:p>
            <a:r>
              <a:rPr lang="en-US" altLang="en-US"/>
              <a:t>use of knowledge</a:t>
            </a:r>
          </a:p>
          <a:p>
            <a:pPr lvl="1"/>
            <a:r>
              <a:rPr lang="en-US" altLang="en-US"/>
              <a:t>empirical (knowledge-free) </a:t>
            </a:r>
          </a:p>
          <a:p>
            <a:pPr lvl="1"/>
            <a:r>
              <a:rPr lang="en-US" altLang="en-US"/>
              <a:t>analytical (knowledge-guided)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C7E5B1B-0CFA-43E9-BBF8-DD38A7783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C2111CE-791F-4F6D-A539-0EF33D2A0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Supervised learning</a:t>
            </a:r>
          </a:p>
          <a:p>
            <a:pPr lvl="1"/>
            <a:r>
              <a:rPr lang="en-US" altLang="en-US"/>
              <a:t>empirical learning (knowledge-free)</a:t>
            </a:r>
          </a:p>
          <a:p>
            <a:pPr lvl="2"/>
            <a:r>
              <a:rPr lang="en-US" altLang="en-US"/>
              <a:t>attribute-value representation</a:t>
            </a:r>
          </a:p>
          <a:p>
            <a:pPr lvl="2"/>
            <a:r>
              <a:rPr lang="en-US" altLang="en-US"/>
              <a:t>logical representation</a:t>
            </a:r>
          </a:p>
          <a:p>
            <a:pPr lvl="1"/>
            <a:r>
              <a:rPr lang="en-US" altLang="en-US"/>
              <a:t>analytical learning (knowledge-guided)</a:t>
            </a:r>
          </a:p>
          <a:p>
            <a:r>
              <a:rPr lang="en-US" altLang="en-US"/>
              <a:t>Reinforcement learning</a:t>
            </a:r>
          </a:p>
          <a:p>
            <a:r>
              <a:rPr lang="en-US" altLang="en-US"/>
              <a:t>Unsupervised learning</a:t>
            </a:r>
          </a:p>
          <a:p>
            <a:r>
              <a:rPr lang="en-US" altLang="en-US" i="1"/>
              <a:t>Performance evaluation</a:t>
            </a:r>
          </a:p>
          <a:p>
            <a:r>
              <a:rPr lang="en-US" altLang="en-US" i="1"/>
              <a:t>Computational learning theory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884C005-7E41-4ABA-80D7-9F21822DD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Inductive (Supervised) Learning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96942EE-5372-4E48-B10D-13ED4DAB8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u="sng"/>
              <a:t>Basic Problem</a:t>
            </a:r>
            <a:r>
              <a:rPr lang="en-US" altLang="en-US" sz="2400"/>
              <a:t>: Induce a representation of a function (a systematic relationship between inputs and outputs) from examples.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400" b="1"/>
              <a:t>target function</a:t>
            </a:r>
            <a:r>
              <a:rPr lang="en-US" altLang="en-US" sz="2400" i="1"/>
              <a:t>  f: X </a:t>
            </a:r>
            <a:r>
              <a:rPr lang="en-US" altLang="en-US" sz="2400" i="1">
                <a:cs typeface="Arial" panose="020B0604020202020204" pitchFamily="34" charset="0"/>
              </a:rPr>
              <a:t>→ Y</a:t>
            </a:r>
          </a:p>
          <a:p>
            <a:pPr>
              <a:lnSpc>
                <a:spcPct val="80000"/>
              </a:lnSpc>
            </a:pPr>
            <a:r>
              <a:rPr lang="en-US" altLang="en-US" sz="2400" b="1">
                <a:cs typeface="Arial" panose="020B0604020202020204" pitchFamily="34" charset="0"/>
              </a:rPr>
              <a:t>example</a:t>
            </a:r>
            <a:r>
              <a:rPr lang="en-US" altLang="en-US" sz="2400" i="1">
                <a:cs typeface="Arial" panose="020B0604020202020204" pitchFamily="34" charset="0"/>
              </a:rPr>
              <a:t>  </a:t>
            </a:r>
            <a:r>
              <a:rPr lang="en-US" altLang="en-US" sz="2400">
                <a:cs typeface="Arial" panose="020B0604020202020204" pitchFamily="34" charset="0"/>
              </a:rPr>
              <a:t>(</a:t>
            </a:r>
            <a:r>
              <a:rPr lang="en-US" altLang="en-US" sz="2400" i="1">
                <a:cs typeface="Arial" panose="020B0604020202020204" pitchFamily="34" charset="0"/>
              </a:rPr>
              <a:t>x,f</a:t>
            </a:r>
            <a:r>
              <a:rPr lang="en-US" altLang="en-US" sz="2400">
                <a:cs typeface="Arial" panose="020B0604020202020204" pitchFamily="34" charset="0"/>
              </a:rPr>
              <a:t>(</a:t>
            </a:r>
            <a:r>
              <a:rPr lang="en-US" altLang="en-US" sz="2400" i="1">
                <a:cs typeface="Arial" panose="020B0604020202020204" pitchFamily="34" charset="0"/>
              </a:rPr>
              <a:t>x</a:t>
            </a:r>
            <a:r>
              <a:rPr lang="en-US" altLang="en-US" sz="2400">
                <a:cs typeface="Arial" panose="020B0604020202020204" pitchFamily="34" charset="0"/>
              </a:rPr>
              <a:t>))</a:t>
            </a:r>
            <a:endParaRPr lang="en-US" altLang="en-US" sz="2400" b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400" b="1">
                <a:cs typeface="Arial" panose="020B0604020202020204" pitchFamily="34" charset="0"/>
                <a:sym typeface="Symbol" panose="05050102010706020507" pitchFamily="18" charset="2"/>
              </a:rPr>
              <a:t>hypothesis 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g: X → Y such that </a:t>
            </a:r>
            <a:r>
              <a:rPr lang="en-US" altLang="en-US" sz="2400" i="1"/>
              <a:t>g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/>
              <a:t>)</a:t>
            </a:r>
            <a:r>
              <a:rPr lang="en-US" altLang="en-US" sz="2400" i="1"/>
              <a:t> = f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endParaRPr lang="en-US" altLang="en-US" sz="2400" i="1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x</a:t>
            </a:r>
            <a:r>
              <a:rPr lang="en-US" altLang="en-US" sz="2000"/>
              <a:t> = set of attribute values  (</a:t>
            </a:r>
            <a:r>
              <a:rPr lang="en-US" altLang="en-US" sz="2000" b="1" i="1"/>
              <a:t>attribute-value representation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x</a:t>
            </a:r>
            <a:r>
              <a:rPr lang="en-US" altLang="en-US" sz="2000"/>
              <a:t> = set of logical sentences  (</a:t>
            </a:r>
            <a:r>
              <a:rPr lang="en-US" altLang="en-US" sz="2000" i="1"/>
              <a:t>first-order representation</a:t>
            </a:r>
            <a:r>
              <a:rPr lang="en-US" altLang="en-US" sz="2000"/>
              <a:t>)</a:t>
            </a:r>
            <a:endParaRPr lang="en-US" altLang="en-US" sz="1800"/>
          </a:p>
          <a:p>
            <a:pPr lvl="1">
              <a:lnSpc>
                <a:spcPct val="80000"/>
              </a:lnSpc>
              <a:buFontTx/>
              <a:buNone/>
            </a:pPr>
            <a:endParaRPr lang="en-US" altLang="en-US" sz="1800" i="1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Y</a:t>
            </a:r>
            <a:r>
              <a:rPr lang="en-US" altLang="en-US" sz="2000"/>
              <a:t> = set of discrete labels  (</a:t>
            </a:r>
            <a:r>
              <a:rPr lang="en-US" altLang="en-US" sz="2000" b="1" i="1"/>
              <a:t>classification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2000" i="1"/>
              <a:t>Y</a:t>
            </a:r>
            <a:r>
              <a:rPr lang="en-US" altLang="en-US" sz="2000"/>
              <a:t> = </a:t>
            </a:r>
            <a:r>
              <a:rPr lang="en-US" altLang="en-US" sz="2000">
                <a:sym typeface="Symbol" panose="05050102010706020507" pitchFamily="18" charset="2"/>
              </a:rPr>
              <a:t>  (</a:t>
            </a:r>
            <a:r>
              <a:rPr lang="en-US" altLang="en-US" sz="2000" i="1">
                <a:sym typeface="Symbol" panose="05050102010706020507" pitchFamily="18" charset="2"/>
              </a:rPr>
              <a:t>regression</a:t>
            </a:r>
            <a:r>
              <a:rPr lang="en-US" altLang="en-US" sz="2000">
                <a:sym typeface="Symbol" panose="05050102010706020507" pitchFamily="18" charset="2"/>
              </a:rPr>
              <a:t>)</a:t>
            </a:r>
            <a:endParaRPr lang="en-US" altLang="en-US" sz="2000" i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7EF2384-4789-441B-AD66-5AA3B3026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Trees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BAA2424-5479-45B8-B12F-4F1A5007C00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19200"/>
            <a:ext cx="7924800" cy="60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400" i="1"/>
              <a:t>Should I wait at this restaurant?</a:t>
            </a:r>
          </a:p>
        </p:txBody>
      </p:sp>
      <p:pic>
        <p:nvPicPr>
          <p:cNvPr id="71684" name="Picture 4">
            <a:extLst>
              <a:ext uri="{FF2B5EF4-FFF2-40B4-BE49-F238E27FC236}">
                <a16:creationId xmlns:a16="http://schemas.microsoft.com/office/drawing/2014/main" id="{FC8E26CB-B8A0-42F2-BB75-DEFF33FB405D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893888"/>
            <a:ext cx="6364288" cy="412591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0D4DD928-2AE7-4463-9E10-C4E6891D3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Decision Tree Induction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35ACB47-2ED0-4B6E-9825-AB870E98A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/>
              <a:t>(Recursively) partition examples according to the </a:t>
            </a:r>
            <a:r>
              <a:rPr lang="en-US" altLang="en-US" sz="2400" i="1"/>
              <a:t>most important</a:t>
            </a:r>
            <a:r>
              <a:rPr lang="en-US" altLang="en-US" sz="2400"/>
              <a:t> attribute.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Key Concepts</a:t>
            </a:r>
          </a:p>
          <a:p>
            <a:r>
              <a:rPr lang="en-US" altLang="en-US" sz="2400" i="1"/>
              <a:t>entropy</a:t>
            </a:r>
            <a:endParaRPr lang="en-US" altLang="en-US" sz="2400"/>
          </a:p>
          <a:p>
            <a:pPr lvl="1"/>
            <a:r>
              <a:rPr lang="en-US" altLang="en-US" sz="2000"/>
              <a:t>impurity of a set of examples (entropy = 0 if perfectly homogeneous)</a:t>
            </a:r>
          </a:p>
          <a:p>
            <a:pPr lvl="1"/>
            <a:r>
              <a:rPr lang="en-US" altLang="en-US" sz="2000"/>
              <a:t>(#bits needed to encode class of an arbitrary example)</a:t>
            </a:r>
            <a:endParaRPr lang="en-US" altLang="en-US" sz="2000" i="1" baseline="-25000"/>
          </a:p>
          <a:p>
            <a:r>
              <a:rPr lang="en-US" altLang="en-US" sz="2400" i="1"/>
              <a:t>information gain</a:t>
            </a:r>
          </a:p>
          <a:p>
            <a:pPr lvl="1"/>
            <a:r>
              <a:rPr lang="en-US" altLang="en-US" sz="2000"/>
              <a:t>expected reduction in entropy caused by partitioning</a:t>
            </a:r>
          </a:p>
          <a:p>
            <a:endParaRPr lang="en-US" altLang="en-US" sz="2400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92B737F-2DA5-4414-8236-D238448A6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Attribute Selection</a:t>
            </a:r>
            <a:endParaRPr lang="en-US" altLang="en-US" sz="2800" b="0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A5DE894-06A5-414E-BF64-C82C50629D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19200"/>
            <a:ext cx="7924800" cy="1447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Intuitively:  A </a:t>
            </a:r>
            <a:r>
              <a:rPr lang="en-US" altLang="en-US" i="1"/>
              <a:t>good attribute</a:t>
            </a:r>
            <a:r>
              <a:rPr lang="en-US" altLang="en-US"/>
              <a:t> splits the examples into subsets that are (ideally) </a:t>
            </a:r>
            <a:r>
              <a:rPr lang="en-US" altLang="en-US" i="1"/>
              <a:t>all positive </a:t>
            </a:r>
            <a:r>
              <a:rPr lang="en-US" altLang="en-US"/>
              <a:t>or</a:t>
            </a:r>
            <a:r>
              <a:rPr lang="en-US" altLang="en-US" i="1"/>
              <a:t> all negative</a:t>
            </a:r>
            <a:r>
              <a:rPr lang="en-US" altLang="en-US"/>
              <a:t>.</a:t>
            </a:r>
          </a:p>
        </p:txBody>
      </p:sp>
      <p:pic>
        <p:nvPicPr>
          <p:cNvPr id="73732" name="Picture 4">
            <a:extLst>
              <a:ext uri="{FF2B5EF4-FFF2-40B4-BE49-F238E27FC236}">
                <a16:creationId xmlns:a16="http://schemas.microsoft.com/office/drawing/2014/main" id="{8ABBEB66-E451-45B1-9967-9F0D2C00D09D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675" y="2994025"/>
            <a:ext cx="7908925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B597902-7755-4E53-AEE8-495087B04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Attribute Selection</a:t>
            </a:r>
            <a:endParaRPr lang="en-US" altLang="en-US" sz="2800" b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11FA5429-BE52-40AB-98F4-84F0E80903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19200"/>
            <a:ext cx="7924800" cy="15240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/>
              <a:t>Intuitively:  A </a:t>
            </a:r>
            <a:r>
              <a:rPr lang="en-US" altLang="en-US" i="1"/>
              <a:t>good attribute</a:t>
            </a:r>
            <a:r>
              <a:rPr lang="en-US" altLang="en-US"/>
              <a:t> splits the examples into subsets that are (ideally) </a:t>
            </a:r>
            <a:r>
              <a:rPr lang="en-US" altLang="en-US" i="1"/>
              <a:t>all positive </a:t>
            </a:r>
            <a:r>
              <a:rPr lang="en-US" altLang="en-US"/>
              <a:t>or</a:t>
            </a:r>
            <a:r>
              <a:rPr lang="en-US" altLang="en-US" i="1"/>
              <a:t> all negative</a:t>
            </a:r>
            <a:r>
              <a:rPr lang="en-US" altLang="en-US"/>
              <a:t>.</a:t>
            </a:r>
          </a:p>
        </p:txBody>
      </p:sp>
      <p:pic>
        <p:nvPicPr>
          <p:cNvPr id="74756" name="Picture 4">
            <a:extLst>
              <a:ext uri="{FF2B5EF4-FFF2-40B4-BE49-F238E27FC236}">
                <a16:creationId xmlns:a16="http://schemas.microsoft.com/office/drawing/2014/main" id="{F765078D-08C2-4C31-B0C2-827DED8A71DF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675" y="2994025"/>
            <a:ext cx="7908925" cy="23018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74757" name="Oval 5">
            <a:extLst>
              <a:ext uri="{FF2B5EF4-FFF2-40B4-BE49-F238E27FC236}">
                <a16:creationId xmlns:a16="http://schemas.microsoft.com/office/drawing/2014/main" id="{8499CD8B-39F2-48F6-A88B-2DD2E2D01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2895600"/>
            <a:ext cx="4038600" cy="2895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55A4F02-A0B6-4B37-BA32-73F8A99E7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Decision Boundary</a:t>
            </a:r>
            <a:endParaRPr lang="en-US" altLang="en-US" sz="2800" b="0"/>
          </a:p>
        </p:txBody>
      </p:sp>
      <p:sp>
        <p:nvSpPr>
          <p:cNvPr id="75779" name="Line 3">
            <a:extLst>
              <a:ext uri="{FF2B5EF4-FFF2-40B4-BE49-F238E27FC236}">
                <a16:creationId xmlns:a16="http://schemas.microsoft.com/office/drawing/2014/main" id="{1CF2A7D8-50AA-49E5-8BBF-A042E7FA986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1743075"/>
            <a:ext cx="0" cy="350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4C8AC5A3-DAF9-4E8A-83DB-DDB4C6317A0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5251450"/>
            <a:ext cx="350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1" name="AutoShape 5">
            <a:extLst>
              <a:ext uri="{FF2B5EF4-FFF2-40B4-BE49-F238E27FC236}">
                <a16:creationId xmlns:a16="http://schemas.microsoft.com/office/drawing/2014/main" id="{CB183E22-C3FC-4D7B-B1DE-8C16795780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075" y="1885950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2" name="AutoShape 6">
            <a:extLst>
              <a:ext uri="{FF2B5EF4-FFF2-40B4-BE49-F238E27FC236}">
                <a16:creationId xmlns:a16="http://schemas.microsoft.com/office/drawing/2014/main" id="{8D5470A9-E14D-489D-9802-55650F0948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1885950"/>
            <a:ext cx="144463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3" name="AutoShape 7">
            <a:extLst>
              <a:ext uri="{FF2B5EF4-FFF2-40B4-BE49-F238E27FC236}">
                <a16:creationId xmlns:a16="http://schemas.microsoft.com/office/drawing/2014/main" id="{5948522A-52B1-40C0-8934-E46D273A14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2387600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4" name="AutoShape 8">
            <a:extLst>
              <a:ext uri="{FF2B5EF4-FFF2-40B4-BE49-F238E27FC236}">
                <a16:creationId xmlns:a16="http://schemas.microsoft.com/office/drawing/2014/main" id="{0A6CF424-B535-4DA8-91F7-9EE289AF35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2173288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5" name="AutoShape 9">
            <a:extLst>
              <a:ext uri="{FF2B5EF4-FFF2-40B4-BE49-F238E27FC236}">
                <a16:creationId xmlns:a16="http://schemas.microsoft.com/office/drawing/2014/main" id="{B8E311C8-A006-4498-9BC3-5F201C2D7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5" y="2459038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6" name="AutoShape 10">
            <a:extLst>
              <a:ext uri="{FF2B5EF4-FFF2-40B4-BE49-F238E27FC236}">
                <a16:creationId xmlns:a16="http://schemas.microsoft.com/office/drawing/2014/main" id="{BDB32F2B-D4AA-4D80-A110-EEE614A58F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4375" y="489426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7" name="AutoShape 11">
            <a:extLst>
              <a:ext uri="{FF2B5EF4-FFF2-40B4-BE49-F238E27FC236}">
                <a16:creationId xmlns:a16="http://schemas.microsoft.com/office/drawing/2014/main" id="{2844EA6C-87C3-4867-AD3C-C243EDEBF2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6088" y="296068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8" name="AutoShape 12">
            <a:extLst>
              <a:ext uri="{FF2B5EF4-FFF2-40B4-BE49-F238E27FC236}">
                <a16:creationId xmlns:a16="http://schemas.microsoft.com/office/drawing/2014/main" id="{E089A84E-22EB-4F43-978F-1DA95A02B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2889250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9" name="AutoShape 13">
            <a:extLst>
              <a:ext uri="{FF2B5EF4-FFF2-40B4-BE49-F238E27FC236}">
                <a16:creationId xmlns:a16="http://schemas.microsoft.com/office/drawing/2014/main" id="{EEEDFC25-7A56-450C-A9F3-8E0D57CFE7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3425" y="3317875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0" name="AutoShape 14">
            <a:extLst>
              <a:ext uri="{FF2B5EF4-FFF2-40B4-BE49-F238E27FC236}">
                <a16:creationId xmlns:a16="http://schemas.microsoft.com/office/drawing/2014/main" id="{49683239-3440-4900-B250-6A501E845E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7950" y="2746375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1" name="AutoShape 15">
            <a:extLst>
              <a:ext uri="{FF2B5EF4-FFF2-40B4-BE49-F238E27FC236}">
                <a16:creationId xmlns:a16="http://schemas.microsoft.com/office/drawing/2014/main" id="{95FAFB93-7698-464B-858B-017F480631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9388" y="31750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2" name="AutoShape 16">
            <a:extLst>
              <a:ext uri="{FF2B5EF4-FFF2-40B4-BE49-F238E27FC236}">
                <a16:creationId xmlns:a16="http://schemas.microsoft.com/office/drawing/2014/main" id="{E8F4588E-826A-416B-84F7-3888C0C1E6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81781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3" name="AutoShape 17">
            <a:extLst>
              <a:ext uri="{FF2B5EF4-FFF2-40B4-BE49-F238E27FC236}">
                <a16:creationId xmlns:a16="http://schemas.microsoft.com/office/drawing/2014/main" id="{32B0E949-DEC0-4EAF-A3BA-3D7C7E83D6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47244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4" name="AutoShape 18">
            <a:extLst>
              <a:ext uri="{FF2B5EF4-FFF2-40B4-BE49-F238E27FC236}">
                <a16:creationId xmlns:a16="http://schemas.microsoft.com/office/drawing/2014/main" id="{D802F9EC-1709-413C-86C5-303D6C2F3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7463" y="4821238"/>
            <a:ext cx="142875" cy="144462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5" name="AutoShape 19">
            <a:extLst>
              <a:ext uri="{FF2B5EF4-FFF2-40B4-BE49-F238E27FC236}">
                <a16:creationId xmlns:a16="http://schemas.microsoft.com/office/drawing/2014/main" id="{3016F5D9-BDAA-4237-8BBA-42492495FC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1336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6" name="AutoShape 20">
            <a:extLst>
              <a:ext uri="{FF2B5EF4-FFF2-40B4-BE49-F238E27FC236}">
                <a16:creationId xmlns:a16="http://schemas.microsoft.com/office/drawing/2014/main" id="{5024E2C5-B58B-4EAA-AA4B-BC153645B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324643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7" name="Oval 21">
            <a:extLst>
              <a:ext uri="{FF2B5EF4-FFF2-40B4-BE49-F238E27FC236}">
                <a16:creationId xmlns:a16="http://schemas.microsoft.com/office/drawing/2014/main" id="{A7AA470E-BB5D-443C-BCF4-62AA00558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9913" y="39624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8" name="Oval 22">
            <a:extLst>
              <a:ext uri="{FF2B5EF4-FFF2-40B4-BE49-F238E27FC236}">
                <a16:creationId xmlns:a16="http://schemas.microsoft.com/office/drawing/2014/main" id="{63DA64FB-8AFD-4C91-8723-B32BACDC3D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1350" y="35909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9" name="Oval 23">
            <a:extLst>
              <a:ext uri="{FF2B5EF4-FFF2-40B4-BE49-F238E27FC236}">
                <a16:creationId xmlns:a16="http://schemas.microsoft.com/office/drawing/2014/main" id="{2107C1F8-BAEE-4554-8D32-853F14D379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3000" y="36766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0" name="Oval 24">
            <a:extLst>
              <a:ext uri="{FF2B5EF4-FFF2-40B4-BE49-F238E27FC236}">
                <a16:creationId xmlns:a16="http://schemas.microsoft.com/office/drawing/2014/main" id="{68A23F31-645B-48D9-A987-E3FA723D8F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2667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1" name="Oval 25">
            <a:extLst>
              <a:ext uri="{FF2B5EF4-FFF2-40B4-BE49-F238E27FC236}">
                <a16:creationId xmlns:a16="http://schemas.microsoft.com/office/drawing/2014/main" id="{15533090-4C89-49E7-8D33-7786E95CC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191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2" name="Oval 26">
            <a:extLst>
              <a:ext uri="{FF2B5EF4-FFF2-40B4-BE49-F238E27FC236}">
                <a16:creationId xmlns:a16="http://schemas.microsoft.com/office/drawing/2014/main" id="{27B2BC17-1687-4267-B0B2-98175A805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6576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3" name="Oval 27">
            <a:extLst>
              <a:ext uri="{FF2B5EF4-FFF2-40B4-BE49-F238E27FC236}">
                <a16:creationId xmlns:a16="http://schemas.microsoft.com/office/drawing/2014/main" id="{80F3305F-591C-4B00-86B8-FC16E92AD0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6513" y="41783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4" name="Oval 28">
            <a:extLst>
              <a:ext uri="{FF2B5EF4-FFF2-40B4-BE49-F238E27FC236}">
                <a16:creationId xmlns:a16="http://schemas.microsoft.com/office/drawing/2014/main" id="{22C5FEDE-851D-4BDB-9FB1-0FB05D8CB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3748088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5" name="Oval 29">
            <a:extLst>
              <a:ext uri="{FF2B5EF4-FFF2-40B4-BE49-F238E27FC236}">
                <a16:creationId xmlns:a16="http://schemas.microsoft.com/office/drawing/2014/main" id="{9DAA7AA0-3637-4DE2-A453-CBFBAFE60B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4572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6" name="Oval 30">
            <a:extLst>
              <a:ext uri="{FF2B5EF4-FFF2-40B4-BE49-F238E27FC236}">
                <a16:creationId xmlns:a16="http://schemas.microsoft.com/office/drawing/2014/main" id="{42D627F7-58C2-4E70-B23E-73E6792630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48006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7" name="Oval 31">
            <a:extLst>
              <a:ext uri="{FF2B5EF4-FFF2-40B4-BE49-F238E27FC236}">
                <a16:creationId xmlns:a16="http://schemas.microsoft.com/office/drawing/2014/main" id="{38971A93-271B-4E0B-80A3-5592F64D4D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1988" y="36766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808" name="Oval 32">
            <a:extLst>
              <a:ext uri="{FF2B5EF4-FFF2-40B4-BE49-F238E27FC236}">
                <a16:creationId xmlns:a16="http://schemas.microsoft.com/office/drawing/2014/main" id="{6B0D80D2-EB7D-49A2-ACF8-ABFDCF21E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971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778D18AA-DBAF-4BBE-82F3-E601D8F7A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Decision Boundary</a:t>
            </a:r>
            <a:endParaRPr lang="en-US" altLang="en-US" sz="2800" b="0"/>
          </a:p>
        </p:txBody>
      </p:sp>
      <p:sp>
        <p:nvSpPr>
          <p:cNvPr id="76803" name="Line 3">
            <a:extLst>
              <a:ext uri="{FF2B5EF4-FFF2-40B4-BE49-F238E27FC236}">
                <a16:creationId xmlns:a16="http://schemas.microsoft.com/office/drawing/2014/main" id="{193D87C9-5CF9-4548-9A18-66A3D7D3608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1743075"/>
            <a:ext cx="0" cy="350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" name="Line 4">
            <a:extLst>
              <a:ext uri="{FF2B5EF4-FFF2-40B4-BE49-F238E27FC236}">
                <a16:creationId xmlns:a16="http://schemas.microsoft.com/office/drawing/2014/main" id="{19EDC99B-3E0D-440C-8577-EE1DCCFB4AA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5251450"/>
            <a:ext cx="350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" name="AutoShape 5">
            <a:extLst>
              <a:ext uri="{FF2B5EF4-FFF2-40B4-BE49-F238E27FC236}">
                <a16:creationId xmlns:a16="http://schemas.microsoft.com/office/drawing/2014/main" id="{6FD8682F-FC75-4550-9C18-3255A0C943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075" y="1885950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6" name="AutoShape 6">
            <a:extLst>
              <a:ext uri="{FF2B5EF4-FFF2-40B4-BE49-F238E27FC236}">
                <a16:creationId xmlns:a16="http://schemas.microsoft.com/office/drawing/2014/main" id="{D7200732-9D66-487C-83A2-82E10ED8F5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1885950"/>
            <a:ext cx="144463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7" name="AutoShape 7">
            <a:extLst>
              <a:ext uri="{FF2B5EF4-FFF2-40B4-BE49-F238E27FC236}">
                <a16:creationId xmlns:a16="http://schemas.microsoft.com/office/drawing/2014/main" id="{D8CB9BB5-3609-452C-ABDC-DF600266DF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2387600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8" name="AutoShape 8">
            <a:extLst>
              <a:ext uri="{FF2B5EF4-FFF2-40B4-BE49-F238E27FC236}">
                <a16:creationId xmlns:a16="http://schemas.microsoft.com/office/drawing/2014/main" id="{1BFC708C-452B-4E4C-808E-1A1F498C3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2173288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9" name="AutoShape 9">
            <a:extLst>
              <a:ext uri="{FF2B5EF4-FFF2-40B4-BE49-F238E27FC236}">
                <a16:creationId xmlns:a16="http://schemas.microsoft.com/office/drawing/2014/main" id="{BCC5E6F1-B802-4BA7-BA18-12D8AEB65A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5" y="2459038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0" name="AutoShape 10">
            <a:extLst>
              <a:ext uri="{FF2B5EF4-FFF2-40B4-BE49-F238E27FC236}">
                <a16:creationId xmlns:a16="http://schemas.microsoft.com/office/drawing/2014/main" id="{7D074DF2-BA32-4129-87F3-D0E352DC83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4375" y="489426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1" name="AutoShape 11">
            <a:extLst>
              <a:ext uri="{FF2B5EF4-FFF2-40B4-BE49-F238E27FC236}">
                <a16:creationId xmlns:a16="http://schemas.microsoft.com/office/drawing/2014/main" id="{1CEB476F-EB01-487D-99CF-2C73C67C65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6088" y="296068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2" name="AutoShape 12">
            <a:extLst>
              <a:ext uri="{FF2B5EF4-FFF2-40B4-BE49-F238E27FC236}">
                <a16:creationId xmlns:a16="http://schemas.microsoft.com/office/drawing/2014/main" id="{A7D4B009-083C-4786-89C1-CC1584693F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2889250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3" name="AutoShape 13">
            <a:extLst>
              <a:ext uri="{FF2B5EF4-FFF2-40B4-BE49-F238E27FC236}">
                <a16:creationId xmlns:a16="http://schemas.microsoft.com/office/drawing/2014/main" id="{7AA71879-E49D-4E66-9E50-31FECB04C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3425" y="3317875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4" name="AutoShape 14">
            <a:extLst>
              <a:ext uri="{FF2B5EF4-FFF2-40B4-BE49-F238E27FC236}">
                <a16:creationId xmlns:a16="http://schemas.microsoft.com/office/drawing/2014/main" id="{FBB2AA3C-111A-43EB-B7E0-406439273E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7950" y="2746375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5" name="AutoShape 15">
            <a:extLst>
              <a:ext uri="{FF2B5EF4-FFF2-40B4-BE49-F238E27FC236}">
                <a16:creationId xmlns:a16="http://schemas.microsoft.com/office/drawing/2014/main" id="{FD37DA0B-386B-4226-A8CD-8210C5F69D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9388" y="31750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6" name="AutoShape 16">
            <a:extLst>
              <a:ext uri="{FF2B5EF4-FFF2-40B4-BE49-F238E27FC236}">
                <a16:creationId xmlns:a16="http://schemas.microsoft.com/office/drawing/2014/main" id="{D6DFD932-FE3C-4027-BA27-2570E79CF2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81781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7" name="AutoShape 17">
            <a:extLst>
              <a:ext uri="{FF2B5EF4-FFF2-40B4-BE49-F238E27FC236}">
                <a16:creationId xmlns:a16="http://schemas.microsoft.com/office/drawing/2014/main" id="{FB9D82B8-C6FC-4EB5-8914-75D2A5F445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47244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8" name="AutoShape 18">
            <a:extLst>
              <a:ext uri="{FF2B5EF4-FFF2-40B4-BE49-F238E27FC236}">
                <a16:creationId xmlns:a16="http://schemas.microsoft.com/office/drawing/2014/main" id="{00054979-6E7E-4284-960C-4093DEB6B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7463" y="4821238"/>
            <a:ext cx="142875" cy="144462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9" name="AutoShape 19">
            <a:extLst>
              <a:ext uri="{FF2B5EF4-FFF2-40B4-BE49-F238E27FC236}">
                <a16:creationId xmlns:a16="http://schemas.microsoft.com/office/drawing/2014/main" id="{2036E9F8-7271-4E6A-88AD-8593A6666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1336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0" name="AutoShape 20">
            <a:extLst>
              <a:ext uri="{FF2B5EF4-FFF2-40B4-BE49-F238E27FC236}">
                <a16:creationId xmlns:a16="http://schemas.microsoft.com/office/drawing/2014/main" id="{41C813CC-8AAC-4E51-AAFC-FE73EE92A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324643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1" name="Oval 21">
            <a:extLst>
              <a:ext uri="{FF2B5EF4-FFF2-40B4-BE49-F238E27FC236}">
                <a16:creationId xmlns:a16="http://schemas.microsoft.com/office/drawing/2014/main" id="{33FD5CC3-FF37-4D63-889D-CD48DC02D1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9913" y="39624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2" name="Oval 22">
            <a:extLst>
              <a:ext uri="{FF2B5EF4-FFF2-40B4-BE49-F238E27FC236}">
                <a16:creationId xmlns:a16="http://schemas.microsoft.com/office/drawing/2014/main" id="{88312219-2C94-405A-B16B-2456AA35CD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1350" y="35909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3" name="Oval 23">
            <a:extLst>
              <a:ext uri="{FF2B5EF4-FFF2-40B4-BE49-F238E27FC236}">
                <a16:creationId xmlns:a16="http://schemas.microsoft.com/office/drawing/2014/main" id="{60B6AE98-6379-4D7C-9C5F-8DEB584D0E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3000" y="36766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4" name="Oval 24">
            <a:extLst>
              <a:ext uri="{FF2B5EF4-FFF2-40B4-BE49-F238E27FC236}">
                <a16:creationId xmlns:a16="http://schemas.microsoft.com/office/drawing/2014/main" id="{BE200027-BC55-4313-B1E1-5E84E85DD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2667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5" name="Oval 25">
            <a:extLst>
              <a:ext uri="{FF2B5EF4-FFF2-40B4-BE49-F238E27FC236}">
                <a16:creationId xmlns:a16="http://schemas.microsoft.com/office/drawing/2014/main" id="{4BC71A72-05B6-4482-A54D-0A0FFC33A4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191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6" name="Oval 26">
            <a:extLst>
              <a:ext uri="{FF2B5EF4-FFF2-40B4-BE49-F238E27FC236}">
                <a16:creationId xmlns:a16="http://schemas.microsoft.com/office/drawing/2014/main" id="{2234CD6C-4272-48AA-AF19-A692A7F37C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6576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7" name="Oval 27">
            <a:extLst>
              <a:ext uri="{FF2B5EF4-FFF2-40B4-BE49-F238E27FC236}">
                <a16:creationId xmlns:a16="http://schemas.microsoft.com/office/drawing/2014/main" id="{C1F5AC8E-CF4E-4BD1-8ACB-1260DAA9D4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6513" y="41783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8" name="Oval 28">
            <a:extLst>
              <a:ext uri="{FF2B5EF4-FFF2-40B4-BE49-F238E27FC236}">
                <a16:creationId xmlns:a16="http://schemas.microsoft.com/office/drawing/2014/main" id="{D70D8ABA-6558-4B86-B8CF-9AFCCA7516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3748088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29" name="Oval 29">
            <a:extLst>
              <a:ext uri="{FF2B5EF4-FFF2-40B4-BE49-F238E27FC236}">
                <a16:creationId xmlns:a16="http://schemas.microsoft.com/office/drawing/2014/main" id="{75E1A4C4-17A4-400B-823D-83745AE6C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4572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0" name="Oval 30">
            <a:extLst>
              <a:ext uri="{FF2B5EF4-FFF2-40B4-BE49-F238E27FC236}">
                <a16:creationId xmlns:a16="http://schemas.microsoft.com/office/drawing/2014/main" id="{D963C597-FCC0-44A5-963F-5CDB2CDE1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48006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1" name="Oval 31">
            <a:extLst>
              <a:ext uri="{FF2B5EF4-FFF2-40B4-BE49-F238E27FC236}">
                <a16:creationId xmlns:a16="http://schemas.microsoft.com/office/drawing/2014/main" id="{616FEB83-0AE2-43B3-856E-661007E6B5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1988" y="36766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2" name="Line 32">
            <a:extLst>
              <a:ext uri="{FF2B5EF4-FFF2-40B4-BE49-F238E27FC236}">
                <a16:creationId xmlns:a16="http://schemas.microsoft.com/office/drawing/2014/main" id="{8E2A35E6-F5E7-4105-9CF8-42996F83B89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3505200"/>
            <a:ext cx="32956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3" name="Oval 33">
            <a:extLst>
              <a:ext uri="{FF2B5EF4-FFF2-40B4-BE49-F238E27FC236}">
                <a16:creationId xmlns:a16="http://schemas.microsoft.com/office/drawing/2014/main" id="{2A9E5CDA-153B-4B1D-9949-C55CD6381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971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4355EC93-E873-47C7-B4F7-DD6116858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Decision Boundary</a:t>
            </a:r>
            <a:endParaRPr lang="en-US" altLang="en-US" sz="2800" b="0"/>
          </a:p>
        </p:txBody>
      </p:sp>
      <p:sp>
        <p:nvSpPr>
          <p:cNvPr id="77827" name="Line 3">
            <a:extLst>
              <a:ext uri="{FF2B5EF4-FFF2-40B4-BE49-F238E27FC236}">
                <a16:creationId xmlns:a16="http://schemas.microsoft.com/office/drawing/2014/main" id="{5173E3E5-DA53-4645-84C4-5374050B5D5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1743075"/>
            <a:ext cx="0" cy="350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8" name="Line 4">
            <a:extLst>
              <a:ext uri="{FF2B5EF4-FFF2-40B4-BE49-F238E27FC236}">
                <a16:creationId xmlns:a16="http://schemas.microsoft.com/office/drawing/2014/main" id="{692F059C-C248-4A88-AA10-2DD8FA0692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5251450"/>
            <a:ext cx="350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AutoShape 5">
            <a:extLst>
              <a:ext uri="{FF2B5EF4-FFF2-40B4-BE49-F238E27FC236}">
                <a16:creationId xmlns:a16="http://schemas.microsoft.com/office/drawing/2014/main" id="{95495EE7-5679-4AF9-AAC4-B40993EAC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075" y="1885950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0" name="AutoShape 6">
            <a:extLst>
              <a:ext uri="{FF2B5EF4-FFF2-40B4-BE49-F238E27FC236}">
                <a16:creationId xmlns:a16="http://schemas.microsoft.com/office/drawing/2014/main" id="{29481BFE-F9FE-4685-99CB-ECFFAD5701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1885950"/>
            <a:ext cx="144463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1" name="AutoShape 7">
            <a:extLst>
              <a:ext uri="{FF2B5EF4-FFF2-40B4-BE49-F238E27FC236}">
                <a16:creationId xmlns:a16="http://schemas.microsoft.com/office/drawing/2014/main" id="{BC90A799-A9EB-4CDC-942E-013A5BF4FE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2387600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2" name="AutoShape 8">
            <a:extLst>
              <a:ext uri="{FF2B5EF4-FFF2-40B4-BE49-F238E27FC236}">
                <a16:creationId xmlns:a16="http://schemas.microsoft.com/office/drawing/2014/main" id="{5D22A515-566C-45B6-AF60-5CD788C7B0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2173288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AutoShape 9">
            <a:extLst>
              <a:ext uri="{FF2B5EF4-FFF2-40B4-BE49-F238E27FC236}">
                <a16:creationId xmlns:a16="http://schemas.microsoft.com/office/drawing/2014/main" id="{6A40806B-5799-448B-8BBE-9020D84C26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5" y="2459038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AutoShape 10">
            <a:extLst>
              <a:ext uri="{FF2B5EF4-FFF2-40B4-BE49-F238E27FC236}">
                <a16:creationId xmlns:a16="http://schemas.microsoft.com/office/drawing/2014/main" id="{C16EF544-9CE1-4ED4-B9F8-65931617A0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4375" y="489426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5" name="AutoShape 11">
            <a:extLst>
              <a:ext uri="{FF2B5EF4-FFF2-40B4-BE49-F238E27FC236}">
                <a16:creationId xmlns:a16="http://schemas.microsoft.com/office/drawing/2014/main" id="{D8551825-6163-491D-B4C5-4D5DC9FE6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6088" y="296068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6" name="AutoShape 12">
            <a:extLst>
              <a:ext uri="{FF2B5EF4-FFF2-40B4-BE49-F238E27FC236}">
                <a16:creationId xmlns:a16="http://schemas.microsoft.com/office/drawing/2014/main" id="{53A041EA-86F5-4C76-8E9F-022EE110D9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2889250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7" name="AutoShape 13">
            <a:extLst>
              <a:ext uri="{FF2B5EF4-FFF2-40B4-BE49-F238E27FC236}">
                <a16:creationId xmlns:a16="http://schemas.microsoft.com/office/drawing/2014/main" id="{2DC6AFA6-FCCF-4372-989D-CAB6B8A19B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3425" y="3317875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8" name="AutoShape 14">
            <a:extLst>
              <a:ext uri="{FF2B5EF4-FFF2-40B4-BE49-F238E27FC236}">
                <a16:creationId xmlns:a16="http://schemas.microsoft.com/office/drawing/2014/main" id="{CB17BB07-FCCF-432B-B04C-0D72B68152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7950" y="2746375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9" name="AutoShape 15">
            <a:extLst>
              <a:ext uri="{FF2B5EF4-FFF2-40B4-BE49-F238E27FC236}">
                <a16:creationId xmlns:a16="http://schemas.microsoft.com/office/drawing/2014/main" id="{7AA7F65F-3F6F-4298-A3A4-7143A8020E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9388" y="31750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0" name="AutoShape 16">
            <a:extLst>
              <a:ext uri="{FF2B5EF4-FFF2-40B4-BE49-F238E27FC236}">
                <a16:creationId xmlns:a16="http://schemas.microsoft.com/office/drawing/2014/main" id="{27EEFDE1-2585-4190-AA62-5D535B0860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81781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1" name="AutoShape 17">
            <a:extLst>
              <a:ext uri="{FF2B5EF4-FFF2-40B4-BE49-F238E27FC236}">
                <a16:creationId xmlns:a16="http://schemas.microsoft.com/office/drawing/2014/main" id="{71FE8397-8CAC-48E5-9EC9-4AA4926D1B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47244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2" name="AutoShape 18">
            <a:extLst>
              <a:ext uri="{FF2B5EF4-FFF2-40B4-BE49-F238E27FC236}">
                <a16:creationId xmlns:a16="http://schemas.microsoft.com/office/drawing/2014/main" id="{7FBC25ED-B2A4-42E7-8362-975C8E46D4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7463" y="4821238"/>
            <a:ext cx="142875" cy="144462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3" name="AutoShape 19">
            <a:extLst>
              <a:ext uri="{FF2B5EF4-FFF2-40B4-BE49-F238E27FC236}">
                <a16:creationId xmlns:a16="http://schemas.microsoft.com/office/drawing/2014/main" id="{F8E94D70-DA0C-4D5A-A685-6F983C60C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1336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4" name="AutoShape 20">
            <a:extLst>
              <a:ext uri="{FF2B5EF4-FFF2-40B4-BE49-F238E27FC236}">
                <a16:creationId xmlns:a16="http://schemas.microsoft.com/office/drawing/2014/main" id="{1811A1D4-8662-4DAB-8BBF-CFABBC0E9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324643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5" name="Oval 21">
            <a:extLst>
              <a:ext uri="{FF2B5EF4-FFF2-40B4-BE49-F238E27FC236}">
                <a16:creationId xmlns:a16="http://schemas.microsoft.com/office/drawing/2014/main" id="{BA9072B8-16B4-4714-A6F1-65287BFD78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9913" y="39624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6" name="Oval 22">
            <a:extLst>
              <a:ext uri="{FF2B5EF4-FFF2-40B4-BE49-F238E27FC236}">
                <a16:creationId xmlns:a16="http://schemas.microsoft.com/office/drawing/2014/main" id="{7EFAF485-4464-4BD3-B7C9-924D87F271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1350" y="35909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7" name="Oval 23">
            <a:extLst>
              <a:ext uri="{FF2B5EF4-FFF2-40B4-BE49-F238E27FC236}">
                <a16:creationId xmlns:a16="http://schemas.microsoft.com/office/drawing/2014/main" id="{F33D3315-EFB3-4FE2-B79F-2E384A008F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3000" y="36766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8" name="Oval 24">
            <a:extLst>
              <a:ext uri="{FF2B5EF4-FFF2-40B4-BE49-F238E27FC236}">
                <a16:creationId xmlns:a16="http://schemas.microsoft.com/office/drawing/2014/main" id="{8DF3C436-5D5E-4506-A447-A693BC76F6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2667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9" name="Oval 25">
            <a:extLst>
              <a:ext uri="{FF2B5EF4-FFF2-40B4-BE49-F238E27FC236}">
                <a16:creationId xmlns:a16="http://schemas.microsoft.com/office/drawing/2014/main" id="{E4EBF9BB-9242-47F0-BDF1-E6DCCBF7E5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191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0" name="Oval 26">
            <a:extLst>
              <a:ext uri="{FF2B5EF4-FFF2-40B4-BE49-F238E27FC236}">
                <a16:creationId xmlns:a16="http://schemas.microsoft.com/office/drawing/2014/main" id="{ABF1F872-53A1-4887-90C6-1A88674C21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6576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1" name="Oval 27">
            <a:extLst>
              <a:ext uri="{FF2B5EF4-FFF2-40B4-BE49-F238E27FC236}">
                <a16:creationId xmlns:a16="http://schemas.microsoft.com/office/drawing/2014/main" id="{58988CCA-E7ED-49FC-80C0-49205A25B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6513" y="41783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2" name="Oval 28">
            <a:extLst>
              <a:ext uri="{FF2B5EF4-FFF2-40B4-BE49-F238E27FC236}">
                <a16:creationId xmlns:a16="http://schemas.microsoft.com/office/drawing/2014/main" id="{9472D82E-7488-416C-815E-9F652F9A02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3748088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3" name="Oval 29">
            <a:extLst>
              <a:ext uri="{FF2B5EF4-FFF2-40B4-BE49-F238E27FC236}">
                <a16:creationId xmlns:a16="http://schemas.microsoft.com/office/drawing/2014/main" id="{466E9DFF-FF84-4C96-AD5A-5E67048581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4572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4" name="Oval 30">
            <a:extLst>
              <a:ext uri="{FF2B5EF4-FFF2-40B4-BE49-F238E27FC236}">
                <a16:creationId xmlns:a16="http://schemas.microsoft.com/office/drawing/2014/main" id="{62F3E152-2CBD-4BC1-AE34-84508DDA99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48006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5" name="Oval 31">
            <a:extLst>
              <a:ext uri="{FF2B5EF4-FFF2-40B4-BE49-F238E27FC236}">
                <a16:creationId xmlns:a16="http://schemas.microsoft.com/office/drawing/2014/main" id="{D7515B5B-2945-4199-BB09-CBE4231839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1988" y="36766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6" name="Line 32">
            <a:extLst>
              <a:ext uri="{FF2B5EF4-FFF2-40B4-BE49-F238E27FC236}">
                <a16:creationId xmlns:a16="http://schemas.microsoft.com/office/drawing/2014/main" id="{A43FCF31-3EBA-400F-B888-94D4EC41A80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3505200"/>
            <a:ext cx="32956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7" name="Oval 33">
            <a:extLst>
              <a:ext uri="{FF2B5EF4-FFF2-40B4-BE49-F238E27FC236}">
                <a16:creationId xmlns:a16="http://schemas.microsoft.com/office/drawing/2014/main" id="{B5039BC1-B9AF-423F-B651-75719FB50B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971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8" name="Line 34">
            <a:extLst>
              <a:ext uri="{FF2B5EF4-FFF2-40B4-BE49-F238E27FC236}">
                <a16:creationId xmlns:a16="http://schemas.microsoft.com/office/drawing/2014/main" id="{3BA53231-0700-4C5B-BA99-2EB7BAD3E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752600"/>
            <a:ext cx="0" cy="17526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8304A846-D6ED-47C5-B3F7-222E6F7B65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Decision Tree Induction: Decision Boundary</a:t>
            </a:r>
            <a:endParaRPr lang="en-US" altLang="en-US" sz="2800" b="0"/>
          </a:p>
        </p:txBody>
      </p:sp>
      <p:sp>
        <p:nvSpPr>
          <p:cNvPr id="78851" name="Line 3">
            <a:extLst>
              <a:ext uri="{FF2B5EF4-FFF2-40B4-BE49-F238E27FC236}">
                <a16:creationId xmlns:a16="http://schemas.microsoft.com/office/drawing/2014/main" id="{9B5B05B4-2C0F-4E66-A061-D6368A37E4E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1743075"/>
            <a:ext cx="0" cy="3508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2" name="Line 4">
            <a:extLst>
              <a:ext uri="{FF2B5EF4-FFF2-40B4-BE49-F238E27FC236}">
                <a16:creationId xmlns:a16="http://schemas.microsoft.com/office/drawing/2014/main" id="{722ACE07-CBC5-4D52-B1C9-63EEA9DFB3B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5251450"/>
            <a:ext cx="3509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AutoShape 5">
            <a:extLst>
              <a:ext uri="{FF2B5EF4-FFF2-40B4-BE49-F238E27FC236}">
                <a16:creationId xmlns:a16="http://schemas.microsoft.com/office/drawing/2014/main" id="{66D8B1C7-F282-49AE-87F2-0A58FE8C9A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45075" y="1885950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AutoShape 6">
            <a:extLst>
              <a:ext uri="{FF2B5EF4-FFF2-40B4-BE49-F238E27FC236}">
                <a16:creationId xmlns:a16="http://schemas.microsoft.com/office/drawing/2014/main" id="{DD20566A-4AC2-41F9-9038-FC2F93D2CD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1885950"/>
            <a:ext cx="144463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5" name="AutoShape 7">
            <a:extLst>
              <a:ext uri="{FF2B5EF4-FFF2-40B4-BE49-F238E27FC236}">
                <a16:creationId xmlns:a16="http://schemas.microsoft.com/office/drawing/2014/main" id="{3241BA8A-D0DB-483B-95EF-3C70415B7F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27525" y="2387600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6" name="AutoShape 8">
            <a:extLst>
              <a:ext uri="{FF2B5EF4-FFF2-40B4-BE49-F238E27FC236}">
                <a16:creationId xmlns:a16="http://schemas.microsoft.com/office/drawing/2014/main" id="{E915A7A9-0684-4DA8-B29A-005DAFC28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14863" y="2173288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7" name="AutoShape 9">
            <a:extLst>
              <a:ext uri="{FF2B5EF4-FFF2-40B4-BE49-F238E27FC236}">
                <a16:creationId xmlns:a16="http://schemas.microsoft.com/office/drawing/2014/main" id="{CBD51E85-7B87-4BA7-B31A-106F88D60C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29175" y="2459038"/>
            <a:ext cx="144463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AutoShape 10">
            <a:extLst>
              <a:ext uri="{FF2B5EF4-FFF2-40B4-BE49-F238E27FC236}">
                <a16:creationId xmlns:a16="http://schemas.microsoft.com/office/drawing/2014/main" id="{3A01ACF8-D865-4CE7-BBE9-6F423F84D0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54375" y="489426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9" name="AutoShape 11">
            <a:extLst>
              <a:ext uri="{FF2B5EF4-FFF2-40B4-BE49-F238E27FC236}">
                <a16:creationId xmlns:a16="http://schemas.microsoft.com/office/drawing/2014/main" id="{74FEC9E8-F512-4DDB-B11F-F2D5057DDA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56088" y="296068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0" name="AutoShape 12">
            <a:extLst>
              <a:ext uri="{FF2B5EF4-FFF2-40B4-BE49-F238E27FC236}">
                <a16:creationId xmlns:a16="http://schemas.microsoft.com/office/drawing/2014/main" id="{C2B937D1-B6F0-46A8-B1FA-3293CB0E0B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2889250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1" name="AutoShape 13">
            <a:extLst>
              <a:ext uri="{FF2B5EF4-FFF2-40B4-BE49-F238E27FC236}">
                <a16:creationId xmlns:a16="http://schemas.microsoft.com/office/drawing/2014/main" id="{926EAECF-DEB5-4FEC-853B-BE00B6E07B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43425" y="3317875"/>
            <a:ext cx="142875" cy="144463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2" name="AutoShape 14">
            <a:extLst>
              <a:ext uri="{FF2B5EF4-FFF2-40B4-BE49-F238E27FC236}">
                <a16:creationId xmlns:a16="http://schemas.microsoft.com/office/drawing/2014/main" id="{57BDBCDE-91D4-41C6-BD39-912770236B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7950" y="2746375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3" name="AutoShape 15">
            <a:extLst>
              <a:ext uri="{FF2B5EF4-FFF2-40B4-BE49-F238E27FC236}">
                <a16:creationId xmlns:a16="http://schemas.microsoft.com/office/drawing/2014/main" id="{D65B2D92-8771-4006-9BA4-2F39726FA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59388" y="31750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4" name="AutoShape 16">
            <a:extLst>
              <a:ext uri="{FF2B5EF4-FFF2-40B4-BE49-F238E27FC236}">
                <a16:creationId xmlns:a16="http://schemas.microsoft.com/office/drawing/2014/main" id="{40D3770D-1B29-40B6-BC15-F9D1563DA8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2817813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5" name="AutoShape 17">
            <a:extLst>
              <a:ext uri="{FF2B5EF4-FFF2-40B4-BE49-F238E27FC236}">
                <a16:creationId xmlns:a16="http://schemas.microsoft.com/office/drawing/2014/main" id="{BC522356-63EA-4A5E-9939-445DE5D866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47244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6" name="AutoShape 18">
            <a:extLst>
              <a:ext uri="{FF2B5EF4-FFF2-40B4-BE49-F238E27FC236}">
                <a16:creationId xmlns:a16="http://schemas.microsoft.com/office/drawing/2014/main" id="{E1BCD29F-762E-4C8F-A635-C4A8ABD80D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27463" y="4821238"/>
            <a:ext cx="142875" cy="144462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7" name="AutoShape 19">
            <a:extLst>
              <a:ext uri="{FF2B5EF4-FFF2-40B4-BE49-F238E27FC236}">
                <a16:creationId xmlns:a16="http://schemas.microsoft.com/office/drawing/2014/main" id="{1DF81E7F-21A2-4724-AE41-C41E13BFAE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133600"/>
            <a:ext cx="142875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8" name="AutoShape 20">
            <a:extLst>
              <a:ext uri="{FF2B5EF4-FFF2-40B4-BE49-F238E27FC236}">
                <a16:creationId xmlns:a16="http://schemas.microsoft.com/office/drawing/2014/main" id="{7202857A-424E-467D-8DEB-0E261498D3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00613" y="3246438"/>
            <a:ext cx="144462" cy="1428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9" name="Oval 21">
            <a:extLst>
              <a:ext uri="{FF2B5EF4-FFF2-40B4-BE49-F238E27FC236}">
                <a16:creationId xmlns:a16="http://schemas.microsoft.com/office/drawing/2014/main" id="{EDD76874-9C85-49A5-A9E1-4E18C0C94E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09913" y="39624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0" name="Oval 22">
            <a:extLst>
              <a:ext uri="{FF2B5EF4-FFF2-40B4-BE49-F238E27FC236}">
                <a16:creationId xmlns:a16="http://schemas.microsoft.com/office/drawing/2014/main" id="{0A0F4784-1B28-4B7F-A6F6-F720C18AE9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1350" y="35909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1" name="Oval 23">
            <a:extLst>
              <a:ext uri="{FF2B5EF4-FFF2-40B4-BE49-F238E27FC236}">
                <a16:creationId xmlns:a16="http://schemas.microsoft.com/office/drawing/2014/main" id="{005F81DD-B8FB-4241-BFDA-D2A6CBCCCC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3000" y="36766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2" name="Oval 24">
            <a:extLst>
              <a:ext uri="{FF2B5EF4-FFF2-40B4-BE49-F238E27FC236}">
                <a16:creationId xmlns:a16="http://schemas.microsoft.com/office/drawing/2014/main" id="{94FE1793-6C7F-406A-9D98-28280C362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0000" y="2667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3" name="Oval 25">
            <a:extLst>
              <a:ext uri="{FF2B5EF4-FFF2-40B4-BE49-F238E27FC236}">
                <a16:creationId xmlns:a16="http://schemas.microsoft.com/office/drawing/2014/main" id="{EDB4BAA2-997B-4BEE-BED7-8EBACFAC2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4191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4" name="Oval 26">
            <a:extLst>
              <a:ext uri="{FF2B5EF4-FFF2-40B4-BE49-F238E27FC236}">
                <a16:creationId xmlns:a16="http://schemas.microsoft.com/office/drawing/2014/main" id="{D413F2B2-142C-4E3E-BFCE-BD83355D6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6576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5" name="Oval 27">
            <a:extLst>
              <a:ext uri="{FF2B5EF4-FFF2-40B4-BE49-F238E27FC236}">
                <a16:creationId xmlns:a16="http://schemas.microsoft.com/office/drawing/2014/main" id="{E37170AE-2565-4DA2-8E14-C444C1796F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6513" y="41783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6" name="Oval 28">
            <a:extLst>
              <a:ext uri="{FF2B5EF4-FFF2-40B4-BE49-F238E27FC236}">
                <a16:creationId xmlns:a16="http://schemas.microsoft.com/office/drawing/2014/main" id="{1E02B125-0A20-43AE-8E1A-A1FC0C8622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8163" y="3748088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7" name="Oval 29">
            <a:extLst>
              <a:ext uri="{FF2B5EF4-FFF2-40B4-BE49-F238E27FC236}">
                <a16:creationId xmlns:a16="http://schemas.microsoft.com/office/drawing/2014/main" id="{DB355A9B-0C41-401A-82EA-CBA17F436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53000" y="45720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8" name="Oval 30">
            <a:extLst>
              <a:ext uri="{FF2B5EF4-FFF2-40B4-BE49-F238E27FC236}">
                <a16:creationId xmlns:a16="http://schemas.microsoft.com/office/drawing/2014/main" id="{BC49E2DB-C6EB-4FD0-BD61-1F475F96A6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86400" y="48006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79" name="Oval 31">
            <a:extLst>
              <a:ext uri="{FF2B5EF4-FFF2-40B4-BE49-F238E27FC236}">
                <a16:creationId xmlns:a16="http://schemas.microsoft.com/office/drawing/2014/main" id="{557DF473-0DA7-403A-B9A6-C4112C39B9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71988" y="367665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0" name="Line 32">
            <a:extLst>
              <a:ext uri="{FF2B5EF4-FFF2-40B4-BE49-F238E27FC236}">
                <a16:creationId xmlns:a16="http://schemas.microsoft.com/office/drawing/2014/main" id="{24545FDF-41A4-44D1-9E44-C1B72D8B306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3505200"/>
            <a:ext cx="32956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1" name="Oval 33">
            <a:extLst>
              <a:ext uri="{FF2B5EF4-FFF2-40B4-BE49-F238E27FC236}">
                <a16:creationId xmlns:a16="http://schemas.microsoft.com/office/drawing/2014/main" id="{67020BCA-35CC-4124-A3DC-79452640D9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2800" y="2971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2" name="Line 34">
            <a:extLst>
              <a:ext uri="{FF2B5EF4-FFF2-40B4-BE49-F238E27FC236}">
                <a16:creationId xmlns:a16="http://schemas.microsoft.com/office/drawing/2014/main" id="{4A01DBBC-F62E-4A6F-9B97-FCA75946782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752600"/>
            <a:ext cx="0" cy="17526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3" name="Line 35">
            <a:extLst>
              <a:ext uri="{FF2B5EF4-FFF2-40B4-BE49-F238E27FC236}">
                <a16:creationId xmlns:a16="http://schemas.microsoft.com/office/drawing/2014/main" id="{A6E5D276-ADA7-4383-B0EB-D340305AF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590800"/>
            <a:ext cx="129540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4" name="Line 36">
            <a:extLst>
              <a:ext uri="{FF2B5EF4-FFF2-40B4-BE49-F238E27FC236}">
                <a16:creationId xmlns:a16="http://schemas.microsoft.com/office/drawing/2014/main" id="{2E922BCF-451C-4074-BA0E-90E1E0B4983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895600" y="4419600"/>
            <a:ext cx="3295650" cy="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85" name="Line 37">
            <a:extLst>
              <a:ext uri="{FF2B5EF4-FFF2-40B4-BE49-F238E27FC236}">
                <a16:creationId xmlns:a16="http://schemas.microsoft.com/office/drawing/2014/main" id="{EEF4FFAD-AEF8-48A8-BA50-B9D8A5BFD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419600"/>
            <a:ext cx="0" cy="838200"/>
          </a:xfrm>
          <a:prstGeom prst="line">
            <a:avLst/>
          </a:prstGeom>
          <a:noFill/>
          <a:ln w="1905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A73F2AD9-95CE-4DEE-A41B-C8FCA41BA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(Artificial) Neural Networks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6F86328-55E4-46A7-9CB6-A847C0537C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000"/>
              <a:t>Motivation: human brain</a:t>
            </a:r>
          </a:p>
          <a:p>
            <a:pPr lvl="1"/>
            <a:r>
              <a:rPr lang="en-US" altLang="en-US" sz="1800"/>
              <a:t>massively parallel (</a:t>
            </a:r>
            <a:r>
              <a:rPr lang="en-US" altLang="en-US" sz="1800" i="1"/>
              <a:t>10</a:t>
            </a:r>
            <a:r>
              <a:rPr lang="en-US" altLang="en-US" sz="1800" i="1" baseline="30000"/>
              <a:t>11</a:t>
            </a:r>
            <a:r>
              <a:rPr lang="en-US" altLang="en-US" sz="1800" i="1"/>
              <a:t> neurons, ~20 types</a:t>
            </a:r>
            <a:r>
              <a:rPr lang="en-US" altLang="en-US" sz="1800"/>
              <a:t>)</a:t>
            </a:r>
          </a:p>
          <a:p>
            <a:pPr lvl="1"/>
            <a:r>
              <a:rPr lang="en-US" altLang="en-US" sz="1800"/>
              <a:t>small computational units with simple low-bandwidth communication (</a:t>
            </a:r>
            <a:r>
              <a:rPr lang="en-US" altLang="en-US" sz="1800" i="1"/>
              <a:t>10</a:t>
            </a:r>
            <a:r>
              <a:rPr lang="en-US" altLang="en-US" sz="1800" i="1" baseline="30000"/>
              <a:t>14</a:t>
            </a:r>
            <a:r>
              <a:rPr lang="en-US" altLang="en-US" sz="1800" i="1"/>
              <a:t> synapses, 1-10ms cycle time</a:t>
            </a:r>
            <a:r>
              <a:rPr lang="en-US" altLang="en-US" sz="1800"/>
              <a:t>)</a:t>
            </a:r>
          </a:p>
          <a:p>
            <a:pPr lvl="1"/>
            <a:endParaRPr lang="en-US" altLang="en-US" sz="1800"/>
          </a:p>
          <a:p>
            <a:r>
              <a:rPr lang="en-US" altLang="en-US" sz="2000"/>
              <a:t>Realization: neural network</a:t>
            </a:r>
          </a:p>
          <a:p>
            <a:pPr lvl="1"/>
            <a:r>
              <a:rPr lang="en-US" altLang="en-US" sz="1800" i="1"/>
              <a:t>units</a:t>
            </a:r>
            <a:r>
              <a:rPr lang="en-US" altLang="en-US" sz="1800"/>
              <a:t> (</a:t>
            </a:r>
            <a:r>
              <a:rPr lang="en-US" altLang="en-US" sz="1800">
                <a:sym typeface="Symbol" panose="05050102010706020507" pitchFamily="18" charset="2"/>
              </a:rPr>
              <a:t> </a:t>
            </a:r>
            <a:r>
              <a:rPr lang="en-US" altLang="en-US" sz="1800"/>
              <a:t>neurons) connected by </a:t>
            </a:r>
            <a:r>
              <a:rPr lang="en-US" altLang="en-US" sz="1800" i="1"/>
              <a:t>directed weighted links</a:t>
            </a:r>
            <a:endParaRPr lang="en-US" altLang="en-US" sz="1800"/>
          </a:p>
          <a:p>
            <a:pPr lvl="1"/>
            <a:r>
              <a:rPr lang="en-US" altLang="en-US" sz="1800" i="1"/>
              <a:t>activation function</a:t>
            </a:r>
            <a:r>
              <a:rPr lang="en-US" altLang="en-US" sz="1800"/>
              <a:t> from inputs to output</a:t>
            </a:r>
            <a:endParaRPr lang="en-US" altLang="en-US" sz="1800" i="1"/>
          </a:p>
        </p:txBody>
      </p:sp>
      <p:pic>
        <p:nvPicPr>
          <p:cNvPr id="79876" name="Picture 4">
            <a:extLst>
              <a:ext uri="{FF2B5EF4-FFF2-40B4-BE49-F238E27FC236}">
                <a16:creationId xmlns:a16="http://schemas.microsoft.com/office/drawing/2014/main" id="{2AE14C46-0808-4548-8009-9F9011CB7574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4191000"/>
            <a:ext cx="3886200" cy="16414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79877" name="Picture 5">
            <a:extLst>
              <a:ext uri="{FF2B5EF4-FFF2-40B4-BE49-F238E27FC236}">
                <a16:creationId xmlns:a16="http://schemas.microsoft.com/office/drawing/2014/main" id="{6DDB3A84-C478-4ABF-81A0-E5BE66DD332B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1447800"/>
            <a:ext cx="3352800" cy="20145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40EEB8B1-AA10-46AA-A481-C1B3B1DFF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Neural Networks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C0DBBF0-F552-4848-91A8-147444FDB45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4191000"/>
            <a:ext cx="7924800" cy="21717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i="1"/>
              <a:t>neural network = parameterized family of nonlinear functions</a:t>
            </a:r>
          </a:p>
          <a:p>
            <a:pPr>
              <a:lnSpc>
                <a:spcPct val="80000"/>
              </a:lnSpc>
            </a:pPr>
            <a:r>
              <a:rPr lang="en-US" altLang="en-US" sz="2000" i="1"/>
              <a:t>types</a:t>
            </a:r>
          </a:p>
          <a:p>
            <a:pPr lvl="1">
              <a:lnSpc>
                <a:spcPct val="80000"/>
              </a:lnSpc>
            </a:pPr>
            <a:r>
              <a:rPr lang="en-US" altLang="en-US" sz="1800" i="1"/>
              <a:t>feed-forward</a:t>
            </a:r>
            <a:r>
              <a:rPr lang="en-US" altLang="en-US" sz="1800"/>
              <a:t> (acyclic): single-layer perceptrons, multi-layer networks</a:t>
            </a:r>
          </a:p>
          <a:p>
            <a:pPr lvl="1">
              <a:lnSpc>
                <a:spcPct val="80000"/>
              </a:lnSpc>
            </a:pPr>
            <a:r>
              <a:rPr lang="en-US" altLang="en-US" sz="1800" i="1"/>
              <a:t>recurrent</a:t>
            </a:r>
            <a:r>
              <a:rPr lang="en-US" altLang="en-US" sz="1800"/>
              <a:t> (cyclic): Hopfield networks, Boltzmann machines</a:t>
            </a:r>
          </a:p>
          <a:p>
            <a:pPr lvl="1">
              <a:lnSpc>
                <a:spcPct val="80000"/>
              </a:lnSpc>
            </a:pPr>
            <a:endParaRPr lang="en-US" altLang="en-US" sz="1800"/>
          </a:p>
          <a:p>
            <a:pPr lvl="1">
              <a:lnSpc>
                <a:spcPct val="80000"/>
              </a:lnSpc>
            </a:pPr>
            <a:endParaRPr lang="en-US" altLang="en-US" sz="18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 </a:t>
            </a:r>
            <a:r>
              <a:rPr lang="en-US" altLang="en-US" sz="1800" i="1">
                <a:solidFill>
                  <a:schemeClr val="bg2"/>
                </a:solidFill>
              </a:rPr>
              <a:t>connectionism, parallel distributed processing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</a:p>
        </p:txBody>
      </p:sp>
      <p:pic>
        <p:nvPicPr>
          <p:cNvPr id="80900" name="Picture 4">
            <a:extLst>
              <a:ext uri="{FF2B5EF4-FFF2-40B4-BE49-F238E27FC236}">
                <a16:creationId xmlns:a16="http://schemas.microsoft.com/office/drawing/2014/main" id="{30415796-E2F5-484E-81D6-63303F4C224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19400" y="1295400"/>
            <a:ext cx="3429000" cy="19431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80901" name="Picture 5">
            <a:extLst>
              <a:ext uri="{FF2B5EF4-FFF2-40B4-BE49-F238E27FC236}">
                <a16:creationId xmlns:a16="http://schemas.microsoft.com/office/drawing/2014/main" id="{A7E9D4E3-87EF-4A21-A3A5-C88EF535608E}"/>
              </a:ext>
            </a:extLst>
          </p:cNvPr>
          <p:cNvPicPr>
            <a:picLocks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3352800"/>
            <a:ext cx="6781800" cy="72866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F7E9E08A-28C4-449D-A3D4-905B15989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Neural Network Learning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ED2C947-B294-4592-AFF0-1D2E8D0F3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i="1"/>
              <a:t>Key Idea</a:t>
            </a:r>
            <a:r>
              <a:rPr lang="en-US" altLang="en-US" sz="2400"/>
              <a:t>: Adjusting the weights changes the function represented by the neural network (</a:t>
            </a:r>
            <a:r>
              <a:rPr lang="en-US" altLang="en-US" sz="2400" i="1"/>
              <a:t>learning = optimization in weight space</a:t>
            </a:r>
            <a:r>
              <a:rPr lang="en-US" altLang="en-US" sz="2400"/>
              <a:t>).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/>
              <a:t>Iteratively </a:t>
            </a:r>
            <a:r>
              <a:rPr lang="en-US" altLang="en-US" sz="2400" i="1"/>
              <a:t>adjust weights</a:t>
            </a:r>
            <a:r>
              <a:rPr lang="en-US" altLang="en-US" sz="2400"/>
              <a:t> to reduce </a:t>
            </a:r>
            <a:r>
              <a:rPr lang="en-US" altLang="en-US" sz="2400" i="1"/>
              <a:t>error</a:t>
            </a:r>
            <a:r>
              <a:rPr lang="en-US" altLang="en-US" sz="2400"/>
              <a:t> (difference between network output and target output).</a:t>
            </a:r>
          </a:p>
          <a:p>
            <a:pPr>
              <a:buFontTx/>
              <a:buNone/>
            </a:pPr>
            <a:endParaRPr lang="en-US" altLang="en-US" sz="2400">
              <a:cs typeface="Arial" panose="020B0604020202020204" pitchFamily="34" charset="0"/>
            </a:endParaRPr>
          </a:p>
          <a:p>
            <a:r>
              <a:rPr lang="en-US" altLang="en-US" sz="2400">
                <a:cs typeface="Arial" panose="020B0604020202020204" pitchFamily="34" charset="0"/>
              </a:rPr>
              <a:t>Weight Update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perceptron training rule</a:t>
            </a:r>
            <a:endParaRPr lang="en-US" altLang="en-US" sz="2000">
              <a:cs typeface="Arial" panose="020B0604020202020204" pitchFamily="34" charset="0"/>
            </a:endParaRP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linear programming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delta rule</a:t>
            </a:r>
          </a:p>
          <a:p>
            <a:pPr lvl="1"/>
            <a:r>
              <a:rPr lang="en-US" altLang="en-US" sz="2000" i="1">
                <a:cs typeface="Arial" panose="020B0604020202020204" pitchFamily="34" charset="0"/>
              </a:rPr>
              <a:t>backpropagation</a:t>
            </a:r>
            <a:endParaRPr lang="en-US" altLang="en-US" sz="2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4EBCD4C-60EE-4027-B649-2F15E07AE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Neural Network Learning: Decision Boundary</a:t>
            </a:r>
          </a:p>
        </p:txBody>
      </p:sp>
      <p:grpSp>
        <p:nvGrpSpPr>
          <p:cNvPr id="82947" name="Group 3">
            <a:extLst>
              <a:ext uri="{FF2B5EF4-FFF2-40B4-BE49-F238E27FC236}">
                <a16:creationId xmlns:a16="http://schemas.microsoft.com/office/drawing/2014/main" id="{8BE2C60E-7A94-4FBB-AD8F-817FB39648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27100" y="1447800"/>
            <a:ext cx="3035300" cy="3111500"/>
            <a:chOff x="380" y="1824"/>
            <a:chExt cx="1876" cy="1923"/>
          </a:xfrm>
        </p:grpSpPr>
        <p:sp>
          <p:nvSpPr>
            <p:cNvPr id="82948" name="Line 4">
              <a:extLst>
                <a:ext uri="{FF2B5EF4-FFF2-40B4-BE49-F238E27FC236}">
                  <a16:creationId xmlns:a16="http://schemas.microsoft.com/office/drawing/2014/main" id="{1497A162-B08B-4C73-AD4A-3E96FA0C17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" y="1824"/>
              <a:ext cx="0" cy="19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49" name="Line 5">
              <a:extLst>
                <a:ext uri="{FF2B5EF4-FFF2-40B4-BE49-F238E27FC236}">
                  <a16:creationId xmlns:a16="http://schemas.microsoft.com/office/drawing/2014/main" id="{10A9EA23-4804-4394-B986-53FAE095F3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" y="3747"/>
              <a:ext cx="18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0" name="AutoShape 6">
              <a:extLst>
                <a:ext uri="{FF2B5EF4-FFF2-40B4-BE49-F238E27FC236}">
                  <a16:creationId xmlns:a16="http://schemas.microsoft.com/office/drawing/2014/main" id="{131B2925-ACE1-4CEF-99D3-39F3E5DD47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2112"/>
              <a:ext cx="90" cy="9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1" name="AutoShape 7">
              <a:extLst>
                <a:ext uri="{FF2B5EF4-FFF2-40B4-BE49-F238E27FC236}">
                  <a16:creationId xmlns:a16="http://schemas.microsoft.com/office/drawing/2014/main" id="{B0C4A5CD-4883-48A2-A92B-DDA3FF79BB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6" y="2496"/>
              <a:ext cx="90" cy="9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2" name="AutoShape 8">
              <a:extLst>
                <a:ext uri="{FF2B5EF4-FFF2-40B4-BE49-F238E27FC236}">
                  <a16:creationId xmlns:a16="http://schemas.microsoft.com/office/drawing/2014/main" id="{CA048C8A-16E3-41C6-BECF-B23326AFC0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640"/>
              <a:ext cx="90" cy="9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3" name="AutoShape 9">
              <a:extLst>
                <a:ext uri="{FF2B5EF4-FFF2-40B4-BE49-F238E27FC236}">
                  <a16:creationId xmlns:a16="http://schemas.microsoft.com/office/drawing/2014/main" id="{11C29C6A-BA3B-4FC1-A0FB-85C792FFCC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24" y="2448"/>
              <a:ext cx="90" cy="9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4" name="Oval 10">
              <a:extLst>
                <a:ext uri="{FF2B5EF4-FFF2-40B4-BE49-F238E27FC236}">
                  <a16:creationId xmlns:a16="http://schemas.microsoft.com/office/drawing/2014/main" id="{C2D212F3-DAB0-4A48-A0D8-C7FF31B2F5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2928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5" name="Oval 11">
              <a:extLst>
                <a:ext uri="{FF2B5EF4-FFF2-40B4-BE49-F238E27FC236}">
                  <a16:creationId xmlns:a16="http://schemas.microsoft.com/office/drawing/2014/main" id="{3863A36E-3429-4DA9-A24B-69C65A53EB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3072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6" name="Oval 12">
              <a:extLst>
                <a:ext uri="{FF2B5EF4-FFF2-40B4-BE49-F238E27FC236}">
                  <a16:creationId xmlns:a16="http://schemas.microsoft.com/office/drawing/2014/main" id="{ACD1374A-0416-4554-8C15-1C3C3D564D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92" y="3456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7" name="Oval 13">
              <a:extLst>
                <a:ext uri="{FF2B5EF4-FFF2-40B4-BE49-F238E27FC236}">
                  <a16:creationId xmlns:a16="http://schemas.microsoft.com/office/drawing/2014/main" id="{1B41F5ED-E7CA-445E-966B-EA7A399560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68" y="2645"/>
              <a:ext cx="90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8" name="Oval 14">
              <a:extLst>
                <a:ext uri="{FF2B5EF4-FFF2-40B4-BE49-F238E27FC236}">
                  <a16:creationId xmlns:a16="http://schemas.microsoft.com/office/drawing/2014/main" id="{3FC26B78-F179-428C-9279-50EDBC79EB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7" y="3072"/>
              <a:ext cx="91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59" name="Line 15">
              <a:extLst>
                <a:ext uri="{FF2B5EF4-FFF2-40B4-BE49-F238E27FC236}">
                  <a16:creationId xmlns:a16="http://schemas.microsoft.com/office/drawing/2014/main" id="{AAC8FEB5-2030-4C84-99B5-9D62EBEF33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528" y="2112"/>
              <a:ext cx="1584" cy="105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2960" name="Group 16">
            <a:extLst>
              <a:ext uri="{FF2B5EF4-FFF2-40B4-BE49-F238E27FC236}">
                <a16:creationId xmlns:a16="http://schemas.microsoft.com/office/drawing/2014/main" id="{EAC911C1-83EC-4C76-850C-E686811BD7E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76800" y="1447800"/>
            <a:ext cx="3035300" cy="3111500"/>
            <a:chOff x="1786" y="960"/>
            <a:chExt cx="2246" cy="2303"/>
          </a:xfrm>
        </p:grpSpPr>
        <p:sp>
          <p:nvSpPr>
            <p:cNvPr id="82961" name="Line 17">
              <a:extLst>
                <a:ext uri="{FF2B5EF4-FFF2-40B4-BE49-F238E27FC236}">
                  <a16:creationId xmlns:a16="http://schemas.microsoft.com/office/drawing/2014/main" id="{2B60C090-4DFC-4601-BB08-EE5F730F2C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86" y="960"/>
              <a:ext cx="0" cy="2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2" name="Line 18">
              <a:extLst>
                <a:ext uri="{FF2B5EF4-FFF2-40B4-BE49-F238E27FC236}">
                  <a16:creationId xmlns:a16="http://schemas.microsoft.com/office/drawing/2014/main" id="{FA3AF0AE-C673-4974-8560-E07358E85F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786" y="3263"/>
              <a:ext cx="22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3" name="AutoShape 19">
              <a:extLst>
                <a:ext uri="{FF2B5EF4-FFF2-40B4-BE49-F238E27FC236}">
                  <a16:creationId xmlns:a16="http://schemas.microsoft.com/office/drawing/2014/main" id="{E08DCD94-D27B-4A08-A0B3-B91ACB60A3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68" y="182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4" name="AutoShape 20">
              <a:extLst>
                <a:ext uri="{FF2B5EF4-FFF2-40B4-BE49-F238E27FC236}">
                  <a16:creationId xmlns:a16="http://schemas.microsoft.com/office/drawing/2014/main" id="{1006E73B-C933-4CEC-B261-19C2AA64E5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96" y="2830"/>
              <a:ext cx="108" cy="108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5" name="AutoShape 21">
              <a:extLst>
                <a:ext uri="{FF2B5EF4-FFF2-40B4-BE49-F238E27FC236}">
                  <a16:creationId xmlns:a16="http://schemas.microsoft.com/office/drawing/2014/main" id="{F94E822F-9E9B-4A0C-96ED-3CD816A6BA3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65" y="182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6" name="AutoShape 22">
              <a:extLst>
                <a:ext uri="{FF2B5EF4-FFF2-40B4-BE49-F238E27FC236}">
                  <a16:creationId xmlns:a16="http://schemas.microsoft.com/office/drawing/2014/main" id="{F0D87A17-87F2-4ABE-BA90-C19CE15BBA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8" y="1708"/>
              <a:ext cx="108" cy="108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7" name="Oval 23">
              <a:extLst>
                <a:ext uri="{FF2B5EF4-FFF2-40B4-BE49-F238E27FC236}">
                  <a16:creationId xmlns:a16="http://schemas.microsoft.com/office/drawing/2014/main" id="{80DFEE51-9B33-4038-B5E8-EB5D04A7EB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37" y="2282"/>
              <a:ext cx="109" cy="10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8" name="Oval 24">
              <a:extLst>
                <a:ext uri="{FF2B5EF4-FFF2-40B4-BE49-F238E27FC236}">
                  <a16:creationId xmlns:a16="http://schemas.microsoft.com/office/drawing/2014/main" id="{448A5C27-815F-4DF7-B953-DBCACF5DBD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1" y="2542"/>
              <a:ext cx="110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69" name="Oval 25">
              <a:extLst>
                <a:ext uri="{FF2B5EF4-FFF2-40B4-BE49-F238E27FC236}">
                  <a16:creationId xmlns:a16="http://schemas.microsoft.com/office/drawing/2014/main" id="{DF655BAD-28CC-4B35-BEEF-B1DFACFEA2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98" y="2914"/>
              <a:ext cx="108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0" name="Oval 26">
              <a:extLst>
                <a:ext uri="{FF2B5EF4-FFF2-40B4-BE49-F238E27FC236}">
                  <a16:creationId xmlns:a16="http://schemas.microsoft.com/office/drawing/2014/main" id="{56CEC977-D42E-4BCD-B629-EFA6D1D0B1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81" y="1248"/>
              <a:ext cx="107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1" name="Oval 27">
              <a:extLst>
                <a:ext uri="{FF2B5EF4-FFF2-40B4-BE49-F238E27FC236}">
                  <a16:creationId xmlns:a16="http://schemas.microsoft.com/office/drawing/2014/main" id="{58BD8913-60BB-4DDC-AA1B-FE29C23D795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89" y="1176"/>
              <a:ext cx="110" cy="10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2" name="AutoShape 28">
              <a:extLst>
                <a:ext uri="{FF2B5EF4-FFF2-40B4-BE49-F238E27FC236}">
                  <a16:creationId xmlns:a16="http://schemas.microsoft.com/office/drawing/2014/main" id="{9D7DE99C-9120-49AE-9AB6-6FD0DB88E2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77" y="1463"/>
              <a:ext cx="108" cy="11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3" name="AutoShape 29">
              <a:extLst>
                <a:ext uri="{FF2B5EF4-FFF2-40B4-BE49-F238E27FC236}">
                  <a16:creationId xmlns:a16="http://schemas.microsoft.com/office/drawing/2014/main" id="{2B5DD1EC-7E3D-4F89-8A42-46C1125ABB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05" y="2183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4" name="AutoShape 30">
              <a:extLst>
                <a:ext uri="{FF2B5EF4-FFF2-40B4-BE49-F238E27FC236}">
                  <a16:creationId xmlns:a16="http://schemas.microsoft.com/office/drawing/2014/main" id="{9DE9E4EB-8774-4F63-8D25-438EA36162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32" y="2255"/>
              <a:ext cx="108" cy="109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5" name="AutoShape 31">
              <a:extLst>
                <a:ext uri="{FF2B5EF4-FFF2-40B4-BE49-F238E27FC236}">
                  <a16:creationId xmlns:a16="http://schemas.microsoft.com/office/drawing/2014/main" id="{10FF2282-72E5-489E-9E37-035F20F412A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6" y="2398"/>
              <a:ext cx="108" cy="110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976" name="Freeform 32">
              <a:extLst>
                <a:ext uri="{FF2B5EF4-FFF2-40B4-BE49-F238E27FC236}">
                  <a16:creationId xmlns:a16="http://schemas.microsoft.com/office/drawing/2014/main" id="{6181070A-4F05-4A4C-B3D3-3681EC9951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56" y="1248"/>
              <a:ext cx="2128" cy="1928"/>
            </a:xfrm>
            <a:custGeom>
              <a:avLst/>
              <a:gdLst>
                <a:gd name="T0" fmla="*/ 448 w 2128"/>
                <a:gd name="T1" fmla="*/ 296 h 1928"/>
                <a:gd name="T2" fmla="*/ 784 w 2128"/>
                <a:gd name="T3" fmla="*/ 8 h 1928"/>
                <a:gd name="T4" fmla="*/ 1024 w 2128"/>
                <a:gd name="T5" fmla="*/ 248 h 1928"/>
                <a:gd name="T6" fmla="*/ 1120 w 2128"/>
                <a:gd name="T7" fmla="*/ 440 h 1928"/>
                <a:gd name="T8" fmla="*/ 1552 w 2128"/>
                <a:gd name="T9" fmla="*/ 344 h 1928"/>
                <a:gd name="T10" fmla="*/ 1888 w 2128"/>
                <a:gd name="T11" fmla="*/ 680 h 1928"/>
                <a:gd name="T12" fmla="*/ 1792 w 2128"/>
                <a:gd name="T13" fmla="*/ 872 h 1928"/>
                <a:gd name="T14" fmla="*/ 2128 w 2128"/>
                <a:gd name="T15" fmla="*/ 1256 h 1928"/>
                <a:gd name="T16" fmla="*/ 1792 w 2128"/>
                <a:gd name="T17" fmla="*/ 1496 h 1928"/>
                <a:gd name="T18" fmla="*/ 1648 w 2128"/>
                <a:gd name="T19" fmla="*/ 1880 h 1928"/>
                <a:gd name="T20" fmla="*/ 1360 w 2128"/>
                <a:gd name="T21" fmla="*/ 1784 h 1928"/>
                <a:gd name="T22" fmla="*/ 1312 w 2128"/>
                <a:gd name="T23" fmla="*/ 1304 h 1928"/>
                <a:gd name="T24" fmla="*/ 1312 w 2128"/>
                <a:gd name="T25" fmla="*/ 872 h 1928"/>
                <a:gd name="T26" fmla="*/ 976 w 2128"/>
                <a:gd name="T27" fmla="*/ 824 h 1928"/>
                <a:gd name="T28" fmla="*/ 832 w 2128"/>
                <a:gd name="T29" fmla="*/ 1112 h 1928"/>
                <a:gd name="T30" fmla="*/ 544 w 2128"/>
                <a:gd name="T31" fmla="*/ 1160 h 1928"/>
                <a:gd name="T32" fmla="*/ 352 w 2128"/>
                <a:gd name="T33" fmla="*/ 824 h 1928"/>
                <a:gd name="T34" fmla="*/ 16 w 2128"/>
                <a:gd name="T35" fmla="*/ 584 h 1928"/>
                <a:gd name="T36" fmla="*/ 256 w 2128"/>
                <a:gd name="T37" fmla="*/ 248 h 1928"/>
                <a:gd name="T38" fmla="*/ 448 w 2128"/>
                <a:gd name="T39" fmla="*/ 296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28" h="1928">
                  <a:moveTo>
                    <a:pt x="448" y="296"/>
                  </a:moveTo>
                  <a:cubicBezTo>
                    <a:pt x="536" y="256"/>
                    <a:pt x="688" y="16"/>
                    <a:pt x="784" y="8"/>
                  </a:cubicBezTo>
                  <a:cubicBezTo>
                    <a:pt x="880" y="0"/>
                    <a:pt x="968" y="176"/>
                    <a:pt x="1024" y="248"/>
                  </a:cubicBezTo>
                  <a:cubicBezTo>
                    <a:pt x="1080" y="320"/>
                    <a:pt x="1032" y="424"/>
                    <a:pt x="1120" y="440"/>
                  </a:cubicBezTo>
                  <a:cubicBezTo>
                    <a:pt x="1208" y="456"/>
                    <a:pt x="1424" y="304"/>
                    <a:pt x="1552" y="344"/>
                  </a:cubicBezTo>
                  <a:cubicBezTo>
                    <a:pt x="1680" y="384"/>
                    <a:pt x="1848" y="592"/>
                    <a:pt x="1888" y="680"/>
                  </a:cubicBezTo>
                  <a:cubicBezTo>
                    <a:pt x="1928" y="768"/>
                    <a:pt x="1752" y="776"/>
                    <a:pt x="1792" y="872"/>
                  </a:cubicBezTo>
                  <a:cubicBezTo>
                    <a:pt x="1832" y="968"/>
                    <a:pt x="2128" y="1152"/>
                    <a:pt x="2128" y="1256"/>
                  </a:cubicBezTo>
                  <a:cubicBezTo>
                    <a:pt x="2128" y="1360"/>
                    <a:pt x="1872" y="1392"/>
                    <a:pt x="1792" y="1496"/>
                  </a:cubicBezTo>
                  <a:cubicBezTo>
                    <a:pt x="1712" y="1600"/>
                    <a:pt x="1720" y="1832"/>
                    <a:pt x="1648" y="1880"/>
                  </a:cubicBezTo>
                  <a:cubicBezTo>
                    <a:pt x="1576" y="1928"/>
                    <a:pt x="1416" y="1880"/>
                    <a:pt x="1360" y="1784"/>
                  </a:cubicBezTo>
                  <a:cubicBezTo>
                    <a:pt x="1304" y="1688"/>
                    <a:pt x="1320" y="1456"/>
                    <a:pt x="1312" y="1304"/>
                  </a:cubicBezTo>
                  <a:cubicBezTo>
                    <a:pt x="1304" y="1152"/>
                    <a:pt x="1368" y="952"/>
                    <a:pt x="1312" y="872"/>
                  </a:cubicBezTo>
                  <a:cubicBezTo>
                    <a:pt x="1256" y="792"/>
                    <a:pt x="1056" y="784"/>
                    <a:pt x="976" y="824"/>
                  </a:cubicBezTo>
                  <a:cubicBezTo>
                    <a:pt x="896" y="864"/>
                    <a:pt x="904" y="1056"/>
                    <a:pt x="832" y="1112"/>
                  </a:cubicBezTo>
                  <a:cubicBezTo>
                    <a:pt x="760" y="1168"/>
                    <a:pt x="624" y="1208"/>
                    <a:pt x="544" y="1160"/>
                  </a:cubicBezTo>
                  <a:cubicBezTo>
                    <a:pt x="464" y="1112"/>
                    <a:pt x="440" y="920"/>
                    <a:pt x="352" y="824"/>
                  </a:cubicBezTo>
                  <a:cubicBezTo>
                    <a:pt x="264" y="728"/>
                    <a:pt x="32" y="680"/>
                    <a:pt x="16" y="584"/>
                  </a:cubicBezTo>
                  <a:cubicBezTo>
                    <a:pt x="0" y="488"/>
                    <a:pt x="184" y="296"/>
                    <a:pt x="256" y="248"/>
                  </a:cubicBezTo>
                  <a:cubicBezTo>
                    <a:pt x="328" y="200"/>
                    <a:pt x="408" y="286"/>
                    <a:pt x="448" y="296"/>
                  </a:cubicBezTo>
                  <a:close/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2977" name="Text Box 33">
            <a:extLst>
              <a:ext uri="{FF2B5EF4-FFF2-40B4-BE49-F238E27FC236}">
                <a16:creationId xmlns:a16="http://schemas.microsoft.com/office/drawing/2014/main" id="{E884B838-5140-412C-AC89-CE414043B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88" y="4937125"/>
            <a:ext cx="2767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i="1"/>
              <a:t>single-layer perceptron</a:t>
            </a:r>
          </a:p>
        </p:txBody>
      </p:sp>
      <p:sp>
        <p:nvSpPr>
          <p:cNvPr id="82978" name="Text Box 34">
            <a:extLst>
              <a:ext uri="{FF2B5EF4-FFF2-40B4-BE49-F238E27FC236}">
                <a16:creationId xmlns:a16="http://schemas.microsoft.com/office/drawing/2014/main" id="{1528AAF2-BEC8-41D9-95E6-80CBECE4E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953000"/>
            <a:ext cx="2314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 sz="2000" i="1"/>
              <a:t>multi-layer network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FB0C0EB-978F-40FF-B20B-100B69B6F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Vector Machines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6C821632-FC11-4908-B2F4-7354C27DE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i="1"/>
              <a:t>Kernel Trick</a:t>
            </a:r>
            <a:r>
              <a:rPr lang="en-US" altLang="en-US"/>
              <a:t>: Map data to </a:t>
            </a:r>
            <a:r>
              <a:rPr lang="en-US" altLang="en-US" i="1"/>
              <a:t>higher-dimensional space</a:t>
            </a:r>
            <a:r>
              <a:rPr lang="en-US" altLang="en-US"/>
              <a:t> where they will be </a:t>
            </a:r>
            <a:r>
              <a:rPr lang="en-US" altLang="en-US" i="1"/>
              <a:t>linearly separable</a:t>
            </a:r>
            <a:r>
              <a:rPr lang="en-US" altLang="en-US"/>
              <a:t>.</a:t>
            </a:r>
          </a:p>
          <a:p>
            <a:pPr>
              <a:buFontTx/>
              <a:buNone/>
            </a:pPr>
            <a:endParaRPr lang="en-US" altLang="en-US"/>
          </a:p>
          <a:p>
            <a:pPr>
              <a:buFontTx/>
              <a:buNone/>
            </a:pPr>
            <a:r>
              <a:rPr lang="en-US" altLang="en-US"/>
              <a:t>Learning a Classifier</a:t>
            </a:r>
          </a:p>
          <a:p>
            <a:r>
              <a:rPr lang="en-US" altLang="en-US"/>
              <a:t>optimal linear separator is one that has the </a:t>
            </a:r>
            <a:r>
              <a:rPr lang="en-US" altLang="en-US" i="1"/>
              <a:t>largest margin</a:t>
            </a:r>
            <a:r>
              <a:rPr lang="en-US" altLang="en-US"/>
              <a:t> between positive examples on one side and negative examples on the other</a:t>
            </a:r>
          </a:p>
          <a:p>
            <a:r>
              <a:rPr lang="en-US" altLang="en-US"/>
              <a:t>= </a:t>
            </a:r>
            <a:r>
              <a:rPr lang="en-US" altLang="en-US" i="1"/>
              <a:t>quadratic programming optimization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B014D1C-5E04-421C-A6D9-817A62B13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Support Vector Machines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04B8B58-466D-4BE8-B6CB-C260D41A10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 i="1"/>
              <a:t>Key Concept</a:t>
            </a:r>
            <a:r>
              <a:rPr lang="en-US" altLang="en-US" sz="2400"/>
              <a:t>:  Training data enters optimization problem in the form of </a:t>
            </a:r>
            <a:r>
              <a:rPr lang="en-US" altLang="en-US" sz="2400" i="1"/>
              <a:t>dot products </a:t>
            </a:r>
            <a:r>
              <a:rPr lang="en-US" altLang="en-US" sz="2400"/>
              <a:t>of pairs of </a:t>
            </a:r>
            <a:r>
              <a:rPr lang="en-US" altLang="en-US" sz="2400" i="1"/>
              <a:t>points</a:t>
            </a:r>
            <a:r>
              <a:rPr lang="en-US" altLang="en-US" sz="2400"/>
              <a:t>.</a:t>
            </a:r>
          </a:p>
          <a:p>
            <a:endParaRPr lang="en-US" altLang="en-US" sz="2400" i="1"/>
          </a:p>
          <a:p>
            <a:r>
              <a:rPr lang="en-US" altLang="en-US" sz="2400" i="1"/>
              <a:t>support vectors</a:t>
            </a:r>
          </a:p>
          <a:p>
            <a:pPr lvl="1"/>
            <a:r>
              <a:rPr lang="en-US" altLang="en-US" sz="2000"/>
              <a:t>weights associated with data points are </a:t>
            </a:r>
            <a:r>
              <a:rPr lang="en-US" altLang="en-US" sz="2000" i="1"/>
              <a:t>zero</a:t>
            </a:r>
            <a:r>
              <a:rPr lang="en-US" altLang="en-US" sz="2000"/>
              <a:t> except for those points nearest the separator (i.e., the </a:t>
            </a:r>
            <a:r>
              <a:rPr lang="en-US" altLang="en-US" sz="2000" i="1"/>
              <a:t>support vectors</a:t>
            </a:r>
            <a:r>
              <a:rPr lang="en-US" altLang="en-US" sz="2000"/>
              <a:t>) </a:t>
            </a:r>
          </a:p>
          <a:p>
            <a:r>
              <a:rPr lang="en-US" altLang="en-US" sz="2400" i="1"/>
              <a:t>kernel function </a:t>
            </a:r>
            <a:r>
              <a:rPr lang="en-US" altLang="en-US" sz="2400"/>
              <a:t>K(x</a:t>
            </a:r>
            <a:r>
              <a:rPr lang="en-US" altLang="en-US" sz="2400" baseline="-25000"/>
              <a:t>i</a:t>
            </a:r>
            <a:r>
              <a:rPr lang="en-US" altLang="en-US" sz="2400"/>
              <a:t>,x</a:t>
            </a:r>
            <a:r>
              <a:rPr lang="en-US" altLang="en-US" sz="2400" baseline="-25000"/>
              <a:t>j</a:t>
            </a:r>
            <a:r>
              <a:rPr lang="en-US" altLang="en-US" sz="2400"/>
              <a:t>)</a:t>
            </a:r>
          </a:p>
          <a:p>
            <a:pPr lvl="1"/>
            <a:r>
              <a:rPr lang="en-US" altLang="en-US" sz="2000"/>
              <a:t>function that can be applied to pairs of points to evaluate dot products in the corresponding (higher-dimensional) feature space F (</a:t>
            </a:r>
            <a:r>
              <a:rPr lang="en-US" altLang="en-US" sz="2000" i="1"/>
              <a:t>without having to directly compute </a:t>
            </a:r>
            <a:r>
              <a:rPr lang="en-US" altLang="en-US" sz="2000"/>
              <a:t>F(x) </a:t>
            </a:r>
            <a:r>
              <a:rPr lang="en-US" altLang="en-US" sz="2000" i="1"/>
              <a:t>first</a:t>
            </a:r>
            <a:r>
              <a:rPr lang="en-US" altLang="en-US" sz="2000"/>
              <a:t>)</a:t>
            </a:r>
          </a:p>
          <a:p>
            <a:pPr lvl="1"/>
            <a:endParaRPr lang="en-US" altLang="en-US" sz="2000"/>
          </a:p>
          <a:p>
            <a:pPr algn="ctr">
              <a:buFontTx/>
              <a:buNone/>
            </a:pPr>
            <a:r>
              <a:rPr lang="en-US" altLang="en-US" sz="2400" i="1"/>
              <a:t>efficient training </a:t>
            </a:r>
            <a:r>
              <a:rPr lang="en-US" altLang="en-US" sz="2400"/>
              <a:t>and</a:t>
            </a:r>
            <a:r>
              <a:rPr lang="en-US" altLang="en-US" sz="2400" i="1"/>
              <a:t> complex functions!</a:t>
            </a:r>
            <a:endParaRPr lang="en-US" altLang="en-US" sz="2400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F7DEEAF-B440-4666-931A-CDD1273A3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257800"/>
            <a:ext cx="7162800" cy="6858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4B1E5D6-3020-4562-BB7A-F75C365C6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001000" cy="914400"/>
          </a:xfrm>
        </p:spPr>
        <p:txBody>
          <a:bodyPr/>
          <a:lstStyle/>
          <a:p>
            <a:r>
              <a:rPr lang="en-US" altLang="en-US" sz="2800"/>
              <a:t>Support Vector Machines: Decision Boundary</a:t>
            </a:r>
          </a:p>
        </p:txBody>
      </p:sp>
      <p:grpSp>
        <p:nvGrpSpPr>
          <p:cNvPr id="86019" name="Group 3">
            <a:extLst>
              <a:ext uri="{FF2B5EF4-FFF2-40B4-BE49-F238E27FC236}">
                <a16:creationId xmlns:a16="http://schemas.microsoft.com/office/drawing/2014/main" id="{A9E9D553-278D-45F8-8525-9466A12B09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29263" y="1752600"/>
            <a:ext cx="2852737" cy="2925763"/>
            <a:chOff x="3541" y="1487"/>
            <a:chExt cx="1499" cy="1537"/>
          </a:xfrm>
        </p:grpSpPr>
        <p:sp>
          <p:nvSpPr>
            <p:cNvPr id="86020" name="Line 4">
              <a:extLst>
                <a:ext uri="{FF2B5EF4-FFF2-40B4-BE49-F238E27FC236}">
                  <a16:creationId xmlns:a16="http://schemas.microsoft.com/office/drawing/2014/main" id="{D31966FB-517B-4013-AFE3-BC57580560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1" y="1487"/>
              <a:ext cx="0" cy="1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1" name="Line 5">
              <a:extLst>
                <a:ext uri="{FF2B5EF4-FFF2-40B4-BE49-F238E27FC236}">
                  <a16:creationId xmlns:a16="http://schemas.microsoft.com/office/drawing/2014/main" id="{73B02433-0615-4D95-838E-C15FD3BCE3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41" y="3024"/>
              <a:ext cx="1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2" name="AutoShape 6">
              <a:extLst>
                <a:ext uri="{FF2B5EF4-FFF2-40B4-BE49-F238E27FC236}">
                  <a16:creationId xmlns:a16="http://schemas.microsoft.com/office/drawing/2014/main" id="{4057028B-8BC5-458B-A6C0-EC5A791FA2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73" y="1717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3" name="AutoShape 7">
              <a:extLst>
                <a:ext uri="{FF2B5EF4-FFF2-40B4-BE49-F238E27FC236}">
                  <a16:creationId xmlns:a16="http://schemas.microsoft.com/office/drawing/2014/main" id="{1BC9D769-C5F5-4C36-9D29-459779F1DC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1" y="2024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4" name="AutoShape 8">
              <a:extLst>
                <a:ext uri="{FF2B5EF4-FFF2-40B4-BE49-F238E27FC236}">
                  <a16:creationId xmlns:a16="http://schemas.microsoft.com/office/drawing/2014/main" id="{35B7130B-9112-4390-B270-82F3713D90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13" y="2139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5" name="AutoShape 9">
              <a:extLst>
                <a:ext uri="{FF2B5EF4-FFF2-40B4-BE49-F238E27FC236}">
                  <a16:creationId xmlns:a16="http://schemas.microsoft.com/office/drawing/2014/main" id="{CE9E0BD6-307C-45EF-A26E-381B61E18A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36" y="1986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6" name="Oval 10">
              <a:extLst>
                <a:ext uri="{FF2B5EF4-FFF2-40B4-BE49-F238E27FC236}">
                  <a16:creationId xmlns:a16="http://schemas.microsoft.com/office/drawing/2014/main" id="{72ED36F9-9EB7-4964-B767-C1A17FA082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88" y="2369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7" name="Oval 11">
              <a:extLst>
                <a:ext uri="{FF2B5EF4-FFF2-40B4-BE49-F238E27FC236}">
                  <a16:creationId xmlns:a16="http://schemas.microsoft.com/office/drawing/2014/main" id="{0DFBD133-E00F-4B4F-A216-45BD2C01E2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8" y="248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8" name="Oval 12">
              <a:extLst>
                <a:ext uri="{FF2B5EF4-FFF2-40B4-BE49-F238E27FC236}">
                  <a16:creationId xmlns:a16="http://schemas.microsoft.com/office/drawing/2014/main" id="{851589AD-8F69-4FB1-A057-6A70232607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0" y="2791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9" name="Oval 13">
              <a:extLst>
                <a:ext uri="{FF2B5EF4-FFF2-40B4-BE49-F238E27FC236}">
                  <a16:creationId xmlns:a16="http://schemas.microsoft.com/office/drawing/2014/main" id="{421F4F16-B67F-4276-B668-E37EEE81E1B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0" y="2143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0" name="Oval 14">
              <a:extLst>
                <a:ext uri="{FF2B5EF4-FFF2-40B4-BE49-F238E27FC236}">
                  <a16:creationId xmlns:a16="http://schemas.microsoft.com/office/drawing/2014/main" id="{931D4339-4D47-4350-9DB7-FFB9F58CD33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62" y="248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1" name="Line 15">
              <a:extLst>
                <a:ext uri="{FF2B5EF4-FFF2-40B4-BE49-F238E27FC236}">
                  <a16:creationId xmlns:a16="http://schemas.microsoft.com/office/drawing/2014/main" id="{02DF1942-1B66-4415-9B05-16B044B1E8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59" y="1717"/>
              <a:ext cx="1266" cy="84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2" name="Line 16">
              <a:extLst>
                <a:ext uri="{FF2B5EF4-FFF2-40B4-BE49-F238E27FC236}">
                  <a16:creationId xmlns:a16="http://schemas.microsoft.com/office/drawing/2014/main" id="{C3D1D578-6BE1-4FE7-8E93-E5621E1639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21" y="1488"/>
              <a:ext cx="432" cy="1344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3" name="Line 17">
              <a:extLst>
                <a:ext uri="{FF2B5EF4-FFF2-40B4-BE49-F238E27FC236}">
                  <a16:creationId xmlns:a16="http://schemas.microsoft.com/office/drawing/2014/main" id="{55614FCC-17CC-43E0-BD9B-AB093F5925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685" y="1968"/>
              <a:ext cx="1344" cy="432"/>
            </a:xfrm>
            <a:prstGeom prst="lin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6034" name="Group 18">
            <a:extLst>
              <a:ext uri="{FF2B5EF4-FFF2-40B4-BE49-F238E27FC236}">
                <a16:creationId xmlns:a16="http://schemas.microsoft.com/office/drawing/2014/main" id="{82F989CE-700A-40DE-8C7D-DB7119ED14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04863" y="1752600"/>
            <a:ext cx="2852737" cy="2925763"/>
            <a:chOff x="576" y="1488"/>
            <a:chExt cx="1499" cy="1537"/>
          </a:xfrm>
        </p:grpSpPr>
        <p:sp>
          <p:nvSpPr>
            <p:cNvPr id="86035" name="Line 19">
              <a:extLst>
                <a:ext uri="{FF2B5EF4-FFF2-40B4-BE49-F238E27FC236}">
                  <a16:creationId xmlns:a16="http://schemas.microsoft.com/office/drawing/2014/main" id="{450ABCBD-C286-41D5-83E3-EBD8845C90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6" y="1488"/>
              <a:ext cx="0" cy="15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6" name="Line 20">
              <a:extLst>
                <a:ext uri="{FF2B5EF4-FFF2-40B4-BE49-F238E27FC236}">
                  <a16:creationId xmlns:a16="http://schemas.microsoft.com/office/drawing/2014/main" id="{DA5DD70F-7E75-473F-87F0-B68C68585B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76" y="3025"/>
              <a:ext cx="1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7" name="AutoShape 21">
              <a:extLst>
                <a:ext uri="{FF2B5EF4-FFF2-40B4-BE49-F238E27FC236}">
                  <a16:creationId xmlns:a16="http://schemas.microsoft.com/office/drawing/2014/main" id="{2C527EE0-C2EC-4B46-AC23-5832F628A6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32" y="2064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8" name="AutoShape 22">
              <a:extLst>
                <a:ext uri="{FF2B5EF4-FFF2-40B4-BE49-F238E27FC236}">
                  <a16:creationId xmlns:a16="http://schemas.microsoft.com/office/drawing/2014/main" id="{11926666-EE1A-463C-BD38-7BDA979BD5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4" y="2736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9" name="AutoShape 23">
              <a:extLst>
                <a:ext uri="{FF2B5EF4-FFF2-40B4-BE49-F238E27FC236}">
                  <a16:creationId xmlns:a16="http://schemas.microsoft.com/office/drawing/2014/main" id="{F7F27DA7-1758-46EB-A2D4-3F21796027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96" y="2064"/>
              <a:ext cx="72" cy="7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0" name="AutoShape 24">
              <a:extLst>
                <a:ext uri="{FF2B5EF4-FFF2-40B4-BE49-F238E27FC236}">
                  <a16:creationId xmlns:a16="http://schemas.microsoft.com/office/drawing/2014/main" id="{D9D72378-5A11-4D4F-8C60-33712EEBE5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71" y="1987"/>
              <a:ext cx="72" cy="72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1" name="Oval 25">
              <a:extLst>
                <a:ext uri="{FF2B5EF4-FFF2-40B4-BE49-F238E27FC236}">
                  <a16:creationId xmlns:a16="http://schemas.microsoft.com/office/drawing/2014/main" id="{56350FFA-F096-4F6B-94DF-49C2985E594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23" y="2370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2" name="Oval 26">
              <a:extLst>
                <a:ext uri="{FF2B5EF4-FFF2-40B4-BE49-F238E27FC236}">
                  <a16:creationId xmlns:a16="http://schemas.microsoft.com/office/drawing/2014/main" id="{5E884A5B-D174-4776-8CB4-A0076F9411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2544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3" name="Oval 27">
              <a:extLst>
                <a:ext uri="{FF2B5EF4-FFF2-40B4-BE49-F238E27FC236}">
                  <a16:creationId xmlns:a16="http://schemas.microsoft.com/office/drawing/2014/main" id="{8398F49D-D236-4AEC-8EA5-68DCC0D8898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85" y="2792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4" name="Oval 28">
              <a:extLst>
                <a:ext uri="{FF2B5EF4-FFF2-40B4-BE49-F238E27FC236}">
                  <a16:creationId xmlns:a16="http://schemas.microsoft.com/office/drawing/2014/main" id="{4747FE6A-B279-49ED-80FC-E4D789A2AF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1680"/>
              <a:ext cx="72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5" name="Oval 29">
              <a:extLst>
                <a:ext uri="{FF2B5EF4-FFF2-40B4-BE49-F238E27FC236}">
                  <a16:creationId xmlns:a16="http://schemas.microsoft.com/office/drawing/2014/main" id="{17595376-9235-46A5-A584-9A34F0DE1E9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12" y="1632"/>
              <a:ext cx="73" cy="7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046" name="AutoShape 30">
            <a:extLst>
              <a:ext uri="{FF2B5EF4-FFF2-40B4-BE49-F238E27FC236}">
                <a16:creationId xmlns:a16="http://schemas.microsoft.com/office/drawing/2014/main" id="{289E39D6-1174-4FC2-85F3-0BFB68C0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3224213"/>
            <a:ext cx="990600" cy="304800"/>
          </a:xfrm>
          <a:prstGeom prst="rightArrow">
            <a:avLst>
              <a:gd name="adj1" fmla="val 50000"/>
              <a:gd name="adj2" fmla="val 812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47" name="Text Box 31">
            <a:extLst>
              <a:ext uri="{FF2B5EF4-FFF2-40B4-BE49-F238E27FC236}">
                <a16:creationId xmlns:a16="http://schemas.microsoft.com/office/drawing/2014/main" id="{603B9ADD-19A9-4CB6-8143-BFBE347E6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863" y="2590800"/>
            <a:ext cx="504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ru-RU" altLang="en-US" sz="3200">
                <a:latin typeface="Times" panose="02020603050405020304" pitchFamily="18" charset="0"/>
              </a:rPr>
              <a:t>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58FEF63-E928-4170-B615-8D4D5A032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DDBB5B2-B681-4F81-84AF-13055A49ABE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Network topology reflects direct </a:t>
            </a:r>
            <a:r>
              <a:rPr lang="en-US" altLang="en-US" sz="2400" i="1"/>
              <a:t>causal influence</a:t>
            </a:r>
          </a:p>
          <a:p>
            <a:pPr>
              <a:lnSpc>
                <a:spcPct val="90000"/>
              </a:lnSpc>
            </a:pPr>
            <a:endParaRPr lang="en-US" altLang="en-US" sz="2400" i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u="sng"/>
              <a:t>Basic Task</a:t>
            </a:r>
            <a:r>
              <a:rPr lang="en-US" altLang="en-US" sz="2400"/>
              <a:t>: Compute probability distribution for unknown variables given observed values of other variables.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</a:t>
            </a:r>
            <a:r>
              <a:rPr lang="en-US" altLang="en-US" sz="1800" i="1">
                <a:solidFill>
                  <a:schemeClr val="bg2"/>
                </a:solidFill>
              </a:rPr>
              <a:t>belief networks, causal networks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  <a:endParaRPr lang="en-US" altLang="en-US" sz="1800" i="1">
              <a:solidFill>
                <a:schemeClr val="bg2"/>
              </a:solidFill>
            </a:endParaRPr>
          </a:p>
        </p:txBody>
      </p:sp>
      <p:pic>
        <p:nvPicPr>
          <p:cNvPr id="87044" name="Picture 4">
            <a:extLst>
              <a:ext uri="{FF2B5EF4-FFF2-40B4-BE49-F238E27FC236}">
                <a16:creationId xmlns:a16="http://schemas.microsoft.com/office/drawing/2014/main" id="{C18379A1-2B27-4EBA-8634-33124A035D1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3950" y="1219200"/>
            <a:ext cx="2990850" cy="2419350"/>
          </a:xfrm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7045" name="Group 5">
            <a:extLst>
              <a:ext uri="{FF2B5EF4-FFF2-40B4-BE49-F238E27FC236}">
                <a16:creationId xmlns:a16="http://schemas.microsoft.com/office/drawing/2014/main" id="{298E5EED-EBD7-4808-82BD-9EB28B9D7536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4038600"/>
          <a:ext cx="3886200" cy="1169988"/>
        </p:xfrm>
        <a:graphic>
          <a:graphicData uri="http://schemas.openxmlformats.org/drawingml/2006/table">
            <a:tbl>
              <a:tblPr/>
              <a:tblGrid>
                <a:gridCol w="512763">
                  <a:extLst>
                    <a:ext uri="{9D8B030D-6E8A-4147-A177-3AD203B41FA5}">
                      <a16:colId xmlns:a16="http://schemas.microsoft.com/office/drawing/2014/main" val="4195935084"/>
                    </a:ext>
                  </a:extLst>
                </a:gridCol>
                <a:gridCol w="881062">
                  <a:extLst>
                    <a:ext uri="{9D8B030D-6E8A-4147-A177-3AD203B41FA5}">
                      <a16:colId xmlns:a16="http://schemas.microsoft.com/office/drawing/2014/main" val="2243597290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153806395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1699921297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389212599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</a:t>
                      </a: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A B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734741"/>
                  </a:ext>
                </a:extLst>
              </a:tr>
              <a:tr h="423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866924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sym typeface="Symbol" panose="05050102010706020507" pitchFamily="18" charset="2"/>
                        </a:rPr>
                        <a:t>C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268752"/>
                  </a:ext>
                </a:extLst>
              </a:tr>
            </a:tbl>
          </a:graphicData>
        </a:graphic>
      </p:graphicFrame>
      <p:sp>
        <p:nvSpPr>
          <p:cNvPr id="87071" name="Text Box 31">
            <a:extLst>
              <a:ext uri="{FF2B5EF4-FFF2-40B4-BE49-F238E27FC236}">
                <a16:creationId xmlns:a16="http://schemas.microsoft.com/office/drawing/2014/main" id="{7B9AFAF8-C64C-4CC1-9BE9-AB89B05F4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48288"/>
            <a:ext cx="2940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i="1"/>
              <a:t>conditional probability table</a:t>
            </a:r>
            <a:endParaRPr lang="en-US" altLang="en-US"/>
          </a:p>
          <a:p>
            <a:pPr eaLnBrk="0" hangingPunct="0"/>
            <a:r>
              <a:rPr lang="en-US" altLang="en-US"/>
              <a:t>for </a:t>
            </a:r>
            <a:r>
              <a:rPr lang="en-US" altLang="en-US">
                <a:latin typeface="Times New Roman" panose="02020603050405020304" pitchFamily="18" charset="0"/>
              </a:rPr>
              <a:t>NeighbourCalls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7BF540C2-551D-4ECD-BE33-F2FA2286B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 Learning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2CEFD28-AF36-4444-A683-AE0BFF9A4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Key Concepts</a:t>
            </a:r>
          </a:p>
          <a:p>
            <a:r>
              <a:rPr lang="en-US" altLang="en-US"/>
              <a:t>nodes (attributes) = random variables</a:t>
            </a:r>
          </a:p>
          <a:p>
            <a:r>
              <a:rPr lang="en-US" altLang="en-US"/>
              <a:t>conditional independence</a:t>
            </a:r>
          </a:p>
          <a:p>
            <a:pPr lvl="1"/>
            <a:r>
              <a:rPr lang="en-US" altLang="en-US"/>
              <a:t>an attribute is conditionally independent of its non-descendants, given its parents</a:t>
            </a:r>
          </a:p>
          <a:p>
            <a:r>
              <a:rPr lang="en-US" altLang="en-US"/>
              <a:t>conditional probability table</a:t>
            </a:r>
          </a:p>
          <a:p>
            <a:pPr lvl="1"/>
            <a:r>
              <a:rPr lang="en-US" altLang="en-US"/>
              <a:t>conditional probability distribution of an attribute given its parents</a:t>
            </a:r>
          </a:p>
          <a:p>
            <a:r>
              <a:rPr lang="en-US" altLang="en-US"/>
              <a:t>Bayes Theorem</a:t>
            </a:r>
          </a:p>
          <a:p>
            <a:pPr lvl="1"/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h|D</a:t>
            </a:r>
            <a:r>
              <a:rPr lang="en-US" altLang="en-US"/>
              <a:t>)</a:t>
            </a:r>
            <a:r>
              <a:rPr lang="en-US" altLang="en-US" i="1"/>
              <a:t> = P</a:t>
            </a:r>
            <a:r>
              <a:rPr lang="en-US" altLang="en-US"/>
              <a:t>(</a:t>
            </a:r>
            <a:r>
              <a:rPr lang="en-US" altLang="en-US" i="1"/>
              <a:t>D|h</a:t>
            </a:r>
            <a:r>
              <a:rPr lang="en-US" altLang="en-US"/>
              <a:t>)</a:t>
            </a:r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h</a:t>
            </a:r>
            <a:r>
              <a:rPr lang="en-US" altLang="en-US"/>
              <a:t>) / </a:t>
            </a:r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D</a:t>
            </a:r>
            <a:r>
              <a:rPr lang="en-US" altLang="en-US"/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B3D55CB-F7C2-4945-9C14-AF3DFCF7A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Bayesian Network Learning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D3620B5-8596-4755-AFA5-6663E244C7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Find </a:t>
            </a:r>
            <a:r>
              <a:rPr lang="en-US" altLang="en-US" sz="2400" i="1"/>
              <a:t>most probable hypothesis</a:t>
            </a:r>
            <a:r>
              <a:rPr lang="en-US" altLang="en-US" sz="2400"/>
              <a:t> given the data.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In theory</a:t>
            </a:r>
            <a:r>
              <a:rPr lang="en-US" altLang="en-US" sz="2400"/>
              <a:t>:  Use posterior probabilities to weight hypotheses. (</a:t>
            </a:r>
            <a:r>
              <a:rPr lang="en-US" altLang="en-US" sz="2400" i="1"/>
              <a:t>Bayes optimal classifier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In practice</a:t>
            </a:r>
            <a:r>
              <a:rPr lang="en-US" altLang="en-US" sz="2400"/>
              <a:t>:  Use single, </a:t>
            </a:r>
            <a:r>
              <a:rPr lang="en-US" altLang="en-US" sz="2400" i="1"/>
              <a:t>maximum a posteriori </a:t>
            </a:r>
            <a:r>
              <a:rPr lang="en-US" altLang="en-US" sz="2400"/>
              <a:t>(most probable) hypothesis.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Settings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known structure, fully observable (</a:t>
            </a:r>
            <a:r>
              <a:rPr lang="en-US" altLang="en-US" sz="2400" i="1"/>
              <a:t>parameter learning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unknown structure, fully observable (</a:t>
            </a:r>
            <a:r>
              <a:rPr lang="en-US" altLang="en-US" sz="2400" i="1"/>
              <a:t>structural learning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known structure, hidden variables (</a:t>
            </a:r>
            <a:r>
              <a:rPr lang="en-US" altLang="en-US" sz="2400" i="1"/>
              <a:t>EM algorithm</a:t>
            </a:r>
            <a:r>
              <a:rPr lang="en-US" altLang="en-US" sz="240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unknown structure, hidden variables (</a:t>
            </a:r>
            <a:r>
              <a:rPr lang="en-US" altLang="en-US" sz="2400" i="1"/>
              <a:t>?</a:t>
            </a:r>
            <a:r>
              <a:rPr lang="en-US" altLang="en-US" sz="2400"/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5A837FC-C989-49F8-9DE1-A30DC3F91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Nearest Neighbor Models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BD7A7ADF-8134-4051-B04A-1DE3FB5915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/>
              <a:t>Key Idea</a:t>
            </a:r>
            <a:r>
              <a:rPr lang="en-US" altLang="en-US" sz="2400"/>
              <a:t>: Properties of an input </a:t>
            </a:r>
            <a:r>
              <a:rPr lang="en-US" altLang="en-US" sz="2400" i="1"/>
              <a:t>x</a:t>
            </a:r>
            <a:r>
              <a:rPr lang="en-US" altLang="en-US" sz="2400"/>
              <a:t> are likely to be </a:t>
            </a:r>
            <a:r>
              <a:rPr lang="en-US" altLang="en-US" sz="2400" i="1"/>
              <a:t>similar</a:t>
            </a:r>
            <a:r>
              <a:rPr lang="en-US" altLang="en-US" sz="2400"/>
              <a:t> to those of points in the </a:t>
            </a:r>
            <a:r>
              <a:rPr lang="en-US" altLang="en-US" sz="2400" i="1"/>
              <a:t>neighborhood</a:t>
            </a:r>
            <a:r>
              <a:rPr lang="en-US" altLang="en-US" sz="2400"/>
              <a:t> of </a:t>
            </a:r>
            <a:r>
              <a:rPr lang="en-US" altLang="en-US" sz="2400" i="1"/>
              <a:t>x</a:t>
            </a:r>
            <a:r>
              <a:rPr lang="en-US" altLang="en-US" sz="240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/>
              <a:t>Basic Idea</a:t>
            </a:r>
            <a:r>
              <a:rPr lang="en-US" altLang="en-US" sz="2400"/>
              <a:t>: Find (</a:t>
            </a:r>
            <a:r>
              <a:rPr lang="en-US" altLang="en-US" sz="2400" i="1"/>
              <a:t>k</a:t>
            </a:r>
            <a:r>
              <a:rPr lang="en-US" altLang="en-US" sz="2400"/>
              <a:t>) nearest neighbor(s) of </a:t>
            </a:r>
            <a:r>
              <a:rPr lang="en-US" altLang="en-US" sz="2400" i="1"/>
              <a:t>x</a:t>
            </a:r>
            <a:r>
              <a:rPr lang="en-US" altLang="en-US" sz="2400"/>
              <a:t> and infer target attribute value(s) of </a:t>
            </a:r>
            <a:r>
              <a:rPr lang="en-US" altLang="en-US" sz="2400" i="1"/>
              <a:t>x</a:t>
            </a:r>
            <a:r>
              <a:rPr lang="en-US" altLang="en-US" sz="2400"/>
              <a:t> based on corresponding attribute value(s).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Form of </a:t>
            </a:r>
            <a:r>
              <a:rPr lang="en-US" altLang="en-US" sz="2400" i="1"/>
              <a:t>non-parametric learning</a:t>
            </a:r>
            <a:r>
              <a:rPr lang="en-US" altLang="en-US" sz="2400"/>
              <a:t> where hypothesis complexity grows with data (learned model </a:t>
            </a:r>
            <a:r>
              <a:rPr lang="en-US" altLang="en-US" sz="2400">
                <a:sym typeface="Symbol" panose="05050102010706020507" pitchFamily="18" charset="2"/>
              </a:rPr>
              <a:t> </a:t>
            </a:r>
            <a:r>
              <a:rPr lang="en-US" altLang="en-US" sz="2400"/>
              <a:t>all examples seen so far)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chemeClr val="bg2"/>
                </a:solidFill>
              </a:rPr>
              <a:t>[</a:t>
            </a:r>
            <a:r>
              <a:rPr lang="en-US" altLang="en-US" sz="1800" i="1">
                <a:solidFill>
                  <a:schemeClr val="bg2"/>
                </a:solidFill>
              </a:rPr>
              <a:t>instance-based learning, case-based reasoning, analogical reasoning</a:t>
            </a:r>
            <a:r>
              <a:rPr lang="en-US" altLang="en-US" sz="1800">
                <a:solidFill>
                  <a:schemeClr val="bg2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27FDB55B-6EE6-429D-BF79-8128F99D7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Nearest Neighbor Model: Decision Boundary</a:t>
            </a:r>
          </a:p>
        </p:txBody>
      </p:sp>
      <p:grpSp>
        <p:nvGrpSpPr>
          <p:cNvPr id="91139" name="Group 3">
            <a:extLst>
              <a:ext uri="{FF2B5EF4-FFF2-40B4-BE49-F238E27FC236}">
                <a16:creationId xmlns:a16="http://schemas.microsoft.com/office/drawing/2014/main" id="{E9A336BA-60B6-45A2-BBAF-6E274F8DA7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3000" y="2062163"/>
            <a:ext cx="2833688" cy="3043237"/>
            <a:chOff x="528" y="1008"/>
            <a:chExt cx="2101" cy="2256"/>
          </a:xfrm>
        </p:grpSpPr>
        <p:sp>
          <p:nvSpPr>
            <p:cNvPr id="91140" name="Line 4">
              <a:extLst>
                <a:ext uri="{FF2B5EF4-FFF2-40B4-BE49-F238E27FC236}">
                  <a16:creationId xmlns:a16="http://schemas.microsoft.com/office/drawing/2014/main" id="{CD809001-E507-41E5-8BD0-E50C477A1E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" y="1110"/>
              <a:ext cx="0" cy="2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1" name="Line 5">
              <a:extLst>
                <a:ext uri="{FF2B5EF4-FFF2-40B4-BE49-F238E27FC236}">
                  <a16:creationId xmlns:a16="http://schemas.microsoft.com/office/drawing/2014/main" id="{9FA745D0-1FB6-4726-9702-18F10022F0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28" y="3264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2" name="AutoShape 6">
              <a:extLst>
                <a:ext uri="{FF2B5EF4-FFF2-40B4-BE49-F238E27FC236}">
                  <a16:creationId xmlns:a16="http://schemas.microsoft.com/office/drawing/2014/main" id="{1C877524-6B88-4836-AEAC-B4AAEEC43D7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08" y="1776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3" name="AutoShape 7">
              <a:extLst>
                <a:ext uri="{FF2B5EF4-FFF2-40B4-BE49-F238E27FC236}">
                  <a16:creationId xmlns:a16="http://schemas.microsoft.com/office/drawing/2014/main" id="{274FA43D-3524-4710-A84E-64DE609AE45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60" y="2736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4" name="AutoShape 8">
              <a:extLst>
                <a:ext uri="{FF2B5EF4-FFF2-40B4-BE49-F238E27FC236}">
                  <a16:creationId xmlns:a16="http://schemas.microsoft.com/office/drawing/2014/main" id="{F437AA99-439E-42C1-B608-62F3769A61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37" y="1917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5" name="AutoShape 9">
              <a:extLst>
                <a:ext uri="{FF2B5EF4-FFF2-40B4-BE49-F238E27FC236}">
                  <a16:creationId xmlns:a16="http://schemas.microsoft.com/office/drawing/2014/main" id="{B50EDDE3-A914-4D1B-A4EA-D61E02851B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1728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6" name="Oval 10">
              <a:extLst>
                <a:ext uri="{FF2B5EF4-FFF2-40B4-BE49-F238E27FC236}">
                  <a16:creationId xmlns:a16="http://schemas.microsoft.com/office/drawing/2014/main" id="{CF7AD28C-EEDE-4187-AD45-0DB52BFCC2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15" y="2346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7" name="Oval 11">
              <a:extLst>
                <a:ext uri="{FF2B5EF4-FFF2-40B4-BE49-F238E27FC236}">
                  <a16:creationId xmlns:a16="http://schemas.microsoft.com/office/drawing/2014/main" id="{279773E7-3C1C-4758-9F8B-B1DEC20E93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0" y="2400"/>
              <a:ext cx="103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8" name="Oval 12">
              <a:extLst>
                <a:ext uri="{FF2B5EF4-FFF2-40B4-BE49-F238E27FC236}">
                  <a16:creationId xmlns:a16="http://schemas.microsoft.com/office/drawing/2014/main" id="{D1A268C4-9560-49BC-B0B8-0CC698A94E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0" y="292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9" name="Oval 13">
              <a:extLst>
                <a:ext uri="{FF2B5EF4-FFF2-40B4-BE49-F238E27FC236}">
                  <a16:creationId xmlns:a16="http://schemas.microsoft.com/office/drawing/2014/main" id="{62BF2278-ED9B-4006-AA8D-533B70677F8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80" y="124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0" name="Oval 14">
              <a:extLst>
                <a:ext uri="{FF2B5EF4-FFF2-40B4-BE49-F238E27FC236}">
                  <a16:creationId xmlns:a16="http://schemas.microsoft.com/office/drawing/2014/main" id="{816D4E4E-98B2-4368-8797-513B7F814E3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56" y="1152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1" name="Line 15">
              <a:extLst>
                <a:ext uri="{FF2B5EF4-FFF2-40B4-BE49-F238E27FC236}">
                  <a16:creationId xmlns:a16="http://schemas.microsoft.com/office/drawing/2014/main" id="{21D75704-13C3-4B6C-925D-EE9A8F3C35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2" y="14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2" name="Line 16">
              <a:extLst>
                <a:ext uri="{FF2B5EF4-FFF2-40B4-BE49-F238E27FC236}">
                  <a16:creationId xmlns:a16="http://schemas.microsoft.com/office/drawing/2014/main" id="{A01EAF90-BCC9-4EDB-8483-FF862FF132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96" y="100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3" name="Line 17">
              <a:extLst>
                <a:ext uri="{FF2B5EF4-FFF2-40B4-BE49-F238E27FC236}">
                  <a16:creationId xmlns:a16="http://schemas.microsoft.com/office/drawing/2014/main" id="{16AE8423-0F95-4968-8B8C-7D0E2F2F28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440" y="168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4" name="Line 18">
              <a:extLst>
                <a:ext uri="{FF2B5EF4-FFF2-40B4-BE49-F238E27FC236}">
                  <a16:creationId xmlns:a16="http://schemas.microsoft.com/office/drawing/2014/main" id="{D363668C-617D-4F08-947C-1E869D5FCE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200" y="177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5" name="Line 19">
              <a:extLst>
                <a:ext uri="{FF2B5EF4-FFF2-40B4-BE49-F238E27FC236}">
                  <a16:creationId xmlns:a16="http://schemas.microsoft.com/office/drawing/2014/main" id="{8E4753CE-85AB-4EB9-A808-9DA84DD134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24" y="2112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6" name="Line 20">
              <a:extLst>
                <a:ext uri="{FF2B5EF4-FFF2-40B4-BE49-F238E27FC236}">
                  <a16:creationId xmlns:a16="http://schemas.microsoft.com/office/drawing/2014/main" id="{71D4981B-9E4B-4065-9399-17EC3EB7E5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00" y="211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7" name="Line 21">
              <a:extLst>
                <a:ext uri="{FF2B5EF4-FFF2-40B4-BE49-F238E27FC236}">
                  <a16:creationId xmlns:a16="http://schemas.microsoft.com/office/drawing/2014/main" id="{CC57B8C7-73E0-4C1C-A0AB-FC6BE6A608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92" y="23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8" name="Line 22">
              <a:extLst>
                <a:ext uri="{FF2B5EF4-FFF2-40B4-BE49-F238E27FC236}">
                  <a16:creationId xmlns:a16="http://schemas.microsoft.com/office/drawing/2014/main" id="{87956377-240E-495F-9A36-85E200CF69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08" y="264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9" name="Line 23">
              <a:extLst>
                <a:ext uri="{FF2B5EF4-FFF2-40B4-BE49-F238E27FC236}">
                  <a16:creationId xmlns:a16="http://schemas.microsoft.com/office/drawing/2014/main" id="{9AA1EA31-FEE9-4C4E-B5E8-55E8811E84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96" y="1440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0" name="Line 24">
              <a:extLst>
                <a:ext uri="{FF2B5EF4-FFF2-40B4-BE49-F238E27FC236}">
                  <a16:creationId xmlns:a16="http://schemas.microsoft.com/office/drawing/2014/main" id="{07AF4072-3BC7-4CBD-8BC8-6A9618B8F76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872" y="129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1" name="Line 25">
              <a:extLst>
                <a:ext uri="{FF2B5EF4-FFF2-40B4-BE49-F238E27FC236}">
                  <a16:creationId xmlns:a16="http://schemas.microsoft.com/office/drawing/2014/main" id="{BB6ECB82-7E2C-4AF3-9D1E-3736E47934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2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2" name="Line 26">
              <a:extLst>
                <a:ext uri="{FF2B5EF4-FFF2-40B4-BE49-F238E27FC236}">
                  <a16:creationId xmlns:a16="http://schemas.microsoft.com/office/drawing/2014/main" id="{DFD2B2CE-A351-4BFC-B441-C31670A1D0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92" y="2064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3" name="Line 27">
              <a:extLst>
                <a:ext uri="{FF2B5EF4-FFF2-40B4-BE49-F238E27FC236}">
                  <a16:creationId xmlns:a16="http://schemas.microsoft.com/office/drawing/2014/main" id="{86F00C84-E568-4555-9787-488AABDA0C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92" y="264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4" name="Line 28">
              <a:extLst>
                <a:ext uri="{FF2B5EF4-FFF2-40B4-BE49-F238E27FC236}">
                  <a16:creationId xmlns:a16="http://schemas.microsoft.com/office/drawing/2014/main" id="{26C80568-7F74-46FB-903E-B2440B25A7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824" y="2256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5" name="Line 29">
              <a:extLst>
                <a:ext uri="{FF2B5EF4-FFF2-40B4-BE49-F238E27FC236}">
                  <a16:creationId xmlns:a16="http://schemas.microsoft.com/office/drawing/2014/main" id="{AE3887AE-C6AC-40D3-AF4B-B678092586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72" y="206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6" name="Line 30">
              <a:extLst>
                <a:ext uri="{FF2B5EF4-FFF2-40B4-BE49-F238E27FC236}">
                  <a16:creationId xmlns:a16="http://schemas.microsoft.com/office/drawing/2014/main" id="{4A0A2E0C-8DBE-48D8-96A0-FA3DE3464D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225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7" name="Line 31">
              <a:extLst>
                <a:ext uri="{FF2B5EF4-FFF2-40B4-BE49-F238E27FC236}">
                  <a16:creationId xmlns:a16="http://schemas.microsoft.com/office/drawing/2014/main" id="{24B3F23D-90C4-48E5-B604-E841C1B0E3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24" y="2736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8" name="Rectangle 32">
              <a:extLst>
                <a:ext uri="{FF2B5EF4-FFF2-40B4-BE49-F238E27FC236}">
                  <a16:creationId xmlns:a16="http://schemas.microsoft.com/office/drawing/2014/main" id="{2621E71C-80E0-45E9-87E6-60ECB743DD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28" y="1584"/>
              <a:ext cx="96" cy="96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69" name="Oval 33">
              <a:extLst>
                <a:ext uri="{FF2B5EF4-FFF2-40B4-BE49-F238E27FC236}">
                  <a16:creationId xmlns:a16="http://schemas.microsoft.com/office/drawing/2014/main" id="{1C14887D-0289-4DF0-9C45-7AAB77F4881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4" y="1200"/>
              <a:ext cx="288" cy="192"/>
            </a:xfrm>
            <a:prstGeom prst="ellips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1170" name="Group 34">
            <a:extLst>
              <a:ext uri="{FF2B5EF4-FFF2-40B4-BE49-F238E27FC236}">
                <a16:creationId xmlns:a16="http://schemas.microsoft.com/office/drawing/2014/main" id="{58C9FAB4-83C0-41E8-8C4D-4B95F7FD28D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70463" y="2062163"/>
            <a:ext cx="2833687" cy="3043237"/>
            <a:chOff x="3131" y="1008"/>
            <a:chExt cx="2101" cy="2256"/>
          </a:xfrm>
        </p:grpSpPr>
        <p:sp>
          <p:nvSpPr>
            <p:cNvPr id="91171" name="Line 35">
              <a:extLst>
                <a:ext uri="{FF2B5EF4-FFF2-40B4-BE49-F238E27FC236}">
                  <a16:creationId xmlns:a16="http://schemas.microsoft.com/office/drawing/2014/main" id="{6A659C08-0B97-475E-93FE-AF2B83656F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31" y="1110"/>
              <a:ext cx="0" cy="2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2" name="Line 36">
              <a:extLst>
                <a:ext uri="{FF2B5EF4-FFF2-40B4-BE49-F238E27FC236}">
                  <a16:creationId xmlns:a16="http://schemas.microsoft.com/office/drawing/2014/main" id="{75D4391F-41D1-4880-BE31-2599D7C35C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31" y="3264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3" name="AutoShape 37">
              <a:extLst>
                <a:ext uri="{FF2B5EF4-FFF2-40B4-BE49-F238E27FC236}">
                  <a16:creationId xmlns:a16="http://schemas.microsoft.com/office/drawing/2014/main" id="{9FC0F9A3-9ED9-47A1-A3EB-5C70264E10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11" y="1776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4" name="AutoShape 38">
              <a:extLst>
                <a:ext uri="{FF2B5EF4-FFF2-40B4-BE49-F238E27FC236}">
                  <a16:creationId xmlns:a16="http://schemas.microsoft.com/office/drawing/2014/main" id="{DC53FEA3-1CCE-48F3-8873-FC92F49951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63" y="2736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5" name="AutoShape 39">
              <a:extLst>
                <a:ext uri="{FF2B5EF4-FFF2-40B4-BE49-F238E27FC236}">
                  <a16:creationId xmlns:a16="http://schemas.microsoft.com/office/drawing/2014/main" id="{6B990CEC-7D65-42AC-BE6B-CB444294D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0" y="1917"/>
              <a:ext cx="101" cy="103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6" name="AutoShape 40">
              <a:extLst>
                <a:ext uri="{FF2B5EF4-FFF2-40B4-BE49-F238E27FC236}">
                  <a16:creationId xmlns:a16="http://schemas.microsoft.com/office/drawing/2014/main" id="{BC81D474-ADE1-44E6-B392-1C2422DDF8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3" y="1728"/>
              <a:ext cx="101" cy="101"/>
            </a:xfrm>
            <a:prstGeom prst="star4">
              <a:avLst>
                <a:gd name="adj" fmla="val 12500"/>
              </a:avLst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7" name="Oval 41">
              <a:extLst>
                <a:ext uri="{FF2B5EF4-FFF2-40B4-BE49-F238E27FC236}">
                  <a16:creationId xmlns:a16="http://schemas.microsoft.com/office/drawing/2014/main" id="{66F726D4-A771-46B0-BA58-E8B31C62160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8" y="2346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8" name="Oval 42">
              <a:extLst>
                <a:ext uri="{FF2B5EF4-FFF2-40B4-BE49-F238E27FC236}">
                  <a16:creationId xmlns:a16="http://schemas.microsoft.com/office/drawing/2014/main" id="{F0100A6D-2E1B-479C-9C29-42BAD844A6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3" y="2400"/>
              <a:ext cx="103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79" name="Oval 43">
              <a:extLst>
                <a:ext uri="{FF2B5EF4-FFF2-40B4-BE49-F238E27FC236}">
                  <a16:creationId xmlns:a16="http://schemas.microsoft.com/office/drawing/2014/main" id="{D8D8D7EF-2691-4238-B2FE-CB00FCC776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3" y="292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0" name="Oval 44">
              <a:extLst>
                <a:ext uri="{FF2B5EF4-FFF2-40B4-BE49-F238E27FC236}">
                  <a16:creationId xmlns:a16="http://schemas.microsoft.com/office/drawing/2014/main" id="{0FFF5E82-75D9-46B3-A4D2-EC3C41E165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83" y="1248"/>
              <a:ext cx="101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1" name="Oval 45">
              <a:extLst>
                <a:ext uri="{FF2B5EF4-FFF2-40B4-BE49-F238E27FC236}">
                  <a16:creationId xmlns:a16="http://schemas.microsoft.com/office/drawing/2014/main" id="{9AA50FBA-8357-4050-841F-59FD9BA9B9A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59" y="1152"/>
              <a:ext cx="102" cy="10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2" name="Line 46">
              <a:extLst>
                <a:ext uri="{FF2B5EF4-FFF2-40B4-BE49-F238E27FC236}">
                  <a16:creationId xmlns:a16="http://schemas.microsoft.com/office/drawing/2014/main" id="{C0D5BB85-73AB-4510-8DA2-D3763420C18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75" y="144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3" name="Line 47">
              <a:extLst>
                <a:ext uri="{FF2B5EF4-FFF2-40B4-BE49-F238E27FC236}">
                  <a16:creationId xmlns:a16="http://schemas.microsoft.com/office/drawing/2014/main" id="{0F15724B-92BC-4B32-9029-6E34367994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99" y="1008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4" name="Line 48">
              <a:extLst>
                <a:ext uri="{FF2B5EF4-FFF2-40B4-BE49-F238E27FC236}">
                  <a16:creationId xmlns:a16="http://schemas.microsoft.com/office/drawing/2014/main" id="{E5486984-4A62-481D-83D7-43318E0ECC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43" y="168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5" name="Line 49">
              <a:extLst>
                <a:ext uri="{FF2B5EF4-FFF2-40B4-BE49-F238E27FC236}">
                  <a16:creationId xmlns:a16="http://schemas.microsoft.com/office/drawing/2014/main" id="{3591F008-F3F3-449D-B9CE-C38B4305CF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803" y="1776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6" name="Line 50">
              <a:extLst>
                <a:ext uri="{FF2B5EF4-FFF2-40B4-BE49-F238E27FC236}">
                  <a16:creationId xmlns:a16="http://schemas.microsoft.com/office/drawing/2014/main" id="{2D45F3C5-E378-48E1-9C27-E269B030ED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27" y="2112"/>
              <a:ext cx="57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7" name="Line 51">
              <a:extLst>
                <a:ext uri="{FF2B5EF4-FFF2-40B4-BE49-F238E27FC236}">
                  <a16:creationId xmlns:a16="http://schemas.microsoft.com/office/drawing/2014/main" id="{27D037A7-C586-4813-8928-3983581748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3" y="211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8" name="Line 52">
              <a:extLst>
                <a:ext uri="{FF2B5EF4-FFF2-40B4-BE49-F238E27FC236}">
                  <a16:creationId xmlns:a16="http://schemas.microsoft.com/office/drawing/2014/main" id="{D63F5676-EAA6-453E-B5CC-9C39DFF358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95" y="23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89" name="Line 53">
              <a:extLst>
                <a:ext uri="{FF2B5EF4-FFF2-40B4-BE49-F238E27FC236}">
                  <a16:creationId xmlns:a16="http://schemas.microsoft.com/office/drawing/2014/main" id="{244AF001-8811-4F84-8841-0907DB3DC7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611" y="264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0" name="Line 54">
              <a:extLst>
                <a:ext uri="{FF2B5EF4-FFF2-40B4-BE49-F238E27FC236}">
                  <a16:creationId xmlns:a16="http://schemas.microsoft.com/office/drawing/2014/main" id="{94AB7313-E265-4875-BEB4-0B8F9B3DBF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99" y="1440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1" name="Line 55">
              <a:extLst>
                <a:ext uri="{FF2B5EF4-FFF2-40B4-BE49-F238E27FC236}">
                  <a16:creationId xmlns:a16="http://schemas.microsoft.com/office/drawing/2014/main" id="{E04C7837-4A73-4674-A44E-75AC4F8B301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475" y="129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2" name="Line 56">
              <a:extLst>
                <a:ext uri="{FF2B5EF4-FFF2-40B4-BE49-F238E27FC236}">
                  <a16:creationId xmlns:a16="http://schemas.microsoft.com/office/drawing/2014/main" id="{75ADA6B8-5CD7-4EDF-A0FE-785FB0B5F8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5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3" name="Line 57">
              <a:extLst>
                <a:ext uri="{FF2B5EF4-FFF2-40B4-BE49-F238E27FC236}">
                  <a16:creationId xmlns:a16="http://schemas.microsoft.com/office/drawing/2014/main" id="{C6797EF3-899A-4AF4-827E-4C87210D47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95" y="2064"/>
              <a:ext cx="48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4" name="Line 58">
              <a:extLst>
                <a:ext uri="{FF2B5EF4-FFF2-40B4-BE49-F238E27FC236}">
                  <a16:creationId xmlns:a16="http://schemas.microsoft.com/office/drawing/2014/main" id="{6A1EEC59-4A71-451A-8182-72F855D34F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995" y="2640"/>
              <a:ext cx="43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5" name="Line 59">
              <a:extLst>
                <a:ext uri="{FF2B5EF4-FFF2-40B4-BE49-F238E27FC236}">
                  <a16:creationId xmlns:a16="http://schemas.microsoft.com/office/drawing/2014/main" id="{6A366D28-AF9B-4512-9AA3-CD780996EC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27" y="2256"/>
              <a:ext cx="28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6" name="Line 60">
              <a:extLst>
                <a:ext uri="{FF2B5EF4-FFF2-40B4-BE49-F238E27FC236}">
                  <a16:creationId xmlns:a16="http://schemas.microsoft.com/office/drawing/2014/main" id="{B1531989-99E4-4C75-9763-B363FCA2B8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75" y="2064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7" name="Line 61">
              <a:extLst>
                <a:ext uri="{FF2B5EF4-FFF2-40B4-BE49-F238E27FC236}">
                  <a16:creationId xmlns:a16="http://schemas.microsoft.com/office/drawing/2014/main" id="{7F653757-77AA-4095-8CFB-D486CAA1AA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715" y="2256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8" name="Line 62">
              <a:extLst>
                <a:ext uri="{FF2B5EF4-FFF2-40B4-BE49-F238E27FC236}">
                  <a16:creationId xmlns:a16="http://schemas.microsoft.com/office/drawing/2014/main" id="{27D37E74-6084-4EE1-B9E3-63FDEFDAB5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27" y="2736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99" name="Rectangle 63">
              <a:extLst>
                <a:ext uri="{FF2B5EF4-FFF2-40B4-BE49-F238E27FC236}">
                  <a16:creationId xmlns:a16="http://schemas.microsoft.com/office/drawing/2014/main" id="{73DAF044-AF53-4040-9861-66D739E606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31" y="1584"/>
              <a:ext cx="96" cy="96"/>
            </a:xfrm>
            <a:prstGeom prst="rect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200" name="Oval 64">
              <a:extLst>
                <a:ext uri="{FF2B5EF4-FFF2-40B4-BE49-F238E27FC236}">
                  <a16:creationId xmlns:a16="http://schemas.microsoft.com/office/drawing/2014/main" id="{FE9EFD93-BCAF-461A-9657-3AD6EB2400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99" y="1152"/>
              <a:ext cx="1152" cy="960"/>
            </a:xfrm>
            <a:prstGeom prst="ellips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4E6A9165-3FC9-424C-837A-7551DF81F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Logical Theories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CB85281C-F9D5-4DA8-A034-A91506112F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Logical Formulation of Supervised Learning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attribute </a:t>
            </a:r>
            <a:r>
              <a:rPr lang="en-US" altLang="en-US" sz="2400">
                <a:cs typeface="Arial" panose="020B0604020202020204" pitchFamily="34" charset="0"/>
              </a:rPr>
              <a:t>→</a:t>
            </a:r>
            <a:r>
              <a:rPr lang="en-US" altLang="en-US" sz="2400"/>
              <a:t> unary predicate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instance </a:t>
            </a:r>
            <a:r>
              <a:rPr lang="en-US" altLang="en-US" sz="2400" i="1"/>
              <a:t>x</a:t>
            </a:r>
            <a:r>
              <a:rPr lang="en-US" altLang="en-US" sz="2400"/>
              <a:t> </a:t>
            </a:r>
            <a:r>
              <a:rPr lang="en-US" altLang="en-US" sz="2400">
                <a:cs typeface="Arial" panose="020B0604020202020204" pitchFamily="34" charset="0"/>
              </a:rPr>
              <a:t>→</a:t>
            </a:r>
            <a:r>
              <a:rPr lang="en-US" altLang="en-US" sz="2400"/>
              <a:t> logical sentence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positive/negative classifications </a:t>
            </a:r>
            <a:r>
              <a:rPr lang="en-US" altLang="en-US" sz="2400">
                <a:cs typeface="Arial" panose="020B0604020202020204" pitchFamily="34" charset="0"/>
              </a:rPr>
              <a:t>→ sentences</a:t>
            </a:r>
            <a:r>
              <a:rPr lang="en-US" altLang="en-US" sz="2400"/>
              <a:t> </a:t>
            </a:r>
            <a:r>
              <a:rPr lang="en-US" altLang="en-US" sz="2400" i="1"/>
              <a:t>Q</a:t>
            </a:r>
            <a:r>
              <a:rPr lang="en-US" altLang="en-US" sz="2400"/>
              <a:t>(</a:t>
            </a:r>
            <a:r>
              <a:rPr lang="en-US" altLang="en-US" sz="2400" i="1"/>
              <a:t>x</a:t>
            </a:r>
            <a:r>
              <a:rPr lang="en-US" altLang="en-US" sz="2400" i="1" baseline="-25000"/>
              <a:t>i</a:t>
            </a:r>
            <a:r>
              <a:rPr lang="en-US" altLang="en-US" sz="2400"/>
              <a:t>),</a:t>
            </a:r>
            <a:r>
              <a:rPr lang="en-US" altLang="en-US" sz="2400">
                <a:sym typeface="Symbol" panose="05050102010706020507" pitchFamily="18" charset="2"/>
              </a:rPr>
              <a:t></a:t>
            </a:r>
            <a:r>
              <a:rPr lang="en-US" altLang="en-US" sz="2400" i="1">
                <a:sym typeface="Symbol" panose="05050102010706020507" pitchFamily="18" charset="2"/>
              </a:rPr>
              <a:t>Q</a:t>
            </a:r>
            <a:r>
              <a:rPr lang="en-US" altLang="en-US" sz="2400">
                <a:sym typeface="Symbol" panose="05050102010706020507" pitchFamily="18" charset="2"/>
              </a:rPr>
              <a:t>(</a:t>
            </a:r>
            <a:r>
              <a:rPr lang="en-US" altLang="en-US" sz="2400" i="1">
                <a:sym typeface="Symbol" panose="05050102010706020507" pitchFamily="18" charset="2"/>
              </a:rPr>
              <a:t>x</a:t>
            </a:r>
            <a:r>
              <a:rPr lang="en-US" altLang="en-US" sz="2400" i="1" baseline="-25000">
                <a:sym typeface="Symbol" panose="05050102010706020507" pitchFamily="18" charset="2"/>
              </a:rPr>
              <a:t>i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ym typeface="Symbol" panose="05050102010706020507" pitchFamily="18" charset="2"/>
              </a:rPr>
              <a:t>training set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en-US" sz="2400">
                <a:sym typeface="Symbol" panose="05050102010706020507" pitchFamily="18" charset="2"/>
              </a:rPr>
              <a:t> conjunction of all description and classification sentences</a:t>
            </a:r>
          </a:p>
          <a:p>
            <a:pPr>
              <a:lnSpc>
                <a:spcPct val="90000"/>
              </a:lnSpc>
            </a:pPr>
            <a:endParaRPr lang="en-US" altLang="en-US" sz="240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Learning Task</a:t>
            </a:r>
            <a:r>
              <a:rPr lang="en-US" altLang="en-US" sz="2400">
                <a:sym typeface="Symbol" panose="05050102010706020507" pitchFamily="18" charset="2"/>
              </a:rPr>
              <a:t>: Find an </a:t>
            </a:r>
            <a:r>
              <a:rPr lang="en-US" altLang="en-US" sz="2400" i="1">
                <a:sym typeface="Symbol" panose="05050102010706020507" pitchFamily="18" charset="2"/>
              </a:rPr>
              <a:t>equivalent logical expression</a:t>
            </a:r>
            <a:r>
              <a:rPr lang="en-US" altLang="en-US" sz="2400">
                <a:sym typeface="Symbol" panose="05050102010706020507" pitchFamily="18" charset="2"/>
              </a:rPr>
              <a:t> for the goal predicate </a:t>
            </a:r>
            <a:r>
              <a:rPr lang="en-US" altLang="en-US" sz="2400" i="1">
                <a:sym typeface="Symbol" panose="05050102010706020507" pitchFamily="18" charset="2"/>
              </a:rPr>
              <a:t>Q</a:t>
            </a:r>
            <a:r>
              <a:rPr lang="en-US" altLang="en-US" sz="2400">
                <a:sym typeface="Symbol" panose="05050102010706020507" pitchFamily="18" charset="2"/>
              </a:rPr>
              <a:t> to classify examples correctly.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>
              <a:sym typeface="Symbol" panose="05050102010706020507" pitchFamily="18" charset="2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i="1">
                <a:sym typeface="Symbol" panose="05050102010706020507" pitchFamily="18" charset="2"/>
              </a:rPr>
              <a:t>Hypothesis </a:t>
            </a:r>
            <a:r>
              <a:rPr lang="en-US" altLang="en-US" sz="2400">
                <a:sym typeface="Symbol" panose="05050102010706020507" pitchFamily="18" charset="2"/>
              </a:rPr>
              <a:t></a:t>
            </a:r>
            <a:r>
              <a:rPr lang="en-US" altLang="en-US" sz="2400" i="1">
                <a:sym typeface="Symbol" panose="05050102010706020507" pitchFamily="18" charset="2"/>
              </a:rPr>
              <a:t> Descriptions 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╞═</a:t>
            </a:r>
            <a:r>
              <a:rPr lang="en-US" altLang="en-US" sz="2400" i="1">
                <a:sym typeface="Symbol" panose="05050102010706020507" pitchFamily="18" charset="2"/>
              </a:rPr>
              <a:t> Classifications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7F1CA8D6-7CCD-4976-94F0-7369857CB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257800"/>
            <a:ext cx="6400800" cy="7620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12024FA-4F57-4A16-974A-31130C83F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Logic Theories: Example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823C795-0211-49E8-B140-8D6CE9162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Input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Father(Philip,Charles), Father(Philip,Anne), …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Mother(Mum,Margaret), Mother(Mum,Elizabeth), …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Married(Diana,Charles), Married(Elizabeth,Philip), …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Male(Philip),Female(Anne),…</a:t>
            </a:r>
          </a:p>
          <a:p>
            <a:pPr>
              <a:lnSpc>
                <a:spcPct val="90000"/>
              </a:lnSpc>
            </a:pPr>
            <a:r>
              <a:rPr lang="en-US" altLang="en-US" sz="2000" i="1"/>
              <a:t>Grandparent(Mum,Charles),Grandparent(Elizabeth,Beatrice), </a:t>
            </a:r>
            <a:r>
              <a:rPr lang="en-US" altLang="en-US" sz="2000" i="1">
                <a:sym typeface="Symbol" panose="05050102010706020507" pitchFamily="18" charset="2"/>
              </a:rPr>
              <a:t>Grandparent(Mum,Harry),Grandparent(Spencer,Pete),…</a:t>
            </a:r>
          </a:p>
          <a:p>
            <a:pPr lvl="1">
              <a:lnSpc>
                <a:spcPct val="90000"/>
              </a:lnSpc>
            </a:pPr>
            <a:endParaRPr lang="en-US" altLang="en-US" sz="1800" i="1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Output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Grandparent(x,y) </a:t>
            </a:r>
            <a:r>
              <a:rPr lang="en-US" altLang="en-US" sz="2000">
                <a:sym typeface="Symbol" panose="05050102010706020507" pitchFamily="18" charset="2"/>
              </a:rPr>
              <a:t>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   [z Mother(x,z)  Mother(z,y)]  [z Mother(x,z)  Father(z,y)] 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   [z Father(x,z)  Mother(z,y)]  [z Father(x,z)  Father(z,y)]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071402E5-8D0F-4BE7-9C03-1009D416B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Logic Theories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170461D-D06A-4AFF-8B9A-5D9F2073B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Key Concepts</a:t>
            </a:r>
          </a:p>
          <a:p>
            <a:pPr>
              <a:lnSpc>
                <a:spcPct val="80000"/>
              </a:lnSpc>
            </a:pPr>
            <a:r>
              <a:rPr lang="en-US" altLang="en-US" sz="2400" i="1"/>
              <a:t>specialization</a:t>
            </a: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000"/>
              <a:t>triggered by false positives (</a:t>
            </a:r>
            <a:r>
              <a:rPr lang="en-US" altLang="en-US" sz="2000" i="1"/>
              <a:t>goal: exclude negative examples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achieved by adding conditions, dropping disjuncts</a:t>
            </a:r>
          </a:p>
          <a:p>
            <a:pPr>
              <a:lnSpc>
                <a:spcPct val="80000"/>
              </a:lnSpc>
            </a:pPr>
            <a:r>
              <a:rPr lang="en-US" altLang="en-US" sz="2400" i="1"/>
              <a:t>generalization</a:t>
            </a: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000"/>
              <a:t>triggered by false negatives (</a:t>
            </a:r>
            <a:r>
              <a:rPr lang="en-US" altLang="en-US" sz="2000" i="1"/>
              <a:t>goal: include positive examples</a:t>
            </a:r>
            <a:r>
              <a:rPr lang="en-US" altLang="en-US" sz="2000"/>
              <a:t>)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achieved by dropping conditions, adding disjuncts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i="1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Learning</a:t>
            </a:r>
          </a:p>
          <a:p>
            <a:pPr>
              <a:lnSpc>
                <a:spcPct val="80000"/>
              </a:lnSpc>
            </a:pPr>
            <a:r>
              <a:rPr lang="en-US" altLang="en-US" sz="2400" i="1"/>
              <a:t>current-best-hypothesis</a:t>
            </a:r>
            <a:r>
              <a:rPr lang="en-US" altLang="en-US" sz="2400"/>
              <a:t>: incrementally improve single hypothesis (e.g., </a:t>
            </a:r>
            <a:r>
              <a:rPr lang="en-US" altLang="en-US" sz="2400" i="1"/>
              <a:t>sequential covering</a:t>
            </a:r>
            <a:r>
              <a:rPr lang="en-US" altLang="en-US" sz="2400"/>
              <a:t>) </a:t>
            </a:r>
            <a:endParaRPr lang="en-US" altLang="en-US" sz="2400" i="1"/>
          </a:p>
          <a:p>
            <a:pPr>
              <a:lnSpc>
                <a:spcPct val="80000"/>
              </a:lnSpc>
            </a:pPr>
            <a:r>
              <a:rPr lang="en-US" altLang="en-US" sz="2400" i="1"/>
              <a:t>least-commitment search</a:t>
            </a:r>
            <a:r>
              <a:rPr lang="en-US" altLang="en-US" sz="2400"/>
              <a:t>: maintain </a:t>
            </a:r>
            <a:r>
              <a:rPr lang="en-US" altLang="en-US" sz="2400" i="1"/>
              <a:t>all</a:t>
            </a:r>
            <a:r>
              <a:rPr lang="en-US" altLang="en-US" sz="2400"/>
              <a:t> hypotheses consistent with examples seen so far (e.g., </a:t>
            </a:r>
            <a:r>
              <a:rPr lang="en-US" altLang="en-US" sz="2400" i="1"/>
              <a:t>version space</a:t>
            </a:r>
            <a:r>
              <a:rPr lang="en-US" altLang="en-US" sz="2400"/>
              <a:t>)</a:t>
            </a:r>
            <a:endParaRPr lang="en-US" altLang="en-US" sz="2400" i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512FEDF0-2208-401A-8C24-090B5C2DB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Learning Logic Theories: Decision Boundary</a:t>
            </a:r>
          </a:p>
        </p:txBody>
      </p:sp>
      <p:sp>
        <p:nvSpPr>
          <p:cNvPr id="95235" name="Line 3">
            <a:extLst>
              <a:ext uri="{FF2B5EF4-FFF2-40B4-BE49-F238E27FC236}">
                <a16:creationId xmlns:a16="http://schemas.microsoft.com/office/drawing/2014/main" id="{E58F4A6B-A10B-42B1-9ECA-D5D517C265A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1798638"/>
            <a:ext cx="0" cy="315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Line 4">
            <a:extLst>
              <a:ext uri="{FF2B5EF4-FFF2-40B4-BE49-F238E27FC236}">
                <a16:creationId xmlns:a16="http://schemas.microsoft.com/office/drawing/2014/main" id="{BDF127FF-A812-4B9D-AD00-85C2FF27341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4953000"/>
            <a:ext cx="315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7" name="AutoShape 5">
            <a:extLst>
              <a:ext uri="{FF2B5EF4-FFF2-40B4-BE49-F238E27FC236}">
                <a16:creationId xmlns:a16="http://schemas.microsoft.com/office/drawing/2014/main" id="{24925065-F8D0-4AEB-BF95-B31AD21B0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463" y="2378075"/>
            <a:ext cx="130175" cy="128588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8" name="AutoShape 6">
            <a:extLst>
              <a:ext uri="{FF2B5EF4-FFF2-40B4-BE49-F238E27FC236}">
                <a16:creationId xmlns:a16="http://schemas.microsoft.com/office/drawing/2014/main" id="{F718EAD5-E055-4B4E-9D11-CA76A8B60C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636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9" name="AutoShape 7">
            <a:extLst>
              <a:ext uri="{FF2B5EF4-FFF2-40B4-BE49-F238E27FC236}">
                <a16:creationId xmlns:a16="http://schemas.microsoft.com/office/drawing/2014/main" id="{91729A25-E3E9-4A5D-B03D-4A082E6876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322638"/>
            <a:ext cx="130175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0" name="AutoShape 8">
            <a:extLst>
              <a:ext uri="{FF2B5EF4-FFF2-40B4-BE49-F238E27FC236}">
                <a16:creationId xmlns:a16="http://schemas.microsoft.com/office/drawing/2014/main" id="{A855A03D-ABEE-4855-99AE-3B5DEA5928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779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1" name="AutoShape 9">
            <a:extLst>
              <a:ext uri="{FF2B5EF4-FFF2-40B4-BE49-F238E27FC236}">
                <a16:creationId xmlns:a16="http://schemas.microsoft.com/office/drawing/2014/main" id="{EAEA989F-15A0-4FC8-A775-E7E65CB45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941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2" name="AutoShape 10">
            <a:extLst>
              <a:ext uri="{FF2B5EF4-FFF2-40B4-BE49-F238E27FC236}">
                <a16:creationId xmlns:a16="http://schemas.microsoft.com/office/drawing/2014/main" id="{C55D36D8-5A43-4B94-B0F2-B835CB6CE7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40846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3" name="AutoShape 11">
            <a:extLst>
              <a:ext uri="{FF2B5EF4-FFF2-40B4-BE49-F238E27FC236}">
                <a16:creationId xmlns:a16="http://schemas.microsoft.com/office/drawing/2014/main" id="{493D5DED-6231-47E7-B376-CE1D7DB0A8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3398838"/>
            <a:ext cx="128588" cy="127000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4" name="AutoShape 12">
            <a:extLst>
              <a:ext uri="{FF2B5EF4-FFF2-40B4-BE49-F238E27FC236}">
                <a16:creationId xmlns:a16="http://schemas.microsoft.com/office/drawing/2014/main" id="{DBB4E016-4D11-4331-B3E5-328A5253FE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3017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5" name="AutoShape 13">
            <a:extLst>
              <a:ext uri="{FF2B5EF4-FFF2-40B4-BE49-F238E27FC236}">
                <a16:creationId xmlns:a16="http://schemas.microsoft.com/office/drawing/2014/main" id="{B08E0D02-C054-4EB5-86BF-B6DB1F657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560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6" name="Oval 14">
            <a:extLst>
              <a:ext uri="{FF2B5EF4-FFF2-40B4-BE49-F238E27FC236}">
                <a16:creationId xmlns:a16="http://schemas.microsoft.com/office/drawing/2014/main" id="{45C8477E-C3C7-4731-B3E1-A9F875E2FE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0088" y="3794125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7" name="Oval 15">
            <a:extLst>
              <a:ext uri="{FF2B5EF4-FFF2-40B4-BE49-F238E27FC236}">
                <a16:creationId xmlns:a16="http://schemas.microsoft.com/office/drawing/2014/main" id="{DF544D5F-9ED1-491C-8D22-DC20BDF83A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46438"/>
            <a:ext cx="130175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8" name="Oval 16">
            <a:extLst>
              <a:ext uri="{FF2B5EF4-FFF2-40B4-BE49-F238E27FC236}">
                <a16:creationId xmlns:a16="http://schemas.microsoft.com/office/drawing/2014/main" id="{4AC73C69-75F1-468D-BDAA-A9F9DA8B42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24844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9" name="Oval 17">
            <a:extLst>
              <a:ext uri="{FF2B5EF4-FFF2-40B4-BE49-F238E27FC236}">
                <a16:creationId xmlns:a16="http://schemas.microsoft.com/office/drawing/2014/main" id="{8467DC73-03E9-454C-8C6D-3F13C58942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313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0" name="Oval 18">
            <a:extLst>
              <a:ext uri="{FF2B5EF4-FFF2-40B4-BE49-F238E27FC236}">
                <a16:creationId xmlns:a16="http://schemas.microsoft.com/office/drawing/2014/main" id="{EFBB7A60-AEF4-42D8-A39A-A1A5BA5D60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21796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1" name="Oval 19">
            <a:extLst>
              <a:ext uri="{FF2B5EF4-FFF2-40B4-BE49-F238E27FC236}">
                <a16:creationId xmlns:a16="http://schemas.microsoft.com/office/drawing/2014/main" id="{E70312F4-3BCF-446D-985E-EC422E0AB9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940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2" name="Oval 20">
            <a:extLst>
              <a:ext uri="{FF2B5EF4-FFF2-40B4-BE49-F238E27FC236}">
                <a16:creationId xmlns:a16="http://schemas.microsoft.com/office/drawing/2014/main" id="{C0FEBBB1-6AC9-42ED-B3C5-411EEBD88E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1798638"/>
            <a:ext cx="128588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3" name="Oval 21">
            <a:extLst>
              <a:ext uri="{FF2B5EF4-FFF2-40B4-BE49-F238E27FC236}">
                <a16:creationId xmlns:a16="http://schemas.microsoft.com/office/drawing/2014/main" id="{D8F03FA2-307B-45B7-98B4-D434CD3CB1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32425" y="26368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4" name="Rectangle 22">
            <a:extLst>
              <a:ext uri="{FF2B5EF4-FFF2-40B4-BE49-F238E27FC236}">
                <a16:creationId xmlns:a16="http://schemas.microsoft.com/office/drawing/2014/main" id="{8B754ACF-28B4-4355-A259-354B09A58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86000"/>
            <a:ext cx="1295400" cy="2133600"/>
          </a:xfrm>
          <a:prstGeom prst="rect">
            <a:avLst/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5" name="Oval 23">
            <a:extLst>
              <a:ext uri="{FF2B5EF4-FFF2-40B4-BE49-F238E27FC236}">
                <a16:creationId xmlns:a16="http://schemas.microsoft.com/office/drawing/2014/main" id="{A9FCC8FA-A2D7-491D-9622-2D73207DC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6" name="Oval 24">
            <a:extLst>
              <a:ext uri="{FF2B5EF4-FFF2-40B4-BE49-F238E27FC236}">
                <a16:creationId xmlns:a16="http://schemas.microsoft.com/office/drawing/2014/main" id="{69849927-16EE-4FAE-A0B4-8D8CA434C6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E8BA0B64-9FAA-4F1B-9B20-E354E76FD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Learning Logic Theories: Decision Boundary</a:t>
            </a:r>
          </a:p>
        </p:txBody>
      </p:sp>
      <p:sp>
        <p:nvSpPr>
          <p:cNvPr id="96259" name="Line 3">
            <a:extLst>
              <a:ext uri="{FF2B5EF4-FFF2-40B4-BE49-F238E27FC236}">
                <a16:creationId xmlns:a16="http://schemas.microsoft.com/office/drawing/2014/main" id="{0B1CEC62-81A4-4F9A-A247-3B757D7FF81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1798638"/>
            <a:ext cx="0" cy="315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0" name="Line 4">
            <a:extLst>
              <a:ext uri="{FF2B5EF4-FFF2-40B4-BE49-F238E27FC236}">
                <a16:creationId xmlns:a16="http://schemas.microsoft.com/office/drawing/2014/main" id="{4C0C340A-6FEA-40EC-8986-FF0C0BDC6E2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4953000"/>
            <a:ext cx="315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1" name="AutoShape 5">
            <a:extLst>
              <a:ext uri="{FF2B5EF4-FFF2-40B4-BE49-F238E27FC236}">
                <a16:creationId xmlns:a16="http://schemas.microsoft.com/office/drawing/2014/main" id="{B11EAB53-3569-4BD3-A8F9-211BB6029D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463" y="2378075"/>
            <a:ext cx="130175" cy="128588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2" name="AutoShape 6">
            <a:extLst>
              <a:ext uri="{FF2B5EF4-FFF2-40B4-BE49-F238E27FC236}">
                <a16:creationId xmlns:a16="http://schemas.microsoft.com/office/drawing/2014/main" id="{FDB6EB38-F45A-4F55-8C9D-77B1916370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636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3" name="AutoShape 7">
            <a:extLst>
              <a:ext uri="{FF2B5EF4-FFF2-40B4-BE49-F238E27FC236}">
                <a16:creationId xmlns:a16="http://schemas.microsoft.com/office/drawing/2014/main" id="{FB98B981-6B24-4414-B397-C948F90D11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322638"/>
            <a:ext cx="130175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4" name="AutoShape 8">
            <a:extLst>
              <a:ext uri="{FF2B5EF4-FFF2-40B4-BE49-F238E27FC236}">
                <a16:creationId xmlns:a16="http://schemas.microsoft.com/office/drawing/2014/main" id="{ABC13641-0716-42F3-81F6-108E8179D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779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5" name="AutoShape 9">
            <a:extLst>
              <a:ext uri="{FF2B5EF4-FFF2-40B4-BE49-F238E27FC236}">
                <a16:creationId xmlns:a16="http://schemas.microsoft.com/office/drawing/2014/main" id="{C96E226E-D3BB-4816-819B-03D3B3153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941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6" name="AutoShape 10">
            <a:extLst>
              <a:ext uri="{FF2B5EF4-FFF2-40B4-BE49-F238E27FC236}">
                <a16:creationId xmlns:a16="http://schemas.microsoft.com/office/drawing/2014/main" id="{D1A08A3A-E567-4499-8DAC-CFE88FB1D7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40846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7" name="AutoShape 11">
            <a:extLst>
              <a:ext uri="{FF2B5EF4-FFF2-40B4-BE49-F238E27FC236}">
                <a16:creationId xmlns:a16="http://schemas.microsoft.com/office/drawing/2014/main" id="{71FE5AEE-4A3E-457C-972C-49BFFC3918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3398838"/>
            <a:ext cx="128588" cy="127000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8" name="AutoShape 12">
            <a:extLst>
              <a:ext uri="{FF2B5EF4-FFF2-40B4-BE49-F238E27FC236}">
                <a16:creationId xmlns:a16="http://schemas.microsoft.com/office/drawing/2014/main" id="{9649D517-D661-4C6D-A438-0EF066BEEE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3017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9" name="AutoShape 13">
            <a:extLst>
              <a:ext uri="{FF2B5EF4-FFF2-40B4-BE49-F238E27FC236}">
                <a16:creationId xmlns:a16="http://schemas.microsoft.com/office/drawing/2014/main" id="{CD68A353-0113-4A83-BED9-02BD036123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560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0" name="Oval 14">
            <a:extLst>
              <a:ext uri="{FF2B5EF4-FFF2-40B4-BE49-F238E27FC236}">
                <a16:creationId xmlns:a16="http://schemas.microsoft.com/office/drawing/2014/main" id="{3791F541-1052-4E9D-A967-2C2F9A5C84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0088" y="3794125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1" name="Oval 15">
            <a:extLst>
              <a:ext uri="{FF2B5EF4-FFF2-40B4-BE49-F238E27FC236}">
                <a16:creationId xmlns:a16="http://schemas.microsoft.com/office/drawing/2014/main" id="{F5F11C28-6051-4866-A170-7743F02EF0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46438"/>
            <a:ext cx="130175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2" name="Oval 16">
            <a:extLst>
              <a:ext uri="{FF2B5EF4-FFF2-40B4-BE49-F238E27FC236}">
                <a16:creationId xmlns:a16="http://schemas.microsoft.com/office/drawing/2014/main" id="{C20FF076-D7A0-4CBB-BE7D-62BC461C13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24844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3" name="Oval 17">
            <a:extLst>
              <a:ext uri="{FF2B5EF4-FFF2-40B4-BE49-F238E27FC236}">
                <a16:creationId xmlns:a16="http://schemas.microsoft.com/office/drawing/2014/main" id="{98C75940-8FC1-461E-8CF3-A32171F69B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313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4" name="Oval 18">
            <a:extLst>
              <a:ext uri="{FF2B5EF4-FFF2-40B4-BE49-F238E27FC236}">
                <a16:creationId xmlns:a16="http://schemas.microsoft.com/office/drawing/2014/main" id="{D1E6C74F-CB27-47F5-9F64-314973085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21796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5" name="Oval 19">
            <a:extLst>
              <a:ext uri="{FF2B5EF4-FFF2-40B4-BE49-F238E27FC236}">
                <a16:creationId xmlns:a16="http://schemas.microsoft.com/office/drawing/2014/main" id="{340A5118-F360-4B30-88CB-2AEFD5532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940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6" name="Oval 20">
            <a:extLst>
              <a:ext uri="{FF2B5EF4-FFF2-40B4-BE49-F238E27FC236}">
                <a16:creationId xmlns:a16="http://schemas.microsoft.com/office/drawing/2014/main" id="{EA89C90A-E073-4458-9135-A4F2A0703C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1798638"/>
            <a:ext cx="128588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7" name="Oval 21">
            <a:extLst>
              <a:ext uri="{FF2B5EF4-FFF2-40B4-BE49-F238E27FC236}">
                <a16:creationId xmlns:a16="http://schemas.microsoft.com/office/drawing/2014/main" id="{1BA7BE82-D71E-4162-921B-C174F4FD85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32425" y="26368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8" name="Rectangle 22">
            <a:extLst>
              <a:ext uri="{FF2B5EF4-FFF2-40B4-BE49-F238E27FC236}">
                <a16:creationId xmlns:a16="http://schemas.microsoft.com/office/drawing/2014/main" id="{B352B97E-3AFC-406B-983E-B5CEC6D50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86000"/>
            <a:ext cx="1295400" cy="2133600"/>
          </a:xfrm>
          <a:prstGeom prst="rect">
            <a:avLst/>
          </a:prstGeom>
          <a:noFill/>
          <a:ln w="38100" algn="ctr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9" name="Oval 23">
            <a:extLst>
              <a:ext uri="{FF2B5EF4-FFF2-40B4-BE49-F238E27FC236}">
                <a16:creationId xmlns:a16="http://schemas.microsoft.com/office/drawing/2014/main" id="{B3C21196-32D5-4C55-AE0C-0D78DEA0B6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0" name="Oval 24">
            <a:extLst>
              <a:ext uri="{FF2B5EF4-FFF2-40B4-BE49-F238E27FC236}">
                <a16:creationId xmlns:a16="http://schemas.microsoft.com/office/drawing/2014/main" id="{DD91119D-78BA-4445-8065-937632F08A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1" name="AutoShape 25">
            <a:extLst>
              <a:ext uri="{FF2B5EF4-FFF2-40B4-BE49-F238E27FC236}">
                <a16:creationId xmlns:a16="http://schemas.microsoft.com/office/drawing/2014/main" id="{ADFBC930-25C9-4526-9EB5-0B6B5AB48A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779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79376228-5E37-4FF7-9C43-6BCF7EE462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Learning Logic Theories: Decision Boundary</a:t>
            </a:r>
          </a:p>
        </p:txBody>
      </p:sp>
      <p:sp>
        <p:nvSpPr>
          <p:cNvPr id="97283" name="Line 3">
            <a:extLst>
              <a:ext uri="{FF2B5EF4-FFF2-40B4-BE49-F238E27FC236}">
                <a16:creationId xmlns:a16="http://schemas.microsoft.com/office/drawing/2014/main" id="{9CB1C09F-EF47-43C2-A457-52E6E439E11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1798638"/>
            <a:ext cx="0" cy="315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4" name="Line 4">
            <a:extLst>
              <a:ext uri="{FF2B5EF4-FFF2-40B4-BE49-F238E27FC236}">
                <a16:creationId xmlns:a16="http://schemas.microsoft.com/office/drawing/2014/main" id="{E1A7126E-7D45-457B-B07D-C0D7112BFD3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4953000"/>
            <a:ext cx="315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5" name="AutoShape 5">
            <a:extLst>
              <a:ext uri="{FF2B5EF4-FFF2-40B4-BE49-F238E27FC236}">
                <a16:creationId xmlns:a16="http://schemas.microsoft.com/office/drawing/2014/main" id="{2D7444EA-6B33-40E1-BD9D-13E619069D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779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6" name="AutoShape 6">
            <a:extLst>
              <a:ext uri="{FF2B5EF4-FFF2-40B4-BE49-F238E27FC236}">
                <a16:creationId xmlns:a16="http://schemas.microsoft.com/office/drawing/2014/main" id="{27E2830A-CC26-4B6A-96C0-7FB057FC3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463" y="2378075"/>
            <a:ext cx="130175" cy="128588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7" name="AutoShape 7">
            <a:extLst>
              <a:ext uri="{FF2B5EF4-FFF2-40B4-BE49-F238E27FC236}">
                <a16:creationId xmlns:a16="http://schemas.microsoft.com/office/drawing/2014/main" id="{D1BA5AB4-ED06-4FCA-814B-1F150473A0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636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8" name="AutoShape 8">
            <a:extLst>
              <a:ext uri="{FF2B5EF4-FFF2-40B4-BE49-F238E27FC236}">
                <a16:creationId xmlns:a16="http://schemas.microsoft.com/office/drawing/2014/main" id="{53DCED8E-DCCF-4369-8A63-CAB9155356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322638"/>
            <a:ext cx="130175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AutoShape 9">
            <a:extLst>
              <a:ext uri="{FF2B5EF4-FFF2-40B4-BE49-F238E27FC236}">
                <a16:creationId xmlns:a16="http://schemas.microsoft.com/office/drawing/2014/main" id="{B134FF6A-8ECE-4DD9-AFF9-9FEB939863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779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0" name="AutoShape 10">
            <a:extLst>
              <a:ext uri="{FF2B5EF4-FFF2-40B4-BE49-F238E27FC236}">
                <a16:creationId xmlns:a16="http://schemas.microsoft.com/office/drawing/2014/main" id="{A3358986-4F52-4ED8-97A2-77EF81B0A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941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1" name="AutoShape 11">
            <a:extLst>
              <a:ext uri="{FF2B5EF4-FFF2-40B4-BE49-F238E27FC236}">
                <a16:creationId xmlns:a16="http://schemas.microsoft.com/office/drawing/2014/main" id="{47B16CBF-F7ED-4E7E-A6CE-04D31E5D49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40846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2" name="AutoShape 12">
            <a:extLst>
              <a:ext uri="{FF2B5EF4-FFF2-40B4-BE49-F238E27FC236}">
                <a16:creationId xmlns:a16="http://schemas.microsoft.com/office/drawing/2014/main" id="{7EBC3E10-9098-4AD2-ADF2-12FD74C2EF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3398838"/>
            <a:ext cx="128588" cy="127000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AutoShape 13">
            <a:extLst>
              <a:ext uri="{FF2B5EF4-FFF2-40B4-BE49-F238E27FC236}">
                <a16:creationId xmlns:a16="http://schemas.microsoft.com/office/drawing/2014/main" id="{3D9F20F8-E56B-465B-B753-DC1329827E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3017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4" name="AutoShape 14">
            <a:extLst>
              <a:ext uri="{FF2B5EF4-FFF2-40B4-BE49-F238E27FC236}">
                <a16:creationId xmlns:a16="http://schemas.microsoft.com/office/drawing/2014/main" id="{FA99D2B3-3D22-47D5-8A8D-57E17994ED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560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5" name="Oval 15">
            <a:extLst>
              <a:ext uri="{FF2B5EF4-FFF2-40B4-BE49-F238E27FC236}">
                <a16:creationId xmlns:a16="http://schemas.microsoft.com/office/drawing/2014/main" id="{65A4D0D8-8693-44E9-B772-B26C366BA7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0088" y="3794125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Oval 16">
            <a:extLst>
              <a:ext uri="{FF2B5EF4-FFF2-40B4-BE49-F238E27FC236}">
                <a16:creationId xmlns:a16="http://schemas.microsoft.com/office/drawing/2014/main" id="{80CED15B-6306-45C7-A8FD-0F719A62BA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46438"/>
            <a:ext cx="130175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Oval 17">
            <a:extLst>
              <a:ext uri="{FF2B5EF4-FFF2-40B4-BE49-F238E27FC236}">
                <a16:creationId xmlns:a16="http://schemas.microsoft.com/office/drawing/2014/main" id="{F00011BC-0307-4650-8F13-6D0C6135BF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24844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Oval 18">
            <a:extLst>
              <a:ext uri="{FF2B5EF4-FFF2-40B4-BE49-F238E27FC236}">
                <a16:creationId xmlns:a16="http://schemas.microsoft.com/office/drawing/2014/main" id="{34AEF7AC-CB46-4070-893A-643AA02EA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313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9" name="Oval 19">
            <a:extLst>
              <a:ext uri="{FF2B5EF4-FFF2-40B4-BE49-F238E27FC236}">
                <a16:creationId xmlns:a16="http://schemas.microsoft.com/office/drawing/2014/main" id="{8695C89C-216E-4373-BEA2-395016D92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21796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0" name="Oval 20">
            <a:extLst>
              <a:ext uri="{FF2B5EF4-FFF2-40B4-BE49-F238E27FC236}">
                <a16:creationId xmlns:a16="http://schemas.microsoft.com/office/drawing/2014/main" id="{3E46EA9B-448D-4DD6-B758-2DD09FBB50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940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1" name="Oval 21">
            <a:extLst>
              <a:ext uri="{FF2B5EF4-FFF2-40B4-BE49-F238E27FC236}">
                <a16:creationId xmlns:a16="http://schemas.microsoft.com/office/drawing/2014/main" id="{451940F6-6FBE-4BD7-B91E-96A27908C7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1798638"/>
            <a:ext cx="128588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2" name="Oval 22">
            <a:extLst>
              <a:ext uri="{FF2B5EF4-FFF2-40B4-BE49-F238E27FC236}">
                <a16:creationId xmlns:a16="http://schemas.microsoft.com/office/drawing/2014/main" id="{38856444-BBD7-4580-B579-7CA7FBC01E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32425" y="26368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3" name="Oval 23">
            <a:extLst>
              <a:ext uri="{FF2B5EF4-FFF2-40B4-BE49-F238E27FC236}">
                <a16:creationId xmlns:a16="http://schemas.microsoft.com/office/drawing/2014/main" id="{15E87E6B-76C7-4E33-92F4-57B8A5816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Oval 24">
            <a:extLst>
              <a:ext uri="{FF2B5EF4-FFF2-40B4-BE49-F238E27FC236}">
                <a16:creationId xmlns:a16="http://schemas.microsoft.com/office/drawing/2014/main" id="{B3A96A5F-6FB8-4D2A-B0CF-97928226B7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Line 25">
            <a:extLst>
              <a:ext uri="{FF2B5EF4-FFF2-40B4-BE49-F238E27FC236}">
                <a16:creationId xmlns:a16="http://schemas.microsoft.com/office/drawing/2014/main" id="{ECE1948B-2A0A-4818-9438-ED25C76BC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6" name="Line 26">
            <a:extLst>
              <a:ext uri="{FF2B5EF4-FFF2-40B4-BE49-F238E27FC236}">
                <a16:creationId xmlns:a16="http://schemas.microsoft.com/office/drawing/2014/main" id="{1F62E0E4-3824-4FAF-B8BD-05A398A08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86000"/>
            <a:ext cx="0" cy="1371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7" name="Line 27">
            <a:extLst>
              <a:ext uri="{FF2B5EF4-FFF2-40B4-BE49-F238E27FC236}">
                <a16:creationId xmlns:a16="http://schemas.microsoft.com/office/drawing/2014/main" id="{A3EFE13B-1407-4325-8BD4-7468B1E10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657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8" name="Line 28">
            <a:extLst>
              <a:ext uri="{FF2B5EF4-FFF2-40B4-BE49-F238E27FC236}">
                <a16:creationId xmlns:a16="http://schemas.microsoft.com/office/drawing/2014/main" id="{766958D3-DB9D-402A-9600-FA42157DA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657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9" name="Line 29">
            <a:extLst>
              <a:ext uri="{FF2B5EF4-FFF2-40B4-BE49-F238E27FC236}">
                <a16:creationId xmlns:a16="http://schemas.microsoft.com/office/drawing/2014/main" id="{16795953-9669-4A92-8DB2-839F8BED5B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4038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10" name="Line 30">
            <a:extLst>
              <a:ext uri="{FF2B5EF4-FFF2-40B4-BE49-F238E27FC236}">
                <a16:creationId xmlns:a16="http://schemas.microsoft.com/office/drawing/2014/main" id="{2F184DFE-9D21-48B9-8F99-12F766BAC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11" name="Line 31">
            <a:extLst>
              <a:ext uri="{FF2B5EF4-FFF2-40B4-BE49-F238E27FC236}">
                <a16:creationId xmlns:a16="http://schemas.microsoft.com/office/drawing/2014/main" id="{33235B8C-0534-4B70-8152-9A8C2F8E0B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4196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12" name="Line 32">
            <a:extLst>
              <a:ext uri="{FF2B5EF4-FFF2-40B4-BE49-F238E27FC236}">
                <a16:creationId xmlns:a16="http://schemas.microsoft.com/office/drawing/2014/main" id="{F79C1B51-B6EE-4CF6-BFB9-1A09F58EB2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2286000"/>
            <a:ext cx="0" cy="2133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EBAED03-A656-4DEC-867F-185C4C5F2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Learning Logic Theories: Decision Boundary</a:t>
            </a:r>
          </a:p>
        </p:txBody>
      </p:sp>
      <p:sp>
        <p:nvSpPr>
          <p:cNvPr id="98307" name="Line 3">
            <a:extLst>
              <a:ext uri="{FF2B5EF4-FFF2-40B4-BE49-F238E27FC236}">
                <a16:creationId xmlns:a16="http://schemas.microsoft.com/office/drawing/2014/main" id="{EFD858E7-64EC-4394-9519-5B1912AC985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1798638"/>
            <a:ext cx="0" cy="315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8" name="Line 4">
            <a:extLst>
              <a:ext uri="{FF2B5EF4-FFF2-40B4-BE49-F238E27FC236}">
                <a16:creationId xmlns:a16="http://schemas.microsoft.com/office/drawing/2014/main" id="{D6E1C6EF-1322-413A-8DD6-0E35BEB2FEA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4953000"/>
            <a:ext cx="315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AutoShape 5">
            <a:extLst>
              <a:ext uri="{FF2B5EF4-FFF2-40B4-BE49-F238E27FC236}">
                <a16:creationId xmlns:a16="http://schemas.microsoft.com/office/drawing/2014/main" id="{645B7702-DF41-426F-9CBB-F604177009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779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0" name="AutoShape 6">
            <a:extLst>
              <a:ext uri="{FF2B5EF4-FFF2-40B4-BE49-F238E27FC236}">
                <a16:creationId xmlns:a16="http://schemas.microsoft.com/office/drawing/2014/main" id="{E0085011-52DD-45D9-A22B-AB41542241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463" y="2378075"/>
            <a:ext cx="130175" cy="128588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1" name="AutoShape 7">
            <a:extLst>
              <a:ext uri="{FF2B5EF4-FFF2-40B4-BE49-F238E27FC236}">
                <a16:creationId xmlns:a16="http://schemas.microsoft.com/office/drawing/2014/main" id="{8999DE37-8D58-4D46-814A-503868C4E8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636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2" name="AutoShape 8">
            <a:extLst>
              <a:ext uri="{FF2B5EF4-FFF2-40B4-BE49-F238E27FC236}">
                <a16:creationId xmlns:a16="http://schemas.microsoft.com/office/drawing/2014/main" id="{D7A27B91-9416-4D9F-8489-59D64CF133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322638"/>
            <a:ext cx="130175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3" name="AutoShape 9">
            <a:extLst>
              <a:ext uri="{FF2B5EF4-FFF2-40B4-BE49-F238E27FC236}">
                <a16:creationId xmlns:a16="http://schemas.microsoft.com/office/drawing/2014/main" id="{BB2E5C2E-E8B3-42EC-8B48-467359EDF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779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4" name="AutoShape 10">
            <a:extLst>
              <a:ext uri="{FF2B5EF4-FFF2-40B4-BE49-F238E27FC236}">
                <a16:creationId xmlns:a16="http://schemas.microsoft.com/office/drawing/2014/main" id="{505851E1-AB76-44B3-AA26-E406E8914A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941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5" name="AutoShape 11">
            <a:extLst>
              <a:ext uri="{FF2B5EF4-FFF2-40B4-BE49-F238E27FC236}">
                <a16:creationId xmlns:a16="http://schemas.microsoft.com/office/drawing/2014/main" id="{E4256323-3CFA-4A15-A05F-E5288B70A5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40846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6" name="AutoShape 12">
            <a:extLst>
              <a:ext uri="{FF2B5EF4-FFF2-40B4-BE49-F238E27FC236}">
                <a16:creationId xmlns:a16="http://schemas.microsoft.com/office/drawing/2014/main" id="{983BAEED-59EE-4244-98D4-D706B2C6DF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3398838"/>
            <a:ext cx="128588" cy="127000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7" name="AutoShape 13">
            <a:extLst>
              <a:ext uri="{FF2B5EF4-FFF2-40B4-BE49-F238E27FC236}">
                <a16:creationId xmlns:a16="http://schemas.microsoft.com/office/drawing/2014/main" id="{0EEBB7B7-B390-4E00-9DED-9650308A01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3017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8" name="AutoShape 14">
            <a:extLst>
              <a:ext uri="{FF2B5EF4-FFF2-40B4-BE49-F238E27FC236}">
                <a16:creationId xmlns:a16="http://schemas.microsoft.com/office/drawing/2014/main" id="{2D3E7DB2-F571-436A-A895-6929A7DA2A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560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9" name="Oval 15">
            <a:extLst>
              <a:ext uri="{FF2B5EF4-FFF2-40B4-BE49-F238E27FC236}">
                <a16:creationId xmlns:a16="http://schemas.microsoft.com/office/drawing/2014/main" id="{4766142F-7FCB-4B6C-AFDE-0ECBA60876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40088" y="3794125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Oval 16">
            <a:extLst>
              <a:ext uri="{FF2B5EF4-FFF2-40B4-BE49-F238E27FC236}">
                <a16:creationId xmlns:a16="http://schemas.microsoft.com/office/drawing/2014/main" id="{E02CE2F2-0405-45E5-8A3A-7195930DE9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46438"/>
            <a:ext cx="130175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1" name="Oval 17">
            <a:extLst>
              <a:ext uri="{FF2B5EF4-FFF2-40B4-BE49-F238E27FC236}">
                <a16:creationId xmlns:a16="http://schemas.microsoft.com/office/drawing/2014/main" id="{0D99BF45-97B2-4554-A097-DD4D9703CB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24844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2" name="Oval 18">
            <a:extLst>
              <a:ext uri="{FF2B5EF4-FFF2-40B4-BE49-F238E27FC236}">
                <a16:creationId xmlns:a16="http://schemas.microsoft.com/office/drawing/2014/main" id="{1F6558B8-E772-42A5-A858-9C1866457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313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3" name="Oval 19">
            <a:extLst>
              <a:ext uri="{FF2B5EF4-FFF2-40B4-BE49-F238E27FC236}">
                <a16:creationId xmlns:a16="http://schemas.microsoft.com/office/drawing/2014/main" id="{E2FAC3A1-4B49-4A76-8E68-D2A940526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21796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4" name="Oval 20">
            <a:extLst>
              <a:ext uri="{FF2B5EF4-FFF2-40B4-BE49-F238E27FC236}">
                <a16:creationId xmlns:a16="http://schemas.microsoft.com/office/drawing/2014/main" id="{394F8ED9-6249-4E00-AC1E-D9BE0DB891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940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5" name="Oval 21">
            <a:extLst>
              <a:ext uri="{FF2B5EF4-FFF2-40B4-BE49-F238E27FC236}">
                <a16:creationId xmlns:a16="http://schemas.microsoft.com/office/drawing/2014/main" id="{6EF8BCDC-2F95-4823-9AA2-57462542C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1798638"/>
            <a:ext cx="128588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6" name="Oval 22">
            <a:extLst>
              <a:ext uri="{FF2B5EF4-FFF2-40B4-BE49-F238E27FC236}">
                <a16:creationId xmlns:a16="http://schemas.microsoft.com/office/drawing/2014/main" id="{9C682158-C850-401E-97BD-8596497D9F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32425" y="26368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7" name="Oval 23">
            <a:extLst>
              <a:ext uri="{FF2B5EF4-FFF2-40B4-BE49-F238E27FC236}">
                <a16:creationId xmlns:a16="http://schemas.microsoft.com/office/drawing/2014/main" id="{66267C86-C27B-4D57-8781-A0F799A5DA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8" name="Oval 24">
            <a:extLst>
              <a:ext uri="{FF2B5EF4-FFF2-40B4-BE49-F238E27FC236}">
                <a16:creationId xmlns:a16="http://schemas.microsoft.com/office/drawing/2014/main" id="{C347964D-E73A-4C0A-8CCA-4C76BD2C19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9" name="Line 25">
            <a:extLst>
              <a:ext uri="{FF2B5EF4-FFF2-40B4-BE49-F238E27FC236}">
                <a16:creationId xmlns:a16="http://schemas.microsoft.com/office/drawing/2014/main" id="{E1C7B02D-5DEB-463B-BA97-9F57D7B5B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0" name="Line 26">
            <a:extLst>
              <a:ext uri="{FF2B5EF4-FFF2-40B4-BE49-F238E27FC236}">
                <a16:creationId xmlns:a16="http://schemas.microsoft.com/office/drawing/2014/main" id="{D2C0CB34-570A-4228-B975-456BDE398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86000"/>
            <a:ext cx="0" cy="1371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1" name="Line 27">
            <a:extLst>
              <a:ext uri="{FF2B5EF4-FFF2-40B4-BE49-F238E27FC236}">
                <a16:creationId xmlns:a16="http://schemas.microsoft.com/office/drawing/2014/main" id="{DCF8B1E8-ECF4-43D2-BCE1-76D1491C0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657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2" name="Line 28">
            <a:extLst>
              <a:ext uri="{FF2B5EF4-FFF2-40B4-BE49-F238E27FC236}">
                <a16:creationId xmlns:a16="http://schemas.microsoft.com/office/drawing/2014/main" id="{BCD6DA68-0781-4AF4-AB5E-21991589F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657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3" name="Line 29">
            <a:extLst>
              <a:ext uri="{FF2B5EF4-FFF2-40B4-BE49-F238E27FC236}">
                <a16:creationId xmlns:a16="http://schemas.microsoft.com/office/drawing/2014/main" id="{4F69FD9D-A895-48AF-8BA1-702768B6F5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4038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4" name="Line 30">
            <a:extLst>
              <a:ext uri="{FF2B5EF4-FFF2-40B4-BE49-F238E27FC236}">
                <a16:creationId xmlns:a16="http://schemas.microsoft.com/office/drawing/2014/main" id="{F18A5CEC-9F19-4B69-88A4-97903E20A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5" name="Line 31">
            <a:extLst>
              <a:ext uri="{FF2B5EF4-FFF2-40B4-BE49-F238E27FC236}">
                <a16:creationId xmlns:a16="http://schemas.microsoft.com/office/drawing/2014/main" id="{03AFD3A8-0D7C-4329-8C55-5B8178A31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4196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6" name="Line 32">
            <a:extLst>
              <a:ext uri="{FF2B5EF4-FFF2-40B4-BE49-F238E27FC236}">
                <a16:creationId xmlns:a16="http://schemas.microsoft.com/office/drawing/2014/main" id="{57B75EBB-8640-4BF8-8323-F63FB9A8B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2286000"/>
            <a:ext cx="0" cy="2133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7" name="Oval 33">
            <a:extLst>
              <a:ext uri="{FF2B5EF4-FFF2-40B4-BE49-F238E27FC236}">
                <a16:creationId xmlns:a16="http://schemas.microsoft.com/office/drawing/2014/main" id="{267780E0-30C4-49E3-B290-4B88232CCB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505200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CA1A1315-E197-4B72-AD80-8A4224949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Learning Logic Theories: Decision Boundary</a:t>
            </a:r>
          </a:p>
        </p:txBody>
      </p:sp>
      <p:sp>
        <p:nvSpPr>
          <p:cNvPr id="99331" name="Line 3">
            <a:extLst>
              <a:ext uri="{FF2B5EF4-FFF2-40B4-BE49-F238E27FC236}">
                <a16:creationId xmlns:a16="http://schemas.microsoft.com/office/drawing/2014/main" id="{4126118D-63C6-468A-A05A-93F459CC132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1798638"/>
            <a:ext cx="0" cy="315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2" name="Line 4">
            <a:extLst>
              <a:ext uri="{FF2B5EF4-FFF2-40B4-BE49-F238E27FC236}">
                <a16:creationId xmlns:a16="http://schemas.microsoft.com/office/drawing/2014/main" id="{98BBDC14-60EC-4DF0-9A97-E116E2FBB6E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48000" y="4953000"/>
            <a:ext cx="3155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3" name="AutoShape 5">
            <a:extLst>
              <a:ext uri="{FF2B5EF4-FFF2-40B4-BE49-F238E27FC236}">
                <a16:creationId xmlns:a16="http://schemas.microsoft.com/office/drawing/2014/main" id="{18D20017-9F32-4E47-86C0-C29C4A8D7B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3779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4" name="AutoShape 6">
            <a:extLst>
              <a:ext uri="{FF2B5EF4-FFF2-40B4-BE49-F238E27FC236}">
                <a16:creationId xmlns:a16="http://schemas.microsoft.com/office/drawing/2014/main" id="{9FBFC14B-8582-470D-B397-0ECB810495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35463" y="2378075"/>
            <a:ext cx="130175" cy="128588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5" name="AutoShape 7">
            <a:extLst>
              <a:ext uri="{FF2B5EF4-FFF2-40B4-BE49-F238E27FC236}">
                <a16:creationId xmlns:a16="http://schemas.microsoft.com/office/drawing/2014/main" id="{F1306E59-38E0-49D6-B0E3-5891A6B316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636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6" name="AutoShape 8">
            <a:extLst>
              <a:ext uri="{FF2B5EF4-FFF2-40B4-BE49-F238E27FC236}">
                <a16:creationId xmlns:a16="http://schemas.microsoft.com/office/drawing/2014/main" id="{75C7EF24-AA40-4201-B44C-536D21E2E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322638"/>
            <a:ext cx="130175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7" name="AutoShape 9">
            <a:extLst>
              <a:ext uri="{FF2B5EF4-FFF2-40B4-BE49-F238E27FC236}">
                <a16:creationId xmlns:a16="http://schemas.microsoft.com/office/drawing/2014/main" id="{0896DE15-A9AB-4537-9CCE-9894923D31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95800" y="37798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8" name="AutoShape 10">
            <a:extLst>
              <a:ext uri="{FF2B5EF4-FFF2-40B4-BE49-F238E27FC236}">
                <a16:creationId xmlns:a16="http://schemas.microsoft.com/office/drawing/2014/main" id="{EFB93826-74D3-4D48-8293-38A2640A61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941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39" name="AutoShape 11">
            <a:extLst>
              <a:ext uri="{FF2B5EF4-FFF2-40B4-BE49-F238E27FC236}">
                <a16:creationId xmlns:a16="http://schemas.microsoft.com/office/drawing/2014/main" id="{6CA8B5C6-F9DE-41D2-B541-8B76AC9DC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40846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0" name="AutoShape 12">
            <a:extLst>
              <a:ext uri="{FF2B5EF4-FFF2-40B4-BE49-F238E27FC236}">
                <a16:creationId xmlns:a16="http://schemas.microsoft.com/office/drawing/2014/main" id="{EC186596-5DB3-4339-8E7B-323EF37E9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7200" y="3398838"/>
            <a:ext cx="128588" cy="127000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1" name="AutoShape 13">
            <a:extLst>
              <a:ext uri="{FF2B5EF4-FFF2-40B4-BE49-F238E27FC236}">
                <a16:creationId xmlns:a16="http://schemas.microsoft.com/office/drawing/2014/main" id="{ABC459FB-4CDC-4132-8C3E-BAB813F9C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62400" y="3017838"/>
            <a:ext cx="128588" cy="130175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2" name="AutoShape 14">
            <a:extLst>
              <a:ext uri="{FF2B5EF4-FFF2-40B4-BE49-F238E27FC236}">
                <a16:creationId xmlns:a16="http://schemas.microsoft.com/office/drawing/2014/main" id="{6602DD7E-C3C5-4A95-A4F3-F3395711B9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2560638"/>
            <a:ext cx="128588" cy="128587"/>
          </a:xfrm>
          <a:prstGeom prst="star4">
            <a:avLst>
              <a:gd name="adj" fmla="val 125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3" name="Oval 15">
            <a:extLst>
              <a:ext uri="{FF2B5EF4-FFF2-40B4-BE49-F238E27FC236}">
                <a16:creationId xmlns:a16="http://schemas.microsoft.com/office/drawing/2014/main" id="{5EE72DB1-8B74-4F81-B6CA-00523D6A5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505200"/>
            <a:ext cx="130175" cy="12858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Oval 16">
            <a:extLst>
              <a:ext uri="{FF2B5EF4-FFF2-40B4-BE49-F238E27FC236}">
                <a16:creationId xmlns:a16="http://schemas.microsoft.com/office/drawing/2014/main" id="{B58EDA7E-21DE-4632-BDC4-8FA3B17907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00400" y="3246438"/>
            <a:ext cx="130175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Oval 17">
            <a:extLst>
              <a:ext uri="{FF2B5EF4-FFF2-40B4-BE49-F238E27FC236}">
                <a16:creationId xmlns:a16="http://schemas.microsoft.com/office/drawing/2014/main" id="{1235C825-3030-445C-89EF-A35A948F2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24200" y="24844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6" name="Oval 18">
            <a:extLst>
              <a:ext uri="{FF2B5EF4-FFF2-40B4-BE49-F238E27FC236}">
                <a16:creationId xmlns:a16="http://schemas.microsoft.com/office/drawing/2014/main" id="{3E8B139A-1102-4D71-943F-F42BDECBAF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313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7" name="Oval 19">
            <a:extLst>
              <a:ext uri="{FF2B5EF4-FFF2-40B4-BE49-F238E27FC236}">
                <a16:creationId xmlns:a16="http://schemas.microsoft.com/office/drawing/2014/main" id="{AC0D77F0-B03B-45A1-BEB3-738CE8171B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21796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Oval 20">
            <a:extLst>
              <a:ext uri="{FF2B5EF4-FFF2-40B4-BE49-F238E27FC236}">
                <a16:creationId xmlns:a16="http://schemas.microsoft.com/office/drawing/2014/main" id="{5D40B112-FC95-4609-9CE2-9867CB536C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5000" y="30940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9" name="Oval 21">
            <a:extLst>
              <a:ext uri="{FF2B5EF4-FFF2-40B4-BE49-F238E27FC236}">
                <a16:creationId xmlns:a16="http://schemas.microsoft.com/office/drawing/2014/main" id="{13558141-D170-46B8-A3A7-2AACC2F90B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3400" y="1798638"/>
            <a:ext cx="128588" cy="127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0" name="Oval 22">
            <a:extLst>
              <a:ext uri="{FF2B5EF4-FFF2-40B4-BE49-F238E27FC236}">
                <a16:creationId xmlns:a16="http://schemas.microsoft.com/office/drawing/2014/main" id="{37118A82-33FF-4557-B573-22490D1F30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32425" y="2636838"/>
            <a:ext cx="130175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1" name="Oval 23">
            <a:extLst>
              <a:ext uri="{FF2B5EF4-FFF2-40B4-BE49-F238E27FC236}">
                <a16:creationId xmlns:a16="http://schemas.microsoft.com/office/drawing/2014/main" id="{8BD29686-5D44-430D-89A4-6B6AEB8C4A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82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Oval 24">
            <a:extLst>
              <a:ext uri="{FF2B5EF4-FFF2-40B4-BE49-F238E27FC236}">
                <a16:creationId xmlns:a16="http://schemas.microsoft.com/office/drawing/2014/main" id="{0B3F5834-3A7D-4C8F-A548-CA61386A90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00" y="4694238"/>
            <a:ext cx="128588" cy="12858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3" name="Line 25">
            <a:extLst>
              <a:ext uri="{FF2B5EF4-FFF2-40B4-BE49-F238E27FC236}">
                <a16:creationId xmlns:a16="http://schemas.microsoft.com/office/drawing/2014/main" id="{DEF21AC0-2A3C-407C-ACA4-0FE7897C7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4" name="Line 26">
            <a:extLst>
              <a:ext uri="{FF2B5EF4-FFF2-40B4-BE49-F238E27FC236}">
                <a16:creationId xmlns:a16="http://schemas.microsoft.com/office/drawing/2014/main" id="{671968E3-048F-401A-BABA-755F03A26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286000"/>
            <a:ext cx="0" cy="13716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5" name="Line 27">
            <a:extLst>
              <a:ext uri="{FF2B5EF4-FFF2-40B4-BE49-F238E27FC236}">
                <a16:creationId xmlns:a16="http://schemas.microsoft.com/office/drawing/2014/main" id="{958C1AF3-B3A8-4EBD-8029-6410E63E3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657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6" name="Line 28">
            <a:extLst>
              <a:ext uri="{FF2B5EF4-FFF2-40B4-BE49-F238E27FC236}">
                <a16:creationId xmlns:a16="http://schemas.microsoft.com/office/drawing/2014/main" id="{C1F0C454-A4C8-4ED5-A089-C3BC9C538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657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7" name="Line 29">
            <a:extLst>
              <a:ext uri="{FF2B5EF4-FFF2-40B4-BE49-F238E27FC236}">
                <a16:creationId xmlns:a16="http://schemas.microsoft.com/office/drawing/2014/main" id="{53A9389B-05BD-4396-AE85-369B89A28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4038600"/>
            <a:ext cx="3048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8" name="Line 30">
            <a:extLst>
              <a:ext uri="{FF2B5EF4-FFF2-40B4-BE49-F238E27FC236}">
                <a16:creationId xmlns:a16="http://schemas.microsoft.com/office/drawing/2014/main" id="{C29D10E7-3442-49FA-8FD9-9B721CEF6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0386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9" name="Line 31">
            <a:extLst>
              <a:ext uri="{FF2B5EF4-FFF2-40B4-BE49-F238E27FC236}">
                <a16:creationId xmlns:a16="http://schemas.microsoft.com/office/drawing/2014/main" id="{7125409E-0638-4CD3-8DDF-F295A17119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419600"/>
            <a:ext cx="12954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0" name="Line 32">
            <a:extLst>
              <a:ext uri="{FF2B5EF4-FFF2-40B4-BE49-F238E27FC236}">
                <a16:creationId xmlns:a16="http://schemas.microsoft.com/office/drawing/2014/main" id="{565E6696-FCE3-4590-A962-15C717AEE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0" cy="10668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1" name="Line 33">
            <a:extLst>
              <a:ext uri="{FF2B5EF4-FFF2-40B4-BE49-F238E27FC236}">
                <a16:creationId xmlns:a16="http://schemas.microsoft.com/office/drawing/2014/main" id="{C7E61216-548E-4C32-B3F0-711DFA1827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352800"/>
            <a:ext cx="3810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2" name="Line 34">
            <a:extLst>
              <a:ext uri="{FF2B5EF4-FFF2-40B4-BE49-F238E27FC236}">
                <a16:creationId xmlns:a16="http://schemas.microsoft.com/office/drawing/2014/main" id="{9608AC06-6F12-42EC-A110-28BCDE8A3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352800"/>
            <a:ext cx="0" cy="3810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3" name="Line 35">
            <a:extLst>
              <a:ext uri="{FF2B5EF4-FFF2-40B4-BE49-F238E27FC236}">
                <a16:creationId xmlns:a16="http://schemas.microsoft.com/office/drawing/2014/main" id="{84FB1C74-52C3-4A7C-BEA9-3AD989984A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733800"/>
            <a:ext cx="38100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4" name="Line 36">
            <a:extLst>
              <a:ext uri="{FF2B5EF4-FFF2-40B4-BE49-F238E27FC236}">
                <a16:creationId xmlns:a16="http://schemas.microsoft.com/office/drawing/2014/main" id="{1FCF14E4-1EE8-44E9-93BA-4740C73E9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733800"/>
            <a:ext cx="0" cy="68580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CE5DD9C5-FA6D-4C6D-AF0B-EA9749F02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Analytical Learning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6ADA0A27-8D69-4F5E-A79F-04E71F5C9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/>
              <a:t>Prior Knowledge in Learning</a:t>
            </a:r>
          </a:p>
          <a:p>
            <a:pPr>
              <a:buFontTx/>
              <a:buNone/>
            </a:pPr>
            <a:r>
              <a:rPr lang="en-US" altLang="en-US" sz="2000" i="1"/>
              <a:t>	Recall</a:t>
            </a:r>
            <a:r>
              <a:rPr lang="en-US" altLang="en-US" sz="1800"/>
              <a:t>:</a:t>
            </a:r>
          </a:p>
          <a:p>
            <a:pPr lvl="1">
              <a:buFontTx/>
              <a:buNone/>
            </a:pPr>
            <a:r>
              <a:rPr lang="en-US" altLang="en-US" sz="1600"/>
              <a:t>	</a:t>
            </a:r>
            <a:r>
              <a:rPr lang="en-US" altLang="en-US" sz="1800"/>
              <a:t>Grandparent(x,y) </a:t>
            </a:r>
            <a:r>
              <a:rPr lang="en-US" altLang="en-US" sz="1800">
                <a:sym typeface="Symbol" panose="05050102010706020507" pitchFamily="18" charset="2"/>
              </a:rPr>
              <a:t></a:t>
            </a:r>
          </a:p>
          <a:p>
            <a:pPr lvl="1"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	[z Mother(x,z)  Mother)]  [z Mother(x,z)  Father(z,y)] </a:t>
            </a:r>
          </a:p>
          <a:p>
            <a:pPr lvl="1">
              <a:buFontTx/>
              <a:buNone/>
            </a:pPr>
            <a:r>
              <a:rPr lang="en-US" altLang="en-US" sz="1800">
                <a:sym typeface="Symbol" panose="05050102010706020507" pitchFamily="18" charset="2"/>
              </a:rPr>
              <a:t>		[z Father(x,z)  Mother(z,y)]  [z Father(x,z)  Father(z,y)]</a:t>
            </a:r>
            <a:endParaRPr lang="en-US" altLang="en-US" sz="2000"/>
          </a:p>
          <a:p>
            <a:r>
              <a:rPr lang="en-US" altLang="en-US" sz="2400"/>
              <a:t>Suppose initial theory also included:</a:t>
            </a:r>
            <a:endParaRPr lang="en-US" altLang="en-US" sz="2400" i="1"/>
          </a:p>
          <a:p>
            <a:pPr lvl="1"/>
            <a:r>
              <a:rPr lang="en-US" altLang="en-US" sz="2000"/>
              <a:t>Parent(x,y) </a:t>
            </a:r>
            <a:r>
              <a:rPr lang="en-US" altLang="en-US" sz="2000">
                <a:sym typeface="Symbol" panose="05050102010706020507" pitchFamily="18" charset="2"/>
              </a:rPr>
              <a:t> [Mother(x,y)  Father(x,y)]</a:t>
            </a:r>
          </a:p>
          <a:p>
            <a:r>
              <a:rPr lang="en-US" altLang="en-US" sz="2400"/>
              <a:t>Final Hypothesis:</a:t>
            </a:r>
          </a:p>
          <a:p>
            <a:pPr lvl="1"/>
            <a:r>
              <a:rPr lang="en-US" altLang="en-US" sz="2000"/>
              <a:t>Grandparent(x,y) </a:t>
            </a:r>
            <a:r>
              <a:rPr lang="en-US" altLang="en-US" sz="2000">
                <a:sym typeface="Symbol" panose="05050102010706020507" pitchFamily="18" charset="2"/>
              </a:rPr>
              <a:t> [z Parent(x,z)  Parent(z,y)]</a:t>
            </a:r>
          </a:p>
          <a:p>
            <a:endParaRPr lang="en-US" altLang="en-US" sz="240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400" b="1" i="1">
                <a:sym typeface="Symbol" panose="05050102010706020507" pitchFamily="18" charset="2"/>
              </a:rPr>
              <a:t>    </a:t>
            </a:r>
            <a:r>
              <a:rPr lang="en-US" altLang="en-US" sz="2000" b="1" i="1">
                <a:sym typeface="Symbol" panose="05050102010706020507" pitchFamily="18" charset="2"/>
              </a:rPr>
              <a:t>Background knowledge</a:t>
            </a:r>
            <a:r>
              <a:rPr lang="en-US" altLang="en-US" sz="2000" i="1">
                <a:sym typeface="Symbol" panose="05050102010706020507" pitchFamily="18" charset="2"/>
              </a:rPr>
              <a:t> can dramatically reduce the size of</a:t>
            </a:r>
          </a:p>
          <a:p>
            <a:pPr>
              <a:buFontTx/>
              <a:buNone/>
            </a:pPr>
            <a:r>
              <a:rPr lang="en-US" altLang="en-US" sz="2000" i="1">
                <a:sym typeface="Symbol" panose="05050102010706020507" pitchFamily="18" charset="2"/>
              </a:rPr>
              <a:t>	the hypothesis (greatly simplifying the learning problem).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F4FE32E3-FAC0-4F64-B669-1D67A7D8F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029200"/>
            <a:ext cx="7772400" cy="914400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533DA796-3145-454D-9B28-3E0D12ED8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Explanation-Based Learning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9008155D-7C95-4CD4-8CBA-218811A26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	</a:t>
            </a:r>
            <a:r>
              <a:rPr lang="en-US" altLang="en-US" sz="2400">
                <a:latin typeface="Comic Sans MS" panose="030F0702030302020204" pitchFamily="66" charset="0"/>
              </a:rPr>
              <a:t>Amazed crowd of cavemen observe Zog roasting a lizard on the end of a pointed stick (“Look what Zog do!”) and thereafter abandon roasting with their bare hands.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 i="1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Basic Idea</a:t>
            </a:r>
            <a:r>
              <a:rPr lang="en-US" altLang="en-US" sz="2400"/>
              <a:t>: Generalize by </a:t>
            </a:r>
            <a:r>
              <a:rPr lang="en-US" altLang="en-US" sz="2400" i="1"/>
              <a:t>explaining</a:t>
            </a:r>
            <a:r>
              <a:rPr lang="en-US" altLang="en-US" sz="2400"/>
              <a:t> observed instance.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altLang="en-US" sz="2400" i="1"/>
          </a:p>
          <a:p>
            <a:pPr>
              <a:lnSpc>
                <a:spcPct val="80000"/>
              </a:lnSpc>
            </a:pPr>
            <a:r>
              <a:rPr lang="en-US" altLang="en-US" sz="2400"/>
              <a:t>form of </a:t>
            </a:r>
            <a:r>
              <a:rPr lang="en-US" altLang="en-US" sz="2400" i="1"/>
              <a:t>speedup learning</a:t>
            </a: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000"/>
              <a:t>doesn’t learn anything factually new from the observation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instead converts first-principles theories into </a:t>
            </a:r>
            <a:r>
              <a:rPr lang="en-US" altLang="en-US" sz="2000" i="1"/>
              <a:t>useful</a:t>
            </a:r>
            <a:r>
              <a:rPr lang="en-US" altLang="en-US" sz="2000"/>
              <a:t> special-purpose knowledge</a:t>
            </a:r>
          </a:p>
          <a:p>
            <a:pPr lvl="1">
              <a:lnSpc>
                <a:spcPct val="80000"/>
              </a:lnSpc>
            </a:pPr>
            <a:endParaRPr lang="en-US" altLang="en-US" sz="2000"/>
          </a:p>
          <a:p>
            <a:pPr>
              <a:lnSpc>
                <a:spcPct val="80000"/>
              </a:lnSpc>
            </a:pPr>
            <a:r>
              <a:rPr lang="en-US" altLang="en-US" sz="2400"/>
              <a:t>utility problem</a:t>
            </a:r>
          </a:p>
          <a:p>
            <a:pPr lvl="1">
              <a:lnSpc>
                <a:spcPct val="80000"/>
              </a:lnSpc>
            </a:pPr>
            <a:r>
              <a:rPr lang="en-US" altLang="en-US" sz="2000"/>
              <a:t>cost of determining if learned knowledge is applicable may outweight benefits from its application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EA5BC98-B38C-4D8B-BF8F-099A8BFC6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Relevance-Based Learning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EF946E8-EB5D-4344-8EF6-D04400AD2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mic Sans MS" panose="030F0702030302020204" pitchFamily="66" charset="0"/>
              </a:rPr>
              <a:t>Mary travels to Brazil and meets her first Brazilian (Fernando), who speaks Portuguese.  She concludes that all Brazilians speak Portuguese but not that all Brazilians are named Fernando.</a:t>
            </a:r>
          </a:p>
          <a:p>
            <a:pPr>
              <a:buFontTx/>
              <a:buNone/>
            </a:pPr>
            <a:endParaRPr lang="en-US" altLang="en-US" sz="2400"/>
          </a:p>
          <a:p>
            <a:pPr>
              <a:buFontTx/>
              <a:buNone/>
            </a:pPr>
            <a:r>
              <a:rPr lang="en-US" altLang="en-US" sz="2400" i="1"/>
              <a:t>Basic Idea</a:t>
            </a:r>
            <a:r>
              <a:rPr lang="en-US" altLang="en-US" sz="2400"/>
              <a:t>: Use knowledge of what is </a:t>
            </a:r>
            <a:r>
              <a:rPr lang="en-US" altLang="en-US" sz="2400" i="1"/>
              <a:t>relevant</a:t>
            </a:r>
            <a:r>
              <a:rPr lang="en-US" altLang="en-US" sz="2400"/>
              <a:t> to infer new properties about a new instance.</a:t>
            </a:r>
          </a:p>
          <a:p>
            <a:pPr>
              <a:buFontTx/>
              <a:buNone/>
            </a:pPr>
            <a:endParaRPr lang="en-US" altLang="en-US" sz="2400"/>
          </a:p>
          <a:p>
            <a:r>
              <a:rPr lang="en-US" altLang="en-US" sz="2400"/>
              <a:t>form of </a:t>
            </a:r>
            <a:r>
              <a:rPr lang="en-US" altLang="en-US" sz="2400" i="1"/>
              <a:t>deductive learning</a:t>
            </a:r>
            <a:endParaRPr lang="en-US" altLang="en-US" sz="2400"/>
          </a:p>
          <a:p>
            <a:pPr lvl="1"/>
            <a:r>
              <a:rPr lang="en-US" altLang="en-US" sz="2000"/>
              <a:t>learns a new general rule that explains observations</a:t>
            </a:r>
          </a:p>
          <a:p>
            <a:pPr lvl="1"/>
            <a:r>
              <a:rPr lang="en-US" altLang="en-US" sz="2000"/>
              <a:t>does not create knowledge outside logical content of prior knowledge and observations</a:t>
            </a:r>
          </a:p>
          <a:p>
            <a:pPr lvl="1"/>
            <a:endParaRPr lang="en-US" altLang="en-US"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7FD2269D-5B5F-4355-88EE-BDB3113C1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Knowledge-Based Inductive Learning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9B81FF69-4D20-440E-A8E6-313E99922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mic Sans MS" panose="030F0702030302020204" pitchFamily="66" charset="0"/>
              </a:rPr>
              <a:t>Medical student observes consulting session between doctor and patient at the end of which the doctor prescribes a particular medication.  Student concludes that the medication is effective treatment for a particular type of infection.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Basic Idea: Use prior knowledge to </a:t>
            </a:r>
            <a:r>
              <a:rPr lang="en-US" altLang="en-US" sz="2400" i="1"/>
              <a:t>guide hypothesis generation</a:t>
            </a:r>
            <a:r>
              <a:rPr lang="en-US" altLang="en-US" sz="240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 sz="2400"/>
              <a:t>benefits in inductive logic programming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only hypotheses consistent with prior knowledge and observations are considered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prior knowledge supports smaller (simpler) hypotheses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F0128C3B-3646-4B04-8CC6-01B748321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Reinforcement Learning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35843CD8-0196-446E-8BFA-2C9821D0C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 i="1"/>
              <a:t>k-armed bandit problem: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 i="1"/>
              <a:t>	Agent is in a room with k gambling machines (one-armed bandits). When an arm is pulled, the machine pays off 1 or 0, according to some unknown probability distribution. Given a fixed number of pulls, what is the agent’s (optimal) strategy?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i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Basic Task</a:t>
            </a:r>
            <a:r>
              <a:rPr lang="en-US" altLang="en-US" sz="2000"/>
              <a:t>: Find a policy </a:t>
            </a:r>
            <a:r>
              <a:rPr lang="en-US" altLang="en-US" sz="2000">
                <a:sym typeface="Symbol" panose="05050102010706020507" pitchFamily="18" charset="2"/>
              </a:rPr>
              <a:t>, mapping states to actions, that maximizes (long-term) reward.</a:t>
            </a: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Model (</a:t>
            </a:r>
            <a:r>
              <a:rPr lang="en-US" altLang="en-US" sz="2000" i="1"/>
              <a:t>Markov Decision Process</a:t>
            </a:r>
            <a:r>
              <a:rPr lang="en-US" altLang="en-US" sz="2000"/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set of states </a:t>
            </a:r>
            <a:r>
              <a:rPr lang="en-US" altLang="en-US" sz="2000" i="1"/>
              <a:t>S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set of actions </a:t>
            </a:r>
            <a:r>
              <a:rPr lang="en-US" altLang="en-US" sz="2000" i="1"/>
              <a:t>A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reward function </a:t>
            </a:r>
            <a:r>
              <a:rPr lang="en-US" altLang="en-US" sz="2000" i="1"/>
              <a:t>R </a:t>
            </a:r>
            <a:r>
              <a:rPr lang="en-US" altLang="en-US" sz="2000"/>
              <a:t>:</a:t>
            </a:r>
            <a:r>
              <a:rPr lang="en-US" altLang="en-US" sz="2000" i="1"/>
              <a:t> S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000" i="1"/>
              <a:t> A </a:t>
            </a:r>
            <a:r>
              <a:rPr lang="en-US" altLang="en-US" sz="2000">
                <a:cs typeface="Arial" panose="020B0604020202020204" pitchFamily="34" charset="0"/>
              </a:rPr>
              <a:t>→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</a:t>
            </a: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state transition function </a:t>
            </a:r>
            <a:r>
              <a:rPr lang="en-US" altLang="en-US" sz="2000" i="1"/>
              <a:t>T</a:t>
            </a:r>
            <a:r>
              <a:rPr lang="en-US" altLang="en-US" sz="2000"/>
              <a:t> : </a:t>
            </a:r>
            <a:r>
              <a:rPr lang="en-US" altLang="en-US" sz="2000" i="1"/>
              <a:t>S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en-US" sz="2000" i="1"/>
              <a:t> A </a:t>
            </a:r>
            <a:r>
              <a:rPr lang="en-US" altLang="en-US" sz="2000">
                <a:cs typeface="Arial" panose="020B0604020202020204" pitchFamily="34" charset="0"/>
              </a:rPr>
              <a:t>→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(</a:t>
            </a:r>
            <a:r>
              <a:rPr lang="en-US" altLang="en-US" sz="2000" i="1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T(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s'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) = probability of reaching 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s'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 when 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 is executed in </a:t>
            </a:r>
            <a:r>
              <a:rPr lang="en-US" altLang="en-US" sz="1800" i="1"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A7A78248-C911-4DF0-9E04-196AA51924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Reinforcement Learning</a:t>
            </a:r>
            <a:r>
              <a:rPr lang="en-US" altLang="en-US" b="0"/>
              <a:t> 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1DCB2AB3-FFE0-4B50-B2A5-55EEF596E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/>
              <a:t>Settings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fully vs. partially observable environment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deterministic vs. stochastic environment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model-based vs. model-free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rewards in goal state only or in any state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i="1" u="sng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 u="sng"/>
              <a:t>value of a state</a:t>
            </a:r>
            <a:r>
              <a:rPr lang="en-US" altLang="en-US" sz="2000"/>
              <a:t>: expected </a:t>
            </a:r>
            <a:r>
              <a:rPr lang="en-US" altLang="en-US" sz="2000" i="1"/>
              <a:t>infinite discounted sum of reward</a:t>
            </a:r>
            <a:r>
              <a:rPr lang="en-US" altLang="en-US" sz="2000"/>
              <a:t> the agent will gain if it starts from that state and </a:t>
            </a:r>
            <a:r>
              <a:rPr lang="en-US" altLang="en-US" sz="2000" i="1"/>
              <a:t>executes the optimal policy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Solving MDP when the model is known</a:t>
            </a:r>
          </a:p>
          <a:p>
            <a:pPr>
              <a:lnSpc>
                <a:spcPct val="90000"/>
              </a:lnSpc>
            </a:pPr>
            <a:r>
              <a:rPr lang="en-US" altLang="en-US" sz="2000" i="1"/>
              <a:t>value iteration</a:t>
            </a:r>
            <a:r>
              <a:rPr lang="en-US" altLang="en-US" sz="2000"/>
              <a:t>: find optimal value function (derive optimal policy)</a:t>
            </a:r>
          </a:p>
          <a:p>
            <a:pPr>
              <a:lnSpc>
                <a:spcPct val="90000"/>
              </a:lnSpc>
            </a:pPr>
            <a:r>
              <a:rPr lang="en-US" altLang="en-US" sz="2000" i="1"/>
              <a:t>policy iteration</a:t>
            </a:r>
            <a:r>
              <a:rPr lang="en-US" altLang="en-US" sz="2000"/>
              <a:t>: find optimal policy directly (derive value function)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A13A4D95-A70F-4999-B79C-830C7B2FD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Reinforcement Learning </a:t>
            </a:r>
            <a:r>
              <a:rPr lang="en-US" altLang="en-US" b="0"/>
              <a:t>(</a:t>
            </a:r>
            <a:r>
              <a:rPr lang="en-US" altLang="en-US" b="0" i="1"/>
              <a:t>continued</a:t>
            </a:r>
            <a:r>
              <a:rPr lang="en-US" altLang="en-US" b="0"/>
              <a:t>)</a:t>
            </a:r>
            <a:endParaRPr lang="en-US" altLang="en-US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A34608AF-B6B4-49B4-90D7-BDFAE2225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Reinforcement learning is concerned with finding an optimal policy for an MDP when the </a:t>
            </a:r>
            <a:r>
              <a:rPr lang="en-US" altLang="en-US" sz="2400" i="1"/>
              <a:t>model </a:t>
            </a:r>
            <a:r>
              <a:rPr lang="en-US" altLang="en-US" sz="2400"/>
              <a:t>(transition, reward)</a:t>
            </a:r>
            <a:r>
              <a:rPr lang="en-US" altLang="en-US" sz="2400" i="1"/>
              <a:t> is unknown</a:t>
            </a:r>
            <a:r>
              <a:rPr lang="en-US" altLang="en-US" sz="2400"/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altLang="en-US" sz="2400" i="1">
                <a:solidFill>
                  <a:srgbClr val="FF0000"/>
                </a:solidFill>
              </a:rPr>
              <a:t>exploration/exploitation tradeoff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altLang="en-US" sz="2400" i="1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model-free reinforcement learning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learn a controller without learning a model first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e.g.,</a:t>
            </a:r>
            <a:r>
              <a:rPr lang="en-US" altLang="en-US" sz="2400" i="1"/>
              <a:t> adaptive heuristic critic </a:t>
            </a:r>
            <a:r>
              <a:rPr lang="en-US" altLang="en-US" sz="2400"/>
              <a:t>(TD(</a:t>
            </a:r>
            <a:r>
              <a:rPr lang="en-US" altLang="en-US" sz="2400">
                <a:sym typeface="Symbol" panose="05050102010706020507" pitchFamily="18" charset="2"/>
              </a:rPr>
              <a:t>)), </a:t>
            </a:r>
            <a:r>
              <a:rPr lang="en-US" altLang="en-US" sz="2400" i="1">
                <a:sym typeface="Symbol" panose="05050102010706020507" pitchFamily="18" charset="2"/>
              </a:rPr>
              <a:t>Q-learning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/>
              <a:t>model-based reinforcement learning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learn a model first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e.g., </a:t>
            </a:r>
            <a:r>
              <a:rPr lang="en-US" altLang="en-US" sz="2400" i="1"/>
              <a:t>Dyna, prioritized sweeping, RTDP</a:t>
            </a:r>
            <a:endParaRPr lang="en-US" altLang="en-US"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47D67F25-990F-4CDA-8C1B-166ADF968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Unsupervised Learning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06C0024-5F09-4DCC-B9BD-C4D9453392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2400" i="1"/>
              <a:t>Learn patterns from (unlabeled) data.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Approaches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clustering (similarity-based)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density estimation (e.g., EM algorithm)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Performance Tasks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understanding and visualization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anomaly detection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information retrieval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data compression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A286181D-924F-4098-88AE-13B5FD6C5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Evaluation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7BD6D28-AB28-4F10-BAF7-1F6FA9C41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Randomly split examples into </a:t>
            </a:r>
            <a:r>
              <a:rPr lang="en-US" altLang="en-US" i="1"/>
              <a:t>training set U</a:t>
            </a:r>
            <a:r>
              <a:rPr lang="en-US" altLang="en-US"/>
              <a:t> and </a:t>
            </a:r>
            <a:r>
              <a:rPr lang="en-US" altLang="en-US" i="1"/>
              <a:t>test set V</a:t>
            </a:r>
            <a:r>
              <a:rPr lang="en-US" altLang="en-US"/>
              <a:t>.</a:t>
            </a:r>
          </a:p>
          <a:p>
            <a:r>
              <a:rPr lang="en-US" altLang="en-US"/>
              <a:t>Use training set to learn a hypothesis </a:t>
            </a:r>
            <a:r>
              <a:rPr lang="en-US" altLang="en-US" i="1"/>
              <a:t>H</a:t>
            </a:r>
            <a:r>
              <a:rPr lang="en-US" altLang="en-US"/>
              <a:t>.</a:t>
            </a:r>
          </a:p>
          <a:p>
            <a:r>
              <a:rPr lang="en-US" altLang="en-US"/>
              <a:t>Measure % of </a:t>
            </a:r>
            <a:r>
              <a:rPr lang="en-US" altLang="en-US" i="1"/>
              <a:t>V</a:t>
            </a:r>
            <a:r>
              <a:rPr lang="en-US" altLang="en-US"/>
              <a:t> correctly classified by </a:t>
            </a:r>
            <a:r>
              <a:rPr lang="en-US" altLang="en-US" i="1"/>
              <a:t>H.</a:t>
            </a:r>
          </a:p>
          <a:p>
            <a:r>
              <a:rPr lang="en-US" altLang="en-US"/>
              <a:t>Repeat for different random splits and average results.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657B3621-A0E5-45AB-8440-D0429C1D60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Performance Evaluation: Learning Curves</a:t>
            </a:r>
          </a:p>
        </p:txBody>
      </p:sp>
      <p:sp>
        <p:nvSpPr>
          <p:cNvPr id="109571" name="Line 3">
            <a:extLst>
              <a:ext uri="{FF2B5EF4-FFF2-40B4-BE49-F238E27FC236}">
                <a16:creationId xmlns:a16="http://schemas.microsoft.com/office/drawing/2014/main" id="{82814326-EA8E-4234-A7EB-C9C221CDF4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2" name="Line 4">
            <a:extLst>
              <a:ext uri="{FF2B5EF4-FFF2-40B4-BE49-F238E27FC236}">
                <a16:creationId xmlns:a16="http://schemas.microsoft.com/office/drawing/2014/main" id="{9AE579D2-5E3F-4D01-974C-46E6A8D0E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3" name="Text Box 5">
            <a:extLst>
              <a:ext uri="{FF2B5EF4-FFF2-40B4-BE49-F238E27FC236}">
                <a16:creationId xmlns:a16="http://schemas.microsoft.com/office/drawing/2014/main" id="{98C9E364-06FA-4E12-923E-A1BA12B85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15000"/>
            <a:ext cx="2316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#training examples</a:t>
            </a:r>
          </a:p>
        </p:txBody>
      </p:sp>
      <p:sp>
        <p:nvSpPr>
          <p:cNvPr id="109574" name="Arc 6">
            <a:extLst>
              <a:ext uri="{FF2B5EF4-FFF2-40B4-BE49-F238E27FC236}">
                <a16:creationId xmlns:a16="http://schemas.microsoft.com/office/drawing/2014/main" id="{804819B6-FB42-471C-8644-06742AD845B5}"/>
              </a:ext>
            </a:extLst>
          </p:cNvPr>
          <p:cNvSpPr>
            <a:spLocks/>
          </p:cNvSpPr>
          <p:nvPr/>
        </p:nvSpPr>
        <p:spPr bwMode="auto">
          <a:xfrm rot="-5400000">
            <a:off x="3467100" y="1257300"/>
            <a:ext cx="21336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5" name="Arc 7">
            <a:extLst>
              <a:ext uri="{FF2B5EF4-FFF2-40B4-BE49-F238E27FC236}">
                <a16:creationId xmlns:a16="http://schemas.microsoft.com/office/drawing/2014/main" id="{1596CDEC-7EE8-48E5-8A7B-756F8AF5532B}"/>
              </a:ext>
            </a:extLst>
          </p:cNvPr>
          <p:cNvSpPr>
            <a:spLocks/>
          </p:cNvSpPr>
          <p:nvPr/>
        </p:nvSpPr>
        <p:spPr bwMode="auto">
          <a:xfrm rot="5400000" flipV="1">
            <a:off x="3429000" y="2362200"/>
            <a:ext cx="22098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6" name="Text Box 8">
            <a:extLst>
              <a:ext uri="{FF2B5EF4-FFF2-40B4-BE49-F238E27FC236}">
                <a16:creationId xmlns:a16="http://schemas.microsoft.com/office/drawing/2014/main" id="{B42BE889-EE3B-4B64-9746-7E4C72CF6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1524000"/>
            <a:ext cx="2457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classification accuracy</a:t>
            </a:r>
          </a:p>
        </p:txBody>
      </p:sp>
      <p:sp>
        <p:nvSpPr>
          <p:cNvPr id="109577" name="Text Box 9">
            <a:extLst>
              <a:ext uri="{FF2B5EF4-FFF2-40B4-BE49-F238E27FC236}">
                <a16:creationId xmlns:a16="http://schemas.microsoft.com/office/drawing/2014/main" id="{353B535C-AC21-4FB4-BC74-D4194204E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724400"/>
            <a:ext cx="202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/>
              <a:t>classification error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D03A501-24A9-4A89-B8E8-436F14C8B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Evaluation: ROC Curves</a:t>
            </a:r>
          </a:p>
        </p:txBody>
      </p:sp>
      <p:sp>
        <p:nvSpPr>
          <p:cNvPr id="110595" name="Line 3">
            <a:extLst>
              <a:ext uri="{FF2B5EF4-FFF2-40B4-BE49-F238E27FC236}">
                <a16:creationId xmlns:a16="http://schemas.microsoft.com/office/drawing/2014/main" id="{F4CA87EA-A7D3-4D1E-9A85-E6E415F8D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6" name="Line 4">
            <a:extLst>
              <a:ext uri="{FF2B5EF4-FFF2-40B4-BE49-F238E27FC236}">
                <a16:creationId xmlns:a16="http://schemas.microsoft.com/office/drawing/2014/main" id="{39C067E7-4CDB-43BE-B5F3-3E8AA46A3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97" name="Text Box 5">
            <a:extLst>
              <a:ext uri="{FF2B5EF4-FFF2-40B4-BE49-F238E27FC236}">
                <a16:creationId xmlns:a16="http://schemas.microsoft.com/office/drawing/2014/main" id="{0B91D2EE-16F8-45E8-918C-15CB9CC2D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3" y="5715000"/>
            <a:ext cx="17795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false positives</a:t>
            </a: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92EA24D3-56E2-4217-B561-4C96F0EAD0A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996156" y="3178969"/>
            <a:ext cx="1878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false negatives</a:t>
            </a:r>
          </a:p>
        </p:txBody>
      </p:sp>
      <p:sp>
        <p:nvSpPr>
          <p:cNvPr id="110599" name="Arc 7">
            <a:extLst>
              <a:ext uri="{FF2B5EF4-FFF2-40B4-BE49-F238E27FC236}">
                <a16:creationId xmlns:a16="http://schemas.microsoft.com/office/drawing/2014/main" id="{C33A3BDE-10C3-4BC8-A6A7-22751FD67195}"/>
              </a:ext>
            </a:extLst>
          </p:cNvPr>
          <p:cNvSpPr>
            <a:spLocks/>
          </p:cNvSpPr>
          <p:nvPr/>
        </p:nvSpPr>
        <p:spPr bwMode="auto">
          <a:xfrm>
            <a:off x="3048000" y="2133600"/>
            <a:ext cx="3048000" cy="2819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9CFFCAA0-03B4-4E8E-9708-42AEF975B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Performance Evaluation: Accuracy/Coverage</a:t>
            </a:r>
          </a:p>
        </p:txBody>
      </p:sp>
      <p:sp>
        <p:nvSpPr>
          <p:cNvPr id="111619" name="Line 3">
            <a:extLst>
              <a:ext uri="{FF2B5EF4-FFF2-40B4-BE49-F238E27FC236}">
                <a16:creationId xmlns:a16="http://schemas.microsoft.com/office/drawing/2014/main" id="{5660D9D3-3DA3-4E30-97B8-BC46A9A94F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15240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0" name="Line 4">
            <a:extLst>
              <a:ext uri="{FF2B5EF4-FFF2-40B4-BE49-F238E27FC236}">
                <a16:creationId xmlns:a16="http://schemas.microsoft.com/office/drawing/2014/main" id="{6CD40596-E2DD-475D-8BAD-D925E9B15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5638800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05B04747-9FE8-4EAE-BED1-41AFDA0C6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791200"/>
            <a:ext cx="1228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coverage</a:t>
            </a:r>
          </a:p>
        </p:txBody>
      </p:sp>
      <p:sp>
        <p:nvSpPr>
          <p:cNvPr id="111622" name="Text Box 6">
            <a:extLst>
              <a:ext uri="{FF2B5EF4-FFF2-40B4-BE49-F238E27FC236}">
                <a16:creationId xmlns:a16="http://schemas.microsoft.com/office/drawing/2014/main" id="{7388C190-6C18-4571-BC17-4FFC9F9E96F4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77851" y="3398837"/>
            <a:ext cx="2711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2000"/>
              <a:t>classification accuracy</a:t>
            </a:r>
          </a:p>
        </p:txBody>
      </p:sp>
      <p:sp>
        <p:nvSpPr>
          <p:cNvPr id="111623" name="Arc 7">
            <a:extLst>
              <a:ext uri="{FF2B5EF4-FFF2-40B4-BE49-F238E27FC236}">
                <a16:creationId xmlns:a16="http://schemas.microsoft.com/office/drawing/2014/main" id="{2415B717-F92E-4347-BF98-53ADB34ADE51}"/>
              </a:ext>
            </a:extLst>
          </p:cNvPr>
          <p:cNvSpPr>
            <a:spLocks/>
          </p:cNvSpPr>
          <p:nvPr/>
        </p:nvSpPr>
        <p:spPr bwMode="auto">
          <a:xfrm rot="5400000" flipV="1">
            <a:off x="3505200" y="1219200"/>
            <a:ext cx="2057400" cy="3581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63"/>
              <a:gd name="T1" fmla="*/ 0 h 21600"/>
              <a:gd name="T2" fmla="*/ 21563 w 21563"/>
              <a:gd name="T3" fmla="*/ 20335 h 21600"/>
              <a:gd name="T4" fmla="*/ 0 w 215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63" h="21600" fill="none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</a:path>
              <a:path w="21563" h="21600" stroke="0" extrusionOk="0">
                <a:moveTo>
                  <a:pt x="-1" y="0"/>
                </a:moveTo>
                <a:cubicBezTo>
                  <a:pt x="11438" y="0"/>
                  <a:pt x="20893" y="8916"/>
                  <a:pt x="21562" y="20335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9FB9D75B-087C-4028-9F12-17DF82BE8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Triple Tradeoff in Empirical Learning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C4833363-2D35-432F-843A-005CCB05A4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size/complexity of learned classifier</a:t>
            </a:r>
          </a:p>
          <a:p>
            <a:r>
              <a:rPr lang="en-US" altLang="en-US" sz="2400"/>
              <a:t>amount of training data</a:t>
            </a:r>
          </a:p>
          <a:p>
            <a:r>
              <a:rPr lang="en-US" altLang="en-US" sz="2400"/>
              <a:t>generalization accuracy</a:t>
            </a:r>
          </a:p>
          <a:p>
            <a:endParaRPr lang="en-US" altLang="en-US" sz="2400"/>
          </a:p>
          <a:p>
            <a:pPr>
              <a:buFontTx/>
              <a:buNone/>
            </a:pPr>
            <a:r>
              <a:rPr lang="en-US" altLang="en-US" sz="2400" i="1"/>
              <a:t>	</a:t>
            </a:r>
            <a:r>
              <a:rPr lang="en-US" altLang="en-US" sz="2400" i="1">
                <a:solidFill>
                  <a:srgbClr val="FF0000"/>
                </a:solidFill>
              </a:rPr>
              <a:t>bias-variance tradeoff</a:t>
            </a:r>
          </a:p>
        </p:txBody>
      </p:sp>
      <p:pic>
        <p:nvPicPr>
          <p:cNvPr id="112644" name="Picture 4">
            <a:extLst>
              <a:ext uri="{FF2B5EF4-FFF2-40B4-BE49-F238E27FC236}">
                <a16:creationId xmlns:a16="http://schemas.microsoft.com/office/drawing/2014/main" id="{06D7B62D-A486-4895-A993-0EB66D233E9A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1828800"/>
            <a:ext cx="3886200" cy="31242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EC181DC-F4B9-4F7F-BF6A-AF65842D9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Computational Learning Theory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5466750D-CF3D-4190-9320-F8DA43630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7924800" cy="4495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probably approximately correct (PAC) learning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	</a:t>
            </a:r>
            <a:r>
              <a:rPr lang="en-US" altLang="en-US" sz="2400"/>
              <a:t>With probability </a:t>
            </a:r>
            <a:r>
              <a:rPr lang="en-US" altLang="en-US" sz="2400">
                <a:sym typeface="Symbol" panose="05050102010706020507" pitchFamily="18" charset="2"/>
              </a:rPr>
              <a:t></a:t>
            </a:r>
            <a:r>
              <a:rPr lang="en-US" altLang="en-US" sz="2400"/>
              <a:t> 1 - </a:t>
            </a:r>
            <a:r>
              <a:rPr lang="en-US" altLang="en-US" sz="2400">
                <a:sym typeface="Symbol" panose="05050102010706020507" pitchFamily="18" charset="2"/>
              </a:rPr>
              <a:t>, error will be  .</a:t>
            </a:r>
            <a:endParaRPr lang="en-US" altLang="en-US" sz="2400" i="1"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	</a:t>
            </a:r>
            <a:endParaRPr lang="en-US" altLang="en-US" sz="2400" i="1" u="sng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 u="sng"/>
              <a:t>Basic principle</a:t>
            </a:r>
            <a:r>
              <a:rPr lang="en-US" altLang="en-US" sz="2400"/>
              <a:t>: Any hypothesis that is seriously wrong will almost certainly be found out with high probability after a small number of examples.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i="1"/>
              <a:t>Key Concepts</a:t>
            </a:r>
          </a:p>
          <a:p>
            <a:pPr>
              <a:lnSpc>
                <a:spcPct val="80000"/>
              </a:lnSpc>
            </a:pPr>
            <a:r>
              <a:rPr lang="en-US" altLang="en-US" sz="2400"/>
              <a:t>examples drawn from same distribution (</a:t>
            </a:r>
            <a:r>
              <a:rPr lang="en-US" altLang="en-US" sz="2400" i="1"/>
              <a:t>stationarity assumption</a:t>
            </a:r>
            <a:r>
              <a:rPr lang="en-US" altLang="en-US" sz="2400"/>
              <a:t>)</a:t>
            </a:r>
            <a:endParaRPr lang="en-US" altLang="en-US" sz="2400" i="1"/>
          </a:p>
          <a:p>
            <a:pPr>
              <a:lnSpc>
                <a:spcPct val="80000"/>
              </a:lnSpc>
            </a:pPr>
            <a:r>
              <a:rPr lang="en-US" altLang="en-US" sz="2400" i="1"/>
              <a:t>sample complexity</a:t>
            </a:r>
            <a:r>
              <a:rPr lang="en-US" altLang="en-US" sz="2400"/>
              <a:t> is a function of confidence, error, and </a:t>
            </a:r>
            <a:r>
              <a:rPr lang="en-US" altLang="en-US" sz="2400" i="1"/>
              <a:t>size of hypothesis space</a:t>
            </a:r>
            <a:endParaRPr lang="en-US" altLang="en-US" sz="2400">
              <a:sym typeface="Symbol" panose="05050102010706020507" pitchFamily="18" charset="2"/>
            </a:endParaRPr>
          </a:p>
        </p:txBody>
      </p:sp>
      <p:graphicFrame>
        <p:nvGraphicFramePr>
          <p:cNvPr id="113668" name="Object 4">
            <a:extLst>
              <a:ext uri="{FF2B5EF4-FFF2-40B4-BE49-F238E27FC236}">
                <a16:creationId xmlns:a16="http://schemas.microsoft.com/office/drawing/2014/main" id="{689A0043-5169-4F08-B166-961BE5456E27}"/>
              </a:ext>
            </a:extLst>
          </p:cNvPr>
          <p:cNvGraphicFramePr>
            <a:graphicFrameLocks noChangeAspect="1"/>
          </p:cNvGraphicFramePr>
          <p:nvPr>
            <p:ph sz="half" idx="4294967295"/>
          </p:nvPr>
        </p:nvGraphicFramePr>
        <p:xfrm>
          <a:off x="3048000" y="5334000"/>
          <a:ext cx="2590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0" name="Equation" r:id="rId3" imgW="1320480" imgH="393480" progId="Equation.3">
                  <p:embed/>
                </p:oleObj>
              </mc:Choice>
              <mc:Fallback>
                <p:oleObj name="Equation" r:id="rId3" imgW="132048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334000"/>
                        <a:ext cx="2590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Rectangle 5">
            <a:extLst>
              <a:ext uri="{FF2B5EF4-FFF2-40B4-BE49-F238E27FC236}">
                <a16:creationId xmlns:a16="http://schemas.microsoft.com/office/drawing/2014/main" id="{A2489F3E-46E9-4381-9088-01C547CCD029}"/>
              </a:ext>
            </a:extLst>
          </p:cNvPr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1"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Rectangle 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9D0AAFA6-4EB2-4AC7-B9AD-0E841BE4A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Current Machine Learning Research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7B50632-7DAF-4D68-82F6-76FCC8986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Representation</a:t>
            </a:r>
          </a:p>
          <a:p>
            <a:pPr lvl="1"/>
            <a:r>
              <a:rPr lang="en-US" altLang="en-US" sz="2000"/>
              <a:t>data sequences</a:t>
            </a:r>
          </a:p>
          <a:p>
            <a:pPr lvl="1"/>
            <a:r>
              <a:rPr lang="en-US" altLang="en-US" sz="2000"/>
              <a:t>spatial/temporal data</a:t>
            </a:r>
          </a:p>
          <a:p>
            <a:pPr lvl="1"/>
            <a:r>
              <a:rPr lang="en-US" altLang="en-US" sz="2000"/>
              <a:t>probabilistic relational models</a:t>
            </a:r>
          </a:p>
          <a:p>
            <a:pPr lvl="1"/>
            <a:r>
              <a:rPr lang="en-US" altLang="en-US" sz="2000"/>
              <a:t>…</a:t>
            </a:r>
          </a:p>
          <a:p>
            <a:r>
              <a:rPr lang="en-US" altLang="en-US" sz="2400"/>
              <a:t>Approaches</a:t>
            </a:r>
          </a:p>
          <a:p>
            <a:pPr lvl="1"/>
            <a:r>
              <a:rPr lang="en-US" altLang="en-US" sz="2000"/>
              <a:t>ensemble methods</a:t>
            </a:r>
          </a:p>
          <a:p>
            <a:pPr lvl="1"/>
            <a:r>
              <a:rPr lang="en-US" altLang="en-US" sz="2000"/>
              <a:t>cost-sensitive learning</a:t>
            </a:r>
          </a:p>
          <a:p>
            <a:pPr lvl="1"/>
            <a:r>
              <a:rPr lang="en-US" altLang="en-US" sz="2000"/>
              <a:t>active learning</a:t>
            </a:r>
          </a:p>
          <a:p>
            <a:pPr lvl="1"/>
            <a:r>
              <a:rPr lang="en-US" altLang="en-US" sz="2000"/>
              <a:t>semi-supervised learning</a:t>
            </a:r>
          </a:p>
          <a:p>
            <a:pPr lvl="1"/>
            <a:r>
              <a:rPr lang="en-US" altLang="en-US" sz="2000"/>
              <a:t>collective classification</a:t>
            </a:r>
          </a:p>
          <a:p>
            <a:pPr lvl="1"/>
            <a:r>
              <a:rPr lang="en-US" altLang="en-US" sz="2000"/>
              <a:t>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2620</Words>
  <Application>Microsoft Office PowerPoint</Application>
  <PresentationFormat>On-screen Show (4:3)</PresentationFormat>
  <Paragraphs>407</Paragraphs>
  <Slides>54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Times</vt:lpstr>
      <vt:lpstr>Symbol</vt:lpstr>
      <vt:lpstr>Times New Roman</vt:lpstr>
      <vt:lpstr>Comic Sans MS</vt:lpstr>
      <vt:lpstr>Blank Presentation</vt:lpstr>
      <vt:lpstr>Microsoft Equation 3.0</vt:lpstr>
      <vt:lpstr>Machine Learning: An Overview</vt:lpstr>
      <vt:lpstr>Sources</vt:lpstr>
      <vt:lpstr>What is Learning?</vt:lpstr>
      <vt:lpstr>Why Machine Learning?</vt:lpstr>
      <vt:lpstr>Related Fields</vt:lpstr>
      <vt:lpstr>Machine Learning Paradigms </vt:lpstr>
      <vt:lpstr>Architecture of a Learning System</vt:lpstr>
      <vt:lpstr>Learning Element</vt:lpstr>
      <vt:lpstr>Dimensions of Learning Systems</vt:lpstr>
      <vt:lpstr>Outline</vt:lpstr>
      <vt:lpstr>Inductive (Supervised) Learning</vt:lpstr>
      <vt:lpstr>Decision Trees</vt:lpstr>
      <vt:lpstr>Decision Tree Induction</vt:lpstr>
      <vt:lpstr>Decision Tree Induction: Attribute Selection</vt:lpstr>
      <vt:lpstr>Decision Tree Induction: Attribute Selection</vt:lpstr>
      <vt:lpstr>Decision Tree Induction: Decision Boundary</vt:lpstr>
      <vt:lpstr>Decision Tree Induction: Decision Boundary</vt:lpstr>
      <vt:lpstr>Decision Tree Induction: Decision Boundary</vt:lpstr>
      <vt:lpstr>Decision Tree Induction: Decision Boundary</vt:lpstr>
      <vt:lpstr>(Artificial) Neural Networks</vt:lpstr>
      <vt:lpstr>Neural Networks (continued)</vt:lpstr>
      <vt:lpstr>Neural Network Learning</vt:lpstr>
      <vt:lpstr>Neural Network Learning: Decision Boundary</vt:lpstr>
      <vt:lpstr>Support Vector Machines</vt:lpstr>
      <vt:lpstr>Support Vector Machines (continued)</vt:lpstr>
      <vt:lpstr>Support Vector Machines: Decision Boundary</vt:lpstr>
      <vt:lpstr>Bayesian Networks</vt:lpstr>
      <vt:lpstr>Bayesian Network Learning</vt:lpstr>
      <vt:lpstr>Bayesian Network Learning (continued)</vt:lpstr>
      <vt:lpstr>Nearest Neighbor Models</vt:lpstr>
      <vt:lpstr>Nearest Neighbor Model: Decision Boundary</vt:lpstr>
      <vt:lpstr>Learning Logical Theories</vt:lpstr>
      <vt:lpstr>Learning Logic Theories: Example</vt:lpstr>
      <vt:lpstr>Learning Logic Theories</vt:lpstr>
      <vt:lpstr>Learning Logic Theories: Decision Boundary</vt:lpstr>
      <vt:lpstr>Learning Logic Theories: Decision Boundary</vt:lpstr>
      <vt:lpstr>Learning Logic Theories: Decision Boundary</vt:lpstr>
      <vt:lpstr>Learning Logic Theories: Decision Boundary</vt:lpstr>
      <vt:lpstr>Learning Logic Theories: Decision Boundary</vt:lpstr>
      <vt:lpstr>Analytical Learning</vt:lpstr>
      <vt:lpstr>Explanation-Based Learning</vt:lpstr>
      <vt:lpstr>Relevance-Based Learning</vt:lpstr>
      <vt:lpstr>Knowledge-Based Inductive Learning</vt:lpstr>
      <vt:lpstr>Reinforcement Learning</vt:lpstr>
      <vt:lpstr>Reinforcement Learning (continued)</vt:lpstr>
      <vt:lpstr>Reinforcement Learning (continued)</vt:lpstr>
      <vt:lpstr>Unsupervised Learning</vt:lpstr>
      <vt:lpstr>Performance Evaluation</vt:lpstr>
      <vt:lpstr>Performance Evaluation: Learning Curves</vt:lpstr>
      <vt:lpstr>Performance Evaluation: ROC Curves</vt:lpstr>
      <vt:lpstr>Performance Evaluation: Accuracy/Coverage</vt:lpstr>
      <vt:lpstr>Triple Tradeoff in Empirical Learning</vt:lpstr>
      <vt:lpstr>Computational Learning Theory</vt:lpstr>
      <vt:lpstr>Current Machine Learning Research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An Overview</dc:title>
  <dc:creator>Melinda T. Gervasio</dc:creator>
  <cp:lastModifiedBy>kiritdani57@gmail.com</cp:lastModifiedBy>
  <cp:revision>1</cp:revision>
  <dcterms:created xsi:type="dcterms:W3CDTF">2004-06-08T19:56:03Z</dcterms:created>
  <dcterms:modified xsi:type="dcterms:W3CDTF">2021-02-12T07:22:36Z</dcterms:modified>
</cp:coreProperties>
</file>