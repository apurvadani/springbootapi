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handoutMasterIdLst>
    <p:handoutMasterId r:id="rId57"/>
  </p:handoutMasterIdLst>
  <p:sldIdLst>
    <p:sldId id="256" r:id="rId2"/>
    <p:sldId id="257" r:id="rId3"/>
    <p:sldId id="258" r:id="rId4"/>
    <p:sldId id="291" r:id="rId5"/>
    <p:sldId id="259" r:id="rId6"/>
    <p:sldId id="260" r:id="rId7"/>
    <p:sldId id="261" r:id="rId8"/>
    <p:sldId id="262" r:id="rId9"/>
    <p:sldId id="290" r:id="rId10"/>
    <p:sldId id="292" r:id="rId11"/>
    <p:sldId id="263" r:id="rId12"/>
    <p:sldId id="264" r:id="rId13"/>
    <p:sldId id="265" r:id="rId14"/>
    <p:sldId id="293" r:id="rId15"/>
    <p:sldId id="266" r:id="rId16"/>
    <p:sldId id="267" r:id="rId17"/>
    <p:sldId id="294" r:id="rId18"/>
    <p:sldId id="268" r:id="rId19"/>
    <p:sldId id="269" r:id="rId20"/>
    <p:sldId id="270" r:id="rId21"/>
    <p:sldId id="295" r:id="rId22"/>
    <p:sldId id="271" r:id="rId23"/>
    <p:sldId id="272" r:id="rId24"/>
    <p:sldId id="273" r:id="rId25"/>
    <p:sldId id="296" r:id="rId26"/>
    <p:sldId id="297" r:id="rId27"/>
    <p:sldId id="298" r:id="rId28"/>
    <p:sldId id="274" r:id="rId29"/>
    <p:sldId id="300" r:id="rId30"/>
    <p:sldId id="299" r:id="rId31"/>
    <p:sldId id="277" r:id="rId32"/>
    <p:sldId id="301" r:id="rId33"/>
    <p:sldId id="278" r:id="rId34"/>
    <p:sldId id="279" r:id="rId35"/>
    <p:sldId id="280" r:id="rId36"/>
    <p:sldId id="282" r:id="rId37"/>
    <p:sldId id="302" r:id="rId38"/>
    <p:sldId id="303" r:id="rId39"/>
    <p:sldId id="304" r:id="rId40"/>
    <p:sldId id="305" r:id="rId41"/>
    <p:sldId id="283" r:id="rId42"/>
    <p:sldId id="307" r:id="rId43"/>
    <p:sldId id="308" r:id="rId44"/>
    <p:sldId id="306" r:id="rId45"/>
    <p:sldId id="286" r:id="rId46"/>
    <p:sldId id="310" r:id="rId47"/>
    <p:sldId id="312" r:id="rId48"/>
    <p:sldId id="315" r:id="rId49"/>
    <p:sldId id="313" r:id="rId50"/>
    <p:sldId id="314" r:id="rId51"/>
    <p:sldId id="311" r:id="rId52"/>
    <p:sldId id="288" r:id="rId53"/>
    <p:sldId id="289" r:id="rId54"/>
    <p:sldId id="309" r:id="rId55"/>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957" autoAdjust="0"/>
    <p:restoredTop sz="72173" autoAdjust="0"/>
  </p:normalViewPr>
  <p:slideViewPr>
    <p:cSldViewPr>
      <p:cViewPr varScale="1">
        <p:scale>
          <a:sx n="49" d="100"/>
          <a:sy n="49" d="100"/>
        </p:scale>
        <p:origin x="1320" y="48"/>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_rels/viewProps.xml.rels><?xml version="1.0" encoding="UTF-8" standalone="yes"?>
<Relationships xmlns="http://schemas.openxmlformats.org/package/2006/relationships"><Relationship Id="rId1" Type="http://schemas.openxmlformats.org/officeDocument/2006/relationships/slide" Target="slides/slide3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A0364FFB-1C86-472B-ADC0-2565F2ACB2E3}"/>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98307" name="Rectangle 3">
            <a:extLst>
              <a:ext uri="{FF2B5EF4-FFF2-40B4-BE49-F238E27FC236}">
                <a16:creationId xmlns:a16="http://schemas.microsoft.com/office/drawing/2014/main" id="{6FB7CEC7-E96D-485F-8275-F56EF237E744}"/>
              </a:ext>
            </a:extLst>
          </p:cNvPr>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98308" name="Rectangle 4">
            <a:extLst>
              <a:ext uri="{FF2B5EF4-FFF2-40B4-BE49-F238E27FC236}">
                <a16:creationId xmlns:a16="http://schemas.microsoft.com/office/drawing/2014/main" id="{748A8E9A-30D8-4704-9B09-7DA4BF70FB9D}"/>
              </a:ext>
            </a:extLst>
          </p:cNvPr>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98309" name="Rectangle 5">
            <a:extLst>
              <a:ext uri="{FF2B5EF4-FFF2-40B4-BE49-F238E27FC236}">
                <a16:creationId xmlns:a16="http://schemas.microsoft.com/office/drawing/2014/main" id="{0CC5AD02-3C66-4CD6-AE50-AE2BD5899792}"/>
              </a:ext>
            </a:extLst>
          </p:cNvPr>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FC4F6D9B-CE46-468F-9D80-99C7901B5208}"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EB234E35-8900-4118-AFAA-1826B5179187}"/>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36867" name="Rectangle 3">
            <a:extLst>
              <a:ext uri="{FF2B5EF4-FFF2-40B4-BE49-F238E27FC236}">
                <a16:creationId xmlns:a16="http://schemas.microsoft.com/office/drawing/2014/main" id="{2B0B78D0-3430-4B3D-9978-82865071E4A0}"/>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36868" name="Rectangle 4">
            <a:extLst>
              <a:ext uri="{FF2B5EF4-FFF2-40B4-BE49-F238E27FC236}">
                <a16:creationId xmlns:a16="http://schemas.microsoft.com/office/drawing/2014/main" id="{DF0067A9-2D93-482B-88A1-7A8C3827CE89}"/>
              </a:ext>
            </a:extLst>
          </p:cNvPr>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6869" name="Rectangle 5">
            <a:extLst>
              <a:ext uri="{FF2B5EF4-FFF2-40B4-BE49-F238E27FC236}">
                <a16:creationId xmlns:a16="http://schemas.microsoft.com/office/drawing/2014/main" id="{D506C9A9-72B9-4B7E-AAF1-417A24494307}"/>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6870" name="Rectangle 6">
            <a:extLst>
              <a:ext uri="{FF2B5EF4-FFF2-40B4-BE49-F238E27FC236}">
                <a16:creationId xmlns:a16="http://schemas.microsoft.com/office/drawing/2014/main" id="{966EA7CB-AEA4-46FB-8968-D3EDC8190A0B}"/>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36871" name="Rectangle 7">
            <a:extLst>
              <a:ext uri="{FF2B5EF4-FFF2-40B4-BE49-F238E27FC236}">
                <a16:creationId xmlns:a16="http://schemas.microsoft.com/office/drawing/2014/main" id="{79611EE4-89BD-45FD-A2EC-81702E4296B8}"/>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20639D90-7E45-4D94-84E4-F21AFD4EAD6A}"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057CF43-6C96-44FA-95C5-1C017C9BC20A}"/>
              </a:ext>
            </a:extLst>
          </p:cNvPr>
          <p:cNvSpPr>
            <a:spLocks noGrp="1" noChangeArrowheads="1"/>
          </p:cNvSpPr>
          <p:nvPr>
            <p:ph type="sldNum" sz="quarter" idx="5"/>
          </p:nvPr>
        </p:nvSpPr>
        <p:spPr>
          <a:ln/>
        </p:spPr>
        <p:txBody>
          <a:bodyPr/>
          <a:lstStyle/>
          <a:p>
            <a:fld id="{9034CF61-E311-4330-8F23-A1BE4C995C8A}" type="slidenum">
              <a:rPr lang="en-US" altLang="en-US"/>
              <a:pPr/>
              <a:t>4</a:t>
            </a:fld>
            <a:endParaRPr lang="en-US" altLang="en-US"/>
          </a:p>
        </p:txBody>
      </p:sp>
      <p:sp>
        <p:nvSpPr>
          <p:cNvPr id="44034" name="Rectangle 1026">
            <a:extLst>
              <a:ext uri="{FF2B5EF4-FFF2-40B4-BE49-F238E27FC236}">
                <a16:creationId xmlns:a16="http://schemas.microsoft.com/office/drawing/2014/main" id="{3333BA57-402A-4EA8-B395-00B5001BFD5B}"/>
              </a:ext>
            </a:extLst>
          </p:cNvPr>
          <p:cNvSpPr>
            <a:spLocks noChangeArrowheads="1" noTextEdit="1"/>
          </p:cNvSpPr>
          <p:nvPr>
            <p:ph type="sldImg"/>
          </p:nvPr>
        </p:nvSpPr>
        <p:spPr>
          <a:ln/>
        </p:spPr>
      </p:sp>
      <p:sp>
        <p:nvSpPr>
          <p:cNvPr id="44035" name="Rectangle 1027">
            <a:extLst>
              <a:ext uri="{FF2B5EF4-FFF2-40B4-BE49-F238E27FC236}">
                <a16:creationId xmlns:a16="http://schemas.microsoft.com/office/drawing/2014/main" id="{A2B68E6A-4457-4D5F-8792-E0CB48F0F576}"/>
              </a:ext>
            </a:extLst>
          </p:cNvPr>
          <p:cNvSpPr>
            <a:spLocks noGrp="1" noChangeArrowheads="1"/>
          </p:cNvSpPr>
          <p:nvPr>
            <p:ph type="body" idx="1"/>
          </p:nvPr>
        </p:nvSpPr>
        <p:spPr/>
        <p:txBody>
          <a:bodyPr/>
          <a:lstStyle/>
          <a:p>
            <a:r>
              <a:rPr lang="en-US" altLang="en-US"/>
              <a:t>Why MT – the Tower of Babel</a:t>
            </a:r>
          </a:p>
          <a:p>
            <a:endParaRPr lang="en-US" altLang="en-US"/>
          </a:p>
          <a:p>
            <a:r>
              <a:rPr lang="en-US" altLang="en-US"/>
              <a:t>The idea of MT actually began before there was computers.  Ideas of a translation machine began in 1700s, first patented in 1930 – two decades before the earliest computers.</a:t>
            </a:r>
          </a:p>
          <a:p>
            <a:r>
              <a:rPr lang="en-US" altLang="en-US"/>
              <a:t>Purported that humans are primarily the same</a:t>
            </a:r>
          </a:p>
          <a:p>
            <a:r>
              <a:rPr lang="en-US" altLang="en-US"/>
              <a:t>A document written in one language could be viewed as being a coded version of another language.</a:t>
            </a:r>
          </a:p>
          <a:p>
            <a:r>
              <a:rPr lang="en-US" altLang="en-US"/>
              <a:t>Once the code was broken, translation of a language would be fairly simple.</a:t>
            </a:r>
          </a:p>
          <a:p>
            <a:r>
              <a:rPr lang="en-US" altLang="en-US"/>
              <a:t>Knowledge of target language was assumed to be enough for success</a:t>
            </a:r>
          </a:p>
          <a:p>
            <a:r>
              <a:rPr lang="en-US" altLang="en-US"/>
              <a:t>It was soon realized that translation was extremely difficult and complex.</a:t>
            </a:r>
          </a:p>
          <a:p>
            <a:r>
              <a:rPr lang="en-US" altLang="en-US"/>
              <a:t>It also proved difficult to encode knowledge of their native language.</a:t>
            </a:r>
          </a:p>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FE6342F-8362-49AC-970E-508C0F0629C0}"/>
              </a:ext>
            </a:extLst>
          </p:cNvPr>
          <p:cNvSpPr>
            <a:spLocks noGrp="1" noChangeArrowheads="1"/>
          </p:cNvSpPr>
          <p:nvPr>
            <p:ph type="sldNum" sz="quarter" idx="5"/>
          </p:nvPr>
        </p:nvSpPr>
        <p:spPr>
          <a:ln/>
        </p:spPr>
        <p:txBody>
          <a:bodyPr/>
          <a:lstStyle/>
          <a:p>
            <a:fld id="{B377B78F-2DD4-42F9-8D35-BEC12835A447}" type="slidenum">
              <a:rPr lang="en-US" altLang="en-US"/>
              <a:pPr/>
              <a:t>5</a:t>
            </a:fld>
            <a:endParaRPr lang="en-US" altLang="en-US"/>
          </a:p>
        </p:txBody>
      </p:sp>
      <p:sp>
        <p:nvSpPr>
          <p:cNvPr id="37890" name="Rectangle 2">
            <a:extLst>
              <a:ext uri="{FF2B5EF4-FFF2-40B4-BE49-F238E27FC236}">
                <a16:creationId xmlns:a16="http://schemas.microsoft.com/office/drawing/2014/main" id="{A0CA5085-78A0-431C-A1A3-55C7F1D121A5}"/>
              </a:ext>
            </a:extLst>
          </p:cNvPr>
          <p:cNvSpPr>
            <a:spLocks noChangeArrowheads="1" noTextEdit="1"/>
          </p:cNvSpPr>
          <p:nvPr>
            <p:ph type="sldImg"/>
          </p:nvPr>
        </p:nvSpPr>
        <p:spPr>
          <a:ln/>
        </p:spPr>
      </p:sp>
      <p:sp>
        <p:nvSpPr>
          <p:cNvPr id="37891" name="Rectangle 3">
            <a:extLst>
              <a:ext uri="{FF2B5EF4-FFF2-40B4-BE49-F238E27FC236}">
                <a16:creationId xmlns:a16="http://schemas.microsoft.com/office/drawing/2014/main" id="{EBFF4737-169E-4C1E-A155-3B15303C5430}"/>
              </a:ext>
            </a:extLst>
          </p:cNvPr>
          <p:cNvSpPr>
            <a:spLocks noGrp="1" noChangeArrowheads="1"/>
          </p:cNvSpPr>
          <p:nvPr>
            <p:ph type="body" idx="1"/>
          </p:nvPr>
        </p:nvSpPr>
        <p:spPr/>
        <p:txBody>
          <a:bodyPr/>
          <a:lstStyle/>
          <a:p>
            <a:r>
              <a:rPr lang="en-US" altLang="en-US"/>
              <a:t>Taum-Meteo was first widespread MT translation systemt in use. Originated in 1977, now claim 97% accuracy</a:t>
            </a:r>
          </a:p>
          <a:p>
            <a:endParaRPr lang="en-US" altLang="en-US"/>
          </a:p>
          <a:p>
            <a:r>
              <a:rPr lang="en-US" altLang="en-US"/>
              <a:t>http://ourworld.compuserve.com/homepages/WJHutchins/</a:t>
            </a:r>
          </a:p>
          <a:p>
            <a:r>
              <a:rPr lang="en-US" altLang="en-US"/>
              <a:t>W.John Hutchins  (University of East Anglia, Norwich, England) is a guru in MT, and has lots of info on the website.  For the most part, we’ll stick to the book.</a:t>
            </a:r>
          </a:p>
          <a:p>
            <a:endParaRPr lang="en-US" altLang="en-US"/>
          </a:p>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9EEE57E-B24F-4D32-833F-69BEF4DD608A}"/>
              </a:ext>
            </a:extLst>
          </p:cNvPr>
          <p:cNvSpPr>
            <a:spLocks noGrp="1" noChangeArrowheads="1"/>
          </p:cNvSpPr>
          <p:nvPr>
            <p:ph type="sldNum" sz="quarter" idx="5"/>
          </p:nvPr>
        </p:nvSpPr>
        <p:spPr>
          <a:ln/>
        </p:spPr>
        <p:txBody>
          <a:bodyPr/>
          <a:lstStyle/>
          <a:p>
            <a:fld id="{E669E1DA-E2FC-467D-98C4-2CD87D875E7C}" type="slidenum">
              <a:rPr lang="en-US" altLang="en-US"/>
              <a:pPr/>
              <a:t>6</a:t>
            </a:fld>
            <a:endParaRPr lang="en-US" altLang="en-US"/>
          </a:p>
        </p:txBody>
      </p:sp>
      <p:sp>
        <p:nvSpPr>
          <p:cNvPr id="38914" name="Rectangle 2">
            <a:extLst>
              <a:ext uri="{FF2B5EF4-FFF2-40B4-BE49-F238E27FC236}">
                <a16:creationId xmlns:a16="http://schemas.microsoft.com/office/drawing/2014/main" id="{6EBB2E4C-5503-4931-9EE1-77F23544C362}"/>
              </a:ext>
            </a:extLst>
          </p:cNvPr>
          <p:cNvSpPr>
            <a:spLocks noChangeArrowheads="1" noTextEdit="1"/>
          </p:cNvSpPr>
          <p:nvPr>
            <p:ph type="sldImg"/>
          </p:nvPr>
        </p:nvSpPr>
        <p:spPr>
          <a:ln/>
        </p:spPr>
      </p:sp>
      <p:sp>
        <p:nvSpPr>
          <p:cNvPr id="38915" name="Rectangle 3">
            <a:extLst>
              <a:ext uri="{FF2B5EF4-FFF2-40B4-BE49-F238E27FC236}">
                <a16:creationId xmlns:a16="http://schemas.microsoft.com/office/drawing/2014/main" id="{13707D29-6733-4AB7-A596-9B79F2824F9A}"/>
              </a:ext>
            </a:extLst>
          </p:cNvPr>
          <p:cNvSpPr>
            <a:spLocks noGrp="1" noChangeArrowheads="1"/>
          </p:cNvSpPr>
          <p:nvPr>
            <p:ph type="body" idx="1"/>
          </p:nvPr>
        </p:nvSpPr>
        <p:spPr/>
        <p:txBody>
          <a:bodyPr/>
          <a:lstStyle/>
          <a:p>
            <a:r>
              <a:rPr lang="en-US" altLang="en-US"/>
              <a:t>Dictionary: Need 20K to 100K words and grammars from 100 to 10K rules, and ability to expand</a:t>
            </a:r>
          </a:p>
          <a:p>
            <a:r>
              <a:rPr lang="en-US" altLang="en-US"/>
              <a:t>Word Translation: ex. English word “open” used for a variety of concepts – job offerings, “Now Open” in front of a store, open questions, etc.  All translate into different words in German.</a:t>
            </a:r>
          </a:p>
          <a:p>
            <a:r>
              <a:rPr lang="en-US" altLang="en-US"/>
              <a:t>Lexicons:  plurals, compouded words (bookkeeper), unionizable and untieable, adding -ness</a:t>
            </a:r>
          </a:p>
          <a:p>
            <a:r>
              <a:rPr lang="en-US" altLang="en-US"/>
              <a:t>Ambiguity:  is “walks” the plural of “walk”, or the third-person singular form of walk?</a:t>
            </a:r>
          </a:p>
          <a:p>
            <a:r>
              <a:rPr lang="en-US" altLang="en-US"/>
              <a:t>Elements of language: ex. Choices of formality -- To use French </a:t>
            </a:r>
            <a:r>
              <a:rPr lang="en-US" altLang="en-US" i="1"/>
              <a:t>vous</a:t>
            </a:r>
            <a:r>
              <a:rPr lang="en-US" altLang="en-US"/>
              <a:t> or </a:t>
            </a:r>
            <a:r>
              <a:rPr lang="en-US" altLang="en-US" i="1"/>
              <a:t>tu</a:t>
            </a:r>
            <a:r>
              <a:rPr lang="en-US" altLang="en-US"/>
              <a:t> in a particular text.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0D7DA97-C095-4D2A-A94E-B38FF685BA09}"/>
              </a:ext>
            </a:extLst>
          </p:cNvPr>
          <p:cNvSpPr>
            <a:spLocks noGrp="1" noChangeArrowheads="1"/>
          </p:cNvSpPr>
          <p:nvPr>
            <p:ph type="sldNum" sz="quarter" idx="5"/>
          </p:nvPr>
        </p:nvSpPr>
        <p:spPr>
          <a:ln/>
        </p:spPr>
        <p:txBody>
          <a:bodyPr/>
          <a:lstStyle/>
          <a:p>
            <a:fld id="{2D052B51-2984-44FC-997D-2865954FDD4D}" type="slidenum">
              <a:rPr lang="en-US" altLang="en-US"/>
              <a:pPr/>
              <a:t>7</a:t>
            </a:fld>
            <a:endParaRPr lang="en-US" altLang="en-US"/>
          </a:p>
        </p:txBody>
      </p:sp>
      <p:sp>
        <p:nvSpPr>
          <p:cNvPr id="39938" name="Rectangle 2">
            <a:extLst>
              <a:ext uri="{FF2B5EF4-FFF2-40B4-BE49-F238E27FC236}">
                <a16:creationId xmlns:a16="http://schemas.microsoft.com/office/drawing/2014/main" id="{532C7D8D-1394-4842-B996-47D7F4DBB715}"/>
              </a:ext>
            </a:extLst>
          </p:cNvPr>
          <p:cNvSpPr>
            <a:spLocks noChangeArrowheads="1" noTextEdit="1"/>
          </p:cNvSpPr>
          <p:nvPr>
            <p:ph type="sldImg"/>
          </p:nvPr>
        </p:nvSpPr>
        <p:spPr>
          <a:ln/>
        </p:spPr>
      </p:sp>
      <p:sp>
        <p:nvSpPr>
          <p:cNvPr id="39939" name="Rectangle 3">
            <a:extLst>
              <a:ext uri="{FF2B5EF4-FFF2-40B4-BE49-F238E27FC236}">
                <a16:creationId xmlns:a16="http://schemas.microsoft.com/office/drawing/2014/main" id="{13D47ACA-FE23-47F5-AEFB-2E64850D801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D11AB03-89BB-47E3-B3AC-E28DCDABF1A1}"/>
              </a:ext>
            </a:extLst>
          </p:cNvPr>
          <p:cNvSpPr>
            <a:spLocks noGrp="1" noChangeArrowheads="1"/>
          </p:cNvSpPr>
          <p:nvPr>
            <p:ph type="sldNum" sz="quarter" idx="5"/>
          </p:nvPr>
        </p:nvSpPr>
        <p:spPr>
          <a:ln/>
        </p:spPr>
        <p:txBody>
          <a:bodyPr/>
          <a:lstStyle/>
          <a:p>
            <a:fld id="{9519D280-45BB-4C7E-9CEE-C974B7899DC8}" type="slidenum">
              <a:rPr lang="en-US" altLang="en-US"/>
              <a:pPr/>
              <a:t>8</a:t>
            </a:fld>
            <a:endParaRPr lang="en-US" altLang="en-US"/>
          </a:p>
        </p:txBody>
      </p:sp>
      <p:sp>
        <p:nvSpPr>
          <p:cNvPr id="40962" name="Rectangle 2">
            <a:extLst>
              <a:ext uri="{FF2B5EF4-FFF2-40B4-BE49-F238E27FC236}">
                <a16:creationId xmlns:a16="http://schemas.microsoft.com/office/drawing/2014/main" id="{0316A45C-7DD4-4D8C-B232-0885966DF9AF}"/>
              </a:ext>
            </a:extLst>
          </p:cNvPr>
          <p:cNvSpPr>
            <a:spLocks noChangeArrowheads="1" noTextEdit="1"/>
          </p:cNvSpPr>
          <p:nvPr>
            <p:ph type="sldImg"/>
          </p:nvPr>
        </p:nvSpPr>
        <p:spPr>
          <a:ln/>
        </p:spPr>
      </p:sp>
      <p:sp>
        <p:nvSpPr>
          <p:cNvPr id="40963" name="Rectangle 3">
            <a:extLst>
              <a:ext uri="{FF2B5EF4-FFF2-40B4-BE49-F238E27FC236}">
                <a16:creationId xmlns:a16="http://schemas.microsoft.com/office/drawing/2014/main" id="{991B7A56-DCF7-4D21-B893-D50505D1256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19D91C7-6CF8-4D33-9AE4-2F3F51C6205E}"/>
              </a:ext>
            </a:extLst>
          </p:cNvPr>
          <p:cNvSpPr>
            <a:spLocks noGrp="1" noChangeArrowheads="1"/>
          </p:cNvSpPr>
          <p:nvPr>
            <p:ph type="sldNum" sz="quarter" idx="5"/>
          </p:nvPr>
        </p:nvSpPr>
        <p:spPr>
          <a:ln/>
        </p:spPr>
        <p:txBody>
          <a:bodyPr/>
          <a:lstStyle/>
          <a:p>
            <a:fld id="{2D4D0E63-5D9D-48A8-B9CD-C71799B23B04}" type="slidenum">
              <a:rPr lang="en-US" altLang="en-US"/>
              <a:pPr/>
              <a:t>9</a:t>
            </a:fld>
            <a:endParaRPr lang="en-US" altLang="en-US"/>
          </a:p>
        </p:txBody>
      </p:sp>
      <p:sp>
        <p:nvSpPr>
          <p:cNvPr id="82946" name="Rectangle 2050">
            <a:extLst>
              <a:ext uri="{FF2B5EF4-FFF2-40B4-BE49-F238E27FC236}">
                <a16:creationId xmlns:a16="http://schemas.microsoft.com/office/drawing/2014/main" id="{472775F5-E0DF-42D5-A8F3-BDE14B6414FE}"/>
              </a:ext>
            </a:extLst>
          </p:cNvPr>
          <p:cNvSpPr>
            <a:spLocks noChangeArrowheads="1" noTextEdit="1"/>
          </p:cNvSpPr>
          <p:nvPr>
            <p:ph type="sldImg"/>
          </p:nvPr>
        </p:nvSpPr>
        <p:spPr>
          <a:ln/>
        </p:spPr>
      </p:sp>
      <p:sp>
        <p:nvSpPr>
          <p:cNvPr id="82947" name="Rectangle 2051">
            <a:extLst>
              <a:ext uri="{FF2B5EF4-FFF2-40B4-BE49-F238E27FC236}">
                <a16:creationId xmlns:a16="http://schemas.microsoft.com/office/drawing/2014/main" id="{9B5E0B22-0667-45D2-9F2F-0EACDFF62237}"/>
              </a:ext>
            </a:extLst>
          </p:cNvPr>
          <p:cNvSpPr>
            <a:spLocks noGrp="1" noChangeArrowheads="1"/>
          </p:cNvSpPr>
          <p:nvPr>
            <p:ph type="body" idx="1"/>
          </p:nvPr>
        </p:nvSpPr>
        <p:spPr/>
        <p:txBody>
          <a:bodyPr/>
          <a:lstStyle/>
          <a:p>
            <a:r>
              <a:rPr lang="en-US" altLang="en-US"/>
              <a:t>Add a slide for the target English (after our editing)</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7A98275-63FD-4C3E-A741-26AC4A9F720E}"/>
              </a:ext>
            </a:extLst>
          </p:cNvPr>
          <p:cNvSpPr>
            <a:spLocks noGrp="1" noChangeArrowheads="1"/>
          </p:cNvSpPr>
          <p:nvPr>
            <p:ph type="sldNum" sz="quarter" idx="5"/>
          </p:nvPr>
        </p:nvSpPr>
        <p:spPr>
          <a:ln/>
        </p:spPr>
        <p:txBody>
          <a:bodyPr/>
          <a:lstStyle/>
          <a:p>
            <a:fld id="{9CE7C5F7-4BD2-4E81-893B-44F29E3F2FED}" type="slidenum">
              <a:rPr lang="en-US" altLang="en-US"/>
              <a:pPr/>
              <a:t>10</a:t>
            </a:fld>
            <a:endParaRPr lang="en-US" altLang="en-US"/>
          </a:p>
        </p:txBody>
      </p:sp>
      <p:sp>
        <p:nvSpPr>
          <p:cNvPr id="46082" name="Rectangle 2050">
            <a:extLst>
              <a:ext uri="{FF2B5EF4-FFF2-40B4-BE49-F238E27FC236}">
                <a16:creationId xmlns:a16="http://schemas.microsoft.com/office/drawing/2014/main" id="{7F07FDDC-8E06-4298-8C9A-E62DB347E4FF}"/>
              </a:ext>
            </a:extLst>
          </p:cNvPr>
          <p:cNvSpPr>
            <a:spLocks noChangeArrowheads="1" noTextEdit="1"/>
          </p:cNvSpPr>
          <p:nvPr>
            <p:ph type="sldImg"/>
          </p:nvPr>
        </p:nvSpPr>
        <p:spPr>
          <a:ln/>
        </p:spPr>
      </p:sp>
      <p:sp>
        <p:nvSpPr>
          <p:cNvPr id="46083" name="Rectangle 2051">
            <a:extLst>
              <a:ext uri="{FF2B5EF4-FFF2-40B4-BE49-F238E27FC236}">
                <a16:creationId xmlns:a16="http://schemas.microsoft.com/office/drawing/2014/main" id="{58831700-DFA1-4E5E-A3B4-E79CB2377E46}"/>
              </a:ext>
            </a:extLst>
          </p:cNvPr>
          <p:cNvSpPr>
            <a:spLocks noGrp="1" noChangeArrowheads="1"/>
          </p:cNvSpPr>
          <p:nvPr>
            <p:ph type="body" idx="1"/>
          </p:nvPr>
        </p:nvSpPr>
        <p:spPr/>
        <p:txBody>
          <a:bodyPr/>
          <a:lstStyle/>
          <a:p>
            <a:r>
              <a:rPr lang="en-US" altLang="en-US"/>
              <a:t>Circa 1970, many databases were in use on mainframe systems.</a:t>
            </a:r>
          </a:p>
          <a:p>
            <a:r>
              <a:rPr lang="en-US" altLang="en-US"/>
              <a:t>They could only be accessed through complicated programs.</a:t>
            </a:r>
          </a:p>
          <a:p>
            <a:r>
              <a:rPr lang="en-US" altLang="en-US"/>
              <a:t>Operators could not keep up with the demand.</a:t>
            </a:r>
          </a:p>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FD2AA28-393F-4F33-8CA6-1DBDDF09AD9B}"/>
              </a:ext>
            </a:extLst>
          </p:cNvPr>
          <p:cNvSpPr>
            <a:spLocks noGrp="1" noChangeArrowheads="1"/>
          </p:cNvSpPr>
          <p:nvPr>
            <p:ph type="sldNum" sz="quarter" idx="5"/>
          </p:nvPr>
        </p:nvSpPr>
        <p:spPr>
          <a:ln/>
        </p:spPr>
        <p:txBody>
          <a:bodyPr/>
          <a:lstStyle/>
          <a:p>
            <a:fld id="{5E13E017-73E8-4BD2-8A44-DEA26C63430A}" type="slidenum">
              <a:rPr lang="en-US" altLang="en-US"/>
              <a:pPr/>
              <a:t>11</a:t>
            </a:fld>
            <a:endParaRPr lang="en-US" altLang="en-US"/>
          </a:p>
        </p:txBody>
      </p:sp>
      <p:sp>
        <p:nvSpPr>
          <p:cNvPr id="47106" name="Rectangle 2">
            <a:extLst>
              <a:ext uri="{FF2B5EF4-FFF2-40B4-BE49-F238E27FC236}">
                <a16:creationId xmlns:a16="http://schemas.microsoft.com/office/drawing/2014/main" id="{01128F35-1098-407C-B700-E8E51EFBDB03}"/>
              </a:ext>
            </a:extLst>
          </p:cNvPr>
          <p:cNvSpPr>
            <a:spLocks noChangeArrowheads="1" noTextEdit="1"/>
          </p:cNvSpPr>
          <p:nvPr>
            <p:ph type="sldImg"/>
          </p:nvPr>
        </p:nvSpPr>
        <p:spPr>
          <a:ln/>
        </p:spPr>
      </p:sp>
      <p:sp>
        <p:nvSpPr>
          <p:cNvPr id="47107" name="Rectangle 3">
            <a:extLst>
              <a:ext uri="{FF2B5EF4-FFF2-40B4-BE49-F238E27FC236}">
                <a16:creationId xmlns:a16="http://schemas.microsoft.com/office/drawing/2014/main" id="{AAD6A44A-4FBC-4D1F-A136-64E24B9F1863}"/>
              </a:ext>
            </a:extLst>
          </p:cNvPr>
          <p:cNvSpPr>
            <a:spLocks noGrp="1" noChangeArrowheads="1"/>
          </p:cNvSpPr>
          <p:nvPr>
            <p:ph type="body" idx="1"/>
          </p:nvPr>
        </p:nvSpPr>
        <p:spPr/>
        <p:txBody>
          <a:bodyPr/>
          <a:lstStyle/>
          <a:p>
            <a:r>
              <a:rPr lang="en-US" altLang="en-US"/>
              <a:t>LUNAR: The system was never put into real operation use but in one test had a 78% success rate.</a:t>
            </a:r>
          </a:p>
          <a:p>
            <a:r>
              <a:rPr lang="en-US" altLang="en-US"/>
              <a:t>LUNAR Eg: “What is the average modal plagioclase concentration for lunar samples that contain rubidium?”</a:t>
            </a:r>
          </a:p>
          <a:p>
            <a:endParaRPr lang="en-US" altLang="en-US"/>
          </a:p>
          <a:p>
            <a:r>
              <a:rPr lang="en-US" altLang="en-US"/>
              <a:t>CHAT: Generates the following answers about a geographical database:</a:t>
            </a:r>
          </a:p>
          <a:p>
            <a:r>
              <a:rPr lang="en-US" altLang="en-US"/>
              <a:t>Q: Which countries are bordered by two seas?</a:t>
            </a:r>
          </a:p>
          <a:p>
            <a:r>
              <a:rPr lang="en-US" altLang="en-US"/>
              <a:t>A: Egypt, Iran, Israel, Saudi Arabia and Turkey</a:t>
            </a:r>
          </a:p>
          <a:p>
            <a:r>
              <a:rPr lang="en-US" altLang="en-US"/>
              <a:t>Q: What is the total area of countries south of the equator and not in Australasia?</a:t>
            </a:r>
          </a:p>
          <a:p>
            <a:r>
              <a:rPr lang="en-US" altLang="en-US"/>
              <a:t>A: 10,228,000 square miles.</a:t>
            </a:r>
          </a:p>
          <a:p>
            <a:r>
              <a:rPr lang="en-US" altLang="en-US"/>
              <a:t>The disadvantage of systems like these is that the user never knows the limit of the systems understanding.</a:t>
            </a:r>
          </a:p>
          <a:p>
            <a:r>
              <a:rPr lang="en-US" altLang="en-US"/>
              <a:t>IE: CHAT understands “south of the equator” but not “in the southern hemisphere”.</a:t>
            </a:r>
          </a:p>
          <a:p>
            <a:r>
              <a:rPr lang="en-US" altLang="en-US"/>
              <a:t>The main challenge now is for systems to be able to follow the context of an interaction.</a:t>
            </a:r>
          </a:p>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D1D9411-D006-4A39-8499-45FAA803F3A1}"/>
              </a:ext>
            </a:extLst>
          </p:cNvPr>
          <p:cNvSpPr>
            <a:spLocks noGrp="1" noChangeArrowheads="1"/>
          </p:cNvSpPr>
          <p:nvPr>
            <p:ph type="sldNum" sz="quarter" idx="5"/>
          </p:nvPr>
        </p:nvSpPr>
        <p:spPr>
          <a:ln/>
        </p:spPr>
        <p:txBody>
          <a:bodyPr/>
          <a:lstStyle/>
          <a:p>
            <a:fld id="{F8D2215B-DB80-40AC-8681-3BBC96892376}" type="slidenum">
              <a:rPr lang="en-US" altLang="en-US"/>
              <a:pPr/>
              <a:t>13</a:t>
            </a:fld>
            <a:endParaRPr lang="en-US" altLang="en-US"/>
          </a:p>
        </p:txBody>
      </p:sp>
      <p:sp>
        <p:nvSpPr>
          <p:cNvPr id="48130" name="Rectangle 2">
            <a:extLst>
              <a:ext uri="{FF2B5EF4-FFF2-40B4-BE49-F238E27FC236}">
                <a16:creationId xmlns:a16="http://schemas.microsoft.com/office/drawing/2014/main" id="{CDAE9E7B-6FB2-4268-9D0D-ECB305EA237F}"/>
              </a:ext>
            </a:extLst>
          </p:cNvPr>
          <p:cNvSpPr>
            <a:spLocks noChangeArrowheads="1" noTextEdit="1"/>
          </p:cNvSpPr>
          <p:nvPr>
            <p:ph type="sldImg"/>
          </p:nvPr>
        </p:nvSpPr>
        <p:spPr>
          <a:ln/>
        </p:spPr>
      </p:sp>
      <p:sp>
        <p:nvSpPr>
          <p:cNvPr id="48131" name="Rectangle 3">
            <a:extLst>
              <a:ext uri="{FF2B5EF4-FFF2-40B4-BE49-F238E27FC236}">
                <a16:creationId xmlns:a16="http://schemas.microsoft.com/office/drawing/2014/main" id="{F3ECB0F7-6208-4BF2-B7F8-2DC0E47F0816}"/>
              </a:ext>
            </a:extLst>
          </p:cNvPr>
          <p:cNvSpPr>
            <a:spLocks noGrp="1" noChangeArrowheads="1"/>
          </p:cNvSpPr>
          <p:nvPr>
            <p:ph type="body" idx="1"/>
          </p:nvPr>
        </p:nvSpPr>
        <p:spPr/>
        <p:txBody>
          <a:bodyPr/>
          <a:lstStyle/>
          <a:p>
            <a:r>
              <a:rPr lang="en-US" altLang="en-US"/>
              <a:t>Sometimes natural language is not the most convenient way of communication.</a:t>
            </a:r>
          </a:p>
          <a:p>
            <a:r>
              <a:rPr lang="en-US" altLang="en-US"/>
              <a:t>The graphical user interface has now largely replaced NLP in the field of database access.</a:t>
            </a:r>
          </a:p>
          <a:p>
            <a:r>
              <a:rPr lang="en-US" altLang="en-US"/>
              <a:t>NLP has now moved on to Text Interpretation.</a:t>
            </a:r>
          </a:p>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115624F-2491-4C19-B47E-906FCEDD7144}"/>
              </a:ext>
            </a:extLst>
          </p:cNvPr>
          <p:cNvSpPr>
            <a:spLocks noGrp="1" noChangeArrowheads="1"/>
          </p:cNvSpPr>
          <p:nvPr>
            <p:ph type="sldNum" sz="quarter" idx="5"/>
          </p:nvPr>
        </p:nvSpPr>
        <p:spPr>
          <a:ln/>
        </p:spPr>
        <p:txBody>
          <a:bodyPr/>
          <a:lstStyle/>
          <a:p>
            <a:fld id="{AAE73701-C304-4B45-B732-6CD4E98B6AD2}" type="slidenum">
              <a:rPr lang="en-US" altLang="en-US"/>
              <a:pPr/>
              <a:t>16</a:t>
            </a:fld>
            <a:endParaRPr lang="en-US" altLang="en-US"/>
          </a:p>
        </p:txBody>
      </p:sp>
      <p:sp>
        <p:nvSpPr>
          <p:cNvPr id="51202" name="Rectangle 2">
            <a:extLst>
              <a:ext uri="{FF2B5EF4-FFF2-40B4-BE49-F238E27FC236}">
                <a16:creationId xmlns:a16="http://schemas.microsoft.com/office/drawing/2014/main" id="{7C148754-981C-487A-984C-87FDA8D8313D}"/>
              </a:ext>
            </a:extLst>
          </p:cNvPr>
          <p:cNvSpPr>
            <a:spLocks noChangeArrowheads="1" noTextEdit="1"/>
          </p:cNvSpPr>
          <p:nvPr>
            <p:ph type="sldImg"/>
          </p:nvPr>
        </p:nvSpPr>
        <p:spPr>
          <a:ln/>
        </p:spPr>
      </p:sp>
      <p:sp>
        <p:nvSpPr>
          <p:cNvPr id="51203" name="Rectangle 3">
            <a:extLst>
              <a:ext uri="{FF2B5EF4-FFF2-40B4-BE49-F238E27FC236}">
                <a16:creationId xmlns:a16="http://schemas.microsoft.com/office/drawing/2014/main" id="{B95FEE3F-75F5-4158-B6E8-46CBF9E6CC0E}"/>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EE6A502-1EBE-43D0-AA42-BF4174DC6DC9}"/>
              </a:ext>
            </a:extLst>
          </p:cNvPr>
          <p:cNvSpPr>
            <a:spLocks noGrp="1" noChangeArrowheads="1"/>
          </p:cNvSpPr>
          <p:nvPr>
            <p:ph type="sldNum" sz="quarter" idx="5"/>
          </p:nvPr>
        </p:nvSpPr>
        <p:spPr>
          <a:ln/>
        </p:spPr>
        <p:txBody>
          <a:bodyPr/>
          <a:lstStyle/>
          <a:p>
            <a:fld id="{BD8A6362-673E-4945-9D0E-14E6CCCED14E}" type="slidenum">
              <a:rPr lang="en-US" altLang="en-US"/>
              <a:pPr/>
              <a:t>18</a:t>
            </a:fld>
            <a:endParaRPr lang="en-US" altLang="en-US"/>
          </a:p>
        </p:txBody>
      </p:sp>
      <p:sp>
        <p:nvSpPr>
          <p:cNvPr id="53250" name="Rectangle 2">
            <a:extLst>
              <a:ext uri="{FF2B5EF4-FFF2-40B4-BE49-F238E27FC236}">
                <a16:creationId xmlns:a16="http://schemas.microsoft.com/office/drawing/2014/main" id="{CEFAD79A-4AB5-4C67-85A3-ACA203473464}"/>
              </a:ext>
            </a:extLst>
          </p:cNvPr>
          <p:cNvSpPr>
            <a:spLocks noChangeArrowheads="1" noTextEdit="1"/>
          </p:cNvSpPr>
          <p:nvPr>
            <p:ph type="sldImg"/>
          </p:nvPr>
        </p:nvSpPr>
        <p:spPr>
          <a:ln/>
        </p:spPr>
      </p:sp>
      <p:sp>
        <p:nvSpPr>
          <p:cNvPr id="53251" name="Rectangle 3">
            <a:extLst>
              <a:ext uri="{FF2B5EF4-FFF2-40B4-BE49-F238E27FC236}">
                <a16:creationId xmlns:a16="http://schemas.microsoft.com/office/drawing/2014/main" id="{276CF166-4C39-421C-B7CA-D26BD2D838EC}"/>
              </a:ext>
            </a:extLst>
          </p:cNvPr>
          <p:cNvSpPr>
            <a:spLocks noGrp="1" noChangeArrowheads="1"/>
          </p:cNvSpPr>
          <p:nvPr>
            <p:ph type="body" idx="1"/>
          </p:nvPr>
        </p:nvSpPr>
        <p:spPr/>
        <p:txBody>
          <a:bodyPr/>
          <a:lstStyle/>
          <a:p>
            <a:r>
              <a:rPr lang="en-US" altLang="en-US"/>
              <a:t>My friend Lindy used to be a “cutter” when she was in college (only about 5 years ago).  She worked for an agency where some companies would pay to find articles on certain topics.  They would give a list of topics and key words.  Readers in the agency would read newspaper and magazine articles all day long, marking various articles by topic.  Lindy then would cut out the article, and put it in the appropriate shoe-box.  Lots of man labor.</a:t>
            </a:r>
          </a:p>
          <a:p>
            <a:endParaRPr lang="en-US" altLang="en-US"/>
          </a:p>
          <a:p>
            <a:endParaRPr lang="en-US" altLang="en-US"/>
          </a:p>
          <a:p>
            <a:r>
              <a:rPr lang="en-US" altLang="en-US"/>
              <a:t>TC is done mostly statistacally.  We won’t look into it much.  Just know that it works.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9AA3E51-A9CC-4D2B-A396-3DF5BC5596AC}"/>
              </a:ext>
            </a:extLst>
          </p:cNvPr>
          <p:cNvSpPr>
            <a:spLocks noGrp="1" noChangeArrowheads="1"/>
          </p:cNvSpPr>
          <p:nvPr>
            <p:ph type="sldNum" sz="quarter" idx="5"/>
          </p:nvPr>
        </p:nvSpPr>
        <p:spPr>
          <a:ln/>
        </p:spPr>
        <p:txBody>
          <a:bodyPr/>
          <a:lstStyle/>
          <a:p>
            <a:fld id="{C28181EB-5D08-4DA3-9AE2-173E78FA2B83}" type="slidenum">
              <a:rPr lang="en-US" altLang="en-US"/>
              <a:pPr/>
              <a:t>20</a:t>
            </a:fld>
            <a:endParaRPr lang="en-US" altLang="en-US"/>
          </a:p>
        </p:txBody>
      </p:sp>
      <p:sp>
        <p:nvSpPr>
          <p:cNvPr id="54274" name="Rectangle 2">
            <a:extLst>
              <a:ext uri="{FF2B5EF4-FFF2-40B4-BE49-F238E27FC236}">
                <a16:creationId xmlns:a16="http://schemas.microsoft.com/office/drawing/2014/main" id="{86970CDD-05F4-461A-B4B9-80EF9A4437B6}"/>
              </a:ext>
            </a:extLst>
          </p:cNvPr>
          <p:cNvSpPr>
            <a:spLocks noChangeArrowheads="1" noTextEdit="1"/>
          </p:cNvSpPr>
          <p:nvPr>
            <p:ph type="sldImg"/>
          </p:nvPr>
        </p:nvSpPr>
        <p:spPr>
          <a:ln/>
        </p:spPr>
      </p:sp>
      <p:sp>
        <p:nvSpPr>
          <p:cNvPr id="54275" name="Rectangle 3">
            <a:extLst>
              <a:ext uri="{FF2B5EF4-FFF2-40B4-BE49-F238E27FC236}">
                <a16:creationId xmlns:a16="http://schemas.microsoft.com/office/drawing/2014/main" id="{F73A89B7-2DE3-4B1F-A9D1-B594B0D05439}"/>
              </a:ext>
            </a:extLst>
          </p:cNvPr>
          <p:cNvSpPr>
            <a:spLocks noGrp="1" noChangeArrowheads="1"/>
          </p:cNvSpPr>
          <p:nvPr>
            <p:ph type="body" idx="1"/>
          </p:nvPr>
        </p:nvSpPr>
        <p:spPr/>
        <p:txBody>
          <a:bodyPr/>
          <a:lstStyle/>
          <a:p>
            <a:r>
              <a:rPr lang="en-US" altLang="en-US"/>
              <a:t>“Pillsbury surged 3 3-4 to 62 in big board composite trading of 3.1 million shares after Britain’s Grand Metropolitan raised its hostile tender offer by $3 a share to $63.  The company promptly rejected the sweetened bid, which came after the two sides couldn’t agree to a higher offer on friendly terms over the weekend.”</a:t>
            </a:r>
          </a:p>
          <a:p>
            <a:r>
              <a:rPr lang="en-US" altLang="en-US"/>
              <a:t>Result:</a:t>
            </a:r>
          </a:p>
          <a:p>
            <a:r>
              <a:rPr lang="en-US" altLang="en-US"/>
              <a:t>Corp-Takeover-Core</a:t>
            </a:r>
          </a:p>
          <a:p>
            <a:r>
              <a:rPr lang="en-US" altLang="en-US"/>
              <a:t>Subevent: Increased Offer, Rejected Offer</a:t>
            </a:r>
          </a:p>
          <a:p>
            <a:r>
              <a:rPr lang="en-US" altLang="en-US"/>
              <a:t>Type: Hostile</a:t>
            </a:r>
          </a:p>
          <a:p>
            <a:r>
              <a:rPr lang="en-US" altLang="en-US"/>
              <a:t>Target: Pillsbury</a:t>
            </a:r>
          </a:p>
          <a:p>
            <a:r>
              <a:rPr lang="en-US" altLang="en-US"/>
              <a:t>Suitor: Grand Metropolitan</a:t>
            </a:r>
          </a:p>
          <a:p>
            <a:r>
              <a:rPr lang="en-US" altLang="en-US"/>
              <a:t>Share-Price: 63</a:t>
            </a:r>
          </a:p>
          <a:p>
            <a:r>
              <a:rPr lang="en-US" altLang="en-US"/>
              <a:t>Stock-Exchange NYSE</a:t>
            </a:r>
          </a:p>
          <a:p>
            <a:r>
              <a:rPr lang="en-US" altLang="en-US"/>
              <a:t>Volume 3.1M</a:t>
            </a:r>
          </a:p>
          <a:p>
            <a:r>
              <a:rPr lang="en-US" altLang="en-US"/>
              <a:t>Effect-On-Stock: (Up Increment : 3 3-4, to 62)</a:t>
            </a:r>
          </a:p>
          <a:p>
            <a:endParaRPr lang="en-US" altLang="en-US"/>
          </a:p>
          <a:p>
            <a:endParaRPr lang="en-US" altLang="en-US"/>
          </a:p>
          <a:p>
            <a:r>
              <a:rPr lang="en-US" altLang="en-US"/>
              <a:t>Reuters news does this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C6A5AC-2064-41C0-8C47-6B468D24F532}"/>
              </a:ext>
            </a:extLst>
          </p:cNvPr>
          <p:cNvSpPr>
            <a:spLocks noGrp="1" noChangeArrowheads="1"/>
          </p:cNvSpPr>
          <p:nvPr>
            <p:ph type="sldNum" sz="quarter" idx="5"/>
          </p:nvPr>
        </p:nvSpPr>
        <p:spPr>
          <a:ln/>
        </p:spPr>
        <p:txBody>
          <a:bodyPr/>
          <a:lstStyle/>
          <a:p>
            <a:fld id="{32E52CA4-AAC3-4599-92E0-993167977059}" type="slidenum">
              <a:rPr lang="en-US" altLang="en-US"/>
              <a:pPr/>
              <a:t>22</a:t>
            </a:fld>
            <a:endParaRPr lang="en-US" altLang="en-US"/>
          </a:p>
        </p:txBody>
      </p:sp>
      <p:sp>
        <p:nvSpPr>
          <p:cNvPr id="83970" name="Rectangle 1026">
            <a:extLst>
              <a:ext uri="{FF2B5EF4-FFF2-40B4-BE49-F238E27FC236}">
                <a16:creationId xmlns:a16="http://schemas.microsoft.com/office/drawing/2014/main" id="{EF430032-495E-4434-B01B-AA609DE9A83D}"/>
              </a:ext>
            </a:extLst>
          </p:cNvPr>
          <p:cNvSpPr>
            <a:spLocks noChangeArrowheads="1" noTextEdit="1"/>
          </p:cNvSpPr>
          <p:nvPr>
            <p:ph type="sldImg"/>
          </p:nvPr>
        </p:nvSpPr>
        <p:spPr>
          <a:ln/>
        </p:spPr>
      </p:sp>
      <p:sp>
        <p:nvSpPr>
          <p:cNvPr id="83971" name="Rectangle 1027">
            <a:extLst>
              <a:ext uri="{FF2B5EF4-FFF2-40B4-BE49-F238E27FC236}">
                <a16:creationId xmlns:a16="http://schemas.microsoft.com/office/drawing/2014/main" id="{9851FBF5-BDED-49B8-850A-04BB1226566D}"/>
              </a:ext>
            </a:extLst>
          </p:cNvPr>
          <p:cNvSpPr>
            <a:spLocks noGrp="1" noChangeArrowheads="1"/>
          </p:cNvSpPr>
          <p:nvPr>
            <p:ph type="body" idx="1"/>
          </p:nvPr>
        </p:nvSpPr>
        <p:spPr/>
        <p:txBody>
          <a:bodyPr/>
          <a:lstStyle/>
          <a:p>
            <a:r>
              <a:rPr lang="en-US" altLang="en-US"/>
              <a:t>Don’t need both of these understanding slides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070C32B-96C3-48E3-8692-705316788515}"/>
              </a:ext>
            </a:extLst>
          </p:cNvPr>
          <p:cNvSpPr>
            <a:spLocks noGrp="1" noChangeArrowheads="1"/>
          </p:cNvSpPr>
          <p:nvPr>
            <p:ph type="sldNum" sz="quarter" idx="5"/>
          </p:nvPr>
        </p:nvSpPr>
        <p:spPr>
          <a:ln/>
        </p:spPr>
        <p:txBody>
          <a:bodyPr/>
          <a:lstStyle/>
          <a:p>
            <a:fld id="{17F5C04A-CD53-4691-97BB-4EAA2774631B}" type="slidenum">
              <a:rPr lang="en-US" altLang="en-US"/>
              <a:pPr/>
              <a:t>28</a:t>
            </a:fld>
            <a:endParaRPr lang="en-US" altLang="en-US"/>
          </a:p>
        </p:txBody>
      </p:sp>
      <p:sp>
        <p:nvSpPr>
          <p:cNvPr id="60418" name="Rectangle 2">
            <a:extLst>
              <a:ext uri="{FF2B5EF4-FFF2-40B4-BE49-F238E27FC236}">
                <a16:creationId xmlns:a16="http://schemas.microsoft.com/office/drawing/2014/main" id="{3DE6C776-A21D-4431-ABC5-136E6ABCA365}"/>
              </a:ext>
            </a:extLst>
          </p:cNvPr>
          <p:cNvSpPr>
            <a:spLocks noChangeArrowheads="1" noTextEdit="1"/>
          </p:cNvSpPr>
          <p:nvPr>
            <p:ph type="sldImg"/>
          </p:nvPr>
        </p:nvSpPr>
        <p:spPr>
          <a:ln/>
        </p:spPr>
      </p:sp>
      <p:sp>
        <p:nvSpPr>
          <p:cNvPr id="60419" name="Rectangle 3">
            <a:extLst>
              <a:ext uri="{FF2B5EF4-FFF2-40B4-BE49-F238E27FC236}">
                <a16:creationId xmlns:a16="http://schemas.microsoft.com/office/drawing/2014/main" id="{7770C3B0-9209-46ED-8B6C-A3E5256D9FD8}"/>
              </a:ext>
            </a:extLst>
          </p:cNvPr>
          <p:cNvSpPr>
            <a:spLocks noGrp="1" noChangeArrowheads="1"/>
          </p:cNvSpPr>
          <p:nvPr>
            <p:ph type="body" idx="1"/>
          </p:nvPr>
        </p:nvSpPr>
        <p:spPr/>
        <p:txBody>
          <a:bodyPr/>
          <a:lstStyle/>
          <a:p>
            <a:endParaRPr lang="en-US" altLang="en-US"/>
          </a:p>
          <a:p>
            <a:endParaRPr lang="en-US" altLang="en-US"/>
          </a:p>
          <a:p>
            <a:r>
              <a:rPr lang="en-US" altLang="en-US"/>
              <a:t>Morphological analysis is the process of describing a word in terms of prefixes, suffixes and root forms that comprise it.  Inflectional deals with changes of a word due to the context – like a plural.  Derivational morphology derives a word from another word that’s a different type – ex. Shortness is derived from short and suffix ness.</a:t>
            </a:r>
          </a:p>
          <a:p>
            <a:r>
              <a:rPr lang="en-US" altLang="en-US"/>
              <a:t>Compounding takes two words and puts them together.</a:t>
            </a:r>
          </a:p>
          <a:p>
            <a:endParaRPr lang="en-US" altLang="en-US"/>
          </a:p>
          <a:p>
            <a:r>
              <a:rPr lang="en-US" altLang="en-US"/>
              <a:t>For inflection:</a:t>
            </a:r>
          </a:p>
          <a:p>
            <a:r>
              <a:rPr lang="en-US" altLang="en-US"/>
              <a:t>Positive: Shortness, quickly, unbreakable</a:t>
            </a:r>
          </a:p>
          <a:p>
            <a:r>
              <a:rPr lang="en-US" altLang="en-US"/>
              <a:t>Negative: Un tie able or untie able,  un ion izable or union izable</a:t>
            </a:r>
          </a:p>
          <a:p>
            <a:endParaRPr lang="en-US" altLang="en-US"/>
          </a:p>
          <a:p>
            <a:r>
              <a:rPr lang="en-US" altLang="en-US"/>
              <a:t>Some languages (Finish, Turkish, Inuit and Yupik) have recursive morphological rules that can generate an infinite number of infinitely long words.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CF07600-7B4F-4B38-AF70-46D6EFBB560F}"/>
              </a:ext>
            </a:extLst>
          </p:cNvPr>
          <p:cNvSpPr>
            <a:spLocks noGrp="1" noChangeArrowheads="1"/>
          </p:cNvSpPr>
          <p:nvPr>
            <p:ph type="sldNum" sz="quarter" idx="5"/>
          </p:nvPr>
        </p:nvSpPr>
        <p:spPr>
          <a:ln/>
        </p:spPr>
        <p:txBody>
          <a:bodyPr/>
          <a:lstStyle/>
          <a:p>
            <a:fld id="{F93FF036-B380-45CA-BF1C-92164776774E}" type="slidenum">
              <a:rPr lang="en-US" altLang="en-US"/>
              <a:pPr/>
              <a:t>30</a:t>
            </a:fld>
            <a:endParaRPr lang="en-US" altLang="en-US"/>
          </a:p>
        </p:txBody>
      </p:sp>
      <p:sp>
        <p:nvSpPr>
          <p:cNvPr id="84994" name="Rectangle 2">
            <a:extLst>
              <a:ext uri="{FF2B5EF4-FFF2-40B4-BE49-F238E27FC236}">
                <a16:creationId xmlns:a16="http://schemas.microsoft.com/office/drawing/2014/main" id="{25012C6C-2DC8-4C77-BB36-A5F9DC79EFD1}"/>
              </a:ext>
            </a:extLst>
          </p:cNvPr>
          <p:cNvSpPr>
            <a:spLocks noChangeArrowheads="1" noTextEdit="1"/>
          </p:cNvSpPr>
          <p:nvPr>
            <p:ph type="sldImg"/>
          </p:nvPr>
        </p:nvSpPr>
        <p:spPr>
          <a:ln/>
        </p:spPr>
      </p:sp>
      <p:sp>
        <p:nvSpPr>
          <p:cNvPr id="84995" name="Rectangle 3">
            <a:extLst>
              <a:ext uri="{FF2B5EF4-FFF2-40B4-BE49-F238E27FC236}">
                <a16:creationId xmlns:a16="http://schemas.microsoft.com/office/drawing/2014/main" id="{CA380DBE-4557-4973-B4BD-73CD4B63FCE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34F3C4D-4736-4C96-A892-690D8E1FA938}"/>
              </a:ext>
            </a:extLst>
          </p:cNvPr>
          <p:cNvSpPr>
            <a:spLocks noGrp="1" noChangeArrowheads="1"/>
          </p:cNvSpPr>
          <p:nvPr>
            <p:ph type="sldNum" sz="quarter" idx="5"/>
          </p:nvPr>
        </p:nvSpPr>
        <p:spPr>
          <a:ln/>
        </p:spPr>
        <p:txBody>
          <a:bodyPr/>
          <a:lstStyle/>
          <a:p>
            <a:fld id="{86A5E843-1EE9-4898-B17A-BB84A803740B}" type="slidenum">
              <a:rPr lang="en-US" altLang="en-US"/>
              <a:pPr/>
              <a:t>31</a:t>
            </a:fld>
            <a:endParaRPr lang="en-US" altLang="en-US"/>
          </a:p>
        </p:txBody>
      </p:sp>
      <p:sp>
        <p:nvSpPr>
          <p:cNvPr id="62466" name="Rectangle 2">
            <a:extLst>
              <a:ext uri="{FF2B5EF4-FFF2-40B4-BE49-F238E27FC236}">
                <a16:creationId xmlns:a16="http://schemas.microsoft.com/office/drawing/2014/main" id="{DB56BAE2-DFEB-4D12-9F52-8840EF55D35A}"/>
              </a:ext>
            </a:extLst>
          </p:cNvPr>
          <p:cNvSpPr>
            <a:spLocks noChangeArrowheads="1" noTextEdit="1"/>
          </p:cNvSpPr>
          <p:nvPr>
            <p:ph type="sldImg"/>
          </p:nvPr>
        </p:nvSpPr>
        <p:spPr>
          <a:ln/>
        </p:spPr>
      </p:sp>
      <p:sp>
        <p:nvSpPr>
          <p:cNvPr id="62467" name="Rectangle 3">
            <a:extLst>
              <a:ext uri="{FF2B5EF4-FFF2-40B4-BE49-F238E27FC236}">
                <a16:creationId xmlns:a16="http://schemas.microsoft.com/office/drawing/2014/main" id="{E42EAD50-E4B4-40F4-899F-3C79FB0AAB1B}"/>
              </a:ext>
            </a:extLst>
          </p:cNvPr>
          <p:cNvSpPr>
            <a:spLocks noGrp="1" noChangeArrowheads="1"/>
          </p:cNvSpPr>
          <p:nvPr>
            <p:ph type="body" idx="1"/>
          </p:nvPr>
        </p:nvSpPr>
        <p:spPr/>
        <p:txBody>
          <a:bodyPr/>
          <a:lstStyle/>
          <a:p>
            <a:r>
              <a:rPr lang="en-US" altLang="en-US"/>
              <a:t>Syntax example:</a:t>
            </a:r>
          </a:p>
          <a:p>
            <a:r>
              <a:rPr lang="en-US" altLang="en-US"/>
              <a:t>Lee asked Kim to tell Toby to leave on Saturday – adverb “Saturday” can modify the asking, the telling or the leaving.  Preference is the leaving, because it’s nearest.</a:t>
            </a:r>
          </a:p>
          <a:p>
            <a:endParaRPr lang="en-US" altLang="en-US"/>
          </a:p>
          <a:p>
            <a:r>
              <a:rPr lang="en-US" altLang="en-US"/>
              <a:t>Lexical example: pen – usually writing instrument, also cage for animals and abbreviation for “penitentiary”, lesser known definitions are a female swan and the internal shell of a squid.</a:t>
            </a:r>
          </a:p>
          <a:p>
            <a:r>
              <a:rPr lang="en-US" altLang="en-US"/>
              <a:t>Decided probabilistically the last two definitions are not common knowledge or use.</a:t>
            </a:r>
          </a:p>
          <a:p>
            <a:endParaRPr lang="en-US" altLang="en-US"/>
          </a:p>
          <a:p>
            <a:r>
              <a:rPr lang="en-US" altLang="en-US"/>
              <a:t>Semantic:  from the context:  ball, diamond, bat, baseball</a:t>
            </a:r>
          </a:p>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CE76C0A-05A9-4DFE-9F42-E4AADE2BAD6D}"/>
              </a:ext>
            </a:extLst>
          </p:cNvPr>
          <p:cNvSpPr>
            <a:spLocks noGrp="1" noChangeArrowheads="1"/>
          </p:cNvSpPr>
          <p:nvPr>
            <p:ph type="sldNum" sz="quarter" idx="5"/>
          </p:nvPr>
        </p:nvSpPr>
        <p:spPr>
          <a:ln/>
        </p:spPr>
        <p:txBody>
          <a:bodyPr/>
          <a:lstStyle/>
          <a:p>
            <a:fld id="{EF8616B8-8E50-4505-9A23-9F61ACD56ABD}" type="slidenum">
              <a:rPr lang="en-US" altLang="en-US"/>
              <a:pPr/>
              <a:t>32</a:t>
            </a:fld>
            <a:endParaRPr lang="en-US" altLang="en-US"/>
          </a:p>
        </p:txBody>
      </p:sp>
      <p:sp>
        <p:nvSpPr>
          <p:cNvPr id="64514" name="Rectangle 2">
            <a:extLst>
              <a:ext uri="{FF2B5EF4-FFF2-40B4-BE49-F238E27FC236}">
                <a16:creationId xmlns:a16="http://schemas.microsoft.com/office/drawing/2014/main" id="{ABB06488-7363-481F-88E0-D64C8976B65A}"/>
              </a:ext>
            </a:extLst>
          </p:cNvPr>
          <p:cNvSpPr>
            <a:spLocks noChangeArrowheads="1" noTextEdit="1"/>
          </p:cNvSpPr>
          <p:nvPr>
            <p:ph type="sldImg"/>
          </p:nvPr>
        </p:nvSpPr>
        <p:spPr>
          <a:ln/>
        </p:spPr>
      </p:sp>
      <p:sp>
        <p:nvSpPr>
          <p:cNvPr id="64515" name="Rectangle 3">
            <a:extLst>
              <a:ext uri="{FF2B5EF4-FFF2-40B4-BE49-F238E27FC236}">
                <a16:creationId xmlns:a16="http://schemas.microsoft.com/office/drawing/2014/main" id="{01342AAE-E120-425D-A232-193C070E885C}"/>
              </a:ext>
            </a:extLst>
          </p:cNvPr>
          <p:cNvSpPr>
            <a:spLocks noGrp="1" noChangeArrowheads="1"/>
          </p:cNvSpPr>
          <p:nvPr>
            <p:ph type="body" idx="1"/>
          </p:nvPr>
        </p:nvSpPr>
        <p:spPr/>
        <p:txBody>
          <a:bodyPr/>
          <a:lstStyle/>
          <a:p>
            <a:r>
              <a:rPr lang="en-US" altLang="en-US"/>
              <a:t>“with” indicates a relation between the words it applies to</a:t>
            </a:r>
          </a:p>
          <a:p>
            <a:r>
              <a:rPr lang="en-US" altLang="en-US"/>
              <a:t>Lexical ambiguity: “with” has several senses</a:t>
            </a:r>
          </a:p>
          <a:p>
            <a:r>
              <a:rPr lang="en-US" altLang="en-US"/>
              <a:t>Syntactic ambiguity: “with” is a preposition that can attach to either “ate” or “spaghetti”</a:t>
            </a:r>
          </a:p>
          <a:p>
            <a:r>
              <a:rPr lang="en-US" altLang="en-US"/>
              <a:t>Each sentence is easy to resolve with semantic evidence</a:t>
            </a:r>
          </a:p>
          <a:p>
            <a:endParaRPr lang="en-US" altLang="en-US"/>
          </a:p>
          <a:p>
            <a:r>
              <a:rPr lang="en-US" altLang="en-US"/>
              <a:t>Note that it is certainly possible to use meatballs as a utensil with which to eat spaghetti, but not likely, and quite messy.  Therefore we prefer interpretations that refer to more likely events.  </a:t>
            </a:r>
          </a:p>
          <a:p>
            <a:endParaRPr lang="en-US" altLang="en-US"/>
          </a:p>
          <a:p>
            <a:r>
              <a:rPr lang="en-US" altLang="en-US"/>
              <a:t>We commonly talk about unlikely or impossible situations:  “I ran a mile in a minute” or “That square is a triangle”</a:t>
            </a:r>
          </a:p>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FEE11E6-2CA1-4DE7-8071-EA5BAA0EF150}"/>
              </a:ext>
            </a:extLst>
          </p:cNvPr>
          <p:cNvSpPr>
            <a:spLocks noGrp="1" noChangeArrowheads="1"/>
          </p:cNvSpPr>
          <p:nvPr>
            <p:ph type="sldNum" sz="quarter" idx="5"/>
          </p:nvPr>
        </p:nvSpPr>
        <p:spPr>
          <a:ln/>
        </p:spPr>
        <p:txBody>
          <a:bodyPr/>
          <a:lstStyle/>
          <a:p>
            <a:fld id="{FA0FC401-EF9E-482C-A48B-26B4126586E7}" type="slidenum">
              <a:rPr lang="en-US" altLang="en-US"/>
              <a:pPr/>
              <a:t>33</a:t>
            </a:fld>
            <a:endParaRPr lang="en-US" altLang="en-US"/>
          </a:p>
        </p:txBody>
      </p:sp>
      <p:sp>
        <p:nvSpPr>
          <p:cNvPr id="65538" name="Rectangle 2">
            <a:extLst>
              <a:ext uri="{FF2B5EF4-FFF2-40B4-BE49-F238E27FC236}">
                <a16:creationId xmlns:a16="http://schemas.microsoft.com/office/drawing/2014/main" id="{EEDD3210-5947-4A48-884A-DB34A56B31D9}"/>
              </a:ext>
            </a:extLst>
          </p:cNvPr>
          <p:cNvSpPr>
            <a:spLocks noChangeArrowheads="1" noTextEdit="1"/>
          </p:cNvSpPr>
          <p:nvPr>
            <p:ph type="sldImg"/>
          </p:nvPr>
        </p:nvSpPr>
        <p:spPr>
          <a:ln/>
        </p:spPr>
      </p:sp>
      <p:sp>
        <p:nvSpPr>
          <p:cNvPr id="65539" name="Rectangle 3">
            <a:extLst>
              <a:ext uri="{FF2B5EF4-FFF2-40B4-BE49-F238E27FC236}">
                <a16:creationId xmlns:a16="http://schemas.microsoft.com/office/drawing/2014/main" id="{3F1DA46E-476C-46A0-BF7B-7A96A1BCA09A}"/>
              </a:ext>
            </a:extLst>
          </p:cNvPr>
          <p:cNvSpPr>
            <a:spLocks noGrp="1" noChangeArrowheads="1"/>
          </p:cNvSpPr>
          <p:nvPr>
            <p:ph type="body" idx="1"/>
          </p:nvPr>
        </p:nvSpPr>
        <p:spPr/>
        <p:txBody>
          <a:bodyPr/>
          <a:lstStyle/>
          <a:p>
            <a:r>
              <a:rPr lang="en-US" altLang="en-US"/>
              <a:t>Common Metonyms:  an organization for a spokesperson for that organization (“Chrysler announced”), the author for the works (“I read Shakespeare”), the producer for the product (“I drive a Honda”), and the part for the whole (“The Red Sox need a strong arm.”)</a:t>
            </a:r>
          </a:p>
          <a:p>
            <a:r>
              <a:rPr lang="en-US" altLang="en-US"/>
              <a:t>A harder example:  “The ham sandwich on Table 4 wants another beer”</a:t>
            </a:r>
          </a:p>
          <a:p>
            <a:endParaRPr lang="en-US" altLang="en-US"/>
          </a:p>
          <a:p>
            <a:r>
              <a:rPr lang="en-US" altLang="en-US"/>
              <a:t>Metonyms are coded as prepositional logic and added to the KB for parsing and sentence interpretation</a:t>
            </a:r>
          </a:p>
          <a:p>
            <a:endParaRPr lang="en-US" altLang="en-US"/>
          </a:p>
          <a:p>
            <a:r>
              <a:rPr lang="en-US" altLang="en-US"/>
              <a:t>Include in the KB a general rule that handles all these specific cases.</a:t>
            </a:r>
          </a:p>
          <a:p>
            <a:endParaRPr lang="en-US" altLang="en-US"/>
          </a:p>
          <a:p>
            <a:r>
              <a:rPr lang="en-US" altLang="en-US"/>
              <a:t>Altitude (height, and changes in height) implies quantity and changes in quantity.</a:t>
            </a:r>
          </a:p>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34F5CA6-502A-4E3D-A18F-B19E91000BDB}"/>
              </a:ext>
            </a:extLst>
          </p:cNvPr>
          <p:cNvSpPr>
            <a:spLocks noGrp="1" noChangeArrowheads="1"/>
          </p:cNvSpPr>
          <p:nvPr>
            <p:ph type="sldNum" sz="quarter" idx="5"/>
          </p:nvPr>
        </p:nvSpPr>
        <p:spPr>
          <a:ln/>
        </p:spPr>
        <p:txBody>
          <a:bodyPr/>
          <a:lstStyle/>
          <a:p>
            <a:fld id="{01456EA5-B8BE-4E8A-8030-B7A025B26525}" type="slidenum">
              <a:rPr lang="en-US" altLang="en-US"/>
              <a:pPr/>
              <a:t>35</a:t>
            </a:fld>
            <a:endParaRPr lang="en-US" altLang="en-US"/>
          </a:p>
        </p:txBody>
      </p:sp>
      <p:sp>
        <p:nvSpPr>
          <p:cNvPr id="66562" name="Rectangle 2">
            <a:extLst>
              <a:ext uri="{FF2B5EF4-FFF2-40B4-BE49-F238E27FC236}">
                <a16:creationId xmlns:a16="http://schemas.microsoft.com/office/drawing/2014/main" id="{9E8EB155-C88D-4560-9076-76B377CB51F4}"/>
              </a:ext>
            </a:extLst>
          </p:cNvPr>
          <p:cNvSpPr>
            <a:spLocks noChangeArrowheads="1" noTextEdit="1"/>
          </p:cNvSpPr>
          <p:nvPr>
            <p:ph type="sldImg"/>
          </p:nvPr>
        </p:nvSpPr>
        <p:spPr>
          <a:ln/>
        </p:spPr>
      </p:sp>
      <p:sp>
        <p:nvSpPr>
          <p:cNvPr id="66563" name="Rectangle 3">
            <a:extLst>
              <a:ext uri="{FF2B5EF4-FFF2-40B4-BE49-F238E27FC236}">
                <a16:creationId xmlns:a16="http://schemas.microsoft.com/office/drawing/2014/main" id="{1C4658D1-D9DC-4CF6-90A6-152A2259545E}"/>
              </a:ext>
            </a:extLst>
          </p:cNvPr>
          <p:cNvSpPr>
            <a:spLocks noGrp="1" noChangeArrowheads="1"/>
          </p:cNvSpPr>
          <p:nvPr>
            <p:ph type="body" idx="1"/>
          </p:nvPr>
        </p:nvSpPr>
        <p:spPr/>
        <p:txBody>
          <a:bodyPr/>
          <a:lstStyle/>
          <a:p>
            <a:pPr marL="228600" indent="-228600"/>
            <a:r>
              <a:rPr lang="en-US" altLang="en-US"/>
              <a:t>Remind of the practical applications all have to do with discourses, not with individual sentences.</a:t>
            </a:r>
          </a:p>
          <a:p>
            <a:pPr marL="228600" indent="-228600"/>
            <a:endParaRPr lang="en-US" altLang="en-US"/>
          </a:p>
          <a:p>
            <a:pPr marL="228600" indent="-228600"/>
            <a:r>
              <a:rPr lang="en-US" altLang="en-US"/>
              <a:t>List these on the board:</a:t>
            </a:r>
          </a:p>
          <a:p>
            <a:pPr marL="228600" indent="-228600"/>
            <a:endParaRPr lang="en-US" altLang="en-US"/>
          </a:p>
          <a:p>
            <a:pPr marL="228600" indent="-228600"/>
            <a:r>
              <a:rPr lang="en-US" altLang="en-US"/>
              <a:t>Knowledge needed to have an understanding of a text:</a:t>
            </a:r>
          </a:p>
          <a:p>
            <a:pPr marL="228600" indent="-228600"/>
            <a:endParaRPr lang="en-US" altLang="en-US"/>
          </a:p>
          <a:p>
            <a:pPr marL="228600" indent="-228600"/>
            <a:r>
              <a:rPr lang="en-US" altLang="en-US"/>
              <a:t>General knowledge of the world</a:t>
            </a:r>
          </a:p>
          <a:p>
            <a:pPr marL="228600" indent="-228600"/>
            <a:r>
              <a:rPr lang="en-US" altLang="en-US"/>
              <a:t>General knowledge about structure of coherent discourse</a:t>
            </a:r>
          </a:p>
          <a:p>
            <a:pPr marL="228600" indent="-228600"/>
            <a:r>
              <a:rPr lang="en-US" altLang="en-US"/>
              <a:t>General knowledge about syntax and semantics</a:t>
            </a:r>
          </a:p>
          <a:p>
            <a:pPr marL="228600" indent="-228600"/>
            <a:r>
              <a:rPr lang="en-US" altLang="en-US"/>
              <a:t>Specific knowledge about situation being discussed</a:t>
            </a:r>
          </a:p>
          <a:p>
            <a:pPr marL="228600" indent="-228600"/>
            <a:r>
              <a:rPr lang="en-US" altLang="en-US"/>
              <a:t>Specific knowledge about beliefs of the characters.</a:t>
            </a:r>
          </a:p>
          <a:p>
            <a:pPr marL="228600" indent="-228600"/>
            <a:r>
              <a:rPr lang="en-US" altLang="en-US"/>
              <a:t>Specific knowledge about beliefs of the speaker.</a:t>
            </a:r>
          </a:p>
          <a:p>
            <a:pPr marL="228600" indent="-228600"/>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8ADA117-6EDE-44DE-AFB5-C6FCB8EA4DB1}"/>
              </a:ext>
            </a:extLst>
          </p:cNvPr>
          <p:cNvSpPr>
            <a:spLocks noGrp="1" noChangeArrowheads="1"/>
          </p:cNvSpPr>
          <p:nvPr>
            <p:ph type="sldNum" sz="quarter" idx="5"/>
          </p:nvPr>
        </p:nvSpPr>
        <p:spPr>
          <a:ln/>
        </p:spPr>
        <p:txBody>
          <a:bodyPr/>
          <a:lstStyle/>
          <a:p>
            <a:fld id="{DBF693B5-A7DD-4878-A60D-48086A098A5C}" type="slidenum">
              <a:rPr lang="en-US" altLang="en-US"/>
              <a:pPr/>
              <a:t>36</a:t>
            </a:fld>
            <a:endParaRPr lang="en-US" altLang="en-US"/>
          </a:p>
        </p:txBody>
      </p:sp>
      <p:sp>
        <p:nvSpPr>
          <p:cNvPr id="67586" name="Rectangle 2">
            <a:extLst>
              <a:ext uri="{FF2B5EF4-FFF2-40B4-BE49-F238E27FC236}">
                <a16:creationId xmlns:a16="http://schemas.microsoft.com/office/drawing/2014/main" id="{CA70C5B7-77A5-4453-BEF5-207619D89429}"/>
              </a:ext>
            </a:extLst>
          </p:cNvPr>
          <p:cNvSpPr>
            <a:spLocks noChangeArrowheads="1" noTextEdit="1"/>
          </p:cNvSpPr>
          <p:nvPr>
            <p:ph type="sldImg"/>
          </p:nvPr>
        </p:nvSpPr>
        <p:spPr>
          <a:ln/>
        </p:spPr>
      </p:sp>
      <p:sp>
        <p:nvSpPr>
          <p:cNvPr id="67587" name="Rectangle 3">
            <a:extLst>
              <a:ext uri="{FF2B5EF4-FFF2-40B4-BE49-F238E27FC236}">
                <a16:creationId xmlns:a16="http://schemas.microsoft.com/office/drawing/2014/main" id="{DCF2E152-7B73-4A4F-B0D5-3BAD69CC27B0}"/>
              </a:ext>
            </a:extLst>
          </p:cNvPr>
          <p:cNvSpPr>
            <a:spLocks noGrp="1" noChangeArrowheads="1"/>
          </p:cNvSpPr>
          <p:nvPr>
            <p:ph type="body" idx="1"/>
          </p:nvPr>
        </p:nvSpPr>
        <p:spPr/>
        <p:txBody>
          <a:bodyPr/>
          <a:lstStyle/>
          <a:p>
            <a:pPr marL="228600" indent="-228600"/>
            <a:r>
              <a:rPr lang="en-US" altLang="en-US"/>
              <a:t>Two possibilities:</a:t>
            </a:r>
          </a:p>
          <a:p>
            <a:pPr marL="228600" indent="-228600">
              <a:buFontTx/>
              <a:buAutoNum type="arabicParenR"/>
            </a:pPr>
            <a:r>
              <a:rPr lang="en-US" altLang="en-US"/>
              <a:t>John ate a fancy meal at the restaurant.  The waiter was employed by the restaurant and John paid some of the $50 to the waiter and most of it to the restaurant.</a:t>
            </a:r>
          </a:p>
          <a:p>
            <a:pPr marL="228600" indent="-228600">
              <a:buFontTx/>
              <a:buAutoNum type="arabicParenR"/>
            </a:pPr>
            <a:r>
              <a:rPr lang="en-US" altLang="en-US"/>
              <a:t> John ducked into a fancy restaurant to ask directions.  He was pleased that they were able to help him.  Back on the street, John bumped into a man that he had met at a party the other night.  All John could remember was that the man was a waiter and wanted to buy a radio. John gave the man a tip that there was a great sale going on at the stereo store down the block.  The man spent $50 on a radio.</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D9E76FA-10C7-43D3-BC7E-A9AFA8B6F72C}"/>
              </a:ext>
            </a:extLst>
          </p:cNvPr>
          <p:cNvSpPr>
            <a:spLocks noGrp="1" noChangeArrowheads="1"/>
          </p:cNvSpPr>
          <p:nvPr>
            <p:ph type="sldNum" sz="quarter" idx="5"/>
          </p:nvPr>
        </p:nvSpPr>
        <p:spPr>
          <a:ln/>
        </p:spPr>
        <p:txBody>
          <a:bodyPr/>
          <a:lstStyle/>
          <a:p>
            <a:fld id="{F9649534-487D-4DEB-BBA9-8023C24DAD1D}" type="slidenum">
              <a:rPr lang="en-US" altLang="en-US"/>
              <a:pPr/>
              <a:t>41</a:t>
            </a:fld>
            <a:endParaRPr lang="en-US" altLang="en-US"/>
          </a:p>
        </p:txBody>
      </p:sp>
      <p:sp>
        <p:nvSpPr>
          <p:cNvPr id="75778" name="Rectangle 2">
            <a:extLst>
              <a:ext uri="{FF2B5EF4-FFF2-40B4-BE49-F238E27FC236}">
                <a16:creationId xmlns:a16="http://schemas.microsoft.com/office/drawing/2014/main" id="{84A2E6BC-54BA-45B4-B191-A986C9CDB4A8}"/>
              </a:ext>
            </a:extLst>
          </p:cNvPr>
          <p:cNvSpPr>
            <a:spLocks noChangeArrowheads="1" noTextEdit="1"/>
          </p:cNvSpPr>
          <p:nvPr>
            <p:ph type="sldImg"/>
          </p:nvPr>
        </p:nvSpPr>
        <p:spPr>
          <a:ln/>
        </p:spPr>
      </p:sp>
      <p:sp>
        <p:nvSpPr>
          <p:cNvPr id="75779" name="Rectangle 3">
            <a:extLst>
              <a:ext uri="{FF2B5EF4-FFF2-40B4-BE49-F238E27FC236}">
                <a16:creationId xmlns:a16="http://schemas.microsoft.com/office/drawing/2014/main" id="{4EC0C70F-A42A-4C25-B0AE-7C7A06F338CE}"/>
              </a:ext>
            </a:extLst>
          </p:cNvPr>
          <p:cNvSpPr>
            <a:spLocks noGrp="1" noChangeArrowheads="1"/>
          </p:cNvSpPr>
          <p:nvPr>
            <p:ph type="body" idx="1"/>
          </p:nvPr>
        </p:nvSpPr>
        <p:spPr/>
        <p:txBody>
          <a:bodyPr/>
          <a:lstStyle/>
          <a:p>
            <a:r>
              <a:rPr lang="en-US" altLang="en-US"/>
              <a:t>Examples:</a:t>
            </a:r>
          </a:p>
          <a:p>
            <a:endParaRPr lang="en-US" altLang="en-US"/>
          </a:p>
          <a:p>
            <a:r>
              <a:rPr lang="en-US" altLang="en-US"/>
              <a:t>Enablement – I flew in a plane.  I ate the peanuts.  </a:t>
            </a:r>
          </a:p>
          <a:p>
            <a:r>
              <a:rPr lang="en-US" altLang="en-US"/>
              <a:t>Eval – I went to a movie.  It was good.</a:t>
            </a:r>
          </a:p>
          <a:p>
            <a:r>
              <a:rPr lang="en-US" altLang="en-US"/>
              <a:t>Causal – I didn’t pay.  I had forgotten my wallet.</a:t>
            </a:r>
          </a:p>
          <a:p>
            <a:r>
              <a:rPr lang="en-US" altLang="en-US"/>
              <a:t>Elaboration – I was shocked to see him with pink hair.  I was surprised that he would do that.</a:t>
            </a:r>
          </a:p>
          <a:p>
            <a:r>
              <a:rPr lang="en-US" altLang="en-US"/>
              <a:t>Explanation – I was shocked to see him with pick hair. It had glitter and and a green stripe in the middle.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EB86BE5-1FDD-45E3-822C-3DD11C9EF298}"/>
              </a:ext>
            </a:extLst>
          </p:cNvPr>
          <p:cNvSpPr>
            <a:spLocks noGrp="1" noChangeArrowheads="1"/>
          </p:cNvSpPr>
          <p:nvPr>
            <p:ph type="sldNum" sz="quarter" idx="5"/>
          </p:nvPr>
        </p:nvSpPr>
        <p:spPr>
          <a:ln/>
        </p:spPr>
        <p:txBody>
          <a:bodyPr/>
          <a:lstStyle/>
          <a:p>
            <a:fld id="{CA0B27C6-0447-4C30-B1CF-2D6ED4D11D86}" type="slidenum">
              <a:rPr lang="en-US" altLang="en-US"/>
              <a:pPr/>
              <a:t>42</a:t>
            </a:fld>
            <a:endParaRPr lang="en-US" altLang="en-US"/>
          </a:p>
        </p:txBody>
      </p:sp>
      <p:sp>
        <p:nvSpPr>
          <p:cNvPr id="77826" name="Rectangle 2">
            <a:extLst>
              <a:ext uri="{FF2B5EF4-FFF2-40B4-BE49-F238E27FC236}">
                <a16:creationId xmlns:a16="http://schemas.microsoft.com/office/drawing/2014/main" id="{F24EBB7F-B789-4BAA-8630-178943CE0CAE}"/>
              </a:ext>
            </a:extLst>
          </p:cNvPr>
          <p:cNvSpPr>
            <a:spLocks noChangeArrowheads="1" noTextEdit="1"/>
          </p:cNvSpPr>
          <p:nvPr>
            <p:ph type="sldImg"/>
          </p:nvPr>
        </p:nvSpPr>
        <p:spPr>
          <a:ln/>
        </p:spPr>
      </p:sp>
      <p:sp>
        <p:nvSpPr>
          <p:cNvPr id="77827" name="Rectangle 3">
            <a:extLst>
              <a:ext uri="{FF2B5EF4-FFF2-40B4-BE49-F238E27FC236}">
                <a16:creationId xmlns:a16="http://schemas.microsoft.com/office/drawing/2014/main" id="{8430FAEB-C5CE-4CF6-8BC1-8C88E8B6D4B3}"/>
              </a:ext>
            </a:extLst>
          </p:cNvPr>
          <p:cNvSpPr>
            <a:spLocks noGrp="1" noChangeArrowheads="1"/>
          </p:cNvSpPr>
          <p:nvPr>
            <p:ph type="body" idx="1"/>
          </p:nvPr>
        </p:nvSpPr>
        <p:spPr/>
        <p:txBody>
          <a:bodyPr/>
          <a:lstStyle/>
          <a:p>
            <a:pPr marL="228600" indent="-228600"/>
            <a:r>
              <a:rPr lang="en-US" altLang="en-US"/>
              <a:t>An example to look at:</a:t>
            </a:r>
          </a:p>
          <a:p>
            <a:pPr marL="228600" indent="-228600">
              <a:buFontTx/>
              <a:buAutoNum type="arabicParenBoth"/>
            </a:pPr>
            <a:r>
              <a:rPr lang="en-US" altLang="en-US"/>
              <a:t>A funny thing happened yesterday.</a:t>
            </a:r>
          </a:p>
          <a:p>
            <a:pPr marL="228600" indent="-228600">
              <a:buFontTx/>
              <a:buAutoNum type="arabicParenBoth"/>
            </a:pPr>
            <a:r>
              <a:rPr lang="en-US" altLang="en-US"/>
              <a:t>John went to a fancy restaurant.</a:t>
            </a:r>
          </a:p>
          <a:p>
            <a:pPr marL="228600" indent="-228600">
              <a:buFontTx/>
              <a:buAutoNum type="arabicParenBoth"/>
            </a:pPr>
            <a:r>
              <a:rPr lang="en-US" altLang="en-US"/>
              <a:t>He ordered the duck.</a:t>
            </a:r>
          </a:p>
          <a:p>
            <a:pPr marL="228600" indent="-228600">
              <a:buFontTx/>
              <a:buAutoNum type="arabicParenBoth"/>
            </a:pPr>
            <a:r>
              <a:rPr lang="en-US" altLang="en-US"/>
              <a:t>The bill came to $50</a:t>
            </a:r>
          </a:p>
          <a:p>
            <a:pPr marL="228600" indent="-228600">
              <a:buFontTx/>
              <a:buAutoNum type="arabicParenBoth"/>
            </a:pPr>
            <a:r>
              <a:rPr lang="en-US" altLang="en-US"/>
              <a:t>John was shocked when the waiter came to collect the bill.</a:t>
            </a:r>
          </a:p>
          <a:p>
            <a:pPr marL="228600" indent="-228600">
              <a:buFontTx/>
              <a:buAutoNum type="arabicParenBoth"/>
            </a:pPr>
            <a:r>
              <a:rPr lang="en-US" altLang="en-US"/>
              <a:t>He realized that he didn’t have a cent on him.</a:t>
            </a:r>
          </a:p>
          <a:p>
            <a:pPr marL="228600" indent="-228600">
              <a:buFontTx/>
              <a:buAutoNum type="arabicParenBoth"/>
            </a:pPr>
            <a:r>
              <a:rPr lang="en-US" altLang="en-US"/>
              <a:t>He had left his wallet at home.</a:t>
            </a:r>
          </a:p>
          <a:p>
            <a:pPr marL="228600" indent="-228600">
              <a:buFontTx/>
              <a:buAutoNum type="arabicParenBoth"/>
            </a:pPr>
            <a:r>
              <a:rPr lang="en-US" altLang="en-US"/>
              <a:t>They waiter said it was all right to pay later.</a:t>
            </a:r>
          </a:p>
          <a:p>
            <a:pPr marL="228600" indent="-228600">
              <a:buFontTx/>
              <a:buAutoNum type="arabicParenBoth"/>
            </a:pPr>
            <a:r>
              <a:rPr lang="en-US" altLang="en-US"/>
              <a:t>He was very embarrassed by his forgetfulness.</a:t>
            </a:r>
          </a:p>
          <a:p>
            <a:pPr marL="228600" indent="-228600"/>
            <a:endParaRPr lang="en-US" altLang="en-US"/>
          </a:p>
          <a:p>
            <a:pPr marL="228600" indent="-228600"/>
            <a:r>
              <a:rPr lang="en-US" altLang="en-US"/>
              <a:t>(1) Describes what the speaker is talking about (a meta-comment).  The plan is to tell a funny thing.</a:t>
            </a:r>
          </a:p>
          <a:p>
            <a:pPr marL="228600" indent="-228600"/>
            <a:r>
              <a:rPr lang="en-US" altLang="en-US"/>
              <a:t>(2) Beginning of the description.  (2) is part of the speaker’s plan alluded to in (1). </a:t>
            </a:r>
            <a:r>
              <a:rPr lang="en-US" altLang="en-US" b="1"/>
              <a:t>evaluation</a:t>
            </a:r>
            <a:r>
              <a:rPr lang="en-US" altLang="en-US"/>
              <a:t> relation</a:t>
            </a:r>
          </a:p>
          <a:p>
            <a:pPr marL="228600" indent="-228600"/>
            <a:r>
              <a:rPr lang="en-US" altLang="en-US"/>
              <a:t>Sentence (2) and (3) </a:t>
            </a:r>
            <a:r>
              <a:rPr lang="en-US" altLang="en-US" b="1"/>
              <a:t>enable</a:t>
            </a:r>
            <a:r>
              <a:rPr lang="en-US" altLang="en-US"/>
              <a:t> sentences (3) and (4), which are </a:t>
            </a:r>
            <a:r>
              <a:rPr lang="en-US" altLang="en-US" b="1"/>
              <a:t>causal</a:t>
            </a:r>
            <a:r>
              <a:rPr lang="en-US" altLang="en-US"/>
              <a:t>.  </a:t>
            </a:r>
          </a:p>
          <a:p>
            <a:pPr marL="228600" indent="-228600"/>
            <a:r>
              <a:rPr lang="en-US" altLang="en-US"/>
              <a:t>Sentence (5) and (6) overlap – </a:t>
            </a:r>
            <a:r>
              <a:rPr lang="en-US" altLang="en-US" b="1"/>
              <a:t>elaboration</a:t>
            </a:r>
            <a:r>
              <a:rPr lang="en-US" altLang="en-US"/>
              <a:t>.</a:t>
            </a:r>
          </a:p>
          <a:p>
            <a:pPr marL="228600" indent="-228600"/>
            <a:r>
              <a:rPr lang="en-US" altLang="en-US"/>
              <a:t>Sentence (7) </a:t>
            </a:r>
            <a:r>
              <a:rPr lang="en-US" altLang="en-US" b="1"/>
              <a:t>explanation</a:t>
            </a:r>
            <a:r>
              <a:rPr lang="en-US" altLang="en-US"/>
              <a:t> – why John didn’t have a cent. Links new knowledge to the hearer’s existing knowledge.</a:t>
            </a:r>
          </a:p>
          <a:p>
            <a:pPr marL="228600" indent="-228600"/>
            <a:r>
              <a:rPr lang="en-US" altLang="en-US"/>
              <a:t>Sentence (9) is in a causal relation with the discourse segment comprised of (5) and (6).  Therefore we interpret “he” as John, not the waiter.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F57B992-8EDD-4E8D-8FBC-53CD97C77473}"/>
              </a:ext>
            </a:extLst>
          </p:cNvPr>
          <p:cNvSpPr>
            <a:spLocks noGrp="1" noChangeArrowheads="1"/>
          </p:cNvSpPr>
          <p:nvPr>
            <p:ph type="sldNum" sz="quarter" idx="5"/>
          </p:nvPr>
        </p:nvSpPr>
        <p:spPr>
          <a:ln/>
        </p:spPr>
        <p:txBody>
          <a:bodyPr/>
          <a:lstStyle/>
          <a:p>
            <a:fld id="{B01F1226-4881-4EAA-916A-2D93165415BE}" type="slidenum">
              <a:rPr lang="en-US" altLang="en-US"/>
              <a:pPr/>
              <a:t>43</a:t>
            </a:fld>
            <a:endParaRPr lang="en-US" altLang="en-US"/>
          </a:p>
        </p:txBody>
      </p:sp>
      <p:sp>
        <p:nvSpPr>
          <p:cNvPr id="79874" name="Rectangle 2">
            <a:extLst>
              <a:ext uri="{FF2B5EF4-FFF2-40B4-BE49-F238E27FC236}">
                <a16:creationId xmlns:a16="http://schemas.microsoft.com/office/drawing/2014/main" id="{B1265F34-8BD9-4E46-8691-357B5F348D40}"/>
              </a:ext>
            </a:extLst>
          </p:cNvPr>
          <p:cNvSpPr>
            <a:spLocks noChangeArrowheads="1" noTextEdit="1"/>
          </p:cNvSpPr>
          <p:nvPr>
            <p:ph type="sldImg"/>
          </p:nvPr>
        </p:nvSpPr>
        <p:spPr>
          <a:ln/>
        </p:spPr>
      </p:sp>
      <p:sp>
        <p:nvSpPr>
          <p:cNvPr id="79875" name="Rectangle 3">
            <a:extLst>
              <a:ext uri="{FF2B5EF4-FFF2-40B4-BE49-F238E27FC236}">
                <a16:creationId xmlns:a16="http://schemas.microsoft.com/office/drawing/2014/main" id="{E2A16145-3A4F-4A84-963E-0C765FC06F4A}"/>
              </a:ext>
            </a:extLst>
          </p:cNvPr>
          <p:cNvSpPr>
            <a:spLocks noGrp="1" noChangeArrowheads="1"/>
          </p:cNvSpPr>
          <p:nvPr>
            <p:ph type="body" idx="1"/>
          </p:nvPr>
        </p:nvSpPr>
        <p:spPr/>
        <p:txBody>
          <a:bodyPr/>
          <a:lstStyle/>
          <a:p>
            <a:r>
              <a:rPr lang="en-US" altLang="en-US"/>
              <a:t>What’s the difference?</a:t>
            </a:r>
          </a:p>
          <a:p>
            <a:endParaRPr lang="en-US" altLang="en-US"/>
          </a:p>
          <a:p>
            <a:r>
              <a:rPr lang="en-US" altLang="en-US"/>
              <a:t>I visited Paris.					I visited Paris.</a:t>
            </a:r>
          </a:p>
          <a:p>
            <a:r>
              <a:rPr lang="en-US" altLang="en-US"/>
              <a:t>I bought you some expensive cologne.	Then I flew home.</a:t>
            </a:r>
          </a:p>
          <a:p>
            <a:r>
              <a:rPr lang="en-US" altLang="en-US"/>
              <a:t>Then I flew home.				I went to Kmart.</a:t>
            </a:r>
          </a:p>
          <a:p>
            <a:r>
              <a:rPr lang="en-US" altLang="en-US"/>
              <a:t>I went to Kmart.					I bought you some expensive cologne. </a:t>
            </a:r>
          </a:p>
          <a:p>
            <a:r>
              <a:rPr lang="en-US" altLang="en-US"/>
              <a:t>I bought some underwear.			I bought some underwear.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BBBE67A-1831-4262-A409-53AAE0CFC177}"/>
              </a:ext>
            </a:extLst>
          </p:cNvPr>
          <p:cNvSpPr>
            <a:spLocks noGrp="1" noChangeArrowheads="1"/>
          </p:cNvSpPr>
          <p:nvPr>
            <p:ph type="sldNum" sz="quarter" idx="5"/>
          </p:nvPr>
        </p:nvSpPr>
        <p:spPr>
          <a:ln/>
        </p:spPr>
        <p:txBody>
          <a:bodyPr/>
          <a:lstStyle/>
          <a:p>
            <a:fld id="{87BD7DE0-8280-4BEF-809E-8F9BDCFB95F0}" type="slidenum">
              <a:rPr lang="en-US" altLang="en-US"/>
              <a:pPr/>
              <a:t>46</a:t>
            </a:fld>
            <a:endParaRPr lang="en-US" altLang="en-US"/>
          </a:p>
        </p:txBody>
      </p:sp>
      <p:sp>
        <p:nvSpPr>
          <p:cNvPr id="87042" name="Rectangle 2">
            <a:extLst>
              <a:ext uri="{FF2B5EF4-FFF2-40B4-BE49-F238E27FC236}">
                <a16:creationId xmlns:a16="http://schemas.microsoft.com/office/drawing/2014/main" id="{385DB43F-4EC5-44B6-A8EF-2BA3AF447DCF}"/>
              </a:ext>
            </a:extLst>
          </p:cNvPr>
          <p:cNvSpPr>
            <a:spLocks noChangeArrowheads="1" noTextEdit="1"/>
          </p:cNvSpPr>
          <p:nvPr>
            <p:ph type="sldImg"/>
          </p:nvPr>
        </p:nvSpPr>
        <p:spPr>
          <a:ln/>
        </p:spPr>
      </p:sp>
      <p:sp>
        <p:nvSpPr>
          <p:cNvPr id="87043" name="Rectangle 3">
            <a:extLst>
              <a:ext uri="{FF2B5EF4-FFF2-40B4-BE49-F238E27FC236}">
                <a16:creationId xmlns:a16="http://schemas.microsoft.com/office/drawing/2014/main" id="{6862B16E-501E-49F2-83B3-7725493FC7C5}"/>
              </a:ext>
            </a:extLst>
          </p:cNvPr>
          <p:cNvSpPr>
            <a:spLocks noGrp="1" noChangeArrowheads="1"/>
          </p:cNvSpPr>
          <p:nvPr>
            <p:ph type="body" idx="1"/>
          </p:nvPr>
        </p:nvSpPr>
        <p:spPr/>
        <p:txBody>
          <a:bodyPr/>
          <a:lstStyle/>
          <a:p>
            <a:r>
              <a:rPr lang="en-US" altLang="en-US"/>
              <a:t>Pittsburg?  England?  Where are research centers.</a:t>
            </a:r>
          </a:p>
          <a:p>
            <a:endParaRPr lang="en-US" altLang="en-US"/>
          </a:p>
          <a:p>
            <a:r>
              <a:rPr lang="en-US" altLang="en-US"/>
              <a:t>SRI (Perrault), Hobbs</a:t>
            </a:r>
          </a:p>
          <a:p>
            <a:endParaRPr lang="en-US" altLang="en-US"/>
          </a:p>
          <a:p>
            <a:r>
              <a:rPr lang="en-US" altLang="en-US"/>
              <a:t>Pereira (SRI), computational lingu. Machine learning, speech and text proc. (now at U of Penn)</a:t>
            </a:r>
          </a:p>
          <a:p>
            <a:endParaRPr lang="en-US" altLang="en-US"/>
          </a:p>
          <a:p>
            <a:r>
              <a:rPr lang="en-US" altLang="en-US"/>
              <a:t>Barbara Grosz (at Harvard),</a:t>
            </a:r>
          </a:p>
          <a:p>
            <a:endParaRPr lang="en-US" altLang="en-US"/>
          </a:p>
          <a:p>
            <a:r>
              <a:rPr lang="en-US" altLang="en-US"/>
              <a:t>Charniak</a:t>
            </a:r>
          </a:p>
          <a:p>
            <a:endParaRPr lang="en-US" altLang="en-US"/>
          </a:p>
          <a:p>
            <a:r>
              <a:rPr lang="en-US" altLang="en-US"/>
              <a:t>Due to web, funding has picked up, and research is more active, with good results.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E9EAB19-C1AC-4964-8B12-F5AF054C1A10}"/>
              </a:ext>
            </a:extLst>
          </p:cNvPr>
          <p:cNvSpPr>
            <a:spLocks noGrp="1" noChangeArrowheads="1"/>
          </p:cNvSpPr>
          <p:nvPr>
            <p:ph type="sldNum" sz="quarter" idx="5"/>
          </p:nvPr>
        </p:nvSpPr>
        <p:spPr>
          <a:ln/>
        </p:spPr>
        <p:txBody>
          <a:bodyPr/>
          <a:lstStyle/>
          <a:p>
            <a:fld id="{91E91790-C758-4823-B6B9-957FF00A6577}" type="slidenum">
              <a:rPr lang="en-US" altLang="en-US"/>
              <a:pPr/>
              <a:t>47</a:t>
            </a:fld>
            <a:endParaRPr lang="en-US" altLang="en-US"/>
          </a:p>
        </p:txBody>
      </p:sp>
      <p:sp>
        <p:nvSpPr>
          <p:cNvPr id="91138" name="Rectangle 2">
            <a:extLst>
              <a:ext uri="{FF2B5EF4-FFF2-40B4-BE49-F238E27FC236}">
                <a16:creationId xmlns:a16="http://schemas.microsoft.com/office/drawing/2014/main" id="{B67E8FBA-F4B0-4739-AE6C-021F0B3628DC}"/>
              </a:ext>
            </a:extLst>
          </p:cNvPr>
          <p:cNvSpPr>
            <a:spLocks noChangeArrowheads="1" noTextEdit="1"/>
          </p:cNvSpPr>
          <p:nvPr>
            <p:ph type="sldImg"/>
          </p:nvPr>
        </p:nvSpPr>
        <p:spPr>
          <a:ln/>
        </p:spPr>
      </p:sp>
      <p:sp>
        <p:nvSpPr>
          <p:cNvPr id="91139" name="Rectangle 3">
            <a:extLst>
              <a:ext uri="{FF2B5EF4-FFF2-40B4-BE49-F238E27FC236}">
                <a16:creationId xmlns:a16="http://schemas.microsoft.com/office/drawing/2014/main" id="{B47DAA6F-972F-4531-85DE-D06DB15093BE}"/>
              </a:ext>
            </a:extLst>
          </p:cNvPr>
          <p:cNvSpPr>
            <a:spLocks noGrp="1" noChangeArrowheads="1"/>
          </p:cNvSpPr>
          <p:nvPr>
            <p:ph type="body" idx="1"/>
          </p:nvPr>
        </p:nvSpPr>
        <p:spPr/>
        <p:txBody>
          <a:bodyPr/>
          <a:lstStyle/>
          <a:p>
            <a:r>
              <a:rPr lang="en-US" altLang="en-US"/>
              <a:t>ACL is yearly, this year in Philedelphia, Penn., next year in Japan</a:t>
            </a:r>
          </a:p>
          <a:p>
            <a:endParaRPr lang="en-US" altLang="en-US"/>
          </a:p>
          <a:p>
            <a:r>
              <a:rPr lang="en-US" altLang="en-US"/>
              <a:t>Coling – International Conference on Computational Linguistics.  This year in Taipei Taiwan</a:t>
            </a:r>
          </a:p>
          <a:p>
            <a:endParaRPr lang="en-US" altLang="en-US"/>
          </a:p>
          <a:p>
            <a:r>
              <a:rPr lang="en-US" altLang="en-US"/>
              <a:t>EACL in Toulouse, France this year.</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5200246-C423-4E3E-83C4-3E0530E626BF}"/>
              </a:ext>
            </a:extLst>
          </p:cNvPr>
          <p:cNvSpPr>
            <a:spLocks noGrp="1" noChangeArrowheads="1"/>
          </p:cNvSpPr>
          <p:nvPr>
            <p:ph type="sldNum" sz="quarter" idx="5"/>
          </p:nvPr>
        </p:nvSpPr>
        <p:spPr>
          <a:ln/>
        </p:spPr>
        <p:txBody>
          <a:bodyPr/>
          <a:lstStyle/>
          <a:p>
            <a:fld id="{0CA9F6EF-3334-41C9-A70E-ACFFA635BBA3}" type="slidenum">
              <a:rPr lang="en-US" altLang="en-US"/>
              <a:pPr/>
              <a:t>48</a:t>
            </a:fld>
            <a:endParaRPr lang="en-US" altLang="en-US"/>
          </a:p>
        </p:txBody>
      </p:sp>
      <p:sp>
        <p:nvSpPr>
          <p:cNvPr id="96258" name="Rectangle 2">
            <a:extLst>
              <a:ext uri="{FF2B5EF4-FFF2-40B4-BE49-F238E27FC236}">
                <a16:creationId xmlns:a16="http://schemas.microsoft.com/office/drawing/2014/main" id="{E1D5F8CB-28FB-4357-82B0-63416736399C}"/>
              </a:ext>
            </a:extLst>
          </p:cNvPr>
          <p:cNvSpPr>
            <a:spLocks noChangeArrowheads="1" noTextEdit="1"/>
          </p:cNvSpPr>
          <p:nvPr>
            <p:ph type="sldImg"/>
          </p:nvPr>
        </p:nvSpPr>
        <p:spPr>
          <a:ln/>
        </p:spPr>
      </p:sp>
      <p:sp>
        <p:nvSpPr>
          <p:cNvPr id="96259" name="Rectangle 3">
            <a:extLst>
              <a:ext uri="{FF2B5EF4-FFF2-40B4-BE49-F238E27FC236}">
                <a16:creationId xmlns:a16="http://schemas.microsoft.com/office/drawing/2014/main" id="{93986C67-7814-44DD-9896-C09FDEB36AA8}"/>
              </a:ext>
            </a:extLst>
          </p:cNvPr>
          <p:cNvSpPr>
            <a:spLocks noGrp="1" noChangeArrowheads="1"/>
          </p:cNvSpPr>
          <p:nvPr>
            <p:ph type="body" idx="1"/>
          </p:nvPr>
        </p:nvSpPr>
        <p:spPr/>
        <p:txBody>
          <a:bodyPr/>
          <a:lstStyle/>
          <a:p>
            <a:r>
              <a:rPr lang="en-US" altLang="en-US"/>
              <a:t>Best ones include ISI, Standford (SRI)</a:t>
            </a:r>
          </a:p>
          <a:p>
            <a:endParaRPr lang="en-US" altLang="en-US"/>
          </a:p>
          <a:p>
            <a:r>
              <a:rPr lang="en-US" altLang="en-US"/>
              <a:t>Many, Many good ones elsewhere in the world, just too long to print here.</a:t>
            </a:r>
          </a:p>
          <a:p>
            <a:endParaRPr lang="en-US" altLang="en-US"/>
          </a:p>
          <a:p>
            <a:r>
              <a:rPr lang="en-US" altLang="en-US"/>
              <a:t>http://www.cs.columbia.edu/~acl/nlpfaq.txt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BA83375-2EBE-40FC-97B5-AFE9A288E2E8}"/>
              </a:ext>
            </a:extLst>
          </p:cNvPr>
          <p:cNvSpPr>
            <a:spLocks noGrp="1" noChangeArrowheads="1"/>
          </p:cNvSpPr>
          <p:nvPr>
            <p:ph type="sldNum" sz="quarter" idx="5"/>
          </p:nvPr>
        </p:nvSpPr>
        <p:spPr>
          <a:ln/>
        </p:spPr>
        <p:txBody>
          <a:bodyPr/>
          <a:lstStyle/>
          <a:p>
            <a:fld id="{F410BE73-CB35-4F73-801D-A2950ED17625}" type="slidenum">
              <a:rPr lang="en-US" altLang="en-US"/>
              <a:pPr/>
              <a:t>49</a:t>
            </a:fld>
            <a:endParaRPr lang="en-US" altLang="en-US"/>
          </a:p>
        </p:txBody>
      </p:sp>
      <p:sp>
        <p:nvSpPr>
          <p:cNvPr id="94210" name="Rectangle 2">
            <a:extLst>
              <a:ext uri="{FF2B5EF4-FFF2-40B4-BE49-F238E27FC236}">
                <a16:creationId xmlns:a16="http://schemas.microsoft.com/office/drawing/2014/main" id="{AA285462-114B-4117-81A5-DE15F7855C6A}"/>
              </a:ext>
            </a:extLst>
          </p:cNvPr>
          <p:cNvSpPr>
            <a:spLocks noChangeArrowheads="1" noTextEdit="1"/>
          </p:cNvSpPr>
          <p:nvPr>
            <p:ph type="sldImg"/>
          </p:nvPr>
        </p:nvSpPr>
        <p:spPr>
          <a:ln/>
        </p:spPr>
      </p:sp>
      <p:sp>
        <p:nvSpPr>
          <p:cNvPr id="94211" name="Rectangle 3">
            <a:extLst>
              <a:ext uri="{FF2B5EF4-FFF2-40B4-BE49-F238E27FC236}">
                <a16:creationId xmlns:a16="http://schemas.microsoft.com/office/drawing/2014/main" id="{6C329AC1-1710-4ECC-B49F-3A207BE13859}"/>
              </a:ext>
            </a:extLst>
          </p:cNvPr>
          <p:cNvSpPr>
            <a:spLocks noGrp="1" noChangeArrowheads="1"/>
          </p:cNvSpPr>
          <p:nvPr>
            <p:ph type="body" idx="1"/>
          </p:nvPr>
        </p:nvSpPr>
        <p:spPr/>
        <p:txBody>
          <a:bodyPr/>
          <a:lstStyle/>
          <a:p>
            <a:r>
              <a:rPr lang="en-US" altLang="en-US"/>
              <a:t>Computational Linguistics is the only publication devoted exclusively</a:t>
            </a:r>
          </a:p>
          <a:p>
            <a:r>
              <a:rPr lang="en-US" altLang="en-US"/>
              <a:t>to the design and analysis of natural language processing</a:t>
            </a:r>
          </a:p>
          <a:p>
            <a:r>
              <a:rPr lang="en-US" altLang="en-US"/>
              <a:t>systems. From this unique quarterly, university and industry</a:t>
            </a:r>
          </a:p>
          <a:p>
            <a:r>
              <a:rPr lang="en-US" altLang="en-US"/>
              <a:t>linguists, computational linguists, artificial intelligence (AI)</a:t>
            </a:r>
          </a:p>
          <a:p>
            <a:r>
              <a:rPr lang="en-US" altLang="en-US"/>
              <a:t>investigators, cognitive scientists, speech specialists, and</a:t>
            </a:r>
          </a:p>
          <a:p>
            <a:r>
              <a:rPr lang="en-US" altLang="en-US"/>
              <a:t>philosophers get information about computational aspects of research</a:t>
            </a:r>
          </a:p>
          <a:p>
            <a:r>
              <a:rPr lang="en-US" altLang="en-US"/>
              <a:t>on language, linguistics, and the psychology of language processing</a:t>
            </a:r>
          </a:p>
          <a:p>
            <a:r>
              <a:rPr lang="en-US" altLang="en-US"/>
              <a:t>and performance.</a:t>
            </a:r>
          </a:p>
          <a:p>
            <a:endParaRPr lang="en-US" altLang="en-US"/>
          </a:p>
          <a:p>
            <a:endParaRPr lang="en-US" altLang="en-US"/>
          </a:p>
          <a:p>
            <a:r>
              <a:rPr lang="en-US" altLang="en-US"/>
              <a:t>Published by The MIT Press for: The Association for Computational Linguistics. </a:t>
            </a:r>
          </a:p>
          <a:p>
            <a:endParaRPr lang="en-US" altLang="en-US"/>
          </a:p>
          <a:p>
            <a:r>
              <a:rPr lang="en-US" altLang="en-US"/>
              <a:t>URL: http://mitpress.mit.edu/journal-home.tcl?issn=08912017</a:t>
            </a:r>
          </a:p>
          <a:p>
            <a:endParaRPr lang="en-US" altLang="en-US"/>
          </a:p>
          <a:p>
            <a:endParaRPr lang="en-US" altLang="en-US"/>
          </a:p>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8221AEC-58C8-43E5-AE27-D9C26CFF37BB}"/>
              </a:ext>
            </a:extLst>
          </p:cNvPr>
          <p:cNvSpPr>
            <a:spLocks noGrp="1" noChangeArrowheads="1"/>
          </p:cNvSpPr>
          <p:nvPr>
            <p:ph type="sldNum" sz="quarter" idx="5"/>
          </p:nvPr>
        </p:nvSpPr>
        <p:spPr>
          <a:ln/>
        </p:spPr>
        <p:txBody>
          <a:bodyPr/>
          <a:lstStyle/>
          <a:p>
            <a:fld id="{07136983-DE88-4A42-BF65-93A6B416D1C8}" type="slidenum">
              <a:rPr lang="en-US" altLang="en-US"/>
              <a:pPr/>
              <a:t>51</a:t>
            </a:fld>
            <a:endParaRPr lang="en-US" altLang="en-US"/>
          </a:p>
        </p:txBody>
      </p:sp>
      <p:sp>
        <p:nvSpPr>
          <p:cNvPr id="89090" name="Rectangle 2">
            <a:extLst>
              <a:ext uri="{FF2B5EF4-FFF2-40B4-BE49-F238E27FC236}">
                <a16:creationId xmlns:a16="http://schemas.microsoft.com/office/drawing/2014/main" id="{5F62F576-4AA7-49DA-9972-3E1E2E8F11F1}"/>
              </a:ext>
            </a:extLst>
          </p:cNvPr>
          <p:cNvSpPr>
            <a:spLocks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89091" name="Rectangle 3">
            <a:extLst>
              <a:ext uri="{FF2B5EF4-FFF2-40B4-BE49-F238E27FC236}">
                <a16:creationId xmlns:a16="http://schemas.microsoft.com/office/drawing/2014/main" id="{AE18BB7F-8881-467D-B00F-F292AFAE4312}"/>
              </a:ext>
            </a:extLst>
          </p:cNvPr>
          <p:cNvSpPr>
            <a:spLocks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r>
              <a:rPr lang="en-US" altLang="en-US"/>
              <a:t>An example to look at:</a:t>
            </a:r>
          </a:p>
          <a:p>
            <a:pPr marL="228600" indent="-228600">
              <a:buFontTx/>
              <a:buAutoNum type="arabicParenBoth"/>
            </a:pPr>
            <a:r>
              <a:rPr lang="en-US" altLang="en-US"/>
              <a:t>A funny thing happened yesterday.</a:t>
            </a:r>
          </a:p>
          <a:p>
            <a:pPr marL="228600" indent="-228600">
              <a:buFontTx/>
              <a:buAutoNum type="arabicParenBoth"/>
            </a:pPr>
            <a:r>
              <a:rPr lang="en-US" altLang="en-US"/>
              <a:t>John went to a fancy restaurant.</a:t>
            </a:r>
          </a:p>
          <a:p>
            <a:pPr marL="228600" indent="-228600">
              <a:buFontTx/>
              <a:buAutoNum type="arabicParenBoth"/>
            </a:pPr>
            <a:r>
              <a:rPr lang="en-US" altLang="en-US"/>
              <a:t>He ordered the duck.</a:t>
            </a:r>
          </a:p>
          <a:p>
            <a:pPr marL="228600" indent="-228600">
              <a:buFontTx/>
              <a:buAutoNum type="arabicParenBoth"/>
            </a:pPr>
            <a:r>
              <a:rPr lang="en-US" altLang="en-US"/>
              <a:t>The bill came to $50</a:t>
            </a:r>
          </a:p>
          <a:p>
            <a:pPr marL="228600" indent="-228600">
              <a:buFontTx/>
              <a:buAutoNum type="arabicParenBoth"/>
            </a:pPr>
            <a:r>
              <a:rPr lang="en-US" altLang="en-US"/>
              <a:t>John was shocked when the waiter came to collect the bill.</a:t>
            </a:r>
          </a:p>
          <a:p>
            <a:pPr marL="228600" indent="-228600">
              <a:buFontTx/>
              <a:buAutoNum type="arabicParenBoth"/>
            </a:pPr>
            <a:r>
              <a:rPr lang="en-US" altLang="en-US"/>
              <a:t>He realized that he didn’t have a cent on him.</a:t>
            </a:r>
          </a:p>
          <a:p>
            <a:pPr marL="228600" indent="-228600">
              <a:buFontTx/>
              <a:buAutoNum type="arabicParenBoth"/>
            </a:pPr>
            <a:r>
              <a:rPr lang="en-US" altLang="en-US"/>
              <a:t>He had left his wallet at home.</a:t>
            </a:r>
          </a:p>
          <a:p>
            <a:pPr marL="228600" indent="-228600">
              <a:buFontTx/>
              <a:buAutoNum type="arabicParenBoth"/>
            </a:pPr>
            <a:r>
              <a:rPr lang="en-US" altLang="en-US"/>
              <a:t>They waiter said it was all right to pay later.</a:t>
            </a:r>
          </a:p>
          <a:p>
            <a:pPr marL="228600" indent="-228600">
              <a:buFontTx/>
              <a:buAutoNum type="arabicParenBoth"/>
            </a:pPr>
            <a:r>
              <a:rPr lang="en-US" altLang="en-US"/>
              <a:t>He was very embarrassed by his forgetfulness.</a:t>
            </a:r>
          </a:p>
          <a:p>
            <a:pPr marL="228600" indent="-228600"/>
            <a:endParaRPr lang="en-US" altLang="en-US"/>
          </a:p>
          <a:p>
            <a:pPr marL="228600" indent="-228600"/>
            <a:r>
              <a:rPr lang="en-US" altLang="en-US"/>
              <a:t>(1) Describes what the speaker is talking about (a meta-comment).  The plan is to tell a funny thing.</a:t>
            </a:r>
          </a:p>
          <a:p>
            <a:pPr marL="228600" indent="-228600"/>
            <a:r>
              <a:rPr lang="en-US" altLang="en-US"/>
              <a:t>(2) Beginning of the description.  (2) is part of the speaker’s plan alluded to in (1). </a:t>
            </a:r>
            <a:r>
              <a:rPr lang="en-US" altLang="en-US" b="1"/>
              <a:t>evaluation</a:t>
            </a:r>
            <a:r>
              <a:rPr lang="en-US" altLang="en-US"/>
              <a:t> relation</a:t>
            </a:r>
          </a:p>
          <a:p>
            <a:pPr marL="228600" indent="-228600"/>
            <a:r>
              <a:rPr lang="en-US" altLang="en-US"/>
              <a:t>Sentence (2) and (3) </a:t>
            </a:r>
            <a:r>
              <a:rPr lang="en-US" altLang="en-US" b="1"/>
              <a:t>enable</a:t>
            </a:r>
            <a:r>
              <a:rPr lang="en-US" altLang="en-US"/>
              <a:t> sentences (3) and (4), which are </a:t>
            </a:r>
            <a:r>
              <a:rPr lang="en-US" altLang="en-US" b="1"/>
              <a:t>causal</a:t>
            </a:r>
            <a:r>
              <a:rPr lang="en-US" altLang="en-US"/>
              <a:t>.  </a:t>
            </a:r>
          </a:p>
          <a:p>
            <a:pPr marL="228600" indent="-228600"/>
            <a:r>
              <a:rPr lang="en-US" altLang="en-US"/>
              <a:t>Sentence (5) and (6) overlap – </a:t>
            </a:r>
            <a:r>
              <a:rPr lang="en-US" altLang="en-US" b="1"/>
              <a:t>elaboration</a:t>
            </a:r>
            <a:r>
              <a:rPr lang="en-US" altLang="en-US"/>
              <a:t>.</a:t>
            </a:r>
          </a:p>
          <a:p>
            <a:pPr marL="228600" indent="-228600"/>
            <a:r>
              <a:rPr lang="en-US" altLang="en-US"/>
              <a:t>Sentence (7) </a:t>
            </a:r>
            <a:r>
              <a:rPr lang="en-US" altLang="en-US" b="1"/>
              <a:t>explanation</a:t>
            </a:r>
            <a:r>
              <a:rPr lang="en-US" altLang="en-US"/>
              <a:t> – why John didn’t have a cent. Links new knowledge to the hearer’s existing knowledge.</a:t>
            </a:r>
          </a:p>
          <a:p>
            <a:pPr marL="228600" indent="-228600"/>
            <a:r>
              <a:rPr lang="en-US" altLang="en-US"/>
              <a:t>Sentence (9) is in a causal relation with the discourse segment comprised of (5) and (6).  Therefore we interpret “he” as John, not the waiter.</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9631803-1770-491F-90D2-2E0F53BD7D31}"/>
              </a:ext>
            </a:extLst>
          </p:cNvPr>
          <p:cNvSpPr>
            <a:spLocks noGrp="1" noChangeArrowheads="1"/>
          </p:cNvSpPr>
          <p:nvPr>
            <p:ph type="sldNum" sz="quarter" idx="5"/>
          </p:nvPr>
        </p:nvSpPr>
        <p:spPr>
          <a:ln/>
        </p:spPr>
        <p:txBody>
          <a:bodyPr/>
          <a:lstStyle/>
          <a:p>
            <a:fld id="{43CDA7F8-CA8F-41FB-96DA-BF639BB1D22A}" type="slidenum">
              <a:rPr lang="en-US" altLang="en-US"/>
              <a:pPr/>
              <a:t>52</a:t>
            </a:fld>
            <a:endParaRPr lang="en-US" altLang="en-US"/>
          </a:p>
        </p:txBody>
      </p:sp>
      <p:sp>
        <p:nvSpPr>
          <p:cNvPr id="80898" name="Rectangle 2">
            <a:extLst>
              <a:ext uri="{FF2B5EF4-FFF2-40B4-BE49-F238E27FC236}">
                <a16:creationId xmlns:a16="http://schemas.microsoft.com/office/drawing/2014/main" id="{3D2EF618-672E-4515-A981-B5CE82D88B1D}"/>
              </a:ext>
            </a:extLst>
          </p:cNvPr>
          <p:cNvSpPr>
            <a:spLocks noChangeArrowheads="1" noTextEdit="1"/>
          </p:cNvSpPr>
          <p:nvPr>
            <p:ph type="sldImg"/>
          </p:nvPr>
        </p:nvSpPr>
        <p:spPr>
          <a:ln/>
        </p:spPr>
      </p:sp>
      <p:sp>
        <p:nvSpPr>
          <p:cNvPr id="80899" name="Rectangle 3">
            <a:extLst>
              <a:ext uri="{FF2B5EF4-FFF2-40B4-BE49-F238E27FC236}">
                <a16:creationId xmlns:a16="http://schemas.microsoft.com/office/drawing/2014/main" id="{58185860-1847-4468-A08B-724EE2DDBC5C}"/>
              </a:ext>
            </a:extLst>
          </p:cNvPr>
          <p:cNvSpPr>
            <a:spLocks noGrp="1" noChangeArrowheads="1"/>
          </p:cNvSpPr>
          <p:nvPr>
            <p:ph type="body" idx="1"/>
          </p:nvPr>
        </p:nvSpPr>
        <p:spPr/>
        <p:txBody>
          <a:bodyPr/>
          <a:lstStyle/>
          <a:p>
            <a:r>
              <a:rPr lang="en-US" altLang="en-US"/>
              <a:t>(Source: Bransford, J.D., and Johnson, M.K. (1973). Consideration of some problems in comprehension. In Visual</a:t>
            </a:r>
          </a:p>
          <a:p>
            <a:r>
              <a:rPr lang="en-US" altLang="en-US"/>
              <a:t>information processing, W.G. Chase (Ed.). New York: Academic Press.)</a:t>
            </a:r>
          </a:p>
          <a:p>
            <a:endParaRPr lang="en-US" altLang="en-US"/>
          </a:p>
          <a:p>
            <a:r>
              <a:rPr lang="en-US" altLang="en-US"/>
              <a:t>Speaker fails to link information to what hearer already knows.  We are not given a schema by which to understand these statements, therefore they don’t seem to make sense.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45374DB-17E8-4795-9384-76E0D9A560C1}"/>
              </a:ext>
            </a:extLst>
          </p:cNvPr>
          <p:cNvSpPr>
            <a:spLocks noGrp="1" noChangeArrowheads="1"/>
          </p:cNvSpPr>
          <p:nvPr>
            <p:ph type="sldNum" sz="quarter" idx="5"/>
          </p:nvPr>
        </p:nvSpPr>
        <p:spPr>
          <a:ln/>
        </p:spPr>
        <p:txBody>
          <a:bodyPr/>
          <a:lstStyle/>
          <a:p>
            <a:fld id="{57D9DD5A-29FA-424E-B9BD-B7377BBEADF4}" type="slidenum">
              <a:rPr lang="en-US" altLang="en-US"/>
              <a:pPr/>
              <a:t>54</a:t>
            </a:fld>
            <a:endParaRPr lang="en-US" altLang="en-US"/>
          </a:p>
        </p:txBody>
      </p:sp>
      <p:sp>
        <p:nvSpPr>
          <p:cNvPr id="99330" name="Rectangle 2">
            <a:extLst>
              <a:ext uri="{FF2B5EF4-FFF2-40B4-BE49-F238E27FC236}">
                <a16:creationId xmlns:a16="http://schemas.microsoft.com/office/drawing/2014/main" id="{716EF6C1-9BD0-47C5-872B-7C1E152373D5}"/>
              </a:ext>
            </a:extLst>
          </p:cNvPr>
          <p:cNvSpPr>
            <a:spLocks noChangeArrowheads="1" noTextEdit="1"/>
          </p:cNvSpPr>
          <p:nvPr>
            <p:ph type="sldImg"/>
          </p:nvPr>
        </p:nvSpPr>
        <p:spPr>
          <a:ln/>
        </p:spPr>
      </p:sp>
      <p:sp>
        <p:nvSpPr>
          <p:cNvPr id="99331" name="Rectangle 3">
            <a:extLst>
              <a:ext uri="{FF2B5EF4-FFF2-40B4-BE49-F238E27FC236}">
                <a16:creationId xmlns:a16="http://schemas.microsoft.com/office/drawing/2014/main" id="{07D103CF-F397-48CA-903F-25D931745048}"/>
              </a:ext>
            </a:extLst>
          </p:cNvPr>
          <p:cNvSpPr>
            <a:spLocks noGrp="1" noChangeArrowheads="1"/>
          </p:cNvSpPr>
          <p:nvPr>
            <p:ph type="body" idx="1"/>
          </p:nvPr>
        </p:nvSpPr>
        <p:spPr/>
        <p:txBody>
          <a:bodyPr/>
          <a:lstStyle/>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20DA0-E0B3-4374-8B07-877B797D7605}"/>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BA84F5-CD70-4DB8-B553-694447B50484}"/>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D41E307-053E-4CDE-A7C0-942BA717BBF8}"/>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70E6B57C-53C8-4C50-BB7D-9724899A48BD}"/>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DC17AE6C-1297-435A-AA28-2FAB75F3CC68}"/>
              </a:ext>
            </a:extLst>
          </p:cNvPr>
          <p:cNvSpPr>
            <a:spLocks noGrp="1"/>
          </p:cNvSpPr>
          <p:nvPr>
            <p:ph type="sldNum" sz="quarter" idx="12"/>
          </p:nvPr>
        </p:nvSpPr>
        <p:spPr/>
        <p:txBody>
          <a:bodyPr/>
          <a:lstStyle>
            <a:lvl1pPr>
              <a:defRPr/>
            </a:lvl1pPr>
          </a:lstStyle>
          <a:p>
            <a:fld id="{24B5DB02-B048-494D-AB27-61C2C824CB6C}" type="slidenum">
              <a:rPr lang="en-US" altLang="en-US"/>
              <a:pPr/>
              <a:t>‹#›</a:t>
            </a:fld>
            <a:endParaRPr lang="en-US" altLang="en-US"/>
          </a:p>
        </p:txBody>
      </p:sp>
    </p:spTree>
    <p:extLst>
      <p:ext uri="{BB962C8B-B14F-4D97-AF65-F5344CB8AC3E}">
        <p14:creationId xmlns:p14="http://schemas.microsoft.com/office/powerpoint/2010/main" val="930043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966DD-DAEF-4CBE-A929-8AE30B3D64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0D5583-7D27-4182-92DA-C0BAB5243D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3A5A29-0E05-4DA5-A86A-BDA7388ADA68}"/>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3EEEF80B-202B-46C9-A1D4-D6A0D808E4E8}"/>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66A49B0A-DA7A-4AE6-8F90-0C1D316D8A55}"/>
              </a:ext>
            </a:extLst>
          </p:cNvPr>
          <p:cNvSpPr>
            <a:spLocks noGrp="1"/>
          </p:cNvSpPr>
          <p:nvPr>
            <p:ph type="sldNum" sz="quarter" idx="12"/>
          </p:nvPr>
        </p:nvSpPr>
        <p:spPr/>
        <p:txBody>
          <a:bodyPr/>
          <a:lstStyle>
            <a:lvl1pPr>
              <a:defRPr/>
            </a:lvl1pPr>
          </a:lstStyle>
          <a:p>
            <a:fld id="{47FDA48A-2010-4C54-94F2-E5F738FBB186}" type="slidenum">
              <a:rPr lang="en-US" altLang="en-US"/>
              <a:pPr/>
              <a:t>‹#›</a:t>
            </a:fld>
            <a:endParaRPr lang="en-US" altLang="en-US"/>
          </a:p>
        </p:txBody>
      </p:sp>
    </p:spTree>
    <p:extLst>
      <p:ext uri="{BB962C8B-B14F-4D97-AF65-F5344CB8AC3E}">
        <p14:creationId xmlns:p14="http://schemas.microsoft.com/office/powerpoint/2010/main" val="4018873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D5DFC-4589-4D56-9104-8E4FCF996061}"/>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01DE5A2-973E-43D3-B302-A96B71E9E72B}"/>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65938A9A-EA6E-40DB-B6C9-BD4A09462481}"/>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2C4FE7FD-FA10-4955-8D1D-3C8572FC1EE3}"/>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A9B2ACDD-CB4E-41A6-8DAE-0AAE4D0F3759}"/>
              </a:ext>
            </a:extLst>
          </p:cNvPr>
          <p:cNvSpPr>
            <a:spLocks noGrp="1"/>
          </p:cNvSpPr>
          <p:nvPr>
            <p:ph type="sldNum" sz="quarter" idx="12"/>
          </p:nvPr>
        </p:nvSpPr>
        <p:spPr/>
        <p:txBody>
          <a:bodyPr/>
          <a:lstStyle>
            <a:lvl1pPr>
              <a:defRPr/>
            </a:lvl1pPr>
          </a:lstStyle>
          <a:p>
            <a:fld id="{1B57F093-A2F6-4C76-AD6C-36453E551C41}" type="slidenum">
              <a:rPr lang="en-US" altLang="en-US"/>
              <a:pPr/>
              <a:t>‹#›</a:t>
            </a:fld>
            <a:endParaRPr lang="en-US" altLang="en-US"/>
          </a:p>
        </p:txBody>
      </p:sp>
    </p:spTree>
    <p:extLst>
      <p:ext uri="{BB962C8B-B14F-4D97-AF65-F5344CB8AC3E}">
        <p14:creationId xmlns:p14="http://schemas.microsoft.com/office/powerpoint/2010/main" val="2957161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9F560-776B-42AC-8760-4B01483D86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7E162E-4C19-4B33-911A-E214E2E796C2}"/>
              </a:ext>
            </a:extLst>
          </p:cNvPr>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135FB2-7433-4C09-A5C9-6B0FF93597D9}"/>
              </a:ext>
            </a:extLst>
          </p:cNvPr>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0FE747-855A-4E70-B62E-AC2EBFD72C77}"/>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B5C41385-EDA7-42DF-BBCC-508D5D4F0C77}"/>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75139983-B178-45C1-8539-F50A76D1262C}"/>
              </a:ext>
            </a:extLst>
          </p:cNvPr>
          <p:cNvSpPr>
            <a:spLocks noGrp="1"/>
          </p:cNvSpPr>
          <p:nvPr>
            <p:ph type="sldNum" sz="quarter" idx="12"/>
          </p:nvPr>
        </p:nvSpPr>
        <p:spPr/>
        <p:txBody>
          <a:bodyPr/>
          <a:lstStyle>
            <a:lvl1pPr>
              <a:defRPr/>
            </a:lvl1pPr>
          </a:lstStyle>
          <a:p>
            <a:fld id="{3DFA3A30-5062-4554-A1F4-22B97FA5FF1E}" type="slidenum">
              <a:rPr lang="en-US" altLang="en-US"/>
              <a:pPr/>
              <a:t>‹#›</a:t>
            </a:fld>
            <a:endParaRPr lang="en-US" altLang="en-US"/>
          </a:p>
        </p:txBody>
      </p:sp>
    </p:spTree>
    <p:extLst>
      <p:ext uri="{BB962C8B-B14F-4D97-AF65-F5344CB8AC3E}">
        <p14:creationId xmlns:p14="http://schemas.microsoft.com/office/powerpoint/2010/main" val="3931126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57AF3-0E80-47FF-A41E-6081B759B744}"/>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450E05A-7C15-49AD-8D25-8701174C2DE1}"/>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B9E6B0-1BF7-434B-ACB8-40ADB8352B9B}"/>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91BEE3B-13EC-48A0-ACA2-7FD01744EE91}"/>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1BA08B-81E4-49CA-B874-938C3294CF54}"/>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85FE0E6-ADAA-4B7C-94CD-534693A7DF00}"/>
              </a:ext>
            </a:extLst>
          </p:cNvPr>
          <p:cNvSpPr>
            <a:spLocks noGrp="1"/>
          </p:cNvSpPr>
          <p:nvPr>
            <p:ph type="dt" sz="half"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88C2D130-D314-4F10-8FCD-95DF09B04243}"/>
              </a:ext>
            </a:extLst>
          </p:cNvPr>
          <p:cNvSpPr>
            <a:spLocks noGrp="1"/>
          </p:cNvSpPr>
          <p:nvPr>
            <p:ph type="ftr" sz="quarte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1AB158B3-CDE1-4AE6-9997-6B45405F8A71}"/>
              </a:ext>
            </a:extLst>
          </p:cNvPr>
          <p:cNvSpPr>
            <a:spLocks noGrp="1"/>
          </p:cNvSpPr>
          <p:nvPr>
            <p:ph type="sldNum" sz="quarter" idx="12"/>
          </p:nvPr>
        </p:nvSpPr>
        <p:spPr/>
        <p:txBody>
          <a:bodyPr/>
          <a:lstStyle>
            <a:lvl1pPr>
              <a:defRPr/>
            </a:lvl1pPr>
          </a:lstStyle>
          <a:p>
            <a:fld id="{05695C7F-CDC6-4D47-9095-F000DF6C8F00}" type="slidenum">
              <a:rPr lang="en-US" altLang="en-US"/>
              <a:pPr/>
              <a:t>‹#›</a:t>
            </a:fld>
            <a:endParaRPr lang="en-US" altLang="en-US"/>
          </a:p>
        </p:txBody>
      </p:sp>
    </p:spTree>
    <p:extLst>
      <p:ext uri="{BB962C8B-B14F-4D97-AF65-F5344CB8AC3E}">
        <p14:creationId xmlns:p14="http://schemas.microsoft.com/office/powerpoint/2010/main" val="3587885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D0A8B-349E-4A03-A9D9-6D9BB4D88A8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B96DBA8-E827-4129-AD69-B6BEF59108D4}"/>
              </a:ext>
            </a:extLst>
          </p:cNvPr>
          <p:cNvSpPr>
            <a:spLocks noGrp="1"/>
          </p:cNvSpPr>
          <p:nvPr>
            <p:ph type="dt" sz="half"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F4C393DE-567B-489F-ABFE-111ED66B6953}"/>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9D0C247F-DAFF-41BA-A4EC-8060E053D182}"/>
              </a:ext>
            </a:extLst>
          </p:cNvPr>
          <p:cNvSpPr>
            <a:spLocks noGrp="1"/>
          </p:cNvSpPr>
          <p:nvPr>
            <p:ph type="sldNum" sz="quarter" idx="12"/>
          </p:nvPr>
        </p:nvSpPr>
        <p:spPr/>
        <p:txBody>
          <a:bodyPr/>
          <a:lstStyle>
            <a:lvl1pPr>
              <a:defRPr/>
            </a:lvl1pPr>
          </a:lstStyle>
          <a:p>
            <a:fld id="{572B5E09-D135-44B5-9D30-AFC276CB0BF2}" type="slidenum">
              <a:rPr lang="en-US" altLang="en-US"/>
              <a:pPr/>
              <a:t>‹#›</a:t>
            </a:fld>
            <a:endParaRPr lang="en-US" altLang="en-US"/>
          </a:p>
        </p:txBody>
      </p:sp>
    </p:spTree>
    <p:extLst>
      <p:ext uri="{BB962C8B-B14F-4D97-AF65-F5344CB8AC3E}">
        <p14:creationId xmlns:p14="http://schemas.microsoft.com/office/powerpoint/2010/main" val="13372589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03DFD1-547B-4EAD-9569-0AD97592F48B}"/>
              </a:ext>
            </a:extLst>
          </p:cNvPr>
          <p:cNvSpPr>
            <a:spLocks noGrp="1"/>
          </p:cNvSpPr>
          <p:nvPr>
            <p:ph type="dt" sz="half"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55D9CF4A-D12A-45E2-9272-2DF62EDEC894}"/>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3900AAB0-E22F-4B82-9A84-68B3E6F8E7D0}"/>
              </a:ext>
            </a:extLst>
          </p:cNvPr>
          <p:cNvSpPr>
            <a:spLocks noGrp="1"/>
          </p:cNvSpPr>
          <p:nvPr>
            <p:ph type="sldNum" sz="quarter" idx="12"/>
          </p:nvPr>
        </p:nvSpPr>
        <p:spPr/>
        <p:txBody>
          <a:bodyPr/>
          <a:lstStyle>
            <a:lvl1pPr>
              <a:defRPr/>
            </a:lvl1pPr>
          </a:lstStyle>
          <a:p>
            <a:fld id="{BE271A64-2459-43BD-A870-1D756C6AEF6B}" type="slidenum">
              <a:rPr lang="en-US" altLang="en-US"/>
              <a:pPr/>
              <a:t>‹#›</a:t>
            </a:fld>
            <a:endParaRPr lang="en-US" altLang="en-US"/>
          </a:p>
        </p:txBody>
      </p:sp>
    </p:spTree>
    <p:extLst>
      <p:ext uri="{BB962C8B-B14F-4D97-AF65-F5344CB8AC3E}">
        <p14:creationId xmlns:p14="http://schemas.microsoft.com/office/powerpoint/2010/main" val="501161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CC511-0851-4F25-923F-771090116A85}"/>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F0097AB-99DA-4E6F-B1BF-19640D3D2DEE}"/>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E265451-304F-4E14-97C3-7678B2F5CFEE}"/>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994F95-9EAE-40B3-BD33-448E39183F30}"/>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0AEF8CBD-6687-4C27-8228-F83BBBDB1A9A}"/>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D4514E26-1FB0-4423-B38A-09721C69C89F}"/>
              </a:ext>
            </a:extLst>
          </p:cNvPr>
          <p:cNvSpPr>
            <a:spLocks noGrp="1"/>
          </p:cNvSpPr>
          <p:nvPr>
            <p:ph type="sldNum" sz="quarter" idx="12"/>
          </p:nvPr>
        </p:nvSpPr>
        <p:spPr/>
        <p:txBody>
          <a:bodyPr/>
          <a:lstStyle>
            <a:lvl1pPr>
              <a:defRPr/>
            </a:lvl1pPr>
          </a:lstStyle>
          <a:p>
            <a:fld id="{5E92BAE8-2C6E-44D5-B666-17A7ECA9DDAE}" type="slidenum">
              <a:rPr lang="en-US" altLang="en-US"/>
              <a:pPr/>
              <a:t>‹#›</a:t>
            </a:fld>
            <a:endParaRPr lang="en-US" altLang="en-US"/>
          </a:p>
        </p:txBody>
      </p:sp>
    </p:spTree>
    <p:extLst>
      <p:ext uri="{BB962C8B-B14F-4D97-AF65-F5344CB8AC3E}">
        <p14:creationId xmlns:p14="http://schemas.microsoft.com/office/powerpoint/2010/main" val="2917227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8991F-F7FC-4734-BCC4-3FFBB037446F}"/>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81BCEED-8A6A-4452-A7BB-E3447F385D7D}"/>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479139-E516-4E0D-A51F-9B1C32D88D93}"/>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5FF41B-BF90-4D93-A029-CF61947CB01C}"/>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E05D77CE-AEDC-4B81-A501-E373BB3C7BEB}"/>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C11CD668-19F4-43AB-9405-80E46423D776}"/>
              </a:ext>
            </a:extLst>
          </p:cNvPr>
          <p:cNvSpPr>
            <a:spLocks noGrp="1"/>
          </p:cNvSpPr>
          <p:nvPr>
            <p:ph type="sldNum" sz="quarter" idx="12"/>
          </p:nvPr>
        </p:nvSpPr>
        <p:spPr/>
        <p:txBody>
          <a:bodyPr/>
          <a:lstStyle>
            <a:lvl1pPr>
              <a:defRPr/>
            </a:lvl1pPr>
          </a:lstStyle>
          <a:p>
            <a:fld id="{9413CC98-D427-4191-871D-5ACBF9BA7996}" type="slidenum">
              <a:rPr lang="en-US" altLang="en-US"/>
              <a:pPr/>
              <a:t>‹#›</a:t>
            </a:fld>
            <a:endParaRPr lang="en-US" altLang="en-US"/>
          </a:p>
        </p:txBody>
      </p:sp>
    </p:spTree>
    <p:extLst>
      <p:ext uri="{BB962C8B-B14F-4D97-AF65-F5344CB8AC3E}">
        <p14:creationId xmlns:p14="http://schemas.microsoft.com/office/powerpoint/2010/main" val="41683146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48747-2201-42E8-A7F0-3214CD19080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B9A3DF-4AD1-4E79-B5EB-F6DD596E09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9AA392-8AD4-406B-8002-8C9042DFEEE3}"/>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A6D734C4-2BCB-42E2-8D29-5CE2669A0642}"/>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7838C4AE-5EF0-45DA-893A-7E21108D1DD0}"/>
              </a:ext>
            </a:extLst>
          </p:cNvPr>
          <p:cNvSpPr>
            <a:spLocks noGrp="1"/>
          </p:cNvSpPr>
          <p:nvPr>
            <p:ph type="sldNum" sz="quarter" idx="12"/>
          </p:nvPr>
        </p:nvSpPr>
        <p:spPr/>
        <p:txBody>
          <a:bodyPr/>
          <a:lstStyle>
            <a:lvl1pPr>
              <a:defRPr/>
            </a:lvl1pPr>
          </a:lstStyle>
          <a:p>
            <a:fld id="{EC95BB82-F9B5-49FF-BB10-F36D69F2F079}" type="slidenum">
              <a:rPr lang="en-US" altLang="en-US"/>
              <a:pPr/>
              <a:t>‹#›</a:t>
            </a:fld>
            <a:endParaRPr lang="en-US" altLang="en-US"/>
          </a:p>
        </p:txBody>
      </p:sp>
    </p:spTree>
    <p:extLst>
      <p:ext uri="{BB962C8B-B14F-4D97-AF65-F5344CB8AC3E}">
        <p14:creationId xmlns:p14="http://schemas.microsoft.com/office/powerpoint/2010/main" val="2181601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A96586-CDE3-498E-85C7-57EDA749F142}"/>
              </a:ext>
            </a:extLst>
          </p:cNvPr>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2CFF51C-8950-428A-BFFE-16DD51DB42B4}"/>
              </a:ext>
            </a:extLst>
          </p:cNvPr>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577B0B-21F9-497C-9810-E4EB92B8214E}"/>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7019FA86-7DD6-49F6-BD12-C68CB7208367}"/>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F00AF95A-F46B-4655-9EB4-E29E27E1664D}"/>
              </a:ext>
            </a:extLst>
          </p:cNvPr>
          <p:cNvSpPr>
            <a:spLocks noGrp="1"/>
          </p:cNvSpPr>
          <p:nvPr>
            <p:ph type="sldNum" sz="quarter" idx="12"/>
          </p:nvPr>
        </p:nvSpPr>
        <p:spPr/>
        <p:txBody>
          <a:bodyPr/>
          <a:lstStyle>
            <a:lvl1pPr>
              <a:defRPr/>
            </a:lvl1pPr>
          </a:lstStyle>
          <a:p>
            <a:fld id="{C479D9E9-AA8C-4913-B849-DE251BFB2FAE}" type="slidenum">
              <a:rPr lang="en-US" altLang="en-US"/>
              <a:pPr/>
              <a:t>‹#›</a:t>
            </a:fld>
            <a:endParaRPr lang="en-US" altLang="en-US"/>
          </a:p>
        </p:txBody>
      </p:sp>
    </p:spTree>
    <p:extLst>
      <p:ext uri="{BB962C8B-B14F-4D97-AF65-F5344CB8AC3E}">
        <p14:creationId xmlns:p14="http://schemas.microsoft.com/office/powerpoint/2010/main" val="2894377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8E9193AC-A87E-4183-B9C9-2FA4DB9461EA}"/>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899B984E-E52E-4705-A320-29CC663FEBCB}"/>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E114866E-3206-4686-8440-F203A8882D78}"/>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en-US"/>
          </a:p>
        </p:txBody>
      </p:sp>
      <p:sp>
        <p:nvSpPr>
          <p:cNvPr id="1029" name="Rectangle 5">
            <a:extLst>
              <a:ext uri="{FF2B5EF4-FFF2-40B4-BE49-F238E27FC236}">
                <a16:creationId xmlns:a16="http://schemas.microsoft.com/office/drawing/2014/main" id="{23952FDC-EE8A-486F-8550-C3FBD45C8577}"/>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en-US"/>
          </a:p>
        </p:txBody>
      </p:sp>
      <p:sp>
        <p:nvSpPr>
          <p:cNvPr id="1030" name="Rectangle 6">
            <a:extLst>
              <a:ext uri="{FF2B5EF4-FFF2-40B4-BE49-F238E27FC236}">
                <a16:creationId xmlns:a16="http://schemas.microsoft.com/office/drawing/2014/main" id="{BFD50C58-2065-4962-A52C-57AD328879C2}"/>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78EFFE9E-FC07-4678-A094-2309F8453A6C}"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anose="02020603050405020304" pitchFamily="18" charset="0"/>
        </a:defRPr>
      </a:lvl2pPr>
      <a:lvl3pPr algn="ctr" rtl="0" fontAlgn="base">
        <a:spcBef>
          <a:spcPct val="0"/>
        </a:spcBef>
        <a:spcAft>
          <a:spcPct val="0"/>
        </a:spcAft>
        <a:defRPr sz="4400">
          <a:solidFill>
            <a:schemeClr val="tx2"/>
          </a:solidFill>
          <a:latin typeface="Times New Roman" panose="02020603050405020304" pitchFamily="18" charset="0"/>
        </a:defRPr>
      </a:lvl3pPr>
      <a:lvl4pPr algn="ctr" rtl="0" fontAlgn="base">
        <a:spcBef>
          <a:spcPct val="0"/>
        </a:spcBef>
        <a:spcAft>
          <a:spcPct val="0"/>
        </a:spcAft>
        <a:defRPr sz="4400">
          <a:solidFill>
            <a:schemeClr val="tx2"/>
          </a:solidFill>
          <a:latin typeface="Times New Roman" panose="02020603050405020304" pitchFamily="18" charset="0"/>
        </a:defRPr>
      </a:lvl4pPr>
      <a:lvl5pPr algn="ctr" rtl="0" fontAlgn="base">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D2D3512-2105-41E1-9DF2-BB3BB922202A}"/>
              </a:ext>
            </a:extLst>
          </p:cNvPr>
          <p:cNvSpPr>
            <a:spLocks noGrp="1" noChangeArrowheads="1"/>
          </p:cNvSpPr>
          <p:nvPr>
            <p:ph type="ctrTitle"/>
          </p:nvPr>
        </p:nvSpPr>
        <p:spPr>
          <a:xfrm>
            <a:off x="685800" y="2286000"/>
            <a:ext cx="7772400" cy="1143000"/>
          </a:xfrm>
        </p:spPr>
        <p:txBody>
          <a:bodyPr anchor="ctr"/>
          <a:lstStyle/>
          <a:p>
            <a:r>
              <a:rPr lang="en-US" altLang="en-US" sz="4400"/>
              <a:t>Overview of </a:t>
            </a:r>
            <a:br>
              <a:rPr lang="en-US" altLang="en-US" sz="4400"/>
            </a:br>
            <a:r>
              <a:rPr lang="en-US" altLang="en-US" sz="4400"/>
              <a:t>Natural Language Processing</a:t>
            </a:r>
          </a:p>
        </p:txBody>
      </p:sp>
      <p:sp>
        <p:nvSpPr>
          <p:cNvPr id="2051" name="Rectangle 3">
            <a:extLst>
              <a:ext uri="{FF2B5EF4-FFF2-40B4-BE49-F238E27FC236}">
                <a16:creationId xmlns:a16="http://schemas.microsoft.com/office/drawing/2014/main" id="{B2E23984-FFAC-4BF9-80FD-C44A2A086764}"/>
              </a:ext>
            </a:extLst>
          </p:cNvPr>
          <p:cNvSpPr>
            <a:spLocks noGrp="1" noChangeArrowheads="1"/>
          </p:cNvSpPr>
          <p:nvPr>
            <p:ph type="subTitle" idx="1"/>
          </p:nvPr>
        </p:nvSpPr>
        <p:spPr>
          <a:xfrm>
            <a:off x="1371600" y="3886200"/>
            <a:ext cx="6400800" cy="1752600"/>
          </a:xfrm>
        </p:spPr>
        <p:txBody>
          <a:bodyPr/>
          <a:lstStyle/>
          <a:p>
            <a:r>
              <a:rPr lang="en-US" altLang="en-US" sz="3200"/>
              <a:t>Advanced AI CSCE 976</a:t>
            </a:r>
          </a:p>
          <a:p>
            <a:r>
              <a:rPr lang="en-US" altLang="en-US" sz="3200"/>
              <a:t>Amy Davis</a:t>
            </a:r>
          </a:p>
          <a:p>
            <a:r>
              <a:rPr lang="en-US" altLang="en-US">
                <a:latin typeface="Courier New" panose="02070309020205020404" pitchFamily="49" charset="0"/>
              </a:rPr>
              <a:t>amydavis@cse.unl.edu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3444C651-853E-4C91-BE15-331D6382BB96}"/>
              </a:ext>
            </a:extLst>
          </p:cNvPr>
          <p:cNvSpPr>
            <a:spLocks noGrp="1" noChangeArrowheads="1"/>
          </p:cNvSpPr>
          <p:nvPr>
            <p:ph type="title"/>
          </p:nvPr>
        </p:nvSpPr>
        <p:spPr/>
        <p:txBody>
          <a:bodyPr/>
          <a:lstStyle/>
          <a:p>
            <a:r>
              <a:rPr lang="en-US" altLang="en-US"/>
              <a:t>Outline</a:t>
            </a:r>
          </a:p>
        </p:txBody>
      </p:sp>
      <p:sp>
        <p:nvSpPr>
          <p:cNvPr id="3075" name="Rectangle 3">
            <a:extLst>
              <a:ext uri="{FF2B5EF4-FFF2-40B4-BE49-F238E27FC236}">
                <a16:creationId xmlns:a16="http://schemas.microsoft.com/office/drawing/2014/main" id="{28EBE83A-8B71-4BA9-B6BC-FD52234168EB}"/>
              </a:ext>
            </a:extLst>
          </p:cNvPr>
          <p:cNvSpPr>
            <a:spLocks noGrp="1" noChangeArrowheads="1"/>
          </p:cNvSpPr>
          <p:nvPr>
            <p:ph type="body" idx="1"/>
          </p:nvPr>
        </p:nvSpPr>
        <p:spPr/>
        <p:txBody>
          <a:bodyPr/>
          <a:lstStyle/>
          <a:p>
            <a:r>
              <a:rPr lang="en-US" altLang="en-US" sz="4000"/>
              <a:t>Common Applications</a:t>
            </a:r>
          </a:p>
          <a:p>
            <a:endParaRPr lang="en-US" altLang="en-US" sz="4000"/>
          </a:p>
          <a:p>
            <a:r>
              <a:rPr lang="en-US" altLang="en-US" sz="4000"/>
              <a:t>Dealing with Sentences </a:t>
            </a:r>
          </a:p>
          <a:p>
            <a:pPr lvl="2">
              <a:buFontTx/>
              <a:buNone/>
            </a:pPr>
            <a:r>
              <a:rPr lang="en-US" altLang="en-US" sz="3200"/>
              <a:t>(and words)</a:t>
            </a:r>
          </a:p>
          <a:p>
            <a:r>
              <a:rPr lang="en-US" altLang="en-US" sz="4000"/>
              <a:t>Dealing with Discourses</a:t>
            </a:r>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4DF7A0A9-F308-466C-8A0F-B1446EEC1715}"/>
              </a:ext>
            </a:extLst>
          </p:cNvPr>
          <p:cNvSpPr>
            <a:spLocks noGrp="1" noChangeArrowheads="1"/>
          </p:cNvSpPr>
          <p:nvPr>
            <p:ph type="title"/>
          </p:nvPr>
        </p:nvSpPr>
        <p:spPr/>
        <p:txBody>
          <a:bodyPr/>
          <a:lstStyle/>
          <a:p>
            <a:r>
              <a:rPr lang="en-US" altLang="en-US"/>
              <a:t>Practical Applications</a:t>
            </a:r>
          </a:p>
        </p:txBody>
      </p:sp>
      <p:sp>
        <p:nvSpPr>
          <p:cNvPr id="4099" name="Rectangle 3">
            <a:extLst>
              <a:ext uri="{FF2B5EF4-FFF2-40B4-BE49-F238E27FC236}">
                <a16:creationId xmlns:a16="http://schemas.microsoft.com/office/drawing/2014/main" id="{CA78F0A5-14C3-4394-8B47-A9C43FC6690C}"/>
              </a:ext>
            </a:extLst>
          </p:cNvPr>
          <p:cNvSpPr>
            <a:spLocks noGrp="1" noChangeArrowheads="1"/>
          </p:cNvSpPr>
          <p:nvPr>
            <p:ph type="body" idx="1"/>
          </p:nvPr>
        </p:nvSpPr>
        <p:spPr/>
        <p:txBody>
          <a:bodyPr/>
          <a:lstStyle/>
          <a:p>
            <a:pPr>
              <a:buFontTx/>
              <a:buNone/>
            </a:pPr>
            <a:r>
              <a:rPr lang="en-US" altLang="en-US"/>
              <a:t>Machine translation</a:t>
            </a:r>
          </a:p>
          <a:p>
            <a:pPr>
              <a:buFontTx/>
              <a:buNone/>
            </a:pPr>
            <a:r>
              <a:rPr lang="en-US" altLang="en-US"/>
              <a:t>Database access  </a:t>
            </a:r>
          </a:p>
          <a:p>
            <a:pPr>
              <a:buFontTx/>
              <a:buNone/>
            </a:pPr>
            <a:r>
              <a:rPr lang="en-US" altLang="en-US"/>
              <a:t>Information Retrieval</a:t>
            </a:r>
          </a:p>
          <a:p>
            <a:pPr>
              <a:buFontTx/>
              <a:buNone/>
            </a:pPr>
            <a:r>
              <a:rPr lang="en-US" altLang="en-US"/>
              <a:t>	Query-answering</a:t>
            </a:r>
          </a:p>
          <a:p>
            <a:pPr>
              <a:buFontTx/>
              <a:buNone/>
            </a:pPr>
            <a:r>
              <a:rPr lang="en-US" altLang="en-US"/>
              <a:t>	Text categorization</a:t>
            </a:r>
          </a:p>
          <a:p>
            <a:pPr>
              <a:buFontTx/>
              <a:buNone/>
            </a:pPr>
            <a:r>
              <a:rPr lang="en-US" altLang="en-US"/>
              <a:t>	Summarization</a:t>
            </a:r>
          </a:p>
          <a:p>
            <a:pPr>
              <a:buFontTx/>
              <a:buNone/>
            </a:pPr>
            <a:r>
              <a:rPr lang="en-US" altLang="en-US"/>
              <a:t>	Data extraction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026">
            <a:extLst>
              <a:ext uri="{FF2B5EF4-FFF2-40B4-BE49-F238E27FC236}">
                <a16:creationId xmlns:a16="http://schemas.microsoft.com/office/drawing/2014/main" id="{F7452540-92D1-4FE0-8A7E-6A01B00455B2}"/>
              </a:ext>
            </a:extLst>
          </p:cNvPr>
          <p:cNvSpPr>
            <a:spLocks noGrp="1" noChangeArrowheads="1"/>
          </p:cNvSpPr>
          <p:nvPr>
            <p:ph type="title"/>
          </p:nvPr>
        </p:nvSpPr>
        <p:spPr/>
        <p:txBody>
          <a:bodyPr/>
          <a:lstStyle/>
          <a:p>
            <a:r>
              <a:rPr lang="en-US" altLang="en-US"/>
              <a:t>Machine Translation</a:t>
            </a:r>
          </a:p>
        </p:txBody>
      </p:sp>
      <p:sp>
        <p:nvSpPr>
          <p:cNvPr id="43011" name="Rectangle 1027">
            <a:extLst>
              <a:ext uri="{FF2B5EF4-FFF2-40B4-BE49-F238E27FC236}">
                <a16:creationId xmlns:a16="http://schemas.microsoft.com/office/drawing/2014/main" id="{5CA22F9C-8E66-4972-9D48-547F81B0228C}"/>
              </a:ext>
            </a:extLst>
          </p:cNvPr>
          <p:cNvSpPr>
            <a:spLocks noGrp="1" noChangeArrowheads="1"/>
          </p:cNvSpPr>
          <p:nvPr>
            <p:ph type="body" idx="1"/>
          </p:nvPr>
        </p:nvSpPr>
        <p:spPr/>
        <p:txBody>
          <a:bodyPr/>
          <a:lstStyle/>
          <a:p>
            <a:pPr>
              <a:lnSpc>
                <a:spcPct val="90000"/>
              </a:lnSpc>
              <a:buFontTx/>
              <a:buNone/>
            </a:pPr>
            <a:r>
              <a:rPr lang="en-US" altLang="en-US"/>
              <a:t>Proposals for mechanical translators of languages pre-date the invention of the digital computer</a:t>
            </a:r>
          </a:p>
          <a:p>
            <a:pPr>
              <a:lnSpc>
                <a:spcPct val="90000"/>
              </a:lnSpc>
              <a:buFontTx/>
              <a:buNone/>
            </a:pPr>
            <a:r>
              <a:rPr lang="en-US" altLang="en-US"/>
              <a:t>First was a dictionary look-up system at Birkbeck College, London 1948</a:t>
            </a:r>
          </a:p>
          <a:p>
            <a:pPr>
              <a:lnSpc>
                <a:spcPct val="90000"/>
              </a:lnSpc>
              <a:buFontTx/>
              <a:buNone/>
            </a:pPr>
            <a:r>
              <a:rPr lang="en-US" altLang="en-US"/>
              <a:t>American interest started by Warren Weaver, a code breaker in WW2, was popular during cold war, but alas, rather unsuccessful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2C8B67DE-3E4C-450C-A766-5209443DDEF8}"/>
              </a:ext>
            </a:extLst>
          </p:cNvPr>
          <p:cNvSpPr>
            <a:spLocks noGrp="1" noChangeArrowheads="1"/>
          </p:cNvSpPr>
          <p:nvPr>
            <p:ph type="title"/>
          </p:nvPr>
        </p:nvSpPr>
        <p:spPr/>
        <p:txBody>
          <a:bodyPr/>
          <a:lstStyle/>
          <a:p>
            <a:r>
              <a:rPr lang="en-US" altLang="en-US"/>
              <a:t>Machine Translation: </a:t>
            </a:r>
            <a:br>
              <a:rPr lang="en-US" altLang="en-US"/>
            </a:br>
            <a:r>
              <a:rPr lang="en-US" altLang="en-US"/>
              <a:t>Working Systems </a:t>
            </a:r>
          </a:p>
        </p:txBody>
      </p:sp>
      <p:sp>
        <p:nvSpPr>
          <p:cNvPr id="5123" name="Rectangle 3">
            <a:extLst>
              <a:ext uri="{FF2B5EF4-FFF2-40B4-BE49-F238E27FC236}">
                <a16:creationId xmlns:a16="http://schemas.microsoft.com/office/drawing/2014/main" id="{19683F3B-DBA1-4EC9-9682-FD20680C2494}"/>
              </a:ext>
            </a:extLst>
          </p:cNvPr>
          <p:cNvSpPr>
            <a:spLocks noGrp="1" noChangeArrowheads="1"/>
          </p:cNvSpPr>
          <p:nvPr>
            <p:ph type="body" idx="1"/>
          </p:nvPr>
        </p:nvSpPr>
        <p:spPr/>
        <p:txBody>
          <a:bodyPr/>
          <a:lstStyle/>
          <a:p>
            <a:pPr>
              <a:lnSpc>
                <a:spcPct val="90000"/>
              </a:lnSpc>
              <a:buFontTx/>
              <a:buNone/>
            </a:pPr>
            <a:r>
              <a:rPr lang="en-US" altLang="en-US" i="1"/>
              <a:t>Taum-Meteo</a:t>
            </a:r>
            <a:r>
              <a:rPr lang="en-US" altLang="en-US"/>
              <a:t> – Translates Weather reports from English to French in Montreal. Works because language used in reports is stylized and regular.</a:t>
            </a:r>
          </a:p>
          <a:p>
            <a:pPr>
              <a:lnSpc>
                <a:spcPct val="90000"/>
              </a:lnSpc>
              <a:buFontTx/>
              <a:buNone/>
            </a:pPr>
            <a:endParaRPr lang="en-US" altLang="en-US"/>
          </a:p>
          <a:p>
            <a:pPr>
              <a:lnSpc>
                <a:spcPct val="90000"/>
              </a:lnSpc>
              <a:buFontTx/>
              <a:buNone/>
            </a:pPr>
            <a:r>
              <a:rPr lang="en-US" altLang="en-US"/>
              <a:t>Xerox </a:t>
            </a:r>
            <a:r>
              <a:rPr lang="en-US" altLang="en-US" i="1"/>
              <a:t>Systram</a:t>
            </a:r>
            <a:r>
              <a:rPr lang="en-US" altLang="en-US"/>
              <a:t> – Translates Xerox manuals from English to all languages that Xerox deals in. Utilized pre-edited texts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51D9BF99-623B-4DB7-A3DF-B90AFA1DF1F0}"/>
              </a:ext>
            </a:extLst>
          </p:cNvPr>
          <p:cNvSpPr>
            <a:spLocks noGrp="1" noChangeArrowheads="1"/>
          </p:cNvSpPr>
          <p:nvPr>
            <p:ph type="title"/>
          </p:nvPr>
        </p:nvSpPr>
        <p:spPr/>
        <p:txBody>
          <a:bodyPr/>
          <a:lstStyle/>
          <a:p>
            <a:r>
              <a:rPr lang="en-US" altLang="en-US"/>
              <a:t>Machine Translation: Difficulties</a:t>
            </a:r>
          </a:p>
        </p:txBody>
      </p:sp>
      <p:sp>
        <p:nvSpPr>
          <p:cNvPr id="6147" name="Rectangle 3">
            <a:extLst>
              <a:ext uri="{FF2B5EF4-FFF2-40B4-BE49-F238E27FC236}">
                <a16:creationId xmlns:a16="http://schemas.microsoft.com/office/drawing/2014/main" id="{F67A971D-9AB2-4D49-84CE-10A3242A5484}"/>
              </a:ext>
            </a:extLst>
          </p:cNvPr>
          <p:cNvSpPr>
            <a:spLocks noGrp="1" noChangeArrowheads="1"/>
          </p:cNvSpPr>
          <p:nvPr>
            <p:ph type="body" idx="1"/>
          </p:nvPr>
        </p:nvSpPr>
        <p:spPr/>
        <p:txBody>
          <a:bodyPr/>
          <a:lstStyle/>
          <a:p>
            <a:pPr>
              <a:lnSpc>
                <a:spcPct val="90000"/>
              </a:lnSpc>
              <a:buFontTx/>
              <a:buNone/>
            </a:pPr>
            <a:r>
              <a:rPr lang="en-US" altLang="en-US" sz="2800"/>
              <a:t>Need a big Dictionary with Grammar rules in both (or all) languages, large start-up cost</a:t>
            </a:r>
          </a:p>
          <a:p>
            <a:pPr>
              <a:lnSpc>
                <a:spcPct val="90000"/>
              </a:lnSpc>
              <a:buFontTx/>
              <a:buNone/>
            </a:pPr>
            <a:r>
              <a:rPr lang="en-US" altLang="en-US" sz="2800"/>
              <a:t>Direct word translation often ambiguous</a:t>
            </a:r>
          </a:p>
          <a:p>
            <a:pPr>
              <a:lnSpc>
                <a:spcPct val="90000"/>
              </a:lnSpc>
              <a:buFontTx/>
              <a:buNone/>
            </a:pPr>
            <a:r>
              <a:rPr lang="en-US" altLang="en-US" sz="2800"/>
              <a:t>Lexicons (words that aren’t in a dictionary, but made of common parts)</a:t>
            </a:r>
          </a:p>
          <a:p>
            <a:pPr>
              <a:lnSpc>
                <a:spcPct val="90000"/>
              </a:lnSpc>
              <a:buFontTx/>
              <a:buNone/>
            </a:pPr>
            <a:r>
              <a:rPr lang="en-US" altLang="en-US" sz="2800"/>
              <a:t>	</a:t>
            </a:r>
            <a:r>
              <a:rPr lang="en-US" altLang="en-US" sz="2000"/>
              <a:t>(ex.</a:t>
            </a:r>
            <a:r>
              <a:rPr lang="en-US" altLang="en-US" sz="2000" i="1"/>
              <a:t> Lebensversicherungsgesellschaftsangestellter</a:t>
            </a:r>
            <a:r>
              <a:rPr lang="en-US" altLang="en-US" sz="2000"/>
              <a:t>,  </a:t>
            </a:r>
          </a:p>
          <a:p>
            <a:pPr>
              <a:lnSpc>
                <a:spcPct val="90000"/>
              </a:lnSpc>
              <a:buFontTx/>
              <a:buNone/>
            </a:pPr>
            <a:r>
              <a:rPr lang="en-US" altLang="en-US" sz="2000"/>
              <a:t>		a life insurance company employee)</a:t>
            </a:r>
          </a:p>
          <a:p>
            <a:pPr>
              <a:lnSpc>
                <a:spcPct val="90000"/>
              </a:lnSpc>
              <a:buFontTx/>
              <a:buNone/>
            </a:pPr>
            <a:r>
              <a:rPr lang="en-US" altLang="en-US" sz="2800"/>
              <a:t>Ambiguity even in primary language	</a:t>
            </a:r>
          </a:p>
          <a:p>
            <a:pPr>
              <a:lnSpc>
                <a:spcPct val="90000"/>
              </a:lnSpc>
              <a:buFontTx/>
              <a:buNone/>
            </a:pPr>
            <a:r>
              <a:rPr lang="en-US" altLang="en-US" sz="2800"/>
              <a:t>Elements of language are different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CCAF0A94-5C88-4D08-A78D-E10A9F5920A8}"/>
              </a:ext>
            </a:extLst>
          </p:cNvPr>
          <p:cNvSpPr>
            <a:spLocks noGrp="1" noChangeArrowheads="1"/>
          </p:cNvSpPr>
          <p:nvPr>
            <p:ph type="title"/>
          </p:nvPr>
        </p:nvSpPr>
        <p:spPr/>
        <p:txBody>
          <a:bodyPr/>
          <a:lstStyle/>
          <a:p>
            <a:r>
              <a:rPr lang="en-US" altLang="en-US"/>
              <a:t>Machine Translation: Difficulties</a:t>
            </a:r>
          </a:p>
        </p:txBody>
      </p:sp>
      <p:sp>
        <p:nvSpPr>
          <p:cNvPr id="7171" name="Rectangle 3">
            <a:extLst>
              <a:ext uri="{FF2B5EF4-FFF2-40B4-BE49-F238E27FC236}">
                <a16:creationId xmlns:a16="http://schemas.microsoft.com/office/drawing/2014/main" id="{C26BBF71-01FF-4203-854E-5065D2C82E0B}"/>
              </a:ext>
            </a:extLst>
          </p:cNvPr>
          <p:cNvSpPr>
            <a:spLocks noGrp="1" noChangeArrowheads="1"/>
          </p:cNvSpPr>
          <p:nvPr>
            <p:ph type="body" idx="1"/>
          </p:nvPr>
        </p:nvSpPr>
        <p:spPr/>
        <p:txBody>
          <a:bodyPr/>
          <a:lstStyle/>
          <a:p>
            <a:pPr>
              <a:lnSpc>
                <a:spcPct val="90000"/>
              </a:lnSpc>
              <a:buFontTx/>
              <a:buNone/>
            </a:pPr>
            <a:r>
              <a:rPr lang="en-US" altLang="en-US"/>
              <a:t>Essentially requires a good understanding of the text, and finding a corresponding text in the target language that does a good job of describing the same (or similar) situation. </a:t>
            </a:r>
          </a:p>
          <a:p>
            <a:pPr>
              <a:lnSpc>
                <a:spcPct val="90000"/>
              </a:lnSpc>
              <a:buFontTx/>
              <a:buNone/>
            </a:pPr>
            <a:endParaRPr lang="en-US" altLang="en-US"/>
          </a:p>
          <a:p>
            <a:pPr>
              <a:lnSpc>
                <a:spcPct val="90000"/>
              </a:lnSpc>
              <a:buFontTx/>
              <a:buNone/>
            </a:pPr>
            <a:r>
              <a:rPr lang="en-US" altLang="en-US"/>
              <a:t>Requires computer to “understand”.</a:t>
            </a:r>
          </a:p>
          <a:p>
            <a:pPr>
              <a:lnSpc>
                <a:spcPct val="90000"/>
              </a:lnSpc>
              <a:buFontTx/>
              <a:buNone/>
            </a:pPr>
            <a:endParaRPr lang="en-US" altLang="en-US"/>
          </a:p>
          <a:p>
            <a:pPr>
              <a:lnSpc>
                <a:spcPct val="90000"/>
              </a:lnSpc>
              <a:buFontTx/>
              <a:buNone/>
            </a:pPr>
            <a:r>
              <a:rPr lang="en-US" altLang="en-US"/>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FD7E82EA-CE08-4598-B29D-35FE8B86DE4E}"/>
              </a:ext>
            </a:extLst>
          </p:cNvPr>
          <p:cNvSpPr>
            <a:spLocks noGrp="1" noChangeArrowheads="1"/>
          </p:cNvSpPr>
          <p:nvPr>
            <p:ph type="title"/>
          </p:nvPr>
        </p:nvSpPr>
        <p:spPr/>
        <p:txBody>
          <a:bodyPr/>
          <a:lstStyle/>
          <a:p>
            <a:r>
              <a:rPr lang="en-US" altLang="en-US"/>
              <a:t>Machine Translation: Successes</a:t>
            </a:r>
          </a:p>
        </p:txBody>
      </p:sp>
      <p:sp>
        <p:nvSpPr>
          <p:cNvPr id="8195" name="Rectangle 3">
            <a:extLst>
              <a:ext uri="{FF2B5EF4-FFF2-40B4-BE49-F238E27FC236}">
                <a16:creationId xmlns:a16="http://schemas.microsoft.com/office/drawing/2014/main" id="{DFEA9F65-7FD6-4096-959B-FC8A10C10CC9}"/>
              </a:ext>
            </a:extLst>
          </p:cNvPr>
          <p:cNvSpPr>
            <a:spLocks noGrp="1" noChangeArrowheads="1"/>
          </p:cNvSpPr>
          <p:nvPr>
            <p:ph type="body" idx="1"/>
          </p:nvPr>
        </p:nvSpPr>
        <p:spPr/>
        <p:txBody>
          <a:bodyPr/>
          <a:lstStyle/>
          <a:p>
            <a:pPr>
              <a:lnSpc>
                <a:spcPct val="90000"/>
              </a:lnSpc>
              <a:buFontTx/>
              <a:buNone/>
            </a:pPr>
            <a:r>
              <a:rPr lang="en-US" altLang="en-US" sz="2800"/>
              <a:t>Limited Domain </a:t>
            </a:r>
          </a:p>
          <a:p>
            <a:pPr>
              <a:lnSpc>
                <a:spcPct val="90000"/>
              </a:lnSpc>
              <a:buFontTx/>
              <a:buNone/>
            </a:pPr>
            <a:r>
              <a:rPr lang="en-US" altLang="en-US" sz="2800"/>
              <a:t>	allows for limited vocabulary, grammar, easier disambiguation and understanding</a:t>
            </a:r>
          </a:p>
          <a:p>
            <a:pPr>
              <a:lnSpc>
                <a:spcPct val="90000"/>
              </a:lnSpc>
              <a:buFontTx/>
              <a:buNone/>
            </a:pPr>
            <a:r>
              <a:rPr lang="en-US" altLang="en-US" sz="1800"/>
              <a:t>	Journal article: Church, K.W. and E.H. Hovy. 1993. </a:t>
            </a:r>
            <a:r>
              <a:rPr lang="en-US" altLang="en-US" sz="1800" b="1" u="sng"/>
              <a:t>Good Applications for Crummy Machine Translation</a:t>
            </a:r>
            <a:r>
              <a:rPr lang="en-US" altLang="en-US" sz="1800"/>
              <a:t>. Machine Translation 8 (239--258)</a:t>
            </a:r>
          </a:p>
          <a:p>
            <a:pPr>
              <a:lnSpc>
                <a:spcPct val="90000"/>
              </a:lnSpc>
              <a:buFontTx/>
              <a:buNone/>
            </a:pPr>
            <a:endParaRPr lang="en-US" altLang="en-US" sz="2800"/>
          </a:p>
          <a:p>
            <a:pPr>
              <a:lnSpc>
                <a:spcPct val="90000"/>
              </a:lnSpc>
              <a:buFontTx/>
              <a:buNone/>
            </a:pPr>
            <a:r>
              <a:rPr lang="en-US" altLang="en-US" sz="2800"/>
              <a:t>MAT</a:t>
            </a:r>
          </a:p>
          <a:p>
            <a:pPr>
              <a:lnSpc>
                <a:spcPct val="90000"/>
              </a:lnSpc>
              <a:buFontTx/>
              <a:buNone/>
            </a:pPr>
            <a:r>
              <a:rPr lang="en-US" altLang="en-US" sz="2800"/>
              <a:t>	machine-aided translation, where a machine starts, and a real person proof-reads for clarity. (Sometimes doesn’t require bi-lingual people).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26">
            <a:extLst>
              <a:ext uri="{FF2B5EF4-FFF2-40B4-BE49-F238E27FC236}">
                <a16:creationId xmlns:a16="http://schemas.microsoft.com/office/drawing/2014/main" id="{D005D543-0768-450D-A46E-BC8263BB1B7A}"/>
              </a:ext>
            </a:extLst>
          </p:cNvPr>
          <p:cNvSpPr>
            <a:spLocks noGrp="1" noChangeArrowheads="1"/>
          </p:cNvSpPr>
          <p:nvPr>
            <p:ph type="title"/>
          </p:nvPr>
        </p:nvSpPr>
        <p:spPr/>
        <p:txBody>
          <a:bodyPr/>
          <a:lstStyle/>
          <a:p>
            <a:r>
              <a:rPr lang="en-US" altLang="en-US"/>
              <a:t>Example of MAT (page 692)</a:t>
            </a:r>
          </a:p>
        </p:txBody>
      </p:sp>
      <p:sp>
        <p:nvSpPr>
          <p:cNvPr id="41987" name="Rectangle 1027">
            <a:extLst>
              <a:ext uri="{FF2B5EF4-FFF2-40B4-BE49-F238E27FC236}">
                <a16:creationId xmlns:a16="http://schemas.microsoft.com/office/drawing/2014/main" id="{8E25D367-C73B-4ACA-BC73-0532F57ED6DB}"/>
              </a:ext>
            </a:extLst>
          </p:cNvPr>
          <p:cNvSpPr>
            <a:spLocks noGrp="1" noChangeArrowheads="1"/>
          </p:cNvSpPr>
          <p:nvPr>
            <p:ph type="body" idx="1"/>
          </p:nvPr>
        </p:nvSpPr>
        <p:spPr/>
        <p:txBody>
          <a:bodyPr/>
          <a:lstStyle/>
          <a:p>
            <a:pPr>
              <a:buFontTx/>
              <a:buNone/>
            </a:pPr>
            <a:r>
              <a:rPr lang="en-US" altLang="en-US" sz="2400"/>
              <a:t>The extension of the coverage of the health services to the underserved or not served population of the countries of the region was the central goal of the Ten-Year Plan and probably that of  greater scope and transcendence.  Almost all the countries formulated the purpose of extending the coverage although could be appreciated a diversity of approaches for its attack, which is understandable in view of the different national policies that had acted in  the configuration of the health systems of each one of the countries.  (Translated by SPANAM:  Vasconcellos and Leon, 1985).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050">
            <a:extLst>
              <a:ext uri="{FF2B5EF4-FFF2-40B4-BE49-F238E27FC236}">
                <a16:creationId xmlns:a16="http://schemas.microsoft.com/office/drawing/2014/main" id="{A802D57D-B509-49D5-A058-CF5A4BBF90DE}"/>
              </a:ext>
            </a:extLst>
          </p:cNvPr>
          <p:cNvSpPr>
            <a:spLocks noGrp="1" noChangeArrowheads="1"/>
          </p:cNvSpPr>
          <p:nvPr>
            <p:ph type="title"/>
          </p:nvPr>
        </p:nvSpPr>
        <p:spPr/>
        <p:txBody>
          <a:bodyPr/>
          <a:lstStyle/>
          <a:p>
            <a:r>
              <a:rPr lang="en-US" altLang="en-US"/>
              <a:t>Database Access</a:t>
            </a:r>
          </a:p>
        </p:txBody>
      </p:sp>
      <p:sp>
        <p:nvSpPr>
          <p:cNvPr id="45059" name="Rectangle 2051">
            <a:extLst>
              <a:ext uri="{FF2B5EF4-FFF2-40B4-BE49-F238E27FC236}">
                <a16:creationId xmlns:a16="http://schemas.microsoft.com/office/drawing/2014/main" id="{8092DA7D-6BFD-485D-AD7C-3FD1345FDB45}"/>
              </a:ext>
            </a:extLst>
          </p:cNvPr>
          <p:cNvSpPr>
            <a:spLocks noGrp="1" noChangeArrowheads="1"/>
          </p:cNvSpPr>
          <p:nvPr>
            <p:ph type="body" idx="1"/>
          </p:nvPr>
        </p:nvSpPr>
        <p:spPr/>
        <p:txBody>
          <a:bodyPr/>
          <a:lstStyle/>
          <a:p>
            <a:pPr>
              <a:buFontTx/>
              <a:buNone/>
            </a:pPr>
            <a:r>
              <a:rPr lang="en-US" altLang="en-US"/>
              <a:t>The first major success for NLP was in the area of database access</a:t>
            </a:r>
          </a:p>
          <a:p>
            <a:pPr>
              <a:buFontTx/>
              <a:buNone/>
            </a:pPr>
            <a:r>
              <a:rPr lang="en-US" altLang="en-US"/>
              <a:t>Natural Language Interfaces to Databases were developed to save mainframe operators the work of accessing data through complicated programs.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61F2F4E2-C857-4BAB-B7B3-11C3D775D9B0}"/>
              </a:ext>
            </a:extLst>
          </p:cNvPr>
          <p:cNvSpPr>
            <a:spLocks noGrp="1" noChangeArrowheads="1"/>
          </p:cNvSpPr>
          <p:nvPr>
            <p:ph type="title"/>
          </p:nvPr>
        </p:nvSpPr>
        <p:spPr/>
        <p:txBody>
          <a:bodyPr/>
          <a:lstStyle/>
          <a:p>
            <a:r>
              <a:rPr lang="en-US" altLang="en-US"/>
              <a:t>Database Access:</a:t>
            </a:r>
            <a:br>
              <a:rPr lang="en-US" altLang="en-US"/>
            </a:br>
            <a:r>
              <a:rPr lang="en-US" altLang="en-US"/>
              <a:t>Working Systems</a:t>
            </a:r>
          </a:p>
        </p:txBody>
      </p:sp>
      <p:sp>
        <p:nvSpPr>
          <p:cNvPr id="9219" name="Rectangle 3">
            <a:extLst>
              <a:ext uri="{FF2B5EF4-FFF2-40B4-BE49-F238E27FC236}">
                <a16:creationId xmlns:a16="http://schemas.microsoft.com/office/drawing/2014/main" id="{F4CC55DB-2B7E-40E7-99B9-2101EA129F22}"/>
              </a:ext>
            </a:extLst>
          </p:cNvPr>
          <p:cNvSpPr>
            <a:spLocks noGrp="1" noChangeArrowheads="1"/>
          </p:cNvSpPr>
          <p:nvPr>
            <p:ph type="body" idx="1"/>
          </p:nvPr>
        </p:nvSpPr>
        <p:spPr/>
        <p:txBody>
          <a:bodyPr/>
          <a:lstStyle/>
          <a:p>
            <a:pPr>
              <a:buFontTx/>
              <a:buNone/>
            </a:pPr>
            <a:r>
              <a:rPr lang="en-US" altLang="en-US"/>
              <a:t>LUNAR (by Woods for NASA, 1973)</a:t>
            </a:r>
          </a:p>
          <a:p>
            <a:pPr>
              <a:buFontTx/>
              <a:buNone/>
            </a:pPr>
            <a:r>
              <a:rPr lang="en-US" altLang="en-US"/>
              <a:t>	allowed queries of chemical analysis data of lunar rock and soil samples brought back by Apollo missions</a:t>
            </a:r>
          </a:p>
          <a:p>
            <a:pPr>
              <a:buFontTx/>
              <a:buNone/>
            </a:pPr>
            <a:r>
              <a:rPr lang="en-US" altLang="en-US"/>
              <a:t>CHAT (Pereira, 1983)</a:t>
            </a:r>
          </a:p>
          <a:p>
            <a:pPr>
              <a:buFontTx/>
              <a:buNone/>
            </a:pPr>
            <a:r>
              <a:rPr lang="en-US" altLang="en-US"/>
              <a:t>	allows queries of a geographical database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CC25E15F-8926-46CB-B292-FC72FCC91EDC}"/>
              </a:ext>
            </a:extLst>
          </p:cNvPr>
          <p:cNvSpPr>
            <a:spLocks noGrp="1" noChangeArrowheads="1"/>
          </p:cNvSpPr>
          <p:nvPr>
            <p:ph type="title"/>
          </p:nvPr>
        </p:nvSpPr>
        <p:spPr/>
        <p:txBody>
          <a:bodyPr/>
          <a:lstStyle/>
          <a:p>
            <a:r>
              <a:rPr lang="en-US" altLang="en-US"/>
              <a:t>Database Access: Difficulties</a:t>
            </a:r>
          </a:p>
        </p:txBody>
      </p:sp>
      <p:sp>
        <p:nvSpPr>
          <p:cNvPr id="10243" name="Rectangle 3">
            <a:extLst>
              <a:ext uri="{FF2B5EF4-FFF2-40B4-BE49-F238E27FC236}">
                <a16:creationId xmlns:a16="http://schemas.microsoft.com/office/drawing/2014/main" id="{95632F27-9C49-4134-981D-A743A8AA0B88}"/>
              </a:ext>
            </a:extLst>
          </p:cNvPr>
          <p:cNvSpPr>
            <a:spLocks noGrp="1" noChangeArrowheads="1"/>
          </p:cNvSpPr>
          <p:nvPr>
            <p:ph type="body" idx="1"/>
          </p:nvPr>
        </p:nvSpPr>
        <p:spPr/>
        <p:txBody>
          <a:bodyPr/>
          <a:lstStyle/>
          <a:p>
            <a:pPr>
              <a:lnSpc>
                <a:spcPct val="90000"/>
              </a:lnSpc>
              <a:buFontTx/>
              <a:buNone/>
            </a:pPr>
            <a:r>
              <a:rPr lang="en-US" altLang="en-US"/>
              <a:t>Limited Vocabulary</a:t>
            </a:r>
          </a:p>
          <a:p>
            <a:pPr>
              <a:lnSpc>
                <a:spcPct val="90000"/>
              </a:lnSpc>
              <a:buFontTx/>
              <a:buNone/>
            </a:pPr>
            <a:r>
              <a:rPr lang="en-US" altLang="en-US"/>
              <a:t>	User must phrase question correctly – system doesn’t understand everything</a:t>
            </a:r>
          </a:p>
          <a:p>
            <a:pPr>
              <a:lnSpc>
                <a:spcPct val="90000"/>
              </a:lnSpc>
              <a:buFontTx/>
              <a:buNone/>
            </a:pPr>
            <a:endParaRPr lang="en-US" altLang="en-US"/>
          </a:p>
          <a:p>
            <a:pPr>
              <a:lnSpc>
                <a:spcPct val="90000"/>
              </a:lnSpc>
              <a:buFontTx/>
              <a:buNone/>
            </a:pPr>
            <a:r>
              <a:rPr lang="en-US" altLang="en-US"/>
              <a:t>Context detection</a:t>
            </a:r>
          </a:p>
          <a:p>
            <a:pPr>
              <a:lnSpc>
                <a:spcPct val="90000"/>
              </a:lnSpc>
              <a:buFontTx/>
              <a:buNone/>
            </a:pPr>
            <a:r>
              <a:rPr lang="en-US" altLang="en-US"/>
              <a:t>	allowing questions that implicitly refer to previous questions</a:t>
            </a:r>
          </a:p>
          <a:p>
            <a:pPr>
              <a:lnSpc>
                <a:spcPct val="90000"/>
              </a:lnSpc>
              <a:buFontTx/>
              <a:buNone/>
            </a:pPr>
            <a:r>
              <a:rPr lang="en-US" altLang="en-US"/>
              <a:t>Becomes </a:t>
            </a:r>
            <a:r>
              <a:rPr lang="en-US" altLang="en-US" u="sng"/>
              <a:t>Text Interpretation</a:t>
            </a:r>
            <a:r>
              <a:rPr lang="en-US" altLang="en-US"/>
              <a:t> question</a:t>
            </a:r>
            <a:endParaRPr lang="en-US" altLang="en-US" u="sng"/>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8A2AE9C3-4AE0-4CC2-8960-6165E6372A94}"/>
              </a:ext>
            </a:extLst>
          </p:cNvPr>
          <p:cNvSpPr>
            <a:spLocks noGrp="1" noChangeArrowheads="1"/>
          </p:cNvSpPr>
          <p:nvPr>
            <p:ph type="title"/>
          </p:nvPr>
        </p:nvSpPr>
        <p:spPr/>
        <p:txBody>
          <a:bodyPr/>
          <a:lstStyle/>
          <a:p>
            <a:r>
              <a:rPr lang="en-US" altLang="en-US"/>
              <a:t>Database Access: Conclusion</a:t>
            </a:r>
          </a:p>
        </p:txBody>
      </p:sp>
      <p:sp>
        <p:nvSpPr>
          <p:cNvPr id="11267" name="Rectangle 3">
            <a:extLst>
              <a:ext uri="{FF2B5EF4-FFF2-40B4-BE49-F238E27FC236}">
                <a16:creationId xmlns:a16="http://schemas.microsoft.com/office/drawing/2014/main" id="{53359F81-6E11-403A-952F-19949F5E708B}"/>
              </a:ext>
            </a:extLst>
          </p:cNvPr>
          <p:cNvSpPr>
            <a:spLocks noGrp="1" noChangeArrowheads="1"/>
          </p:cNvSpPr>
          <p:nvPr>
            <p:ph type="body" idx="1"/>
          </p:nvPr>
        </p:nvSpPr>
        <p:spPr/>
        <p:txBody>
          <a:bodyPr/>
          <a:lstStyle/>
          <a:p>
            <a:pPr>
              <a:buFontTx/>
              <a:buNone/>
            </a:pPr>
            <a:r>
              <a:rPr lang="en-US" altLang="en-US"/>
              <a:t>Worked well for a time</a:t>
            </a:r>
          </a:p>
          <a:p>
            <a:pPr>
              <a:buFontTx/>
              <a:buNone/>
            </a:pPr>
            <a:r>
              <a:rPr lang="en-US" altLang="en-US"/>
              <a:t>Now more information is stored in text, not in databases (ex. email, news, articles, books, encyclopedias, web pages)</a:t>
            </a:r>
          </a:p>
          <a:p>
            <a:pPr>
              <a:buFontTx/>
              <a:buNone/>
            </a:pPr>
            <a:r>
              <a:rPr lang="en-US" altLang="en-US"/>
              <a:t>The problem now is not to find information, it’s to sort through the information that’s available.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A803B348-AA46-4D47-9684-87F9C8B93C98}"/>
              </a:ext>
            </a:extLst>
          </p:cNvPr>
          <p:cNvSpPr>
            <a:spLocks noGrp="1" noChangeArrowheads="1"/>
          </p:cNvSpPr>
          <p:nvPr>
            <p:ph type="title"/>
          </p:nvPr>
        </p:nvSpPr>
        <p:spPr/>
        <p:txBody>
          <a:bodyPr/>
          <a:lstStyle/>
          <a:p>
            <a:r>
              <a:rPr lang="en-US" altLang="en-US"/>
              <a:t>Information Retrieval</a:t>
            </a:r>
          </a:p>
        </p:txBody>
      </p:sp>
      <p:sp>
        <p:nvSpPr>
          <p:cNvPr id="49155" name="Rectangle 3">
            <a:extLst>
              <a:ext uri="{FF2B5EF4-FFF2-40B4-BE49-F238E27FC236}">
                <a16:creationId xmlns:a16="http://schemas.microsoft.com/office/drawing/2014/main" id="{C29C02C0-17D5-4A39-83AE-06B956607EED}"/>
              </a:ext>
            </a:extLst>
          </p:cNvPr>
          <p:cNvSpPr>
            <a:spLocks noGrp="1" noChangeArrowheads="1"/>
          </p:cNvSpPr>
          <p:nvPr>
            <p:ph type="body" idx="1"/>
          </p:nvPr>
        </p:nvSpPr>
        <p:spPr/>
        <p:txBody>
          <a:bodyPr/>
          <a:lstStyle/>
          <a:p>
            <a:pPr marL="609600" indent="-609600">
              <a:lnSpc>
                <a:spcPct val="90000"/>
              </a:lnSpc>
              <a:buFontTx/>
              <a:buNone/>
            </a:pPr>
            <a:r>
              <a:rPr lang="en-US" altLang="en-US"/>
              <a:t>Now the main focus of Natural Language Processing</a:t>
            </a:r>
          </a:p>
          <a:p>
            <a:pPr marL="609600" indent="-609600">
              <a:lnSpc>
                <a:spcPct val="90000"/>
              </a:lnSpc>
              <a:buFontTx/>
              <a:buNone/>
            </a:pPr>
            <a:endParaRPr lang="en-US" altLang="en-US"/>
          </a:p>
          <a:p>
            <a:pPr marL="609600" indent="-609600">
              <a:lnSpc>
                <a:spcPct val="90000"/>
              </a:lnSpc>
              <a:buFontTx/>
              <a:buNone/>
            </a:pPr>
            <a:r>
              <a:rPr lang="en-US" altLang="en-US"/>
              <a:t>There are four types:  </a:t>
            </a:r>
          </a:p>
          <a:p>
            <a:pPr marL="990600" lvl="1" indent="-533400">
              <a:lnSpc>
                <a:spcPct val="90000"/>
              </a:lnSpc>
              <a:buFontTx/>
              <a:buAutoNum type="arabicPeriod"/>
            </a:pPr>
            <a:r>
              <a:rPr lang="en-US" altLang="en-US"/>
              <a:t>Query answering</a:t>
            </a:r>
          </a:p>
          <a:p>
            <a:pPr marL="990600" lvl="1" indent="-533400">
              <a:lnSpc>
                <a:spcPct val="90000"/>
              </a:lnSpc>
              <a:buFontTx/>
              <a:buAutoNum type="arabicPeriod"/>
            </a:pPr>
            <a:r>
              <a:rPr lang="en-US" altLang="en-US"/>
              <a:t>Text categorization</a:t>
            </a:r>
          </a:p>
          <a:p>
            <a:pPr marL="990600" lvl="1" indent="-533400">
              <a:lnSpc>
                <a:spcPct val="90000"/>
              </a:lnSpc>
              <a:buFontTx/>
              <a:buAutoNum type="arabicPeriod"/>
            </a:pPr>
            <a:r>
              <a:rPr lang="en-US" altLang="en-US"/>
              <a:t>Text summary </a:t>
            </a:r>
          </a:p>
          <a:p>
            <a:pPr marL="990600" lvl="1" indent="-533400">
              <a:lnSpc>
                <a:spcPct val="90000"/>
              </a:lnSpc>
              <a:buFontTx/>
              <a:buAutoNum type="arabicPeriod"/>
            </a:pPr>
            <a:r>
              <a:rPr lang="en-US" altLang="en-US"/>
              <a:t>Data extraction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652E1989-DF5C-4538-9CE3-41BD537A1BB2}"/>
              </a:ext>
            </a:extLst>
          </p:cNvPr>
          <p:cNvSpPr>
            <a:spLocks noGrp="1" noChangeArrowheads="1"/>
          </p:cNvSpPr>
          <p:nvPr>
            <p:ph type="title"/>
          </p:nvPr>
        </p:nvSpPr>
        <p:spPr/>
        <p:txBody>
          <a:bodyPr/>
          <a:lstStyle/>
          <a:p>
            <a:r>
              <a:rPr lang="en-US" altLang="en-US"/>
              <a:t>Information Retrieval: The task</a:t>
            </a:r>
          </a:p>
        </p:txBody>
      </p:sp>
      <p:sp>
        <p:nvSpPr>
          <p:cNvPr id="12291" name="Rectangle 3">
            <a:extLst>
              <a:ext uri="{FF2B5EF4-FFF2-40B4-BE49-F238E27FC236}">
                <a16:creationId xmlns:a16="http://schemas.microsoft.com/office/drawing/2014/main" id="{E0DF188F-4CD1-42E3-B8AC-633A8E505DCC}"/>
              </a:ext>
            </a:extLst>
          </p:cNvPr>
          <p:cNvSpPr>
            <a:spLocks noGrp="1" noChangeArrowheads="1"/>
          </p:cNvSpPr>
          <p:nvPr>
            <p:ph type="body" idx="1"/>
          </p:nvPr>
        </p:nvSpPr>
        <p:spPr/>
        <p:txBody>
          <a:bodyPr/>
          <a:lstStyle/>
          <a:p>
            <a:pPr>
              <a:buFontTx/>
              <a:buNone/>
            </a:pPr>
            <a:r>
              <a:rPr lang="en-US" altLang="en-US"/>
              <a:t>Choose from some set of documents ones that are related to my query</a:t>
            </a:r>
          </a:p>
          <a:p>
            <a:pPr>
              <a:buFontTx/>
              <a:buNone/>
            </a:pPr>
            <a:endParaRPr lang="en-US" altLang="en-US"/>
          </a:p>
          <a:p>
            <a:pPr>
              <a:buFontTx/>
              <a:buNone/>
            </a:pPr>
            <a:r>
              <a:rPr lang="en-US" altLang="en-US"/>
              <a:t>Ex. Internet search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6CC70188-446F-44A0-AE2F-B8FE8817D529}"/>
              </a:ext>
            </a:extLst>
          </p:cNvPr>
          <p:cNvSpPr>
            <a:spLocks noGrp="1" noChangeArrowheads="1"/>
          </p:cNvSpPr>
          <p:nvPr>
            <p:ph type="title"/>
          </p:nvPr>
        </p:nvSpPr>
        <p:spPr/>
        <p:txBody>
          <a:bodyPr/>
          <a:lstStyle/>
          <a:p>
            <a:r>
              <a:rPr lang="en-US" altLang="en-US"/>
              <a:t>Information Retrieval</a:t>
            </a:r>
            <a:br>
              <a:rPr lang="en-US" altLang="en-US"/>
            </a:br>
            <a:r>
              <a:rPr lang="en-US" altLang="en-US"/>
              <a:t>Methods</a:t>
            </a:r>
          </a:p>
        </p:txBody>
      </p:sp>
      <p:sp>
        <p:nvSpPr>
          <p:cNvPr id="13315" name="Rectangle 3">
            <a:extLst>
              <a:ext uri="{FF2B5EF4-FFF2-40B4-BE49-F238E27FC236}">
                <a16:creationId xmlns:a16="http://schemas.microsoft.com/office/drawing/2014/main" id="{2EC1E224-8CD6-4606-947C-45489B9ED17A}"/>
              </a:ext>
            </a:extLst>
          </p:cNvPr>
          <p:cNvSpPr>
            <a:spLocks noGrp="1" noChangeArrowheads="1"/>
          </p:cNvSpPr>
          <p:nvPr>
            <p:ph type="body" idx="1"/>
          </p:nvPr>
        </p:nvSpPr>
        <p:spPr/>
        <p:txBody>
          <a:bodyPr/>
          <a:lstStyle/>
          <a:p>
            <a:pPr>
              <a:buFontTx/>
              <a:buNone/>
            </a:pPr>
            <a:r>
              <a:rPr lang="en-US" altLang="en-US"/>
              <a:t>Boolean: “(Natural AND Language) OR (Computational AND Linguistics)”</a:t>
            </a:r>
          </a:p>
          <a:p>
            <a:pPr lvl="2"/>
            <a:r>
              <a:rPr lang="en-US" altLang="en-US" sz="2800"/>
              <a:t>too confusing for most users</a:t>
            </a:r>
          </a:p>
          <a:p>
            <a:pPr>
              <a:buFontTx/>
              <a:buNone/>
            </a:pPr>
            <a:endParaRPr lang="en-US" altLang="en-US"/>
          </a:p>
          <a:p>
            <a:pPr>
              <a:buFontTx/>
              <a:buNone/>
            </a:pPr>
            <a:r>
              <a:rPr lang="en-US" altLang="en-US"/>
              <a:t>Vector: Assign different weights to each term in query.  Rank documents by distance from query and report ones that are close.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026">
            <a:extLst>
              <a:ext uri="{FF2B5EF4-FFF2-40B4-BE49-F238E27FC236}">
                <a16:creationId xmlns:a16="http://schemas.microsoft.com/office/drawing/2014/main" id="{9D77C3BE-B660-4D79-A04E-43D2C8B31940}"/>
              </a:ext>
            </a:extLst>
          </p:cNvPr>
          <p:cNvSpPr>
            <a:spLocks noGrp="1" noChangeArrowheads="1"/>
          </p:cNvSpPr>
          <p:nvPr>
            <p:ph type="title"/>
          </p:nvPr>
        </p:nvSpPr>
        <p:spPr/>
        <p:txBody>
          <a:bodyPr/>
          <a:lstStyle/>
          <a:p>
            <a:r>
              <a:rPr lang="en-US" altLang="en-US"/>
              <a:t>Information Retrieval</a:t>
            </a:r>
          </a:p>
        </p:txBody>
      </p:sp>
      <p:sp>
        <p:nvSpPr>
          <p:cNvPr id="52227" name="Rectangle 1027">
            <a:extLst>
              <a:ext uri="{FF2B5EF4-FFF2-40B4-BE49-F238E27FC236}">
                <a16:creationId xmlns:a16="http://schemas.microsoft.com/office/drawing/2014/main" id="{0ED1223F-D385-46AD-9B11-B7FC1956B86B}"/>
              </a:ext>
            </a:extLst>
          </p:cNvPr>
          <p:cNvSpPr>
            <a:spLocks noGrp="1" noChangeArrowheads="1"/>
          </p:cNvSpPr>
          <p:nvPr>
            <p:ph type="body" idx="1"/>
          </p:nvPr>
        </p:nvSpPr>
        <p:spPr/>
        <p:txBody>
          <a:bodyPr/>
          <a:lstStyle/>
          <a:p>
            <a:pPr>
              <a:buFontTx/>
              <a:buNone/>
            </a:pPr>
            <a:r>
              <a:rPr lang="en-US" altLang="en-US"/>
              <a:t>Mostly implemented using simple statistical models on the words only</a:t>
            </a:r>
          </a:p>
          <a:p>
            <a:pPr>
              <a:buFontTx/>
              <a:buNone/>
            </a:pPr>
            <a:r>
              <a:rPr lang="en-US" altLang="en-US"/>
              <a:t>More advanced NLP techniques have not yielded significantly better results</a:t>
            </a:r>
          </a:p>
          <a:p>
            <a:pPr>
              <a:buFontTx/>
              <a:buNone/>
            </a:pPr>
            <a:endParaRPr lang="en-US" altLang="en-US"/>
          </a:p>
          <a:p>
            <a:pPr algn="ctr">
              <a:buFontTx/>
              <a:buNone/>
            </a:pPr>
            <a:r>
              <a:rPr lang="en-US" altLang="en-US" b="1"/>
              <a:t>Information in a</a:t>
            </a:r>
            <a:r>
              <a:rPr lang="en-US" altLang="en-US"/>
              <a:t> </a:t>
            </a:r>
            <a:r>
              <a:rPr lang="en-US" altLang="en-US" b="1"/>
              <a:t>text is mostly in its words</a:t>
            </a:r>
          </a:p>
          <a:p>
            <a:pPr>
              <a:buFontTx/>
              <a:buNone/>
            </a:pPr>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57638B82-AA25-4A7C-9B29-0BDACDE5E74E}"/>
              </a:ext>
            </a:extLst>
          </p:cNvPr>
          <p:cNvSpPr>
            <a:spLocks noGrp="1" noChangeArrowheads="1"/>
          </p:cNvSpPr>
          <p:nvPr>
            <p:ph type="title"/>
          </p:nvPr>
        </p:nvSpPr>
        <p:spPr/>
        <p:txBody>
          <a:bodyPr/>
          <a:lstStyle/>
          <a:p>
            <a:r>
              <a:rPr lang="en-US" altLang="en-US"/>
              <a:t>Text Categorization</a:t>
            </a:r>
          </a:p>
        </p:txBody>
      </p:sp>
      <p:sp>
        <p:nvSpPr>
          <p:cNvPr id="14339" name="Rectangle 3">
            <a:extLst>
              <a:ext uri="{FF2B5EF4-FFF2-40B4-BE49-F238E27FC236}">
                <a16:creationId xmlns:a16="http://schemas.microsoft.com/office/drawing/2014/main" id="{654FBE10-8FF7-4A8A-B92E-A666AFDC2EDE}"/>
              </a:ext>
            </a:extLst>
          </p:cNvPr>
          <p:cNvSpPr>
            <a:spLocks noGrp="1" noChangeArrowheads="1"/>
          </p:cNvSpPr>
          <p:nvPr>
            <p:ph type="body" idx="1"/>
          </p:nvPr>
        </p:nvSpPr>
        <p:spPr/>
        <p:txBody>
          <a:bodyPr/>
          <a:lstStyle/>
          <a:p>
            <a:pPr>
              <a:lnSpc>
                <a:spcPct val="90000"/>
              </a:lnSpc>
              <a:buFontTx/>
              <a:buNone/>
            </a:pPr>
            <a:r>
              <a:rPr lang="en-US" altLang="en-US" sz="2800"/>
              <a:t>Once upon a time… this was done by humans</a:t>
            </a:r>
          </a:p>
          <a:p>
            <a:pPr>
              <a:lnSpc>
                <a:spcPct val="90000"/>
              </a:lnSpc>
              <a:buFontTx/>
              <a:buNone/>
            </a:pPr>
            <a:r>
              <a:rPr lang="en-US" altLang="en-US" sz="2800"/>
              <a:t>Computers are much better at it (and more consistent)</a:t>
            </a:r>
          </a:p>
          <a:p>
            <a:pPr>
              <a:lnSpc>
                <a:spcPct val="90000"/>
              </a:lnSpc>
              <a:buFontTx/>
              <a:buNone/>
            </a:pPr>
            <a:r>
              <a:rPr lang="en-US" altLang="en-US" sz="2800"/>
              <a:t>Best success for NLP so far (90+ % accuracy)</a:t>
            </a:r>
          </a:p>
          <a:p>
            <a:pPr>
              <a:lnSpc>
                <a:spcPct val="90000"/>
              </a:lnSpc>
              <a:buFontTx/>
              <a:buNone/>
            </a:pPr>
            <a:r>
              <a:rPr lang="en-US" altLang="en-US" sz="2800"/>
              <a:t>Much faster and more consistent than humans.  Automated systems now perform most of the work.</a:t>
            </a:r>
          </a:p>
          <a:p>
            <a:pPr>
              <a:lnSpc>
                <a:spcPct val="90000"/>
              </a:lnSpc>
              <a:buFontTx/>
              <a:buNone/>
            </a:pPr>
            <a:r>
              <a:rPr lang="en-US" altLang="en-US" sz="2800"/>
              <a:t>NLP works better for TC than IR because categories are fixed.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DFAD6F34-26AB-4D2C-B5F6-2A3B9B6C3343}"/>
              </a:ext>
            </a:extLst>
          </p:cNvPr>
          <p:cNvSpPr>
            <a:spLocks noGrp="1" noChangeArrowheads="1"/>
          </p:cNvSpPr>
          <p:nvPr>
            <p:ph type="title"/>
          </p:nvPr>
        </p:nvSpPr>
        <p:spPr/>
        <p:txBody>
          <a:bodyPr/>
          <a:lstStyle/>
          <a:p>
            <a:r>
              <a:rPr lang="en-US" altLang="en-US"/>
              <a:t>Text Summarization</a:t>
            </a:r>
          </a:p>
        </p:txBody>
      </p:sp>
      <p:sp>
        <p:nvSpPr>
          <p:cNvPr id="15363" name="Rectangle 3">
            <a:extLst>
              <a:ext uri="{FF2B5EF4-FFF2-40B4-BE49-F238E27FC236}">
                <a16:creationId xmlns:a16="http://schemas.microsoft.com/office/drawing/2014/main" id="{6AC65543-41CF-4780-81B5-94CF35129972}"/>
              </a:ext>
            </a:extLst>
          </p:cNvPr>
          <p:cNvSpPr>
            <a:spLocks noGrp="1" noChangeArrowheads="1"/>
          </p:cNvSpPr>
          <p:nvPr>
            <p:ph type="body" idx="1"/>
          </p:nvPr>
        </p:nvSpPr>
        <p:spPr/>
        <p:txBody>
          <a:bodyPr/>
          <a:lstStyle/>
          <a:p>
            <a:pPr>
              <a:buFontTx/>
              <a:buNone/>
            </a:pPr>
            <a:r>
              <a:rPr lang="en-US" altLang="en-US"/>
              <a:t>Main task: understand main meaning and describe in a shorter way</a:t>
            </a:r>
          </a:p>
          <a:p>
            <a:pPr>
              <a:buFontTx/>
              <a:buNone/>
            </a:pPr>
            <a:r>
              <a:rPr lang="en-US" altLang="en-US"/>
              <a:t>Common Systems: Microsoft</a:t>
            </a:r>
          </a:p>
          <a:p>
            <a:pPr>
              <a:buFontTx/>
              <a:buNone/>
            </a:pPr>
            <a:r>
              <a:rPr lang="en-US" altLang="en-US"/>
              <a:t>How: </a:t>
            </a:r>
          </a:p>
          <a:p>
            <a:pPr lvl="1"/>
            <a:r>
              <a:rPr lang="en-US" altLang="en-US"/>
              <a:t>Sentence/paragraph extraction (find the most important sentences/paragraphs and string them together for a summary)</a:t>
            </a:r>
          </a:p>
          <a:p>
            <a:pPr lvl="1"/>
            <a:r>
              <a:rPr lang="en-US" altLang="en-US"/>
              <a:t>Statistical methods are more common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35948A87-A75D-4995-A0B8-53260DD3ECC3}"/>
              </a:ext>
            </a:extLst>
          </p:cNvPr>
          <p:cNvSpPr>
            <a:spLocks noGrp="1" noChangeArrowheads="1"/>
          </p:cNvSpPr>
          <p:nvPr>
            <p:ph type="title"/>
          </p:nvPr>
        </p:nvSpPr>
        <p:spPr/>
        <p:txBody>
          <a:bodyPr/>
          <a:lstStyle/>
          <a:p>
            <a:r>
              <a:rPr lang="en-US" altLang="en-US"/>
              <a:t>Data extraction</a:t>
            </a:r>
          </a:p>
        </p:txBody>
      </p:sp>
      <p:sp>
        <p:nvSpPr>
          <p:cNvPr id="16387" name="Rectangle 3">
            <a:extLst>
              <a:ext uri="{FF2B5EF4-FFF2-40B4-BE49-F238E27FC236}">
                <a16:creationId xmlns:a16="http://schemas.microsoft.com/office/drawing/2014/main" id="{00ABECB3-EF86-4A46-B76B-A865244D2FD0}"/>
              </a:ext>
            </a:extLst>
          </p:cNvPr>
          <p:cNvSpPr>
            <a:spLocks noGrp="1" noChangeArrowheads="1"/>
          </p:cNvSpPr>
          <p:nvPr>
            <p:ph type="body" idx="1"/>
          </p:nvPr>
        </p:nvSpPr>
        <p:spPr/>
        <p:txBody>
          <a:bodyPr/>
          <a:lstStyle/>
          <a:p>
            <a:pPr>
              <a:buFontTx/>
              <a:buNone/>
            </a:pPr>
            <a:r>
              <a:rPr lang="en-US" altLang="en-US"/>
              <a:t>Goal: Derive from text assertions to store in a database</a:t>
            </a:r>
          </a:p>
          <a:p>
            <a:pPr>
              <a:buFontTx/>
              <a:buNone/>
            </a:pPr>
            <a:r>
              <a:rPr lang="en-US" altLang="en-US"/>
              <a:t>Example: SCISOR, Jacobs and Rau 1990</a:t>
            </a:r>
          </a:p>
          <a:p>
            <a:pPr>
              <a:buFontTx/>
              <a:buNone/>
            </a:pPr>
            <a:r>
              <a:rPr lang="en-US" altLang="en-US"/>
              <a:t>	Summarizes Dow Jones News stories, and adds information to a database.</a:t>
            </a:r>
          </a:p>
          <a:p>
            <a:pPr>
              <a:buFontTx/>
              <a:buNone/>
            </a:pPr>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3FBE040A-E516-4AC4-8AE3-B240D8F4918D}"/>
              </a:ext>
            </a:extLst>
          </p:cNvPr>
          <p:cNvSpPr>
            <a:spLocks noGrp="1" noChangeArrowheads="1"/>
          </p:cNvSpPr>
          <p:nvPr>
            <p:ph type="title"/>
          </p:nvPr>
        </p:nvSpPr>
        <p:spPr/>
        <p:txBody>
          <a:bodyPr/>
          <a:lstStyle/>
          <a:p>
            <a:r>
              <a:rPr lang="en-US" altLang="en-US"/>
              <a:t>NLP Goals</a:t>
            </a:r>
          </a:p>
        </p:txBody>
      </p:sp>
      <p:sp>
        <p:nvSpPr>
          <p:cNvPr id="55299" name="Rectangle 3">
            <a:extLst>
              <a:ext uri="{FF2B5EF4-FFF2-40B4-BE49-F238E27FC236}">
                <a16:creationId xmlns:a16="http://schemas.microsoft.com/office/drawing/2014/main" id="{8347AC37-9A9D-446E-AFD8-59EC924761F2}"/>
              </a:ext>
            </a:extLst>
          </p:cNvPr>
          <p:cNvSpPr>
            <a:spLocks noGrp="1" noChangeArrowheads="1"/>
          </p:cNvSpPr>
          <p:nvPr>
            <p:ph type="body" idx="1"/>
          </p:nvPr>
        </p:nvSpPr>
        <p:spPr/>
        <p:txBody>
          <a:bodyPr/>
          <a:lstStyle/>
          <a:p>
            <a:pPr>
              <a:buFontTx/>
              <a:buNone/>
            </a:pPr>
            <a:r>
              <a:rPr lang="en-US" altLang="en-US"/>
              <a:t>Have (or feign) some understanding based on communication with Natural Language</a:t>
            </a:r>
          </a:p>
          <a:p>
            <a:pPr>
              <a:buFontTx/>
              <a:buNone/>
            </a:pPr>
            <a:endParaRPr lang="en-US" altLang="en-US"/>
          </a:p>
          <a:p>
            <a:pPr>
              <a:buFontTx/>
              <a:buNone/>
            </a:pPr>
            <a:r>
              <a:rPr lang="en-US" altLang="en-US"/>
              <a:t>In order to receive and send information in ways easily understandable by human users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27659324-D97C-4465-B5EB-2961FFEBF445}"/>
              </a:ext>
            </a:extLst>
          </p:cNvPr>
          <p:cNvSpPr>
            <a:spLocks noGrp="1" noChangeArrowheads="1"/>
          </p:cNvSpPr>
          <p:nvPr>
            <p:ph type="title"/>
          </p:nvPr>
        </p:nvSpPr>
        <p:spPr/>
        <p:txBody>
          <a:bodyPr/>
          <a:lstStyle/>
          <a:p>
            <a:r>
              <a:rPr lang="en-US" altLang="en-US"/>
              <a:t>How to get there</a:t>
            </a:r>
          </a:p>
        </p:txBody>
      </p:sp>
      <p:sp>
        <p:nvSpPr>
          <p:cNvPr id="17411" name="Rectangle 3">
            <a:extLst>
              <a:ext uri="{FF2B5EF4-FFF2-40B4-BE49-F238E27FC236}">
                <a16:creationId xmlns:a16="http://schemas.microsoft.com/office/drawing/2014/main" id="{F2CCA2CB-A01C-4D85-83F2-4810C2D6FEC4}"/>
              </a:ext>
            </a:extLst>
          </p:cNvPr>
          <p:cNvSpPr>
            <a:spLocks noGrp="1" noChangeArrowheads="1"/>
          </p:cNvSpPr>
          <p:nvPr>
            <p:ph type="body" idx="1"/>
          </p:nvPr>
        </p:nvSpPr>
        <p:spPr/>
        <p:txBody>
          <a:bodyPr/>
          <a:lstStyle/>
          <a:p>
            <a:pPr>
              <a:buFontTx/>
              <a:buNone/>
            </a:pPr>
            <a:r>
              <a:rPr lang="en-US" altLang="en-US"/>
              <a:t>NLP applications are all similar in that they require some level of understanding.</a:t>
            </a:r>
          </a:p>
          <a:p>
            <a:pPr>
              <a:buFontTx/>
              <a:buNone/>
            </a:pPr>
            <a:endParaRPr lang="en-US" altLang="en-US"/>
          </a:p>
          <a:p>
            <a:pPr>
              <a:buFontTx/>
              <a:buNone/>
            </a:pPr>
            <a:r>
              <a:rPr lang="en-US" altLang="en-US"/>
              <a:t>Understand the query, understand the document, understand the data being communicated…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3FE9885A-B2A3-4182-839E-A643CDD7CD99}"/>
              </a:ext>
            </a:extLst>
          </p:cNvPr>
          <p:cNvSpPr>
            <a:spLocks noGrp="1" noChangeArrowheads="1"/>
          </p:cNvSpPr>
          <p:nvPr>
            <p:ph type="title"/>
          </p:nvPr>
        </p:nvSpPr>
        <p:spPr/>
        <p:txBody>
          <a:bodyPr/>
          <a:lstStyle/>
          <a:p>
            <a:r>
              <a:rPr lang="en-US" altLang="en-US"/>
              <a:t>Understanding Sentences: Overview</a:t>
            </a:r>
          </a:p>
        </p:txBody>
      </p:sp>
      <p:sp>
        <p:nvSpPr>
          <p:cNvPr id="18435" name="Rectangle 3">
            <a:extLst>
              <a:ext uri="{FF2B5EF4-FFF2-40B4-BE49-F238E27FC236}">
                <a16:creationId xmlns:a16="http://schemas.microsoft.com/office/drawing/2014/main" id="{74DE2E75-81E2-4CBA-8F9F-90F130DABF2D}"/>
              </a:ext>
            </a:extLst>
          </p:cNvPr>
          <p:cNvSpPr>
            <a:spLocks noGrp="1" noChangeArrowheads="1"/>
          </p:cNvSpPr>
          <p:nvPr>
            <p:ph type="body" idx="1"/>
          </p:nvPr>
        </p:nvSpPr>
        <p:spPr/>
        <p:txBody>
          <a:bodyPr/>
          <a:lstStyle/>
          <a:p>
            <a:pPr>
              <a:buFontTx/>
              <a:buNone/>
            </a:pPr>
            <a:r>
              <a:rPr lang="en-US" altLang="en-US"/>
              <a:t>Parsing and Grammar</a:t>
            </a:r>
          </a:p>
          <a:p>
            <a:pPr lvl="1">
              <a:buFontTx/>
              <a:buNone/>
            </a:pPr>
            <a:r>
              <a:rPr lang="en-US" altLang="en-US"/>
              <a:t>	How is a sentence composed?</a:t>
            </a:r>
          </a:p>
          <a:p>
            <a:pPr lvl="1">
              <a:buFontTx/>
              <a:buNone/>
            </a:pPr>
            <a:endParaRPr lang="en-US" altLang="en-US"/>
          </a:p>
          <a:p>
            <a:pPr>
              <a:buFontTx/>
              <a:buNone/>
            </a:pPr>
            <a:r>
              <a:rPr lang="en-US" altLang="en-US"/>
              <a:t>Lexicons</a:t>
            </a:r>
          </a:p>
          <a:p>
            <a:pPr lvl="1">
              <a:buFontTx/>
              <a:buNone/>
            </a:pPr>
            <a:r>
              <a:rPr lang="en-US" altLang="en-US"/>
              <a:t>	How is a word composed?</a:t>
            </a:r>
          </a:p>
          <a:p>
            <a:pPr lvl="1">
              <a:buFontTx/>
              <a:buNone/>
            </a:pPr>
            <a:endParaRPr lang="en-US" altLang="en-US"/>
          </a:p>
          <a:p>
            <a:pPr>
              <a:buFontTx/>
              <a:buNone/>
            </a:pPr>
            <a:r>
              <a:rPr lang="en-US" altLang="en-US"/>
              <a:t>Ambiguity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28D9D484-207B-42A4-94CB-6B42B369BD20}"/>
              </a:ext>
            </a:extLst>
          </p:cNvPr>
          <p:cNvSpPr>
            <a:spLocks noGrp="1" noChangeArrowheads="1"/>
          </p:cNvSpPr>
          <p:nvPr>
            <p:ph type="title"/>
          </p:nvPr>
        </p:nvSpPr>
        <p:spPr/>
        <p:txBody>
          <a:bodyPr/>
          <a:lstStyle/>
          <a:p>
            <a:r>
              <a:rPr lang="en-US" altLang="en-US"/>
              <a:t>Parsing Requirements</a:t>
            </a:r>
          </a:p>
        </p:txBody>
      </p:sp>
      <p:sp>
        <p:nvSpPr>
          <p:cNvPr id="19459" name="Rectangle 3">
            <a:extLst>
              <a:ext uri="{FF2B5EF4-FFF2-40B4-BE49-F238E27FC236}">
                <a16:creationId xmlns:a16="http://schemas.microsoft.com/office/drawing/2014/main" id="{B91814B2-E358-471C-974D-C9C99EF84642}"/>
              </a:ext>
            </a:extLst>
          </p:cNvPr>
          <p:cNvSpPr>
            <a:spLocks noGrp="1" noChangeArrowheads="1"/>
          </p:cNvSpPr>
          <p:nvPr>
            <p:ph type="body" idx="1"/>
          </p:nvPr>
        </p:nvSpPr>
        <p:spPr/>
        <p:txBody>
          <a:bodyPr/>
          <a:lstStyle/>
          <a:p>
            <a:pPr>
              <a:buFontTx/>
              <a:buNone/>
            </a:pPr>
            <a:r>
              <a:rPr lang="en-US" altLang="en-US"/>
              <a:t>Requires a defined Grammar</a:t>
            </a:r>
          </a:p>
          <a:p>
            <a:pPr>
              <a:buFontTx/>
              <a:buNone/>
            </a:pPr>
            <a:r>
              <a:rPr lang="en-US" altLang="en-US"/>
              <a:t>Requires a big dictionary (10K words) </a:t>
            </a:r>
          </a:p>
          <a:p>
            <a:pPr>
              <a:buFontTx/>
              <a:buNone/>
            </a:pPr>
            <a:r>
              <a:rPr lang="en-US" altLang="en-US"/>
              <a:t>Requires that sentences follow the grammar defined</a:t>
            </a:r>
          </a:p>
          <a:p>
            <a:pPr>
              <a:buFontTx/>
              <a:buNone/>
            </a:pPr>
            <a:r>
              <a:rPr lang="en-US" altLang="en-US"/>
              <a:t>Requires ability to deal with words not in dictionary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27933F19-AF1C-4A8B-A2D3-1EFE3D32B6E4}"/>
              </a:ext>
            </a:extLst>
          </p:cNvPr>
          <p:cNvSpPr>
            <a:spLocks noGrp="1" noChangeArrowheads="1"/>
          </p:cNvSpPr>
          <p:nvPr>
            <p:ph type="title"/>
          </p:nvPr>
        </p:nvSpPr>
        <p:spPr/>
        <p:txBody>
          <a:bodyPr/>
          <a:lstStyle/>
          <a:p>
            <a:r>
              <a:rPr lang="en-US" altLang="en-US"/>
              <a:t>Parsing (from Section 22.4)</a:t>
            </a:r>
          </a:p>
        </p:txBody>
      </p:sp>
      <p:sp>
        <p:nvSpPr>
          <p:cNvPr id="56323" name="Rectangle 3">
            <a:extLst>
              <a:ext uri="{FF2B5EF4-FFF2-40B4-BE49-F238E27FC236}">
                <a16:creationId xmlns:a16="http://schemas.microsoft.com/office/drawing/2014/main" id="{B5B53C87-986C-4CAE-B3E8-FBC44BB8BA9F}"/>
              </a:ext>
            </a:extLst>
          </p:cNvPr>
          <p:cNvSpPr>
            <a:spLocks noGrp="1" noChangeArrowheads="1"/>
          </p:cNvSpPr>
          <p:nvPr>
            <p:ph type="body" idx="1"/>
          </p:nvPr>
        </p:nvSpPr>
        <p:spPr/>
        <p:txBody>
          <a:bodyPr/>
          <a:lstStyle/>
          <a:p>
            <a:pPr>
              <a:buFontTx/>
              <a:buNone/>
            </a:pPr>
            <a:r>
              <a:rPr lang="en-US" altLang="en-US" b="1"/>
              <a:t>Goal:</a:t>
            </a:r>
            <a:r>
              <a:rPr lang="en-US" altLang="en-US"/>
              <a:t> </a:t>
            </a:r>
          </a:p>
          <a:p>
            <a:pPr lvl="1">
              <a:buFontTx/>
              <a:buNone/>
            </a:pPr>
            <a:r>
              <a:rPr lang="en-US" altLang="en-US"/>
              <a:t>Understand a single sentence by syntax analysis</a:t>
            </a:r>
          </a:p>
          <a:p>
            <a:pPr>
              <a:buFontTx/>
              <a:buNone/>
            </a:pPr>
            <a:r>
              <a:rPr lang="en-US" altLang="en-US" b="1"/>
              <a:t>Methods </a:t>
            </a:r>
          </a:p>
          <a:p>
            <a:pPr lvl="1"/>
            <a:r>
              <a:rPr lang="en-US" altLang="en-US"/>
              <a:t>Bottom-up</a:t>
            </a:r>
          </a:p>
          <a:p>
            <a:pPr lvl="1"/>
            <a:r>
              <a:rPr lang="en-US" altLang="en-US"/>
              <a:t>Top-down 	</a:t>
            </a:r>
          </a:p>
          <a:p>
            <a:pPr>
              <a:buFontTx/>
              <a:buNone/>
            </a:pPr>
            <a:r>
              <a:rPr lang="en-US" altLang="en-US"/>
              <a:t>More efficient (and complicated) algorithm given in 23.2</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BE997D82-511A-465A-A501-231E9AC79130}"/>
              </a:ext>
            </a:extLst>
          </p:cNvPr>
          <p:cNvSpPr>
            <a:spLocks noGrp="1" noChangeArrowheads="1"/>
          </p:cNvSpPr>
          <p:nvPr>
            <p:ph type="title"/>
          </p:nvPr>
        </p:nvSpPr>
        <p:spPr/>
        <p:txBody>
          <a:bodyPr/>
          <a:lstStyle/>
          <a:p>
            <a:r>
              <a:rPr lang="en-US" altLang="en-US"/>
              <a:t>A Parsing Example</a:t>
            </a:r>
          </a:p>
        </p:txBody>
      </p:sp>
      <p:sp>
        <p:nvSpPr>
          <p:cNvPr id="57347" name="Rectangle 3">
            <a:extLst>
              <a:ext uri="{FF2B5EF4-FFF2-40B4-BE49-F238E27FC236}">
                <a16:creationId xmlns:a16="http://schemas.microsoft.com/office/drawing/2014/main" id="{DD020423-334E-4196-A8B8-12C8C803913E}"/>
              </a:ext>
            </a:extLst>
          </p:cNvPr>
          <p:cNvSpPr>
            <a:spLocks noGrp="1" noChangeArrowheads="1"/>
          </p:cNvSpPr>
          <p:nvPr>
            <p:ph type="body" idx="1"/>
          </p:nvPr>
        </p:nvSpPr>
        <p:spPr>
          <a:xfrm>
            <a:off x="685800" y="1981200"/>
            <a:ext cx="1676400" cy="609600"/>
          </a:xfrm>
        </p:spPr>
        <p:txBody>
          <a:bodyPr/>
          <a:lstStyle/>
          <a:p>
            <a:pPr>
              <a:buFontTx/>
              <a:buNone/>
            </a:pPr>
            <a:r>
              <a:rPr lang="en-US" altLang="en-US"/>
              <a:t>Rules:</a:t>
            </a:r>
          </a:p>
        </p:txBody>
      </p:sp>
      <p:sp>
        <p:nvSpPr>
          <p:cNvPr id="57351" name="Rectangle 7">
            <a:extLst>
              <a:ext uri="{FF2B5EF4-FFF2-40B4-BE49-F238E27FC236}">
                <a16:creationId xmlns:a16="http://schemas.microsoft.com/office/drawing/2014/main" id="{69365937-1385-4485-8F64-35EE04B6BD84}"/>
              </a:ext>
            </a:extLst>
          </p:cNvPr>
          <p:cNvSpPr>
            <a:spLocks noChangeArrowheads="1"/>
          </p:cNvSpPr>
          <p:nvPr/>
        </p:nvSpPr>
        <p:spPr bwMode="auto">
          <a:xfrm>
            <a:off x="457200" y="5105400"/>
            <a:ext cx="76962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fontAlgn="base">
              <a:spcBef>
                <a:spcPct val="20000"/>
              </a:spcBef>
              <a:spcAft>
                <a:spcPct val="0"/>
              </a:spcAft>
              <a:buChar char="»"/>
              <a:defRPr sz="2000">
                <a:solidFill>
                  <a:schemeClr val="tx1"/>
                </a:solidFill>
                <a:latin typeface="Times New Roman" panose="02020603050405020304" pitchFamily="18" charset="0"/>
              </a:defRPr>
            </a:lvl6pPr>
            <a:lvl7pPr marL="2971800" indent="-228600" fontAlgn="base">
              <a:spcBef>
                <a:spcPct val="20000"/>
              </a:spcBef>
              <a:spcAft>
                <a:spcPct val="0"/>
              </a:spcAft>
              <a:buChar char="»"/>
              <a:defRPr sz="2000">
                <a:solidFill>
                  <a:schemeClr val="tx1"/>
                </a:solidFill>
                <a:latin typeface="Times New Roman" panose="02020603050405020304" pitchFamily="18" charset="0"/>
              </a:defRPr>
            </a:lvl7pPr>
            <a:lvl8pPr marL="3429000" indent="-228600" fontAlgn="base">
              <a:spcBef>
                <a:spcPct val="20000"/>
              </a:spcBef>
              <a:spcAft>
                <a:spcPct val="0"/>
              </a:spcAft>
              <a:buChar char="»"/>
              <a:defRPr sz="2000">
                <a:solidFill>
                  <a:schemeClr val="tx1"/>
                </a:solidFill>
                <a:latin typeface="Times New Roman" panose="02020603050405020304" pitchFamily="18" charset="0"/>
              </a:defRPr>
            </a:lvl8pPr>
            <a:lvl9pPr marL="3886200" indent="-228600" fontAlgn="base">
              <a:spcBef>
                <a:spcPct val="20000"/>
              </a:spcBef>
              <a:spcAft>
                <a:spcPct val="0"/>
              </a:spcAft>
              <a:buChar char="»"/>
              <a:defRPr sz="2000">
                <a:solidFill>
                  <a:schemeClr val="tx1"/>
                </a:solidFill>
                <a:latin typeface="Times New Roman" panose="02020603050405020304" pitchFamily="18" charset="0"/>
              </a:defRPr>
            </a:lvl9pPr>
          </a:lstStyle>
          <a:p>
            <a:pPr>
              <a:buFontTx/>
              <a:buNone/>
            </a:pPr>
            <a:r>
              <a:rPr lang="en-US" altLang="en-US"/>
              <a:t>The Sentence:  </a:t>
            </a:r>
            <a:r>
              <a:rPr lang="en-US" altLang="en-US" b="1" u="sng"/>
              <a:t>The boy went home</a:t>
            </a:r>
            <a:r>
              <a:rPr lang="en-US" altLang="en-US"/>
              <a:t>.</a:t>
            </a:r>
          </a:p>
        </p:txBody>
      </p:sp>
      <p:sp>
        <p:nvSpPr>
          <p:cNvPr id="57352" name="Rectangle 8">
            <a:extLst>
              <a:ext uri="{FF2B5EF4-FFF2-40B4-BE49-F238E27FC236}">
                <a16:creationId xmlns:a16="http://schemas.microsoft.com/office/drawing/2014/main" id="{6917CF9C-4F67-4F9E-BB6B-733D64C50EF2}"/>
              </a:ext>
            </a:extLst>
          </p:cNvPr>
          <p:cNvSpPr>
            <a:spLocks noChangeArrowheads="1"/>
          </p:cNvSpPr>
          <p:nvPr/>
        </p:nvSpPr>
        <p:spPr bwMode="auto">
          <a:xfrm>
            <a:off x="3276600" y="1600200"/>
            <a:ext cx="5029200" cy="3200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fontAlgn="base">
              <a:spcBef>
                <a:spcPct val="20000"/>
              </a:spcBef>
              <a:spcAft>
                <a:spcPct val="0"/>
              </a:spcAft>
              <a:buChar char="»"/>
              <a:defRPr sz="2000">
                <a:solidFill>
                  <a:schemeClr val="tx1"/>
                </a:solidFill>
                <a:latin typeface="Times New Roman" panose="02020603050405020304" pitchFamily="18" charset="0"/>
              </a:defRPr>
            </a:lvl6pPr>
            <a:lvl7pPr marL="2971800" indent="-228600" fontAlgn="base">
              <a:spcBef>
                <a:spcPct val="20000"/>
              </a:spcBef>
              <a:spcAft>
                <a:spcPct val="0"/>
              </a:spcAft>
              <a:buChar char="»"/>
              <a:defRPr sz="2000">
                <a:solidFill>
                  <a:schemeClr val="tx1"/>
                </a:solidFill>
                <a:latin typeface="Times New Roman" panose="02020603050405020304" pitchFamily="18" charset="0"/>
              </a:defRPr>
            </a:lvl7pPr>
            <a:lvl8pPr marL="3429000" indent="-228600" fontAlgn="base">
              <a:spcBef>
                <a:spcPct val="20000"/>
              </a:spcBef>
              <a:spcAft>
                <a:spcPct val="0"/>
              </a:spcAft>
              <a:buChar char="»"/>
              <a:defRPr sz="2000">
                <a:solidFill>
                  <a:schemeClr val="tx1"/>
                </a:solidFill>
                <a:latin typeface="Times New Roman" panose="02020603050405020304" pitchFamily="18" charset="0"/>
              </a:defRPr>
            </a:lvl8pPr>
            <a:lvl9pPr marL="3886200" indent="-228600" fontAlgn="base">
              <a:spcBef>
                <a:spcPct val="20000"/>
              </a:spcBef>
              <a:spcAft>
                <a:spcPct val="0"/>
              </a:spcAft>
              <a:buChar char="»"/>
              <a:defRPr sz="2000">
                <a:solidFill>
                  <a:schemeClr val="tx1"/>
                </a:solidFill>
                <a:latin typeface="Times New Roman" panose="02020603050405020304" pitchFamily="18" charset="0"/>
              </a:defRPr>
            </a:lvl9pPr>
          </a:lstStyle>
          <a:p>
            <a:pPr>
              <a:buFontTx/>
              <a:buNone/>
            </a:pPr>
            <a:r>
              <a:rPr lang="en-US" altLang="en-US" sz="2400">
                <a:latin typeface="Courier New" panose="02070309020205020404" pitchFamily="49" charset="0"/>
              </a:rPr>
              <a:t>S </a:t>
            </a:r>
            <a:r>
              <a:rPr lang="en-US" altLang="en-US" sz="2400">
                <a:latin typeface="Courier New" panose="02070309020205020404" pitchFamily="49" charset="0"/>
                <a:sym typeface="Wingdings" panose="05000000000000000000" pitchFamily="2" charset="2"/>
              </a:rPr>
              <a:t> NP VP</a:t>
            </a:r>
          </a:p>
          <a:p>
            <a:pPr>
              <a:buFontTx/>
              <a:buNone/>
            </a:pPr>
            <a:r>
              <a:rPr lang="en-US" altLang="en-US" sz="2400">
                <a:latin typeface="Courier New" panose="02070309020205020404" pitchFamily="49" charset="0"/>
                <a:sym typeface="Wingdings" panose="05000000000000000000" pitchFamily="2" charset="2"/>
              </a:rPr>
              <a:t>NP  Article N | Proper</a:t>
            </a:r>
          </a:p>
          <a:p>
            <a:pPr>
              <a:buFontTx/>
              <a:buNone/>
            </a:pPr>
            <a:r>
              <a:rPr lang="en-US" altLang="en-US" sz="2400">
                <a:latin typeface="Courier New" panose="02070309020205020404" pitchFamily="49" charset="0"/>
                <a:sym typeface="Wingdings" panose="05000000000000000000" pitchFamily="2" charset="2"/>
              </a:rPr>
              <a:t>VP  Verb NP</a:t>
            </a:r>
          </a:p>
          <a:p>
            <a:pPr>
              <a:buFontTx/>
              <a:buNone/>
            </a:pPr>
            <a:r>
              <a:rPr lang="en-US" altLang="en-US" sz="2400">
                <a:latin typeface="Courier New" panose="02070309020205020404" pitchFamily="49" charset="0"/>
                <a:sym typeface="Wingdings" panose="05000000000000000000" pitchFamily="2" charset="2"/>
              </a:rPr>
              <a:t>N  home | boy | store</a:t>
            </a:r>
          </a:p>
          <a:p>
            <a:pPr>
              <a:buFontTx/>
              <a:buNone/>
            </a:pPr>
            <a:r>
              <a:rPr lang="en-US" altLang="en-US" sz="2400">
                <a:latin typeface="Courier New" panose="02070309020205020404" pitchFamily="49" charset="0"/>
                <a:sym typeface="Wingdings" panose="05000000000000000000" pitchFamily="2" charset="2"/>
              </a:rPr>
              <a:t>Proper  Betty | John</a:t>
            </a:r>
          </a:p>
          <a:p>
            <a:pPr>
              <a:buFontTx/>
              <a:buNone/>
            </a:pPr>
            <a:r>
              <a:rPr lang="en-US" altLang="en-US" sz="2400">
                <a:latin typeface="Courier New" panose="02070309020205020404" pitchFamily="49" charset="0"/>
                <a:sym typeface="Wingdings" panose="05000000000000000000" pitchFamily="2" charset="2"/>
              </a:rPr>
              <a:t>Verb  go|give|see</a:t>
            </a:r>
          </a:p>
          <a:p>
            <a:pPr>
              <a:buFontTx/>
              <a:buNone/>
            </a:pPr>
            <a:r>
              <a:rPr lang="en-US" altLang="en-US" sz="2400">
                <a:latin typeface="Courier New" panose="02070309020205020404" pitchFamily="49" charset="0"/>
                <a:sym typeface="Wingdings" panose="05000000000000000000" pitchFamily="2" charset="2"/>
              </a:rPr>
              <a:t>Article  the | an | a</a:t>
            </a:r>
            <a:endParaRPr lang="en-US" altLang="en-US" sz="2400">
              <a:latin typeface="Courier New" panose="02070309020205020404" pitchFamily="49"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1416B730-B19A-4616-8850-641A2F60C345}"/>
              </a:ext>
            </a:extLst>
          </p:cNvPr>
          <p:cNvSpPr>
            <a:spLocks noGrp="1" noChangeArrowheads="1"/>
          </p:cNvSpPr>
          <p:nvPr>
            <p:ph type="title"/>
          </p:nvPr>
        </p:nvSpPr>
        <p:spPr/>
        <p:txBody>
          <a:bodyPr/>
          <a:lstStyle/>
          <a:p>
            <a:r>
              <a:rPr lang="en-US" altLang="en-US"/>
              <a:t>A Parsing Example: The answer</a:t>
            </a:r>
          </a:p>
        </p:txBody>
      </p:sp>
      <p:pic>
        <p:nvPicPr>
          <p:cNvPr id="58373" name="Picture 5">
            <a:extLst>
              <a:ext uri="{FF2B5EF4-FFF2-40B4-BE49-F238E27FC236}">
                <a16:creationId xmlns:a16="http://schemas.microsoft.com/office/drawing/2014/main" id="{D11D3833-019B-4BC3-9FA9-46493967E7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3016250"/>
            <a:ext cx="3505200" cy="26828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8143561-1C20-4E30-9512-34CDD5546B64}"/>
              </a:ext>
            </a:extLst>
          </p:cNvPr>
          <p:cNvSpPr>
            <a:spLocks noGrp="1" noChangeArrowheads="1"/>
          </p:cNvSpPr>
          <p:nvPr>
            <p:ph type="title"/>
          </p:nvPr>
        </p:nvSpPr>
        <p:spPr/>
        <p:txBody>
          <a:bodyPr/>
          <a:lstStyle/>
          <a:p>
            <a:r>
              <a:rPr lang="en-US" altLang="en-US"/>
              <a:t>Lexicons</a:t>
            </a:r>
          </a:p>
        </p:txBody>
      </p:sp>
      <p:sp>
        <p:nvSpPr>
          <p:cNvPr id="20483" name="Rectangle 3">
            <a:extLst>
              <a:ext uri="{FF2B5EF4-FFF2-40B4-BE49-F238E27FC236}">
                <a16:creationId xmlns:a16="http://schemas.microsoft.com/office/drawing/2014/main" id="{4C38C389-7A87-4814-86BF-B0964FB03B95}"/>
              </a:ext>
            </a:extLst>
          </p:cNvPr>
          <p:cNvSpPr>
            <a:spLocks noGrp="1" noChangeArrowheads="1"/>
          </p:cNvSpPr>
          <p:nvPr>
            <p:ph type="body" idx="1"/>
          </p:nvPr>
        </p:nvSpPr>
        <p:spPr/>
        <p:txBody>
          <a:bodyPr/>
          <a:lstStyle/>
          <a:p>
            <a:pPr marL="609600" indent="-609600">
              <a:buFontTx/>
              <a:buNone/>
            </a:pPr>
            <a:r>
              <a:rPr lang="en-US" altLang="en-US"/>
              <a:t>The current trend in parsing</a:t>
            </a:r>
          </a:p>
          <a:p>
            <a:pPr marL="609600" indent="-609600">
              <a:buFontTx/>
              <a:buNone/>
            </a:pPr>
            <a:r>
              <a:rPr lang="en-US" altLang="en-US" b="1"/>
              <a:t>Goal</a:t>
            </a:r>
            <a:r>
              <a:rPr lang="en-US" altLang="en-US"/>
              <a:t>: figure out this word </a:t>
            </a:r>
          </a:p>
          <a:p>
            <a:pPr marL="609600" indent="-609600">
              <a:buFontTx/>
              <a:buNone/>
            </a:pPr>
            <a:r>
              <a:rPr lang="en-US" altLang="en-US" b="1"/>
              <a:t>Method</a:t>
            </a:r>
            <a:r>
              <a:rPr lang="en-US" altLang="en-US"/>
              <a:t>:  </a:t>
            </a:r>
          </a:p>
          <a:p>
            <a:pPr marL="990600" lvl="1" indent="-533400">
              <a:buFontTx/>
              <a:buAutoNum type="arabicPeriod"/>
            </a:pPr>
            <a:r>
              <a:rPr lang="en-US" altLang="en-US"/>
              <a:t>Tokenize with morphological analysis</a:t>
            </a:r>
          </a:p>
          <a:p>
            <a:pPr marL="1752600" lvl="3" indent="-381000">
              <a:buFontTx/>
              <a:buNone/>
            </a:pPr>
            <a:r>
              <a:rPr lang="en-US" altLang="en-US"/>
              <a:t>Inflectional, derivational, compound</a:t>
            </a:r>
          </a:p>
          <a:p>
            <a:pPr marL="990600" lvl="1" indent="-533400">
              <a:buFontTx/>
              <a:buAutoNum type="arabicPeriod"/>
            </a:pPr>
            <a:r>
              <a:rPr lang="en-US" altLang="en-US"/>
              <a:t>Dictionary lookup on each token</a:t>
            </a:r>
          </a:p>
          <a:p>
            <a:pPr marL="990600" lvl="1" indent="-533400">
              <a:buFontTx/>
              <a:buAutoNum type="arabicPeriod"/>
            </a:pPr>
            <a:r>
              <a:rPr lang="en-US" altLang="en-US"/>
              <a:t>Error recovery (spelling correction, domain-dependent cues)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C5EF63C9-AF88-437C-B902-93671225307E}"/>
              </a:ext>
            </a:extLst>
          </p:cNvPr>
          <p:cNvSpPr>
            <a:spLocks noGrp="1" noChangeArrowheads="1"/>
          </p:cNvSpPr>
          <p:nvPr>
            <p:ph type="title"/>
          </p:nvPr>
        </p:nvSpPr>
        <p:spPr/>
        <p:txBody>
          <a:bodyPr/>
          <a:lstStyle/>
          <a:p>
            <a:r>
              <a:rPr lang="en-US" altLang="en-US"/>
              <a:t>Lexicons in Practice</a:t>
            </a:r>
          </a:p>
        </p:txBody>
      </p:sp>
      <p:sp>
        <p:nvSpPr>
          <p:cNvPr id="61443" name="Rectangle 3">
            <a:extLst>
              <a:ext uri="{FF2B5EF4-FFF2-40B4-BE49-F238E27FC236}">
                <a16:creationId xmlns:a16="http://schemas.microsoft.com/office/drawing/2014/main" id="{F6B5C444-19AA-4003-85A0-F157A4C7F450}"/>
              </a:ext>
            </a:extLst>
          </p:cNvPr>
          <p:cNvSpPr>
            <a:spLocks noGrp="1" noChangeArrowheads="1"/>
          </p:cNvSpPr>
          <p:nvPr>
            <p:ph type="body" idx="1"/>
          </p:nvPr>
        </p:nvSpPr>
        <p:spPr/>
        <p:txBody>
          <a:bodyPr/>
          <a:lstStyle/>
          <a:p>
            <a:pPr>
              <a:buFontTx/>
              <a:buNone/>
            </a:pPr>
            <a:r>
              <a:rPr lang="en-US" altLang="en-US"/>
              <a:t>10,000 – 100,000 root word forms</a:t>
            </a:r>
          </a:p>
          <a:p>
            <a:pPr>
              <a:buFontTx/>
              <a:buNone/>
            </a:pPr>
            <a:endParaRPr lang="en-US" altLang="en-US"/>
          </a:p>
          <a:p>
            <a:pPr>
              <a:buFontTx/>
              <a:buNone/>
            </a:pPr>
            <a:r>
              <a:rPr lang="en-US" altLang="en-US"/>
              <a:t>Expensive to develop, not readily shared</a:t>
            </a:r>
          </a:p>
          <a:p>
            <a:pPr>
              <a:buFontTx/>
              <a:buNone/>
            </a:pPr>
            <a:endParaRPr lang="en-US" altLang="en-US"/>
          </a:p>
          <a:p>
            <a:pPr>
              <a:buFontTx/>
              <a:buNone/>
            </a:pPr>
            <a:r>
              <a:rPr lang="en-US" altLang="en-US"/>
              <a:t>Wordnet (George Miller,  Princeton)</a:t>
            </a:r>
          </a:p>
          <a:p>
            <a:pPr>
              <a:buFontTx/>
              <a:buNone/>
            </a:pPr>
            <a:r>
              <a:rPr lang="en-US" altLang="en-US"/>
              <a:t>	</a:t>
            </a:r>
            <a:r>
              <a:rPr lang="en-US" altLang="en-US">
                <a:latin typeface="Courier New" panose="02070309020205020404" pitchFamily="49" charset="0"/>
              </a:rPr>
              <a:t>clarity.princeton.edu</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48733849-4C53-4932-8DDC-D5DDE2D0FECA}"/>
              </a:ext>
            </a:extLst>
          </p:cNvPr>
          <p:cNvSpPr>
            <a:spLocks noGrp="1" noChangeArrowheads="1"/>
          </p:cNvSpPr>
          <p:nvPr>
            <p:ph type="title"/>
          </p:nvPr>
        </p:nvSpPr>
        <p:spPr/>
        <p:txBody>
          <a:bodyPr/>
          <a:lstStyle/>
          <a:p>
            <a:r>
              <a:rPr lang="en-US" altLang="en-US"/>
              <a:t>Ambiguity</a:t>
            </a:r>
          </a:p>
        </p:txBody>
      </p:sp>
      <p:sp>
        <p:nvSpPr>
          <p:cNvPr id="59395" name="Rectangle 3">
            <a:extLst>
              <a:ext uri="{FF2B5EF4-FFF2-40B4-BE49-F238E27FC236}">
                <a16:creationId xmlns:a16="http://schemas.microsoft.com/office/drawing/2014/main" id="{1223BD10-0534-49B9-8201-891C7AE1A582}"/>
              </a:ext>
            </a:extLst>
          </p:cNvPr>
          <p:cNvSpPr>
            <a:spLocks noGrp="1" noChangeArrowheads="1"/>
          </p:cNvSpPr>
          <p:nvPr>
            <p:ph type="body" idx="1"/>
          </p:nvPr>
        </p:nvSpPr>
        <p:spPr/>
        <p:txBody>
          <a:bodyPr/>
          <a:lstStyle/>
          <a:p>
            <a:pPr>
              <a:lnSpc>
                <a:spcPct val="90000"/>
              </a:lnSpc>
              <a:buFontTx/>
              <a:buNone/>
            </a:pPr>
            <a:r>
              <a:rPr lang="en-US" altLang="en-US" sz="2800"/>
              <a:t>More extensive Language </a:t>
            </a:r>
            <a:r>
              <a:rPr lang="en-US" altLang="en-US" sz="2800">
                <a:sym typeface="Wingdings" panose="05000000000000000000" pitchFamily="2" charset="2"/>
              </a:rPr>
              <a:t> more Ambiguity</a:t>
            </a:r>
          </a:p>
          <a:p>
            <a:pPr>
              <a:lnSpc>
                <a:spcPct val="90000"/>
              </a:lnSpc>
              <a:buFontTx/>
              <a:buNone/>
            </a:pPr>
            <a:endParaRPr lang="en-US" altLang="en-US" sz="2800">
              <a:sym typeface="Wingdings" panose="05000000000000000000" pitchFamily="2" charset="2"/>
            </a:endParaRPr>
          </a:p>
          <a:p>
            <a:pPr>
              <a:lnSpc>
                <a:spcPct val="90000"/>
              </a:lnSpc>
              <a:buFontTx/>
              <a:buNone/>
            </a:pPr>
            <a:r>
              <a:rPr lang="en-US" altLang="en-US" sz="2800">
                <a:sym typeface="Wingdings" panose="05000000000000000000" pitchFamily="2" charset="2"/>
              </a:rPr>
              <a:t>Disambiguation: </a:t>
            </a:r>
          </a:p>
          <a:p>
            <a:pPr lvl="1">
              <a:lnSpc>
                <a:spcPct val="90000"/>
              </a:lnSpc>
              <a:buFontTx/>
              <a:buNone/>
            </a:pPr>
            <a:r>
              <a:rPr lang="en-US" altLang="en-US" sz="2400">
                <a:sym typeface="Wingdings" panose="05000000000000000000" pitchFamily="2" charset="2"/>
              </a:rPr>
              <a:t>task of finding correct interpretation</a:t>
            </a:r>
          </a:p>
          <a:p>
            <a:pPr>
              <a:lnSpc>
                <a:spcPct val="90000"/>
              </a:lnSpc>
              <a:buFontTx/>
              <a:buNone/>
            </a:pPr>
            <a:r>
              <a:rPr lang="en-US" altLang="en-US" sz="2800">
                <a:sym typeface="Wingdings" panose="05000000000000000000" pitchFamily="2" charset="2"/>
              </a:rPr>
              <a:t>Evidence: </a:t>
            </a:r>
          </a:p>
          <a:p>
            <a:pPr lvl="2">
              <a:lnSpc>
                <a:spcPct val="90000"/>
              </a:lnSpc>
            </a:pPr>
            <a:r>
              <a:rPr lang="en-US" altLang="en-US" sz="2000">
                <a:sym typeface="Wingdings" panose="05000000000000000000" pitchFamily="2" charset="2"/>
              </a:rPr>
              <a:t>Syntactic </a:t>
            </a:r>
          </a:p>
          <a:p>
            <a:pPr lvl="2">
              <a:lnSpc>
                <a:spcPct val="90000"/>
              </a:lnSpc>
            </a:pPr>
            <a:r>
              <a:rPr lang="en-US" altLang="en-US" sz="2000">
                <a:sym typeface="Wingdings" panose="05000000000000000000" pitchFamily="2" charset="2"/>
              </a:rPr>
              <a:t>Lexical</a:t>
            </a:r>
          </a:p>
          <a:p>
            <a:pPr lvl="2">
              <a:lnSpc>
                <a:spcPct val="90000"/>
              </a:lnSpc>
            </a:pPr>
            <a:r>
              <a:rPr lang="en-US" altLang="en-US" sz="2000">
                <a:sym typeface="Wingdings" panose="05000000000000000000" pitchFamily="2" charset="2"/>
              </a:rPr>
              <a:t>Semantic </a:t>
            </a:r>
          </a:p>
          <a:p>
            <a:pPr lvl="2">
              <a:lnSpc>
                <a:spcPct val="90000"/>
              </a:lnSpc>
            </a:pPr>
            <a:r>
              <a:rPr lang="en-US" altLang="en-US" sz="2000">
                <a:sym typeface="Wingdings" panose="05000000000000000000" pitchFamily="2" charset="2"/>
              </a:rPr>
              <a:t>Metonymy</a:t>
            </a:r>
          </a:p>
          <a:p>
            <a:pPr lvl="2">
              <a:lnSpc>
                <a:spcPct val="90000"/>
              </a:lnSpc>
            </a:pPr>
            <a:r>
              <a:rPr lang="en-US" altLang="en-US" sz="2000">
                <a:sym typeface="Wingdings" panose="05000000000000000000" pitchFamily="2" charset="2"/>
              </a:rPr>
              <a:t>Metaphor</a:t>
            </a:r>
            <a:endParaRPr lang="en-US" altLang="en-US" sz="2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02FFB3B4-3029-4DCC-8B4A-B8EA9E00240D}"/>
              </a:ext>
            </a:extLst>
          </p:cNvPr>
          <p:cNvSpPr>
            <a:spLocks noGrp="1" noChangeArrowheads="1"/>
          </p:cNvSpPr>
          <p:nvPr>
            <p:ph type="title"/>
          </p:nvPr>
        </p:nvSpPr>
        <p:spPr/>
        <p:txBody>
          <a:bodyPr/>
          <a:lstStyle/>
          <a:p>
            <a:r>
              <a:rPr lang="en-US" altLang="en-US"/>
              <a:t>Disambiguation Tools</a:t>
            </a:r>
          </a:p>
        </p:txBody>
      </p:sp>
      <p:sp>
        <p:nvSpPr>
          <p:cNvPr id="23555" name="Rectangle 3">
            <a:extLst>
              <a:ext uri="{FF2B5EF4-FFF2-40B4-BE49-F238E27FC236}">
                <a16:creationId xmlns:a16="http://schemas.microsoft.com/office/drawing/2014/main" id="{B9B3FC14-D8D3-4B4A-BC76-47C0574DD562}"/>
              </a:ext>
            </a:extLst>
          </p:cNvPr>
          <p:cNvSpPr>
            <a:spLocks noGrp="1" noChangeArrowheads="1"/>
          </p:cNvSpPr>
          <p:nvPr>
            <p:ph type="body" idx="1"/>
          </p:nvPr>
        </p:nvSpPr>
        <p:spPr/>
        <p:txBody>
          <a:bodyPr/>
          <a:lstStyle/>
          <a:p>
            <a:pPr>
              <a:lnSpc>
                <a:spcPct val="90000"/>
              </a:lnSpc>
              <a:buFontTx/>
              <a:buNone/>
            </a:pPr>
            <a:r>
              <a:rPr lang="en-US" altLang="en-US"/>
              <a:t>Syntax</a:t>
            </a:r>
          </a:p>
          <a:p>
            <a:pPr>
              <a:lnSpc>
                <a:spcPct val="90000"/>
              </a:lnSpc>
              <a:buFontTx/>
              <a:buNone/>
            </a:pPr>
            <a:r>
              <a:rPr lang="en-US" altLang="en-US"/>
              <a:t>	modifiers (prepositions, adverbs) usually attach to nearest possible place</a:t>
            </a:r>
          </a:p>
          <a:p>
            <a:pPr>
              <a:lnSpc>
                <a:spcPct val="90000"/>
              </a:lnSpc>
              <a:buFontTx/>
              <a:buNone/>
            </a:pPr>
            <a:r>
              <a:rPr lang="en-US" altLang="en-US"/>
              <a:t>Lexical</a:t>
            </a:r>
          </a:p>
          <a:p>
            <a:pPr>
              <a:lnSpc>
                <a:spcPct val="90000"/>
              </a:lnSpc>
              <a:buFontTx/>
              <a:buNone/>
            </a:pPr>
            <a:r>
              <a:rPr lang="en-US" altLang="en-US"/>
              <a:t>	probability of a word having a particular meaning, or being used in a particular way</a:t>
            </a:r>
          </a:p>
          <a:p>
            <a:pPr>
              <a:lnSpc>
                <a:spcPct val="90000"/>
              </a:lnSpc>
              <a:buFontTx/>
              <a:buNone/>
            </a:pPr>
            <a:r>
              <a:rPr lang="en-US" altLang="en-US"/>
              <a:t>Semantic</a:t>
            </a:r>
          </a:p>
          <a:p>
            <a:pPr>
              <a:lnSpc>
                <a:spcPct val="90000"/>
              </a:lnSpc>
              <a:buFontTx/>
              <a:buNone/>
            </a:pPr>
            <a:r>
              <a:rPr lang="en-US" altLang="en-US"/>
              <a:t>	determine most likely meaning from context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BD7E12EA-B055-4D99-AA8B-1E36D113C8DE}"/>
              </a:ext>
            </a:extLst>
          </p:cNvPr>
          <p:cNvSpPr>
            <a:spLocks noGrp="1" noChangeArrowheads="1"/>
          </p:cNvSpPr>
          <p:nvPr>
            <p:ph type="title"/>
          </p:nvPr>
        </p:nvSpPr>
        <p:spPr/>
        <p:txBody>
          <a:bodyPr/>
          <a:lstStyle/>
          <a:p>
            <a:r>
              <a:rPr lang="en-US" altLang="en-US"/>
              <a:t>Semantic Disambiguation Example: “with”</a:t>
            </a:r>
          </a:p>
        </p:txBody>
      </p:sp>
      <p:sp>
        <p:nvSpPr>
          <p:cNvPr id="63491" name="Rectangle 3">
            <a:extLst>
              <a:ext uri="{FF2B5EF4-FFF2-40B4-BE49-F238E27FC236}">
                <a16:creationId xmlns:a16="http://schemas.microsoft.com/office/drawing/2014/main" id="{A75A94D7-055B-4F98-8E82-60ED4C7BA965}"/>
              </a:ext>
            </a:extLst>
          </p:cNvPr>
          <p:cNvSpPr>
            <a:spLocks noGrp="1" noChangeArrowheads="1"/>
          </p:cNvSpPr>
          <p:nvPr>
            <p:ph type="body" idx="1"/>
          </p:nvPr>
        </p:nvSpPr>
        <p:spPr/>
        <p:txBody>
          <a:bodyPr/>
          <a:lstStyle/>
          <a:p>
            <a:pPr>
              <a:buFontTx/>
              <a:buNone/>
            </a:pPr>
            <a:r>
              <a:rPr lang="en-US" altLang="en-US" b="1" u="sng"/>
              <a:t>Sentence				Relation</a:t>
            </a:r>
          </a:p>
          <a:p>
            <a:pPr>
              <a:buFontTx/>
              <a:buNone/>
            </a:pPr>
            <a:r>
              <a:rPr lang="en-US" altLang="en-US" sz="2400"/>
              <a:t>I ate spaghetti with meatballs.		(ingredient of spaghetti)</a:t>
            </a:r>
          </a:p>
          <a:p>
            <a:pPr>
              <a:buFontTx/>
              <a:buNone/>
            </a:pPr>
            <a:r>
              <a:rPr lang="en-US" altLang="en-US" sz="2400"/>
              <a:t>I ate spaghetti with salad.		(side dish of spaghetti)</a:t>
            </a:r>
          </a:p>
          <a:p>
            <a:pPr>
              <a:buFontTx/>
              <a:buNone/>
            </a:pPr>
            <a:r>
              <a:rPr lang="en-US" altLang="en-US" sz="2400"/>
              <a:t>I ate spaghetti with abandon. 		(manner of eating)</a:t>
            </a:r>
          </a:p>
          <a:p>
            <a:pPr>
              <a:buFontTx/>
              <a:buNone/>
            </a:pPr>
            <a:r>
              <a:rPr lang="en-US" altLang="en-US" sz="2400"/>
              <a:t>I ate spaghetti with a fork.		(instrument of eating)</a:t>
            </a:r>
          </a:p>
          <a:p>
            <a:pPr>
              <a:buFontTx/>
              <a:buNone/>
            </a:pPr>
            <a:r>
              <a:rPr lang="en-US" altLang="en-US" sz="2400"/>
              <a:t>I ate spaghetti with a friend.		(accompanier of eating)</a:t>
            </a:r>
          </a:p>
          <a:p>
            <a:pPr>
              <a:buFontTx/>
              <a:buNone/>
            </a:pPr>
            <a:endParaRPr lang="en-US" altLang="en-US" sz="2400"/>
          </a:p>
          <a:p>
            <a:pPr>
              <a:buFontTx/>
              <a:buNone/>
            </a:pPr>
            <a:r>
              <a:rPr lang="en-US" altLang="en-US"/>
              <a:t>Disambiguation is probabilistic!</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BC7AA655-FE94-4697-AC3C-A219C148AE13}"/>
              </a:ext>
            </a:extLst>
          </p:cNvPr>
          <p:cNvSpPr>
            <a:spLocks noGrp="1" noChangeArrowheads="1"/>
          </p:cNvSpPr>
          <p:nvPr>
            <p:ph type="title"/>
          </p:nvPr>
        </p:nvSpPr>
        <p:spPr/>
        <p:txBody>
          <a:bodyPr/>
          <a:lstStyle/>
          <a:p>
            <a:r>
              <a:rPr lang="en-US" altLang="en-US"/>
              <a:t>More Disambiguation Tools</a:t>
            </a:r>
          </a:p>
        </p:txBody>
      </p:sp>
      <p:sp>
        <p:nvSpPr>
          <p:cNvPr id="24579" name="Rectangle 3">
            <a:extLst>
              <a:ext uri="{FF2B5EF4-FFF2-40B4-BE49-F238E27FC236}">
                <a16:creationId xmlns:a16="http://schemas.microsoft.com/office/drawing/2014/main" id="{28307233-919D-4DCE-81B6-1376C9E4C404}"/>
              </a:ext>
            </a:extLst>
          </p:cNvPr>
          <p:cNvSpPr>
            <a:spLocks noGrp="1" noChangeArrowheads="1"/>
          </p:cNvSpPr>
          <p:nvPr>
            <p:ph type="body" idx="1"/>
          </p:nvPr>
        </p:nvSpPr>
        <p:spPr/>
        <p:txBody>
          <a:bodyPr/>
          <a:lstStyle/>
          <a:p>
            <a:pPr>
              <a:buFontTx/>
              <a:buNone/>
            </a:pPr>
            <a:r>
              <a:rPr lang="en-US" altLang="en-US"/>
              <a:t>Metonymy</a:t>
            </a:r>
          </a:p>
          <a:p>
            <a:pPr>
              <a:buFontTx/>
              <a:buNone/>
            </a:pPr>
            <a:r>
              <a:rPr lang="en-US" altLang="en-US"/>
              <a:t>	“Chrysler announced” doesn’t mean companies can talk.</a:t>
            </a:r>
          </a:p>
          <a:p>
            <a:pPr>
              <a:buFontTx/>
              <a:buNone/>
            </a:pPr>
            <a:r>
              <a:rPr lang="en-US" altLang="en-US"/>
              <a:t>Metaphor</a:t>
            </a:r>
          </a:p>
          <a:p>
            <a:pPr>
              <a:buFontTx/>
              <a:buNone/>
            </a:pPr>
            <a:r>
              <a:rPr lang="en-US" altLang="en-US"/>
              <a:t>	</a:t>
            </a:r>
            <a:r>
              <a:rPr lang="en-US" altLang="en-US" i="1"/>
              <a:t>more is up</a:t>
            </a:r>
            <a:r>
              <a:rPr lang="en-US" altLang="en-US"/>
              <a:t>: confidence has fallen, prices have sky-rocketed.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A0413D3C-5312-40E6-B48B-2FF3C3E044CB}"/>
              </a:ext>
            </a:extLst>
          </p:cNvPr>
          <p:cNvSpPr>
            <a:spLocks noGrp="1" noChangeArrowheads="1"/>
          </p:cNvSpPr>
          <p:nvPr>
            <p:ph type="title"/>
          </p:nvPr>
        </p:nvSpPr>
        <p:spPr/>
        <p:txBody>
          <a:bodyPr/>
          <a:lstStyle/>
          <a:p>
            <a:r>
              <a:rPr lang="en-US" altLang="en-US"/>
              <a:t>Beyond Sentences: </a:t>
            </a:r>
            <a:br>
              <a:rPr lang="en-US" altLang="en-US"/>
            </a:br>
            <a:r>
              <a:rPr lang="en-US" altLang="en-US"/>
              <a:t>Discourse understanding</a:t>
            </a:r>
          </a:p>
        </p:txBody>
      </p:sp>
      <p:sp>
        <p:nvSpPr>
          <p:cNvPr id="25603" name="Rectangle 3">
            <a:extLst>
              <a:ext uri="{FF2B5EF4-FFF2-40B4-BE49-F238E27FC236}">
                <a16:creationId xmlns:a16="http://schemas.microsoft.com/office/drawing/2014/main" id="{7EB034BB-BAC7-43C9-8A5D-1CE4973BB0D0}"/>
              </a:ext>
            </a:extLst>
          </p:cNvPr>
          <p:cNvSpPr>
            <a:spLocks noGrp="1" noChangeArrowheads="1"/>
          </p:cNvSpPr>
          <p:nvPr>
            <p:ph type="body" idx="1"/>
          </p:nvPr>
        </p:nvSpPr>
        <p:spPr/>
        <p:txBody>
          <a:bodyPr/>
          <a:lstStyle/>
          <a:p>
            <a:pPr>
              <a:buFontTx/>
              <a:buNone/>
            </a:pPr>
            <a:r>
              <a:rPr lang="en-US" altLang="en-US"/>
              <a:t>Sentences are nice but…</a:t>
            </a:r>
          </a:p>
          <a:p>
            <a:pPr>
              <a:buFontTx/>
              <a:buNone/>
            </a:pPr>
            <a:r>
              <a:rPr lang="en-US" altLang="en-US"/>
              <a:t>	</a:t>
            </a:r>
          </a:p>
          <a:p>
            <a:pPr lvl="1">
              <a:buFontTx/>
              <a:buNone/>
            </a:pPr>
            <a:r>
              <a:rPr lang="en-US" altLang="en-US"/>
              <a:t>Most communication takes place in the form of multiple sentences (discourses)</a:t>
            </a:r>
          </a:p>
          <a:p>
            <a:pPr>
              <a:buFontTx/>
              <a:buNone/>
            </a:pPr>
            <a:endParaRPr lang="en-US" altLang="en-US"/>
          </a:p>
          <a:p>
            <a:pPr lvl="1">
              <a:buFontTx/>
              <a:buNone/>
            </a:pPr>
            <a:r>
              <a:rPr lang="en-US" altLang="en-US"/>
              <a:t>There’s lots more to the world than parsing and grammar!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FD43DFFA-A904-48CF-8641-AD501FB97395}"/>
              </a:ext>
            </a:extLst>
          </p:cNvPr>
          <p:cNvSpPr>
            <a:spLocks noGrp="1" noChangeArrowheads="1"/>
          </p:cNvSpPr>
          <p:nvPr>
            <p:ph type="title"/>
          </p:nvPr>
        </p:nvSpPr>
        <p:spPr/>
        <p:txBody>
          <a:bodyPr/>
          <a:lstStyle/>
          <a:p>
            <a:r>
              <a:rPr lang="en-US" altLang="en-US"/>
              <a:t>Discourse Understanding: Goals</a:t>
            </a:r>
          </a:p>
        </p:txBody>
      </p:sp>
      <p:sp>
        <p:nvSpPr>
          <p:cNvPr id="26627" name="Rectangle 3">
            <a:extLst>
              <a:ext uri="{FF2B5EF4-FFF2-40B4-BE49-F238E27FC236}">
                <a16:creationId xmlns:a16="http://schemas.microsoft.com/office/drawing/2014/main" id="{31CF09DE-F264-4579-AE2D-88D222919B1B}"/>
              </a:ext>
            </a:extLst>
          </p:cNvPr>
          <p:cNvSpPr>
            <a:spLocks noGrp="1" noChangeArrowheads="1"/>
          </p:cNvSpPr>
          <p:nvPr>
            <p:ph type="body" idx="1"/>
          </p:nvPr>
        </p:nvSpPr>
        <p:spPr/>
        <p:txBody>
          <a:bodyPr/>
          <a:lstStyle/>
          <a:p>
            <a:pPr>
              <a:buFontTx/>
              <a:buNone/>
            </a:pPr>
            <a:r>
              <a:rPr lang="en-US" altLang="en-US"/>
              <a:t>Correctly interpret sequences of sentences</a:t>
            </a:r>
          </a:p>
          <a:p>
            <a:pPr>
              <a:buFontTx/>
              <a:buNone/>
            </a:pPr>
            <a:endParaRPr lang="en-US" altLang="en-US"/>
          </a:p>
          <a:p>
            <a:pPr>
              <a:buFontTx/>
              <a:buNone/>
            </a:pPr>
            <a:r>
              <a:rPr lang="en-US" altLang="en-US"/>
              <a:t>Increase knowledge about world from discourse (learn)</a:t>
            </a:r>
          </a:p>
          <a:p>
            <a:pPr lvl="1"/>
            <a:r>
              <a:rPr lang="en-US" altLang="en-US"/>
              <a:t>Dependent on facts as well as new knowledge gained from discourse.</a:t>
            </a:r>
          </a:p>
          <a:p>
            <a:pPr>
              <a:buFontTx/>
              <a:buNone/>
            </a:pPr>
            <a:endParaRPr lang="en-US"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9D45FE71-55CD-49A5-BFF0-8875E00ADA50}"/>
              </a:ext>
            </a:extLst>
          </p:cNvPr>
          <p:cNvSpPr>
            <a:spLocks noGrp="1" noChangeArrowheads="1"/>
          </p:cNvSpPr>
          <p:nvPr>
            <p:ph type="title"/>
          </p:nvPr>
        </p:nvSpPr>
        <p:spPr/>
        <p:txBody>
          <a:bodyPr/>
          <a:lstStyle/>
          <a:p>
            <a:r>
              <a:rPr lang="en-US" altLang="en-US"/>
              <a:t>Discourse Understanding: </a:t>
            </a:r>
            <a:br>
              <a:rPr lang="en-US" altLang="en-US"/>
            </a:br>
            <a:r>
              <a:rPr lang="en-US" altLang="en-US"/>
              <a:t>an example</a:t>
            </a:r>
          </a:p>
        </p:txBody>
      </p:sp>
      <p:sp>
        <p:nvSpPr>
          <p:cNvPr id="28675" name="Rectangle 3">
            <a:extLst>
              <a:ext uri="{FF2B5EF4-FFF2-40B4-BE49-F238E27FC236}">
                <a16:creationId xmlns:a16="http://schemas.microsoft.com/office/drawing/2014/main" id="{140C202C-A31E-4760-87DD-7F39371EA936}"/>
              </a:ext>
            </a:extLst>
          </p:cNvPr>
          <p:cNvSpPr>
            <a:spLocks noGrp="1" noChangeArrowheads="1"/>
          </p:cNvSpPr>
          <p:nvPr>
            <p:ph type="body" idx="1"/>
          </p:nvPr>
        </p:nvSpPr>
        <p:spPr/>
        <p:txBody>
          <a:bodyPr/>
          <a:lstStyle/>
          <a:p>
            <a:pPr>
              <a:lnSpc>
                <a:spcPct val="90000"/>
              </a:lnSpc>
              <a:buFontTx/>
              <a:buNone/>
            </a:pPr>
            <a:r>
              <a:rPr lang="en-US" altLang="en-US"/>
              <a:t>John went to a fancy restaurant.</a:t>
            </a:r>
          </a:p>
          <a:p>
            <a:pPr>
              <a:lnSpc>
                <a:spcPct val="90000"/>
              </a:lnSpc>
              <a:buFontTx/>
              <a:buNone/>
            </a:pPr>
            <a:r>
              <a:rPr lang="en-US" altLang="en-US"/>
              <a:t>He was pleased and gave the waiter a big tip.</a:t>
            </a:r>
          </a:p>
          <a:p>
            <a:pPr>
              <a:lnSpc>
                <a:spcPct val="90000"/>
              </a:lnSpc>
              <a:buFontTx/>
              <a:buNone/>
            </a:pPr>
            <a:r>
              <a:rPr lang="en-US" altLang="en-US"/>
              <a:t>He spent $50.</a:t>
            </a:r>
          </a:p>
          <a:p>
            <a:pPr>
              <a:lnSpc>
                <a:spcPct val="90000"/>
              </a:lnSpc>
              <a:buFontTx/>
              <a:buNone/>
            </a:pPr>
            <a:endParaRPr lang="en-US" altLang="en-US"/>
          </a:p>
          <a:p>
            <a:pPr>
              <a:lnSpc>
                <a:spcPct val="90000"/>
              </a:lnSpc>
              <a:buFontTx/>
              <a:buNone/>
            </a:pPr>
            <a:r>
              <a:rPr lang="en-US" altLang="en-US"/>
              <a:t>What is a proper understanding of this discourse?</a:t>
            </a:r>
          </a:p>
          <a:p>
            <a:pPr>
              <a:lnSpc>
                <a:spcPct val="90000"/>
              </a:lnSpc>
              <a:buFontTx/>
              <a:buNone/>
            </a:pPr>
            <a:r>
              <a:rPr lang="en-US" altLang="en-US"/>
              <a:t>What is needed to have a proper understanding of this discourse?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F47FA503-3A33-403C-B0F9-DCA7A33137FF}"/>
              </a:ext>
            </a:extLst>
          </p:cNvPr>
          <p:cNvSpPr>
            <a:spLocks noGrp="1" noChangeArrowheads="1"/>
          </p:cNvSpPr>
          <p:nvPr>
            <p:ph type="title"/>
          </p:nvPr>
        </p:nvSpPr>
        <p:spPr/>
        <p:txBody>
          <a:bodyPr/>
          <a:lstStyle/>
          <a:p>
            <a:r>
              <a:rPr lang="en-US" altLang="en-US"/>
              <a:t>General world knowledge</a:t>
            </a:r>
          </a:p>
        </p:txBody>
      </p:sp>
      <p:sp>
        <p:nvSpPr>
          <p:cNvPr id="68611" name="Rectangle 3">
            <a:extLst>
              <a:ext uri="{FF2B5EF4-FFF2-40B4-BE49-F238E27FC236}">
                <a16:creationId xmlns:a16="http://schemas.microsoft.com/office/drawing/2014/main" id="{FF1ECE76-6D54-4289-99E7-4DDAF0473BA5}"/>
              </a:ext>
            </a:extLst>
          </p:cNvPr>
          <p:cNvSpPr>
            <a:spLocks noGrp="1" noChangeArrowheads="1"/>
          </p:cNvSpPr>
          <p:nvPr>
            <p:ph type="body" idx="1"/>
          </p:nvPr>
        </p:nvSpPr>
        <p:spPr/>
        <p:txBody>
          <a:bodyPr/>
          <a:lstStyle/>
          <a:p>
            <a:r>
              <a:rPr lang="en-US" altLang="en-US"/>
              <a:t>Restaurants serve meals, so a reason for going to a restaurant is to eat.</a:t>
            </a:r>
          </a:p>
          <a:p>
            <a:r>
              <a:rPr lang="en-US" altLang="en-US"/>
              <a:t>Fancy restaurants serve fancy meals, $50 is a typical price for a fancy meal.  Paying and leaving a tip is customary after eating meals at restaurants.  </a:t>
            </a:r>
          </a:p>
          <a:p>
            <a:r>
              <a:rPr lang="en-US" altLang="en-US"/>
              <a:t>Restaurants employ waiters.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D96F8D39-6E39-48F8-B8AC-B3C0C899B97F}"/>
              </a:ext>
            </a:extLst>
          </p:cNvPr>
          <p:cNvSpPr>
            <a:spLocks noGrp="1" noChangeArrowheads="1"/>
          </p:cNvSpPr>
          <p:nvPr>
            <p:ph type="title"/>
          </p:nvPr>
        </p:nvSpPr>
        <p:spPr/>
        <p:txBody>
          <a:bodyPr/>
          <a:lstStyle/>
          <a:p>
            <a:r>
              <a:rPr lang="en-US" altLang="en-US"/>
              <a:t>General Structure of Discourse</a:t>
            </a:r>
          </a:p>
        </p:txBody>
      </p:sp>
      <p:sp>
        <p:nvSpPr>
          <p:cNvPr id="70659" name="Rectangle 3">
            <a:extLst>
              <a:ext uri="{FF2B5EF4-FFF2-40B4-BE49-F238E27FC236}">
                <a16:creationId xmlns:a16="http://schemas.microsoft.com/office/drawing/2014/main" id="{07EF2D11-DE56-4AFD-BA94-A3C3F04E229D}"/>
              </a:ext>
            </a:extLst>
          </p:cNvPr>
          <p:cNvSpPr>
            <a:spLocks noGrp="1" noChangeArrowheads="1"/>
          </p:cNvSpPr>
          <p:nvPr>
            <p:ph type="body" idx="1"/>
          </p:nvPr>
        </p:nvSpPr>
        <p:spPr/>
        <p:txBody>
          <a:bodyPr/>
          <a:lstStyle/>
          <a:p>
            <a:pPr>
              <a:buFontTx/>
              <a:buNone/>
            </a:pPr>
            <a:r>
              <a:rPr lang="en-US" altLang="en-US" sz="2800" u="sng"/>
              <a:t>“John went to a fancy restaurant. He was pleased…”</a:t>
            </a:r>
          </a:p>
          <a:p>
            <a:pPr>
              <a:buFontTx/>
              <a:buNone/>
            </a:pPr>
            <a:r>
              <a:rPr lang="en-US" altLang="en-US" sz="2800"/>
              <a:t>Describe </a:t>
            </a:r>
            <a:r>
              <a:rPr lang="en-US" altLang="en-US" sz="2800" i="1" u="sng"/>
              <a:t>some</a:t>
            </a:r>
            <a:r>
              <a:rPr lang="en-US" altLang="en-US" sz="2800"/>
              <a:t> steps of a plan for a character</a:t>
            </a:r>
          </a:p>
          <a:p>
            <a:pPr>
              <a:buFontTx/>
              <a:buNone/>
            </a:pPr>
            <a:r>
              <a:rPr lang="en-US" altLang="en-US" sz="2800"/>
              <a:t>Leave out steps that can be easily inferred from other steps.</a:t>
            </a:r>
          </a:p>
          <a:p>
            <a:pPr>
              <a:buFontTx/>
              <a:buNone/>
            </a:pPr>
            <a:endParaRPr lang="en-US" altLang="en-US" sz="2800"/>
          </a:p>
          <a:p>
            <a:pPr>
              <a:buFontTx/>
              <a:buNone/>
            </a:pPr>
            <a:r>
              <a:rPr lang="en-US" altLang="en-US" sz="2800"/>
              <a:t>From first sentence:  John is in the </a:t>
            </a:r>
            <a:r>
              <a:rPr lang="en-US" altLang="en-US" sz="2800" b="1">
                <a:latin typeface="Courier New" panose="02070309020205020404" pitchFamily="49" charset="0"/>
              </a:rPr>
              <a:t>eat-at-restaurant</a:t>
            </a:r>
            <a:r>
              <a:rPr lang="en-US" altLang="en-US" sz="2800"/>
              <a:t> plan. Inference: </a:t>
            </a:r>
            <a:r>
              <a:rPr lang="en-US" altLang="en-US" sz="2800" b="1">
                <a:latin typeface="Courier New" panose="02070309020205020404" pitchFamily="49" charset="0"/>
              </a:rPr>
              <a:t>eat-meal</a:t>
            </a:r>
            <a:r>
              <a:rPr lang="en-US" altLang="en-US" sz="2800"/>
              <a:t> step probably occurred – even if it wasn’t mentioned.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BDFCE0BD-7BF3-4C0F-8EDC-F8E05CE6A7EC}"/>
              </a:ext>
            </a:extLst>
          </p:cNvPr>
          <p:cNvSpPr>
            <a:spLocks noGrp="1" noChangeArrowheads="1"/>
          </p:cNvSpPr>
          <p:nvPr>
            <p:ph type="title"/>
          </p:nvPr>
        </p:nvSpPr>
        <p:spPr/>
        <p:txBody>
          <a:bodyPr/>
          <a:lstStyle/>
          <a:p>
            <a:r>
              <a:rPr lang="en-US" altLang="en-US"/>
              <a:t>Syntax and Semantics</a:t>
            </a:r>
          </a:p>
        </p:txBody>
      </p:sp>
      <p:sp>
        <p:nvSpPr>
          <p:cNvPr id="71683" name="Rectangle 3">
            <a:extLst>
              <a:ext uri="{FF2B5EF4-FFF2-40B4-BE49-F238E27FC236}">
                <a16:creationId xmlns:a16="http://schemas.microsoft.com/office/drawing/2014/main" id="{532572E7-8839-44B7-9E41-7D1A573C6FC2}"/>
              </a:ext>
            </a:extLst>
          </p:cNvPr>
          <p:cNvSpPr>
            <a:spLocks noGrp="1" noChangeArrowheads="1"/>
          </p:cNvSpPr>
          <p:nvPr>
            <p:ph type="body" idx="1"/>
          </p:nvPr>
        </p:nvSpPr>
        <p:spPr/>
        <p:txBody>
          <a:bodyPr/>
          <a:lstStyle/>
          <a:p>
            <a:pPr>
              <a:buFontTx/>
              <a:buNone/>
            </a:pPr>
            <a:r>
              <a:rPr lang="en-US" altLang="en-US" u="sng"/>
              <a:t>“...gave the waiter a big tip.”</a:t>
            </a:r>
          </a:p>
          <a:p>
            <a:pPr>
              <a:buFontTx/>
              <a:buNone/>
            </a:pPr>
            <a:r>
              <a:rPr lang="en-US" altLang="en-US"/>
              <a:t>“the” used for objects that have been mentioned before</a:t>
            </a:r>
          </a:p>
          <a:p>
            <a:pPr>
              <a:buFontTx/>
              <a:buNone/>
            </a:pPr>
            <a:r>
              <a:rPr lang="en-US" altLang="en-US"/>
              <a:t>	OR</a:t>
            </a:r>
          </a:p>
          <a:p>
            <a:pPr>
              <a:buFontTx/>
              <a:buNone/>
            </a:pPr>
            <a:r>
              <a:rPr lang="en-US" altLang="en-US"/>
              <a:t>Have been implicitly alluded to; in this case, by the </a:t>
            </a:r>
            <a:r>
              <a:rPr lang="en-US" altLang="en-US" b="1">
                <a:latin typeface="Courier New" panose="02070309020205020404" pitchFamily="49" charset="0"/>
              </a:rPr>
              <a:t>eat-at-restaurant</a:t>
            </a:r>
            <a:r>
              <a:rPr lang="en-US" altLang="en-US"/>
              <a:t> plan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EE3A8771-84AE-4519-80DD-B49D807C1A4A}"/>
              </a:ext>
            </a:extLst>
          </p:cNvPr>
          <p:cNvSpPr>
            <a:spLocks noGrp="1" noChangeArrowheads="1"/>
          </p:cNvSpPr>
          <p:nvPr>
            <p:ph type="title"/>
          </p:nvPr>
        </p:nvSpPr>
        <p:spPr/>
        <p:txBody>
          <a:bodyPr/>
          <a:lstStyle/>
          <a:p>
            <a:r>
              <a:rPr lang="en-US" altLang="en-US"/>
              <a:t>Specific knowledge about situation</a:t>
            </a:r>
          </a:p>
        </p:txBody>
      </p:sp>
      <p:sp>
        <p:nvSpPr>
          <p:cNvPr id="72707" name="Rectangle 3">
            <a:extLst>
              <a:ext uri="{FF2B5EF4-FFF2-40B4-BE49-F238E27FC236}">
                <a16:creationId xmlns:a16="http://schemas.microsoft.com/office/drawing/2014/main" id="{83717A46-6E05-4E74-9B22-E7B7CA4B53CB}"/>
              </a:ext>
            </a:extLst>
          </p:cNvPr>
          <p:cNvSpPr>
            <a:spLocks noGrp="1" noChangeArrowheads="1"/>
          </p:cNvSpPr>
          <p:nvPr>
            <p:ph type="body" idx="1"/>
          </p:nvPr>
        </p:nvSpPr>
        <p:spPr/>
        <p:txBody>
          <a:bodyPr/>
          <a:lstStyle/>
          <a:p>
            <a:pPr>
              <a:buFontTx/>
              <a:buNone/>
            </a:pPr>
            <a:r>
              <a:rPr lang="en-US" altLang="en-US" u="sng"/>
              <a:t>“He spent $50”</a:t>
            </a:r>
          </a:p>
          <a:p>
            <a:pPr>
              <a:buFontTx/>
              <a:buNone/>
            </a:pPr>
            <a:endParaRPr lang="en-US" altLang="en-US"/>
          </a:p>
          <a:p>
            <a:r>
              <a:rPr lang="en-US" altLang="en-US"/>
              <a:t>“He” is John.</a:t>
            </a:r>
          </a:p>
          <a:p>
            <a:r>
              <a:rPr lang="en-US" altLang="en-US"/>
              <a:t>Recipients of the $50 are the restaurant and the waiter.</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683EB81A-7EBA-4E3F-BD28-091BD8D2B291}"/>
              </a:ext>
            </a:extLst>
          </p:cNvPr>
          <p:cNvSpPr>
            <a:spLocks noGrp="1" noChangeArrowheads="1"/>
          </p:cNvSpPr>
          <p:nvPr>
            <p:ph type="title"/>
          </p:nvPr>
        </p:nvSpPr>
        <p:spPr/>
        <p:txBody>
          <a:bodyPr/>
          <a:lstStyle/>
          <a:p>
            <a:r>
              <a:rPr lang="en-US" altLang="en-US"/>
              <a:t>Structure of coherent discourse</a:t>
            </a:r>
          </a:p>
        </p:txBody>
      </p:sp>
      <p:sp>
        <p:nvSpPr>
          <p:cNvPr id="29699" name="Rectangle 3">
            <a:extLst>
              <a:ext uri="{FF2B5EF4-FFF2-40B4-BE49-F238E27FC236}">
                <a16:creationId xmlns:a16="http://schemas.microsoft.com/office/drawing/2014/main" id="{36E5EC1D-0306-4F0E-942A-1CF85539E6A2}"/>
              </a:ext>
            </a:extLst>
          </p:cNvPr>
          <p:cNvSpPr>
            <a:spLocks noGrp="1" noChangeArrowheads="1"/>
          </p:cNvSpPr>
          <p:nvPr>
            <p:ph type="body" idx="1"/>
          </p:nvPr>
        </p:nvSpPr>
        <p:spPr/>
        <p:txBody>
          <a:bodyPr/>
          <a:lstStyle/>
          <a:p>
            <a:pPr>
              <a:lnSpc>
                <a:spcPct val="90000"/>
              </a:lnSpc>
              <a:buFontTx/>
              <a:buNone/>
            </a:pPr>
            <a:r>
              <a:rPr lang="en-US" altLang="en-US" sz="2800"/>
              <a:t>Discourses comprised of segments</a:t>
            </a:r>
          </a:p>
          <a:p>
            <a:pPr>
              <a:lnSpc>
                <a:spcPct val="90000"/>
              </a:lnSpc>
              <a:buFontTx/>
              <a:buNone/>
            </a:pPr>
            <a:r>
              <a:rPr lang="en-US" altLang="en-US" sz="2800"/>
              <a:t>Relations between segments </a:t>
            </a:r>
          </a:p>
          <a:p>
            <a:pPr>
              <a:lnSpc>
                <a:spcPct val="90000"/>
              </a:lnSpc>
              <a:buFontTx/>
              <a:buNone/>
            </a:pPr>
            <a:r>
              <a:rPr lang="en-US" altLang="en-US" sz="2800"/>
              <a:t>		(more in Mann and Thompson, 1983)</a:t>
            </a:r>
          </a:p>
          <a:p>
            <a:pPr>
              <a:lnSpc>
                <a:spcPct val="90000"/>
              </a:lnSpc>
              <a:buFontTx/>
              <a:buNone/>
            </a:pPr>
            <a:r>
              <a:rPr lang="en-US" altLang="en-US" sz="2800" b="1"/>
              <a:t>(coherence relation)</a:t>
            </a:r>
          </a:p>
          <a:p>
            <a:pPr lvl="1">
              <a:lnSpc>
                <a:spcPct val="90000"/>
              </a:lnSpc>
            </a:pPr>
            <a:r>
              <a:rPr lang="en-US" altLang="en-US" sz="2400"/>
              <a:t>Enablement</a:t>
            </a:r>
          </a:p>
          <a:p>
            <a:pPr lvl="1">
              <a:lnSpc>
                <a:spcPct val="90000"/>
              </a:lnSpc>
            </a:pPr>
            <a:r>
              <a:rPr lang="en-US" altLang="en-US" sz="2400"/>
              <a:t>Evaluation</a:t>
            </a:r>
          </a:p>
          <a:p>
            <a:pPr lvl="1">
              <a:lnSpc>
                <a:spcPct val="90000"/>
              </a:lnSpc>
            </a:pPr>
            <a:r>
              <a:rPr lang="en-US" altLang="en-US" sz="2400"/>
              <a:t>Causal</a:t>
            </a:r>
          </a:p>
          <a:p>
            <a:pPr lvl="1">
              <a:lnSpc>
                <a:spcPct val="90000"/>
              </a:lnSpc>
            </a:pPr>
            <a:r>
              <a:rPr lang="en-US" altLang="en-US" sz="2400"/>
              <a:t>Elaboration</a:t>
            </a:r>
          </a:p>
          <a:p>
            <a:pPr lvl="1">
              <a:lnSpc>
                <a:spcPct val="90000"/>
              </a:lnSpc>
            </a:pPr>
            <a:r>
              <a:rPr lang="en-US" altLang="en-US" sz="2400"/>
              <a:t>Explanation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1C4391AF-EA04-4B49-A41C-155D8C01BD69}"/>
              </a:ext>
            </a:extLst>
          </p:cNvPr>
          <p:cNvSpPr>
            <a:spLocks noGrp="1" noChangeArrowheads="1"/>
          </p:cNvSpPr>
          <p:nvPr>
            <p:ph type="title"/>
          </p:nvPr>
        </p:nvSpPr>
        <p:spPr/>
        <p:txBody>
          <a:bodyPr/>
          <a:lstStyle/>
          <a:p>
            <a:r>
              <a:rPr lang="en-US" altLang="en-US"/>
              <a:t>Speaker Goals (Hobbs 1990)</a:t>
            </a:r>
          </a:p>
        </p:txBody>
      </p:sp>
      <p:sp>
        <p:nvSpPr>
          <p:cNvPr id="76803" name="Rectangle 3">
            <a:extLst>
              <a:ext uri="{FF2B5EF4-FFF2-40B4-BE49-F238E27FC236}">
                <a16:creationId xmlns:a16="http://schemas.microsoft.com/office/drawing/2014/main" id="{AB624005-5525-498C-B49A-963C6DE378E6}"/>
              </a:ext>
            </a:extLst>
          </p:cNvPr>
          <p:cNvSpPr>
            <a:spLocks noGrp="1" noChangeArrowheads="1"/>
          </p:cNvSpPr>
          <p:nvPr>
            <p:ph type="body" idx="1"/>
          </p:nvPr>
        </p:nvSpPr>
        <p:spPr/>
        <p:txBody>
          <a:bodyPr/>
          <a:lstStyle/>
          <a:p>
            <a:pPr>
              <a:buFontTx/>
              <a:buNone/>
            </a:pPr>
            <a:r>
              <a:rPr lang="en-US" altLang="en-US"/>
              <a:t>The Speaker does 4 things:</a:t>
            </a:r>
          </a:p>
          <a:p>
            <a:pPr lvl="1">
              <a:buFontTx/>
              <a:buNone/>
            </a:pPr>
            <a:r>
              <a:rPr lang="en-US" altLang="en-US"/>
              <a:t>	1) wants to convey a message</a:t>
            </a:r>
          </a:p>
          <a:p>
            <a:pPr lvl="1">
              <a:buFontTx/>
              <a:buNone/>
            </a:pPr>
            <a:r>
              <a:rPr lang="en-US" altLang="en-US"/>
              <a:t>	2) has a motivation or goal</a:t>
            </a:r>
          </a:p>
          <a:p>
            <a:pPr lvl="1">
              <a:buFontTx/>
              <a:buNone/>
            </a:pPr>
            <a:r>
              <a:rPr lang="en-US" altLang="en-US"/>
              <a:t>	3) wants to make it easy for the hearer to understand.</a:t>
            </a:r>
          </a:p>
          <a:p>
            <a:pPr lvl="1">
              <a:buFontTx/>
              <a:buNone/>
            </a:pPr>
            <a:r>
              <a:rPr lang="en-US" altLang="en-US"/>
              <a:t>	4) links new information to what hearer knows.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55DED05C-C9A5-49A9-9650-7DD6DCDF6494}"/>
              </a:ext>
            </a:extLst>
          </p:cNvPr>
          <p:cNvSpPr>
            <a:spLocks noGrp="1" noChangeArrowheads="1"/>
          </p:cNvSpPr>
          <p:nvPr>
            <p:ph type="title"/>
          </p:nvPr>
        </p:nvSpPr>
        <p:spPr/>
        <p:txBody>
          <a:bodyPr/>
          <a:lstStyle/>
          <a:p>
            <a:r>
              <a:rPr lang="en-US" altLang="en-US"/>
              <a:t>A Theory of “Attention”</a:t>
            </a:r>
          </a:p>
        </p:txBody>
      </p:sp>
      <p:sp>
        <p:nvSpPr>
          <p:cNvPr id="78851" name="Rectangle 3">
            <a:extLst>
              <a:ext uri="{FF2B5EF4-FFF2-40B4-BE49-F238E27FC236}">
                <a16:creationId xmlns:a16="http://schemas.microsoft.com/office/drawing/2014/main" id="{D5CC2C87-F99D-4F4A-A785-6AE8A46C2B8F}"/>
              </a:ext>
            </a:extLst>
          </p:cNvPr>
          <p:cNvSpPr>
            <a:spLocks noGrp="1" noChangeArrowheads="1"/>
          </p:cNvSpPr>
          <p:nvPr>
            <p:ph type="body" idx="1"/>
          </p:nvPr>
        </p:nvSpPr>
        <p:spPr/>
        <p:txBody>
          <a:bodyPr/>
          <a:lstStyle/>
          <a:p>
            <a:pPr>
              <a:buFontTx/>
              <a:buNone/>
            </a:pPr>
            <a:r>
              <a:rPr lang="en-US" altLang="en-US"/>
              <a:t>Grosz and Sidner, 1986</a:t>
            </a:r>
          </a:p>
          <a:p>
            <a:pPr>
              <a:buFontTx/>
              <a:buNone/>
            </a:pPr>
            <a:r>
              <a:rPr lang="en-US" altLang="en-US"/>
              <a:t>Speaker or hearer’s attention is focused</a:t>
            </a:r>
          </a:p>
          <a:p>
            <a:pPr>
              <a:buFontTx/>
              <a:buNone/>
            </a:pPr>
            <a:r>
              <a:rPr lang="en-US" altLang="en-US"/>
              <a:t>Focus follows a stack model</a:t>
            </a:r>
          </a:p>
          <a:p>
            <a:pPr>
              <a:buFontTx/>
              <a:buNone/>
            </a:pPr>
            <a:r>
              <a:rPr lang="en-US" altLang="en-US"/>
              <a:t>Explains why order is important.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81E06F95-23F6-40B9-AC32-4ADD59D28CF4}"/>
              </a:ext>
            </a:extLst>
          </p:cNvPr>
          <p:cNvSpPr>
            <a:spLocks noGrp="1" noChangeArrowheads="1"/>
          </p:cNvSpPr>
          <p:nvPr>
            <p:ph type="title"/>
          </p:nvPr>
        </p:nvSpPr>
        <p:spPr/>
        <p:txBody>
          <a:bodyPr/>
          <a:lstStyle/>
          <a:p>
            <a:r>
              <a:rPr lang="en-US" altLang="en-US"/>
              <a:t>Order is important</a:t>
            </a:r>
          </a:p>
        </p:txBody>
      </p:sp>
      <p:sp>
        <p:nvSpPr>
          <p:cNvPr id="74755" name="Rectangle 3">
            <a:extLst>
              <a:ext uri="{FF2B5EF4-FFF2-40B4-BE49-F238E27FC236}">
                <a16:creationId xmlns:a16="http://schemas.microsoft.com/office/drawing/2014/main" id="{F275F37D-11F2-4B78-A9E9-5D8FEAB5495D}"/>
              </a:ext>
            </a:extLst>
          </p:cNvPr>
          <p:cNvSpPr>
            <a:spLocks noGrp="1" noChangeArrowheads="1"/>
          </p:cNvSpPr>
          <p:nvPr>
            <p:ph type="body" idx="1"/>
          </p:nvPr>
        </p:nvSpPr>
        <p:spPr/>
        <p:txBody>
          <a:bodyPr/>
          <a:lstStyle/>
          <a:p>
            <a:pPr>
              <a:buFontTx/>
              <a:buNone/>
            </a:pPr>
            <a:r>
              <a:rPr lang="en-US" altLang="en-US" sz="2800"/>
              <a:t>What’s the difference?</a:t>
            </a:r>
          </a:p>
          <a:p>
            <a:pPr>
              <a:buFontTx/>
              <a:buNone/>
            </a:pPr>
            <a:endParaRPr lang="en-US" altLang="en-US" sz="2800"/>
          </a:p>
          <a:p>
            <a:pPr>
              <a:buFontTx/>
              <a:buNone/>
            </a:pPr>
            <a:r>
              <a:rPr lang="en-US" altLang="en-US" sz="2000"/>
              <a:t>I visited Paris.			I visited Paris.</a:t>
            </a:r>
          </a:p>
          <a:p>
            <a:pPr>
              <a:buFontTx/>
              <a:buNone/>
            </a:pPr>
            <a:r>
              <a:rPr lang="en-US" altLang="en-US" sz="2000"/>
              <a:t>I bought you some 		Then I flew home.</a:t>
            </a:r>
          </a:p>
          <a:p>
            <a:pPr>
              <a:buFontTx/>
              <a:buNone/>
            </a:pPr>
            <a:r>
              <a:rPr lang="en-US" altLang="en-US" sz="2000"/>
              <a:t>	expensive cologne.	</a:t>
            </a:r>
          </a:p>
          <a:p>
            <a:pPr>
              <a:buFontTx/>
              <a:buNone/>
            </a:pPr>
            <a:r>
              <a:rPr lang="en-US" altLang="en-US" sz="2000"/>
              <a:t>Then I flew home.		I went to Kmart.</a:t>
            </a:r>
          </a:p>
          <a:p>
            <a:pPr>
              <a:buFontTx/>
              <a:buNone/>
            </a:pPr>
            <a:r>
              <a:rPr lang="en-US" altLang="en-US" sz="2000"/>
              <a:t>I went to Kmart.			I bought you some expensive cologne. </a:t>
            </a:r>
          </a:p>
          <a:p>
            <a:pPr>
              <a:buFontTx/>
              <a:buNone/>
            </a:pPr>
            <a:r>
              <a:rPr lang="en-US" altLang="en-US" sz="2000"/>
              <a:t>I bought some underwear.		I bought some underwear.</a:t>
            </a:r>
          </a:p>
          <a:p>
            <a:pPr>
              <a:buFontTx/>
              <a:buNone/>
            </a:pPr>
            <a:endParaRPr lang="en-US" altLang="en-US" sz="20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A9FD0312-EBA3-4D8A-ABF5-9C61FEB8DB20}"/>
              </a:ext>
            </a:extLst>
          </p:cNvPr>
          <p:cNvSpPr>
            <a:spLocks noGrp="1" noChangeArrowheads="1"/>
          </p:cNvSpPr>
          <p:nvPr>
            <p:ph type="title"/>
          </p:nvPr>
        </p:nvSpPr>
        <p:spPr/>
        <p:txBody>
          <a:bodyPr/>
          <a:lstStyle/>
          <a:p>
            <a:r>
              <a:rPr lang="en-US" altLang="en-US"/>
              <a:t>Summary</a:t>
            </a:r>
          </a:p>
        </p:txBody>
      </p:sp>
      <p:sp>
        <p:nvSpPr>
          <p:cNvPr id="32771" name="Rectangle 3">
            <a:extLst>
              <a:ext uri="{FF2B5EF4-FFF2-40B4-BE49-F238E27FC236}">
                <a16:creationId xmlns:a16="http://schemas.microsoft.com/office/drawing/2014/main" id="{E116E860-62F8-4CEC-B8FF-0C7FD7BFB551}"/>
              </a:ext>
            </a:extLst>
          </p:cNvPr>
          <p:cNvSpPr>
            <a:spLocks noGrp="1" noChangeArrowheads="1"/>
          </p:cNvSpPr>
          <p:nvPr>
            <p:ph type="body" idx="1"/>
          </p:nvPr>
        </p:nvSpPr>
        <p:spPr/>
        <p:txBody>
          <a:bodyPr/>
          <a:lstStyle/>
          <a:p>
            <a:r>
              <a:rPr lang="en-US" altLang="en-US" sz="2800"/>
              <a:t>NLP have practical applications, but none do a great job in an open-ended domain</a:t>
            </a:r>
          </a:p>
          <a:p>
            <a:r>
              <a:rPr lang="en-US" altLang="en-US" sz="2800"/>
              <a:t>Sentences are understood through grammar, parsing and lexicons</a:t>
            </a:r>
          </a:p>
          <a:p>
            <a:r>
              <a:rPr lang="en-US" altLang="en-US" sz="2800"/>
              <a:t>Choosing a good interpretation of a sentence requires evidence from many sources</a:t>
            </a:r>
          </a:p>
          <a:p>
            <a:r>
              <a:rPr lang="en-US" altLang="en-US" sz="2800"/>
              <a:t>Most interesting NLP comes in connected discourse rather than in isolated sentences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5BA12B5F-E531-4397-992B-CCC64ACE435A}"/>
              </a:ext>
            </a:extLst>
          </p:cNvPr>
          <p:cNvSpPr>
            <a:spLocks noGrp="1" noChangeArrowheads="1"/>
          </p:cNvSpPr>
          <p:nvPr>
            <p:ph type="title"/>
          </p:nvPr>
        </p:nvSpPr>
        <p:spPr/>
        <p:txBody>
          <a:bodyPr/>
          <a:lstStyle/>
          <a:p>
            <a:r>
              <a:rPr lang="en-US" altLang="en-US"/>
              <a:t>Current NLP Crowd</a:t>
            </a:r>
          </a:p>
        </p:txBody>
      </p:sp>
      <p:sp>
        <p:nvSpPr>
          <p:cNvPr id="86019" name="Rectangle 3">
            <a:extLst>
              <a:ext uri="{FF2B5EF4-FFF2-40B4-BE49-F238E27FC236}">
                <a16:creationId xmlns:a16="http://schemas.microsoft.com/office/drawing/2014/main" id="{817444F2-AA83-4BCC-8BB3-5B15C506036F}"/>
              </a:ext>
            </a:extLst>
          </p:cNvPr>
          <p:cNvSpPr>
            <a:spLocks noGrp="1" noChangeArrowheads="1"/>
          </p:cNvSpPr>
          <p:nvPr>
            <p:ph type="body" idx="1"/>
          </p:nvPr>
        </p:nvSpPr>
        <p:spPr/>
        <p:txBody>
          <a:bodyPr/>
          <a:lstStyle/>
          <a:p>
            <a:pPr lvl="1"/>
            <a:r>
              <a:rPr lang="en-US" altLang="en-US"/>
              <a:t>Originally, mostly mathematicians.  </a:t>
            </a:r>
          </a:p>
          <a:p>
            <a:pPr lvl="1"/>
            <a:r>
              <a:rPr lang="en-US" altLang="en-US"/>
              <a:t>Now Computer Scientists (computational linguists= linguists, stasticians, computer science folk).</a:t>
            </a:r>
          </a:p>
          <a:p>
            <a:pPr lvl="1"/>
            <a:r>
              <a:rPr lang="en-US" altLang="en-US"/>
              <a:t>Big names are Perrault, Hobbs, Pereira, Grosz and Charniak</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D0505D60-57F8-4FA0-BB6C-EE7C2ADCCA88}"/>
              </a:ext>
            </a:extLst>
          </p:cNvPr>
          <p:cNvSpPr>
            <a:spLocks noGrp="1" noChangeArrowheads="1"/>
          </p:cNvSpPr>
          <p:nvPr>
            <p:ph type="title"/>
          </p:nvPr>
        </p:nvSpPr>
        <p:spPr/>
        <p:txBody>
          <a:bodyPr/>
          <a:lstStyle/>
          <a:p>
            <a:r>
              <a:rPr lang="en-US" altLang="en-US"/>
              <a:t>Current NLP conferences</a:t>
            </a:r>
          </a:p>
        </p:txBody>
      </p:sp>
      <p:sp>
        <p:nvSpPr>
          <p:cNvPr id="90115" name="Rectangle 3">
            <a:extLst>
              <a:ext uri="{FF2B5EF4-FFF2-40B4-BE49-F238E27FC236}">
                <a16:creationId xmlns:a16="http://schemas.microsoft.com/office/drawing/2014/main" id="{F299AE90-39E4-4E84-A063-325C1955FAF4}"/>
              </a:ext>
            </a:extLst>
          </p:cNvPr>
          <p:cNvSpPr>
            <a:spLocks noGrp="1" noChangeArrowheads="1"/>
          </p:cNvSpPr>
          <p:nvPr>
            <p:ph type="body" idx="1"/>
          </p:nvPr>
        </p:nvSpPr>
        <p:spPr>
          <a:xfrm>
            <a:off x="609600" y="1905000"/>
            <a:ext cx="7772400" cy="4114800"/>
          </a:xfrm>
        </p:spPr>
        <p:txBody>
          <a:bodyPr/>
          <a:lstStyle/>
          <a:p>
            <a:pPr>
              <a:buFontTx/>
              <a:buNone/>
            </a:pPr>
            <a:r>
              <a:rPr lang="en-US" altLang="en-US"/>
              <a:t>Association for Computational Linguistics</a:t>
            </a:r>
          </a:p>
          <a:p>
            <a:pPr>
              <a:buFontTx/>
              <a:buNone/>
            </a:pPr>
            <a:endParaRPr lang="en-US" altLang="en-US"/>
          </a:p>
          <a:p>
            <a:pPr>
              <a:buFontTx/>
              <a:buNone/>
            </a:pPr>
            <a:r>
              <a:rPr lang="en-US" altLang="en-US"/>
              <a:t>Coling</a:t>
            </a:r>
          </a:p>
          <a:p>
            <a:pPr>
              <a:buFontTx/>
              <a:buNone/>
            </a:pPr>
            <a:endParaRPr lang="en-US" altLang="en-US"/>
          </a:p>
          <a:p>
            <a:pPr>
              <a:buFontTx/>
              <a:buNone/>
            </a:pPr>
            <a:r>
              <a:rPr lang="en-US" altLang="en-US"/>
              <a:t>EACL (Europe Association for Computational Linguistics)</a:t>
            </a:r>
          </a:p>
          <a:p>
            <a:pPr>
              <a:buFontTx/>
              <a:buNone/>
            </a:pPr>
            <a:endParaRPr lang="en-US" altLang="en-US"/>
          </a:p>
          <a:p>
            <a:endParaRPr lang="en-US"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8FAFC4BF-3DFD-41E8-B4CE-9A1B38C22B11}"/>
              </a:ext>
            </a:extLst>
          </p:cNvPr>
          <p:cNvSpPr>
            <a:spLocks noGrp="1" noChangeArrowheads="1"/>
          </p:cNvSpPr>
          <p:nvPr>
            <p:ph type="title"/>
          </p:nvPr>
        </p:nvSpPr>
        <p:spPr/>
        <p:txBody>
          <a:bodyPr/>
          <a:lstStyle/>
          <a:p>
            <a:r>
              <a:rPr lang="en-US" altLang="en-US"/>
              <a:t>USA Schools with NLP Grad.</a:t>
            </a:r>
          </a:p>
        </p:txBody>
      </p:sp>
      <p:sp>
        <p:nvSpPr>
          <p:cNvPr id="95235" name="Rectangle 3">
            <a:extLst>
              <a:ext uri="{FF2B5EF4-FFF2-40B4-BE49-F238E27FC236}">
                <a16:creationId xmlns:a16="http://schemas.microsoft.com/office/drawing/2014/main" id="{256ED4C8-40AD-4B20-B278-048B4345DFAF}"/>
              </a:ext>
            </a:extLst>
          </p:cNvPr>
          <p:cNvSpPr>
            <a:spLocks noGrp="1" noChangeArrowheads="1"/>
          </p:cNvSpPr>
          <p:nvPr>
            <p:ph type="body" idx="1"/>
          </p:nvPr>
        </p:nvSpPr>
        <p:spPr>
          <a:xfrm>
            <a:off x="685800" y="1676400"/>
            <a:ext cx="4495800" cy="4800600"/>
          </a:xfrm>
        </p:spPr>
        <p:txBody>
          <a:bodyPr/>
          <a:lstStyle/>
          <a:p>
            <a:pPr>
              <a:lnSpc>
                <a:spcPct val="90000"/>
              </a:lnSpc>
              <a:buFontTx/>
              <a:buNone/>
            </a:pPr>
            <a:r>
              <a:rPr lang="en-US" altLang="en-US" sz="1600"/>
              <a:t>Brown University</a:t>
            </a:r>
          </a:p>
          <a:p>
            <a:pPr>
              <a:lnSpc>
                <a:spcPct val="90000"/>
              </a:lnSpc>
              <a:buFontTx/>
              <a:buNone/>
            </a:pPr>
            <a:r>
              <a:rPr lang="en-US" altLang="en-US" sz="1600"/>
              <a:t>Buffalo, SUNY at</a:t>
            </a:r>
          </a:p>
          <a:p>
            <a:pPr>
              <a:lnSpc>
                <a:spcPct val="90000"/>
              </a:lnSpc>
              <a:buFontTx/>
              <a:buNone/>
            </a:pPr>
            <a:r>
              <a:rPr lang="en-US" altLang="en-US" sz="1600"/>
              <a:t>California at Berkeley, University of</a:t>
            </a:r>
          </a:p>
          <a:p>
            <a:pPr>
              <a:lnSpc>
                <a:spcPct val="90000"/>
              </a:lnSpc>
              <a:buFontTx/>
              <a:buNone/>
            </a:pPr>
            <a:r>
              <a:rPr lang="en-US" altLang="en-US" sz="1600"/>
              <a:t>California at Los Angeles, University of</a:t>
            </a:r>
          </a:p>
          <a:p>
            <a:pPr>
              <a:lnSpc>
                <a:spcPct val="90000"/>
              </a:lnSpc>
              <a:buFontTx/>
              <a:buNone/>
            </a:pPr>
            <a:r>
              <a:rPr lang="en-US" altLang="en-US" sz="1600"/>
              <a:t>Carnegie-Mellon University</a:t>
            </a:r>
          </a:p>
          <a:p>
            <a:pPr>
              <a:lnSpc>
                <a:spcPct val="90000"/>
              </a:lnSpc>
              <a:buFontTx/>
              <a:buNone/>
            </a:pPr>
            <a:r>
              <a:rPr lang="en-US" altLang="en-US" sz="1600"/>
              <a:t>Columbia University</a:t>
            </a:r>
          </a:p>
          <a:p>
            <a:pPr>
              <a:lnSpc>
                <a:spcPct val="90000"/>
              </a:lnSpc>
              <a:buFontTx/>
              <a:buNone/>
            </a:pPr>
            <a:r>
              <a:rPr lang="en-US" altLang="en-US" sz="1600"/>
              <a:t>Cornell University</a:t>
            </a:r>
          </a:p>
          <a:p>
            <a:pPr>
              <a:lnSpc>
                <a:spcPct val="90000"/>
              </a:lnSpc>
              <a:buFontTx/>
              <a:buNone/>
            </a:pPr>
            <a:r>
              <a:rPr lang="en-US" altLang="en-US" sz="1600"/>
              <a:t>Delaware, University of</a:t>
            </a:r>
          </a:p>
          <a:p>
            <a:pPr>
              <a:lnSpc>
                <a:spcPct val="90000"/>
              </a:lnSpc>
              <a:buFontTx/>
              <a:buNone/>
            </a:pPr>
            <a:r>
              <a:rPr lang="en-US" altLang="en-US" sz="1600"/>
              <a:t>Duke University</a:t>
            </a:r>
          </a:p>
          <a:p>
            <a:pPr>
              <a:lnSpc>
                <a:spcPct val="90000"/>
              </a:lnSpc>
              <a:buFontTx/>
              <a:buNone/>
            </a:pPr>
            <a:r>
              <a:rPr lang="en-US" altLang="en-US" sz="1600"/>
              <a:t>Georgetown University</a:t>
            </a:r>
          </a:p>
          <a:p>
            <a:pPr>
              <a:lnSpc>
                <a:spcPct val="90000"/>
              </a:lnSpc>
              <a:buFontTx/>
              <a:buNone/>
            </a:pPr>
            <a:r>
              <a:rPr lang="en-US" altLang="en-US" sz="1600"/>
              <a:t>Georgia, University of</a:t>
            </a:r>
          </a:p>
          <a:p>
            <a:pPr>
              <a:lnSpc>
                <a:spcPct val="90000"/>
              </a:lnSpc>
              <a:buFontTx/>
              <a:buNone/>
            </a:pPr>
            <a:r>
              <a:rPr lang="en-US" altLang="en-US" sz="1600"/>
              <a:t>Georgia Institute of Technology</a:t>
            </a:r>
          </a:p>
          <a:p>
            <a:pPr>
              <a:lnSpc>
                <a:spcPct val="90000"/>
              </a:lnSpc>
              <a:buFontTx/>
              <a:buNone/>
            </a:pPr>
            <a:r>
              <a:rPr lang="en-US" altLang="en-US" sz="1600"/>
              <a:t>Harvard University</a:t>
            </a:r>
          </a:p>
          <a:p>
            <a:pPr>
              <a:lnSpc>
                <a:spcPct val="90000"/>
              </a:lnSpc>
              <a:buFontTx/>
              <a:buNone/>
            </a:pPr>
            <a:r>
              <a:rPr lang="en-US" altLang="en-US" sz="1600"/>
              <a:t>Indiana University</a:t>
            </a:r>
          </a:p>
          <a:p>
            <a:pPr>
              <a:lnSpc>
                <a:spcPct val="90000"/>
              </a:lnSpc>
              <a:buFontTx/>
              <a:buNone/>
            </a:pPr>
            <a:r>
              <a:rPr lang="en-US" altLang="en-US" sz="1600"/>
              <a:t>Information Sciences Institute (ISI) at the University of Southern California</a:t>
            </a:r>
          </a:p>
          <a:p>
            <a:pPr>
              <a:lnSpc>
                <a:spcPct val="90000"/>
              </a:lnSpc>
              <a:buFontTx/>
              <a:buNone/>
            </a:pPr>
            <a:r>
              <a:rPr lang="en-US" altLang="en-US" sz="1600"/>
              <a:t>Johns Hopkins University</a:t>
            </a:r>
          </a:p>
        </p:txBody>
      </p:sp>
      <p:sp>
        <p:nvSpPr>
          <p:cNvPr id="95236" name="Rectangle 4">
            <a:extLst>
              <a:ext uri="{FF2B5EF4-FFF2-40B4-BE49-F238E27FC236}">
                <a16:creationId xmlns:a16="http://schemas.microsoft.com/office/drawing/2014/main" id="{E06EA53C-FE1F-4A38-AB29-E4AB6FF2E484}"/>
              </a:ext>
            </a:extLst>
          </p:cNvPr>
          <p:cNvSpPr>
            <a:spLocks noChangeArrowheads="1"/>
          </p:cNvSpPr>
          <p:nvPr/>
        </p:nvSpPr>
        <p:spPr bwMode="auto">
          <a:xfrm>
            <a:off x="2286000" y="-29113163"/>
            <a:ext cx="4572000" cy="4119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a:t>Johns Hopkins University</a:t>
            </a:r>
          </a:p>
          <a:p>
            <a:pPr>
              <a:spcBef>
                <a:spcPct val="50000"/>
              </a:spcBef>
            </a:pPr>
            <a:r>
              <a:rPr lang="en-US" altLang="en-US" sz="1200"/>
              <a:t>Massachusetts at Amherst, University of</a:t>
            </a:r>
          </a:p>
          <a:p>
            <a:pPr>
              <a:spcBef>
                <a:spcPct val="50000"/>
              </a:spcBef>
            </a:pPr>
            <a:r>
              <a:rPr lang="en-US" altLang="en-US" sz="1200"/>
              <a:t>Massachusetts Institute of Technology</a:t>
            </a:r>
          </a:p>
          <a:p>
            <a:pPr>
              <a:spcBef>
                <a:spcPct val="50000"/>
              </a:spcBef>
            </a:pPr>
            <a:r>
              <a:rPr lang="en-US" altLang="en-US" sz="1200"/>
              <a:t>Michigan, University of</a:t>
            </a:r>
          </a:p>
          <a:p>
            <a:pPr>
              <a:spcBef>
                <a:spcPct val="50000"/>
              </a:spcBef>
            </a:pPr>
            <a:r>
              <a:rPr lang="en-US" altLang="en-US" sz="1200"/>
              <a:t>New Mexico State University</a:t>
            </a:r>
          </a:p>
          <a:p>
            <a:pPr>
              <a:spcBef>
                <a:spcPct val="50000"/>
              </a:spcBef>
            </a:pPr>
            <a:r>
              <a:rPr lang="en-US" altLang="en-US" sz="1200"/>
              <a:t>New York University</a:t>
            </a:r>
          </a:p>
          <a:p>
            <a:pPr>
              <a:spcBef>
                <a:spcPct val="50000"/>
              </a:spcBef>
            </a:pPr>
            <a:r>
              <a:rPr lang="en-US" altLang="en-US" sz="1200"/>
              <a:t>Ohio State University</a:t>
            </a:r>
          </a:p>
          <a:p>
            <a:pPr>
              <a:spcBef>
                <a:spcPct val="50000"/>
              </a:spcBef>
            </a:pPr>
            <a:r>
              <a:rPr lang="en-US" altLang="en-US" sz="1200"/>
              <a:t>Pennsylvania, University of</a:t>
            </a:r>
          </a:p>
          <a:p>
            <a:pPr>
              <a:spcBef>
                <a:spcPct val="50000"/>
              </a:spcBef>
            </a:pPr>
            <a:r>
              <a:rPr lang="en-US" altLang="en-US" sz="1200"/>
              <a:t>Rochester, University of</a:t>
            </a:r>
          </a:p>
          <a:p>
            <a:pPr>
              <a:spcBef>
                <a:spcPct val="50000"/>
              </a:spcBef>
            </a:pPr>
            <a:r>
              <a:rPr lang="en-US" altLang="en-US" sz="1200"/>
              <a:t>Southern California, University of</a:t>
            </a:r>
          </a:p>
          <a:p>
            <a:pPr>
              <a:spcBef>
                <a:spcPct val="50000"/>
              </a:spcBef>
            </a:pPr>
            <a:r>
              <a:rPr lang="en-US" altLang="en-US" sz="1200"/>
              <a:t>Stanford University</a:t>
            </a:r>
          </a:p>
          <a:p>
            <a:pPr>
              <a:spcBef>
                <a:spcPct val="50000"/>
              </a:spcBef>
            </a:pPr>
            <a:r>
              <a:rPr lang="en-US" altLang="en-US" sz="1200"/>
              <a:t>SUNY, Buffalo</a:t>
            </a:r>
          </a:p>
          <a:p>
            <a:pPr>
              <a:spcBef>
                <a:spcPct val="50000"/>
              </a:spcBef>
            </a:pPr>
            <a:r>
              <a:rPr lang="en-US" altLang="en-US" sz="1200"/>
              <a:t>Utah, University of</a:t>
            </a:r>
          </a:p>
          <a:p>
            <a:pPr>
              <a:spcBef>
                <a:spcPct val="50000"/>
              </a:spcBef>
            </a:pPr>
            <a:r>
              <a:rPr lang="en-US" altLang="en-US" sz="1200"/>
              <a:t>Wisconsin - Milwaukee, University of</a:t>
            </a:r>
          </a:p>
          <a:p>
            <a:pPr>
              <a:spcBef>
                <a:spcPct val="50000"/>
              </a:spcBef>
            </a:pPr>
            <a:r>
              <a:rPr lang="en-US" altLang="en-US" sz="1200"/>
              <a:t>Yale University</a:t>
            </a:r>
          </a:p>
        </p:txBody>
      </p:sp>
      <p:sp>
        <p:nvSpPr>
          <p:cNvPr id="95237" name="Text Box 5">
            <a:extLst>
              <a:ext uri="{FF2B5EF4-FFF2-40B4-BE49-F238E27FC236}">
                <a16:creationId xmlns:a16="http://schemas.microsoft.com/office/drawing/2014/main" id="{C44C7CC9-3E2A-4E1F-86E3-C4E2321F3022}"/>
              </a:ext>
            </a:extLst>
          </p:cNvPr>
          <p:cNvSpPr txBox="1">
            <a:spLocks noChangeArrowheads="1"/>
          </p:cNvSpPr>
          <p:nvPr/>
        </p:nvSpPr>
        <p:spPr bwMode="auto">
          <a:xfrm>
            <a:off x="4800600" y="1676400"/>
            <a:ext cx="3886200" cy="391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20000"/>
              </a:spcBef>
            </a:pPr>
            <a:r>
              <a:rPr lang="en-US" altLang="en-US" sz="1600"/>
              <a:t>Massachusetts at Amherst, University of</a:t>
            </a:r>
          </a:p>
          <a:p>
            <a:pPr>
              <a:lnSpc>
                <a:spcPct val="90000"/>
              </a:lnSpc>
              <a:spcBef>
                <a:spcPct val="20000"/>
              </a:spcBef>
            </a:pPr>
            <a:r>
              <a:rPr lang="en-US" altLang="en-US" sz="1600"/>
              <a:t>Massachusetts Institute of Technology</a:t>
            </a:r>
          </a:p>
          <a:p>
            <a:pPr>
              <a:lnSpc>
                <a:spcPct val="90000"/>
              </a:lnSpc>
              <a:spcBef>
                <a:spcPct val="20000"/>
              </a:spcBef>
            </a:pPr>
            <a:r>
              <a:rPr lang="en-US" altLang="en-US" sz="1600"/>
              <a:t>Michigan, University of</a:t>
            </a:r>
          </a:p>
          <a:p>
            <a:pPr>
              <a:lnSpc>
                <a:spcPct val="90000"/>
              </a:lnSpc>
              <a:spcBef>
                <a:spcPct val="20000"/>
              </a:spcBef>
            </a:pPr>
            <a:r>
              <a:rPr lang="en-US" altLang="en-US" sz="1600"/>
              <a:t>New Mexico State University</a:t>
            </a:r>
          </a:p>
          <a:p>
            <a:pPr>
              <a:lnSpc>
                <a:spcPct val="90000"/>
              </a:lnSpc>
              <a:spcBef>
                <a:spcPct val="20000"/>
              </a:spcBef>
            </a:pPr>
            <a:r>
              <a:rPr lang="en-US" altLang="en-US" sz="1600"/>
              <a:t>New York University</a:t>
            </a:r>
          </a:p>
          <a:p>
            <a:pPr>
              <a:lnSpc>
                <a:spcPct val="90000"/>
              </a:lnSpc>
              <a:spcBef>
                <a:spcPct val="20000"/>
              </a:spcBef>
            </a:pPr>
            <a:r>
              <a:rPr lang="en-US" altLang="en-US" sz="1600"/>
              <a:t>Ohio State University</a:t>
            </a:r>
          </a:p>
          <a:p>
            <a:pPr>
              <a:lnSpc>
                <a:spcPct val="90000"/>
              </a:lnSpc>
              <a:spcBef>
                <a:spcPct val="20000"/>
              </a:spcBef>
            </a:pPr>
            <a:r>
              <a:rPr lang="en-US" altLang="en-US" sz="1600"/>
              <a:t>Pennsylvania, University of</a:t>
            </a:r>
          </a:p>
          <a:p>
            <a:pPr>
              <a:lnSpc>
                <a:spcPct val="90000"/>
              </a:lnSpc>
              <a:spcBef>
                <a:spcPct val="20000"/>
              </a:spcBef>
            </a:pPr>
            <a:r>
              <a:rPr lang="en-US" altLang="en-US" sz="1600"/>
              <a:t>Rochester, University of</a:t>
            </a:r>
          </a:p>
          <a:p>
            <a:pPr>
              <a:lnSpc>
                <a:spcPct val="90000"/>
              </a:lnSpc>
              <a:spcBef>
                <a:spcPct val="20000"/>
              </a:spcBef>
            </a:pPr>
            <a:r>
              <a:rPr lang="en-US" altLang="en-US" sz="1600"/>
              <a:t>Southern California, University of</a:t>
            </a:r>
          </a:p>
          <a:p>
            <a:pPr>
              <a:lnSpc>
                <a:spcPct val="90000"/>
              </a:lnSpc>
              <a:spcBef>
                <a:spcPct val="20000"/>
              </a:spcBef>
            </a:pPr>
            <a:r>
              <a:rPr lang="en-US" altLang="en-US" sz="1600"/>
              <a:t>Stanford University</a:t>
            </a:r>
          </a:p>
          <a:p>
            <a:pPr>
              <a:lnSpc>
                <a:spcPct val="90000"/>
              </a:lnSpc>
              <a:spcBef>
                <a:spcPct val="20000"/>
              </a:spcBef>
            </a:pPr>
            <a:r>
              <a:rPr lang="en-US" altLang="en-US" sz="1600"/>
              <a:t>Utah, University of</a:t>
            </a:r>
          </a:p>
          <a:p>
            <a:pPr>
              <a:lnSpc>
                <a:spcPct val="90000"/>
              </a:lnSpc>
              <a:spcBef>
                <a:spcPct val="20000"/>
              </a:spcBef>
            </a:pPr>
            <a:r>
              <a:rPr lang="en-US" altLang="en-US" sz="1600"/>
              <a:t>Wisconsin - Milwaukee, University of</a:t>
            </a:r>
          </a:p>
          <a:p>
            <a:pPr>
              <a:lnSpc>
                <a:spcPct val="90000"/>
              </a:lnSpc>
              <a:spcBef>
                <a:spcPct val="20000"/>
              </a:spcBef>
            </a:pPr>
            <a:r>
              <a:rPr lang="en-US" altLang="en-US" sz="1600"/>
              <a:t>Yale University</a:t>
            </a:r>
          </a:p>
          <a:p>
            <a:pPr>
              <a:spcBef>
                <a:spcPct val="50000"/>
              </a:spcBef>
            </a:pPr>
            <a:endParaRPr lang="en-US" altLang="en-US" sz="16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8ABCAC75-D04E-492D-9F88-E86001432136}"/>
              </a:ext>
            </a:extLst>
          </p:cNvPr>
          <p:cNvSpPr>
            <a:spLocks noGrp="1" noChangeArrowheads="1"/>
          </p:cNvSpPr>
          <p:nvPr>
            <p:ph type="title"/>
          </p:nvPr>
        </p:nvSpPr>
        <p:spPr/>
        <p:txBody>
          <a:bodyPr/>
          <a:lstStyle/>
          <a:p>
            <a:r>
              <a:rPr lang="en-US" altLang="en-US"/>
              <a:t>Current NLP Journals</a:t>
            </a:r>
          </a:p>
        </p:txBody>
      </p:sp>
      <p:sp>
        <p:nvSpPr>
          <p:cNvPr id="92163" name="Rectangle 3">
            <a:extLst>
              <a:ext uri="{FF2B5EF4-FFF2-40B4-BE49-F238E27FC236}">
                <a16:creationId xmlns:a16="http://schemas.microsoft.com/office/drawing/2014/main" id="{2125BB69-B470-49B7-9D71-236EC83E52CA}"/>
              </a:ext>
            </a:extLst>
          </p:cNvPr>
          <p:cNvSpPr>
            <a:spLocks noGrp="1" noChangeArrowheads="1"/>
          </p:cNvSpPr>
          <p:nvPr>
            <p:ph type="body" idx="1"/>
          </p:nvPr>
        </p:nvSpPr>
        <p:spPr/>
        <p:txBody>
          <a:bodyPr/>
          <a:lstStyle/>
          <a:p>
            <a:pPr>
              <a:buFontTx/>
              <a:buNone/>
            </a:pPr>
            <a:r>
              <a:rPr lang="en-US" altLang="en-US"/>
              <a:t>Computational Linguistics</a:t>
            </a:r>
          </a:p>
          <a:p>
            <a:pPr>
              <a:buFontTx/>
              <a:buNone/>
            </a:pPr>
            <a:r>
              <a:rPr lang="en-US" altLang="en-US"/>
              <a:t>Journal of Natural Language Engineering (JLNE)</a:t>
            </a:r>
          </a:p>
          <a:p>
            <a:pPr>
              <a:buFontTx/>
              <a:buNone/>
            </a:pPr>
            <a:r>
              <a:rPr lang="en-US" altLang="en-US"/>
              <a:t>Machine Translation</a:t>
            </a:r>
          </a:p>
          <a:p>
            <a:pPr>
              <a:buFontTx/>
              <a:buNone/>
            </a:pPr>
            <a:r>
              <a:rPr lang="en-US" altLang="en-US"/>
              <a:t>Natural Language and Linguistic Theory</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92A85962-7C2D-4B45-8909-9A7E5AF9351E}"/>
              </a:ext>
            </a:extLst>
          </p:cNvPr>
          <p:cNvSpPr>
            <a:spLocks noGrp="1" noChangeArrowheads="1"/>
          </p:cNvSpPr>
          <p:nvPr>
            <p:ph type="title"/>
          </p:nvPr>
        </p:nvSpPr>
        <p:spPr/>
        <p:txBody>
          <a:bodyPr/>
          <a:lstStyle/>
          <a:p>
            <a:r>
              <a:rPr lang="en-US" altLang="en-US"/>
              <a:t>Industrial NLP Research Centers</a:t>
            </a:r>
          </a:p>
        </p:txBody>
      </p:sp>
      <p:sp>
        <p:nvSpPr>
          <p:cNvPr id="93187" name="Rectangle 3">
            <a:extLst>
              <a:ext uri="{FF2B5EF4-FFF2-40B4-BE49-F238E27FC236}">
                <a16:creationId xmlns:a16="http://schemas.microsoft.com/office/drawing/2014/main" id="{74CD85A8-027F-43EB-B572-0CAEEDD48AB0}"/>
              </a:ext>
            </a:extLst>
          </p:cNvPr>
          <p:cNvSpPr>
            <a:spLocks noGrp="1" noChangeArrowheads="1"/>
          </p:cNvSpPr>
          <p:nvPr>
            <p:ph type="body" idx="1"/>
          </p:nvPr>
        </p:nvSpPr>
        <p:spPr>
          <a:xfrm>
            <a:off x="685800" y="1981200"/>
            <a:ext cx="8001000" cy="4572000"/>
          </a:xfrm>
        </p:spPr>
        <p:txBody>
          <a:bodyPr/>
          <a:lstStyle/>
          <a:p>
            <a:pPr>
              <a:lnSpc>
                <a:spcPct val="90000"/>
              </a:lnSpc>
              <a:buFontTx/>
              <a:buNone/>
            </a:pPr>
            <a:r>
              <a:rPr lang="en-US" altLang="en-US" sz="1800"/>
              <a:t>AT&amp;T Labs - Research</a:t>
            </a:r>
          </a:p>
          <a:p>
            <a:pPr>
              <a:lnSpc>
                <a:spcPct val="90000"/>
              </a:lnSpc>
              <a:buFontTx/>
              <a:buNone/>
            </a:pPr>
            <a:r>
              <a:rPr lang="en-US" altLang="en-US" sz="1800"/>
              <a:t>BBN Systems and Technologies Corporation</a:t>
            </a:r>
          </a:p>
          <a:p>
            <a:pPr>
              <a:lnSpc>
                <a:spcPct val="90000"/>
              </a:lnSpc>
              <a:buFontTx/>
              <a:buNone/>
            </a:pPr>
            <a:r>
              <a:rPr lang="en-US" altLang="en-US" sz="1800"/>
              <a:t>DFKI (German research center for AI)</a:t>
            </a:r>
          </a:p>
          <a:p>
            <a:pPr>
              <a:lnSpc>
                <a:spcPct val="90000"/>
              </a:lnSpc>
              <a:buFontTx/>
              <a:buNone/>
            </a:pPr>
            <a:r>
              <a:rPr lang="en-US" altLang="en-US" sz="1800"/>
              <a:t>General Electric R&amp;D</a:t>
            </a:r>
          </a:p>
          <a:p>
            <a:pPr>
              <a:lnSpc>
                <a:spcPct val="90000"/>
              </a:lnSpc>
              <a:buFontTx/>
              <a:buNone/>
            </a:pPr>
            <a:r>
              <a:rPr lang="en-US" altLang="en-US" sz="1800"/>
              <a:t>IRST, Italy</a:t>
            </a:r>
          </a:p>
          <a:p>
            <a:pPr>
              <a:lnSpc>
                <a:spcPct val="90000"/>
              </a:lnSpc>
              <a:buFontTx/>
              <a:buNone/>
            </a:pPr>
            <a:r>
              <a:rPr lang="en-US" altLang="en-US" sz="1800"/>
              <a:t>IBM T.J. Watson Research, NY</a:t>
            </a:r>
          </a:p>
          <a:p>
            <a:pPr>
              <a:lnSpc>
                <a:spcPct val="90000"/>
              </a:lnSpc>
              <a:buFontTx/>
              <a:buNone/>
            </a:pPr>
            <a:r>
              <a:rPr lang="en-US" altLang="en-US" sz="1800"/>
              <a:t>Lucent Technologies Bell Labs, Murray Hill, NJ</a:t>
            </a:r>
          </a:p>
          <a:p>
            <a:pPr>
              <a:lnSpc>
                <a:spcPct val="90000"/>
              </a:lnSpc>
              <a:buFontTx/>
              <a:buNone/>
            </a:pPr>
            <a:r>
              <a:rPr lang="en-US" altLang="en-US" sz="1800"/>
              <a:t>Microsoft Research, Redmond, WA</a:t>
            </a:r>
          </a:p>
          <a:p>
            <a:pPr>
              <a:lnSpc>
                <a:spcPct val="90000"/>
              </a:lnSpc>
              <a:buFontTx/>
              <a:buNone/>
            </a:pPr>
            <a:r>
              <a:rPr lang="en-US" altLang="en-US" sz="1800"/>
              <a:t>MITRE</a:t>
            </a:r>
          </a:p>
          <a:p>
            <a:pPr>
              <a:lnSpc>
                <a:spcPct val="90000"/>
              </a:lnSpc>
              <a:buFontTx/>
              <a:buNone/>
            </a:pPr>
            <a:r>
              <a:rPr lang="en-US" altLang="en-US" sz="1800"/>
              <a:t>NEC Corporation</a:t>
            </a:r>
          </a:p>
          <a:p>
            <a:pPr>
              <a:lnSpc>
                <a:spcPct val="90000"/>
              </a:lnSpc>
              <a:buFontTx/>
              <a:buNone/>
            </a:pPr>
            <a:r>
              <a:rPr lang="en-US" altLang="en-US" sz="1800"/>
              <a:t>SRI International, Menlo Park, CA</a:t>
            </a:r>
          </a:p>
          <a:p>
            <a:pPr>
              <a:lnSpc>
                <a:spcPct val="90000"/>
              </a:lnSpc>
              <a:buFontTx/>
              <a:buNone/>
            </a:pPr>
            <a:r>
              <a:rPr lang="en-US" altLang="en-US" sz="1800"/>
              <a:t>SRI International, Cambridge, UK</a:t>
            </a:r>
          </a:p>
          <a:p>
            <a:pPr>
              <a:lnSpc>
                <a:spcPct val="90000"/>
              </a:lnSpc>
              <a:buFontTx/>
              <a:buNone/>
            </a:pPr>
            <a:r>
              <a:rPr lang="en-US" altLang="en-US" sz="1800"/>
              <a:t>Xerox, Palo Alto, CA</a:t>
            </a:r>
          </a:p>
          <a:p>
            <a:pPr>
              <a:lnSpc>
                <a:spcPct val="90000"/>
              </a:lnSpc>
              <a:buFontTx/>
              <a:buNone/>
            </a:pPr>
            <a:r>
              <a:rPr lang="en-US" altLang="en-US" sz="1800"/>
              <a:t>XRCE, Grenoble, France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50A21022-8BFD-4663-BA25-499B40C31BCA}"/>
              </a:ext>
            </a:extLst>
          </p:cNvPr>
          <p:cNvSpPr>
            <a:spLocks noGrp="1" noChangeArrowheads="1"/>
          </p:cNvSpPr>
          <p:nvPr>
            <p:ph type="title"/>
          </p:nvPr>
        </p:nvSpPr>
        <p:spPr/>
        <p:txBody>
          <a:bodyPr/>
          <a:lstStyle/>
          <a:p>
            <a:r>
              <a:rPr lang="en-US" altLang="en-US"/>
              <a:t>Speaker Goals (Hobbs 1990)</a:t>
            </a:r>
          </a:p>
        </p:txBody>
      </p:sp>
      <p:sp>
        <p:nvSpPr>
          <p:cNvPr id="88067" name="Rectangle 3">
            <a:extLst>
              <a:ext uri="{FF2B5EF4-FFF2-40B4-BE49-F238E27FC236}">
                <a16:creationId xmlns:a16="http://schemas.microsoft.com/office/drawing/2014/main" id="{F5B9AF55-EA49-43B9-A119-8A3D55A5AE2E}"/>
              </a:ext>
            </a:extLst>
          </p:cNvPr>
          <p:cNvSpPr>
            <a:spLocks noGrp="1" noChangeArrowheads="1"/>
          </p:cNvSpPr>
          <p:nvPr>
            <p:ph type="body" idx="1"/>
          </p:nvPr>
        </p:nvSpPr>
        <p:spPr/>
        <p:txBody>
          <a:bodyPr/>
          <a:lstStyle/>
          <a:p>
            <a:pPr>
              <a:buFontTx/>
              <a:buNone/>
            </a:pPr>
            <a:r>
              <a:rPr lang="en-US" altLang="en-US"/>
              <a:t>The Speaker does 4 things:</a:t>
            </a:r>
          </a:p>
          <a:p>
            <a:pPr lvl="1">
              <a:buFontTx/>
              <a:buNone/>
            </a:pPr>
            <a:r>
              <a:rPr lang="en-US" altLang="en-US"/>
              <a:t>	1) wants to convey a message</a:t>
            </a:r>
          </a:p>
          <a:p>
            <a:pPr lvl="1">
              <a:buFontTx/>
              <a:buNone/>
            </a:pPr>
            <a:r>
              <a:rPr lang="en-US" altLang="en-US"/>
              <a:t>	2) has a motivation or goal</a:t>
            </a:r>
          </a:p>
          <a:p>
            <a:pPr lvl="1">
              <a:buFontTx/>
              <a:buNone/>
            </a:pPr>
            <a:r>
              <a:rPr lang="en-US" altLang="en-US"/>
              <a:t>	3) wants to make it easy for the hearer to understand.</a:t>
            </a:r>
          </a:p>
          <a:p>
            <a:pPr lvl="1">
              <a:buFontTx/>
              <a:buNone/>
            </a:pPr>
            <a:r>
              <a:rPr lang="en-US" altLang="en-US"/>
              <a:t>	4) links new information to what hearer knows.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4A7A6596-9E04-4AF5-8AD4-B869B9A5F4B1}"/>
              </a:ext>
            </a:extLst>
          </p:cNvPr>
          <p:cNvSpPr>
            <a:spLocks noGrp="1" noChangeArrowheads="1"/>
          </p:cNvSpPr>
          <p:nvPr>
            <p:ph type="title"/>
          </p:nvPr>
        </p:nvSpPr>
        <p:spPr>
          <a:xfrm>
            <a:off x="609600" y="304800"/>
            <a:ext cx="7772400" cy="685800"/>
          </a:xfrm>
        </p:spPr>
        <p:txBody>
          <a:bodyPr/>
          <a:lstStyle/>
          <a:p>
            <a:r>
              <a:rPr lang="en-US" altLang="en-US"/>
              <a:t>Discourse comprehension</a:t>
            </a:r>
          </a:p>
        </p:txBody>
      </p:sp>
      <p:sp>
        <p:nvSpPr>
          <p:cNvPr id="34819" name="Rectangle 3">
            <a:extLst>
              <a:ext uri="{FF2B5EF4-FFF2-40B4-BE49-F238E27FC236}">
                <a16:creationId xmlns:a16="http://schemas.microsoft.com/office/drawing/2014/main" id="{1C62A81B-B15B-445C-A4CC-B8D61F397B84}"/>
              </a:ext>
            </a:extLst>
          </p:cNvPr>
          <p:cNvSpPr>
            <a:spLocks noGrp="1" noChangeArrowheads="1"/>
          </p:cNvSpPr>
          <p:nvPr>
            <p:ph type="body" idx="1"/>
          </p:nvPr>
        </p:nvSpPr>
        <p:spPr>
          <a:xfrm>
            <a:off x="0" y="1143000"/>
            <a:ext cx="8915400" cy="4876800"/>
          </a:xfrm>
        </p:spPr>
        <p:txBody>
          <a:bodyPr/>
          <a:lstStyle/>
          <a:p>
            <a:pPr algn="just">
              <a:lnSpc>
                <a:spcPct val="90000"/>
              </a:lnSpc>
              <a:buFontTx/>
              <a:buNone/>
            </a:pPr>
            <a:r>
              <a:rPr lang="en-US" altLang="en-US" sz="2400"/>
              <a:t>	The procedure is actually quite simple.  First you arrange things into different groups.  Of course, one pile may be sufficient depending on how much there is to do.  If you have to go somewhere else due to lack of facilities that is the next step, otherwise you are pretty well set.  It is important not to overdo things.  That is, it is better to do too few things at once than too many.  In the short run this may not seem important but complications can easily arise.  A mistake is expensive as well.  At first the whole procedure will seem complicated.  Soon however, it will become just another facet of life.  It is difficult to foresee any end to the necessity of this task in the immediate future, but then one can never tell.  After the procedure is completed one arranges the material into different groups again.  Then they can get put into their appropriate places.  Eventually they will be used once more and the whole cycle will have to be repeated.  However, this is a part of life.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81C4DF9E-C32F-4D35-B9E3-D32AE7655673}"/>
              </a:ext>
            </a:extLst>
          </p:cNvPr>
          <p:cNvSpPr>
            <a:spLocks noGrp="1" noChangeArrowheads="1"/>
          </p:cNvSpPr>
          <p:nvPr>
            <p:ph type="title"/>
          </p:nvPr>
        </p:nvSpPr>
        <p:spPr/>
        <p:txBody>
          <a:bodyPr/>
          <a:lstStyle/>
          <a:p>
            <a:r>
              <a:rPr lang="en-US" altLang="en-US"/>
              <a:t>Now: What do you remember?</a:t>
            </a:r>
          </a:p>
        </p:txBody>
      </p:sp>
      <p:sp>
        <p:nvSpPr>
          <p:cNvPr id="35843" name="Rectangle 3">
            <a:extLst>
              <a:ext uri="{FF2B5EF4-FFF2-40B4-BE49-F238E27FC236}">
                <a16:creationId xmlns:a16="http://schemas.microsoft.com/office/drawing/2014/main" id="{82333579-5C62-444D-B608-F9CA1562A56B}"/>
              </a:ext>
            </a:extLst>
          </p:cNvPr>
          <p:cNvSpPr>
            <a:spLocks noGrp="1" noChangeArrowheads="1"/>
          </p:cNvSpPr>
          <p:nvPr>
            <p:ph type="body" idx="1"/>
          </p:nvPr>
        </p:nvSpPr>
        <p:spPr/>
        <p:txBody>
          <a:bodyPr/>
          <a:lstStyle/>
          <a:p>
            <a:pPr>
              <a:buFontTx/>
              <a:buNone/>
            </a:pPr>
            <a:r>
              <a:rPr lang="en-US" altLang="en-US"/>
              <a:t>What are the four steps mentioned?</a:t>
            </a:r>
          </a:p>
          <a:p>
            <a:pPr>
              <a:buFontTx/>
              <a:buNone/>
            </a:pPr>
            <a:r>
              <a:rPr lang="en-US" altLang="en-US"/>
              <a:t>What step is left out?</a:t>
            </a:r>
          </a:p>
          <a:p>
            <a:pPr>
              <a:buFontTx/>
              <a:buNone/>
            </a:pPr>
            <a:r>
              <a:rPr lang="en-US" altLang="en-US"/>
              <a:t>What is the “material” mentioned?</a:t>
            </a:r>
          </a:p>
          <a:p>
            <a:pPr>
              <a:buFontTx/>
              <a:buNone/>
            </a:pPr>
            <a:r>
              <a:rPr lang="en-US" altLang="en-US"/>
              <a:t>What kind of mistake would be expensive?</a:t>
            </a:r>
          </a:p>
          <a:p>
            <a:pPr>
              <a:buFontTx/>
              <a:buNone/>
            </a:pPr>
            <a:r>
              <a:rPr lang="en-US" altLang="en-US"/>
              <a:t>Is it better to do too few or too many?</a:t>
            </a:r>
          </a:p>
          <a:p>
            <a:pPr>
              <a:buFontTx/>
              <a:buNone/>
            </a:pPr>
            <a:r>
              <a:rPr lang="en-US" altLang="en-US"/>
              <a:t>Why?</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D99A6CFC-87A0-4308-80C0-9C9D6CDFD9EC}"/>
              </a:ext>
            </a:extLst>
          </p:cNvPr>
          <p:cNvSpPr>
            <a:spLocks noGrp="1" noChangeArrowheads="1"/>
          </p:cNvSpPr>
          <p:nvPr>
            <p:ph type="title"/>
          </p:nvPr>
        </p:nvSpPr>
        <p:spPr/>
        <p:txBody>
          <a:bodyPr/>
          <a:lstStyle/>
          <a:p>
            <a:r>
              <a:rPr lang="en-US" altLang="en-US"/>
              <a:t>Oh Yeah --	</a:t>
            </a:r>
          </a:p>
        </p:txBody>
      </p:sp>
      <p:sp>
        <p:nvSpPr>
          <p:cNvPr id="81923" name="Rectangle 3">
            <a:extLst>
              <a:ext uri="{FF2B5EF4-FFF2-40B4-BE49-F238E27FC236}">
                <a16:creationId xmlns:a16="http://schemas.microsoft.com/office/drawing/2014/main" id="{4CA88E35-8101-4AB2-A6E3-5E834B90FC89}"/>
              </a:ext>
            </a:extLst>
          </p:cNvPr>
          <p:cNvSpPr>
            <a:spLocks noGrp="1" noChangeArrowheads="1"/>
          </p:cNvSpPr>
          <p:nvPr>
            <p:ph type="body" idx="1"/>
          </p:nvPr>
        </p:nvSpPr>
        <p:spPr/>
        <p:txBody>
          <a:bodyPr/>
          <a:lstStyle/>
          <a:p>
            <a:pPr>
              <a:buFontTx/>
              <a:buNone/>
            </a:pPr>
            <a:endParaRPr lang="en-US" altLang="en-US"/>
          </a:p>
          <a:p>
            <a:pPr>
              <a:buFontTx/>
              <a:buNone/>
            </a:pPr>
            <a:r>
              <a:rPr lang="en-US" altLang="en-US"/>
              <a:t>The title of the discourse is: </a:t>
            </a:r>
          </a:p>
          <a:p>
            <a:pPr algn="ctr">
              <a:buFontTx/>
              <a:buNone/>
            </a:pPr>
            <a:r>
              <a:rPr lang="en-US" altLang="en-US"/>
              <a:t>“Washing Clothes”</a:t>
            </a:r>
          </a:p>
          <a:p>
            <a:pPr>
              <a:buFontTx/>
              <a:buNone/>
            </a:pPr>
            <a:endParaRPr lang="en-US" altLang="en-US"/>
          </a:p>
          <a:p>
            <a:pPr>
              <a:buFontTx/>
              <a:buNone/>
            </a:pPr>
            <a:r>
              <a:rPr lang="en-US" altLang="en-US"/>
              <a:t>Now, re-read, and see if the questions are easier.  What does this say about discourse comprehension?</a:t>
            </a:r>
          </a:p>
        </p:txBody>
      </p:sp>
    </p:spTree>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491</TotalTime>
  <Words>4862</Words>
  <Application>Microsoft Office PowerPoint</Application>
  <PresentationFormat>On-screen Show (4:3)</PresentationFormat>
  <Paragraphs>664</Paragraphs>
  <Slides>54</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54</vt:i4>
      </vt:variant>
    </vt:vector>
  </HeadingPairs>
  <TitlesOfParts>
    <vt:vector size="58" baseType="lpstr">
      <vt:lpstr>Times New Roman</vt:lpstr>
      <vt:lpstr>Courier New</vt:lpstr>
      <vt:lpstr>Wingdings</vt:lpstr>
      <vt:lpstr>Default Design</vt:lpstr>
      <vt:lpstr>Overview of  Natural Language Processing</vt:lpstr>
      <vt:lpstr>Outline</vt:lpstr>
      <vt:lpstr>Practical Applications</vt:lpstr>
      <vt:lpstr>Machine Translation</vt:lpstr>
      <vt:lpstr>Machine Translation:  Working Systems </vt:lpstr>
      <vt:lpstr>Machine Translation: Difficulties</vt:lpstr>
      <vt:lpstr>Machine Translation: Difficulties</vt:lpstr>
      <vt:lpstr>Machine Translation: Successes</vt:lpstr>
      <vt:lpstr>Example of MAT (page 692)</vt:lpstr>
      <vt:lpstr>Database Access</vt:lpstr>
      <vt:lpstr>Database Access: Working Systems</vt:lpstr>
      <vt:lpstr>Database Access: Difficulties</vt:lpstr>
      <vt:lpstr>Database Access: Conclusion</vt:lpstr>
      <vt:lpstr>Information Retrieval</vt:lpstr>
      <vt:lpstr>Information Retrieval: The task</vt:lpstr>
      <vt:lpstr>Information Retrieval Methods</vt:lpstr>
      <vt:lpstr>Information Retrieval</vt:lpstr>
      <vt:lpstr>Text Categorization</vt:lpstr>
      <vt:lpstr>Text Summarization</vt:lpstr>
      <vt:lpstr>Data extraction</vt:lpstr>
      <vt:lpstr>NLP Goals</vt:lpstr>
      <vt:lpstr>How to get there</vt:lpstr>
      <vt:lpstr>Understanding Sentences: Overview</vt:lpstr>
      <vt:lpstr>Parsing Requirements</vt:lpstr>
      <vt:lpstr>Parsing (from Section 22.4)</vt:lpstr>
      <vt:lpstr>A Parsing Example</vt:lpstr>
      <vt:lpstr>A Parsing Example: The answer</vt:lpstr>
      <vt:lpstr>Lexicons</vt:lpstr>
      <vt:lpstr>Lexicons in Practice</vt:lpstr>
      <vt:lpstr>Ambiguity</vt:lpstr>
      <vt:lpstr>Disambiguation Tools</vt:lpstr>
      <vt:lpstr>Semantic Disambiguation Example: “with”</vt:lpstr>
      <vt:lpstr>More Disambiguation Tools</vt:lpstr>
      <vt:lpstr>Beyond Sentences:  Discourse understanding</vt:lpstr>
      <vt:lpstr>Discourse Understanding: Goals</vt:lpstr>
      <vt:lpstr>Discourse Understanding:  an example</vt:lpstr>
      <vt:lpstr>General world knowledge</vt:lpstr>
      <vt:lpstr>General Structure of Discourse</vt:lpstr>
      <vt:lpstr>Syntax and Semantics</vt:lpstr>
      <vt:lpstr>Specific knowledge about situation</vt:lpstr>
      <vt:lpstr>Structure of coherent discourse</vt:lpstr>
      <vt:lpstr>Speaker Goals (Hobbs 1990)</vt:lpstr>
      <vt:lpstr>A Theory of “Attention”</vt:lpstr>
      <vt:lpstr>Order is important</vt:lpstr>
      <vt:lpstr>Summary</vt:lpstr>
      <vt:lpstr>Current NLP Crowd</vt:lpstr>
      <vt:lpstr>Current NLP conferences</vt:lpstr>
      <vt:lpstr>USA Schools with NLP Grad.</vt:lpstr>
      <vt:lpstr>Current NLP Journals</vt:lpstr>
      <vt:lpstr>Industrial NLP Research Centers</vt:lpstr>
      <vt:lpstr>Speaker Goals (Hobbs 1990)</vt:lpstr>
      <vt:lpstr>Discourse comprehension</vt:lpstr>
      <vt:lpstr>Now: What do you remember?</vt:lpstr>
      <vt:lpstr>Oh Yeah -- </vt:lpstr>
    </vt:vector>
  </TitlesOfParts>
  <Company>University of Nebraska-Lincoln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 of  Natural Language Processing</dc:title>
  <dc:creator>Administrator</dc:creator>
  <cp:lastModifiedBy>kiritdani57@gmail.com</cp:lastModifiedBy>
  <cp:revision>16</cp:revision>
  <dcterms:created xsi:type="dcterms:W3CDTF">2002-01-31T18:55:07Z</dcterms:created>
  <dcterms:modified xsi:type="dcterms:W3CDTF">2021-02-12T07:08:49Z</dcterms:modified>
</cp:coreProperties>
</file>