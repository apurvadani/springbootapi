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57" r:id="rId3"/>
    <p:sldId id="258" r:id="rId4"/>
    <p:sldId id="281" r:id="rId5"/>
    <p:sldId id="304" r:id="rId6"/>
    <p:sldId id="305" r:id="rId7"/>
    <p:sldId id="306" r:id="rId8"/>
    <p:sldId id="291" r:id="rId9"/>
    <p:sldId id="299" r:id="rId10"/>
    <p:sldId id="292" r:id="rId11"/>
    <p:sldId id="293" r:id="rId12"/>
    <p:sldId id="300" r:id="rId13"/>
    <p:sldId id="294" r:id="rId14"/>
    <p:sldId id="301" r:id="rId15"/>
    <p:sldId id="295" r:id="rId16"/>
    <p:sldId id="280" r:id="rId17"/>
    <p:sldId id="259" r:id="rId18"/>
    <p:sldId id="287" r:id="rId19"/>
    <p:sldId id="288" r:id="rId20"/>
    <p:sldId id="316" r:id="rId21"/>
    <p:sldId id="289" r:id="rId22"/>
    <p:sldId id="317" r:id="rId23"/>
    <p:sldId id="318" r:id="rId24"/>
    <p:sldId id="260" r:id="rId25"/>
    <p:sldId id="297" r:id="rId26"/>
    <p:sldId id="303" r:id="rId27"/>
    <p:sldId id="261" r:id="rId28"/>
    <p:sldId id="325" r:id="rId29"/>
    <p:sldId id="326" r:id="rId30"/>
    <p:sldId id="309" r:id="rId31"/>
    <p:sldId id="321" r:id="rId32"/>
    <p:sldId id="322" r:id="rId33"/>
    <p:sldId id="310" r:id="rId34"/>
    <p:sldId id="311" r:id="rId35"/>
    <p:sldId id="312" r:id="rId36"/>
    <p:sldId id="323" r:id="rId37"/>
    <p:sldId id="313" r:id="rId38"/>
    <p:sldId id="319" r:id="rId39"/>
    <p:sldId id="314" r:id="rId40"/>
    <p:sldId id="315" r:id="rId41"/>
    <p:sldId id="265" r:id="rId42"/>
    <p:sldId id="274" r:id="rId43"/>
    <p:sldId id="324" r:id="rId44"/>
    <p:sldId id="275" r:id="rId45"/>
    <p:sldId id="286" r:id="rId46"/>
    <p:sldId id="282" r:id="rId47"/>
    <p:sldId id="283" r:id="rId48"/>
    <p:sldId id="284" r:id="rId49"/>
    <p:sldId id="285" r:id="rId5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56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4AB6E2-C915-4C54-9FC0-38EBDDC0622D}"/>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Rounded Rectangle 10">
            <a:extLst>
              <a:ext uri="{FF2B5EF4-FFF2-40B4-BE49-F238E27FC236}">
                <a16:creationId xmlns:a16="http://schemas.microsoft.com/office/drawing/2014/main" id="{856828DD-FE2C-49CD-B6BD-0A75D4D05AF8}"/>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454783E7-4496-4D3A-8342-194F61BCBBB7}"/>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F4CE75AA-E492-471C-A21B-8EC88FADBAFC}"/>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Rectangle 9">
            <a:extLst>
              <a:ext uri="{FF2B5EF4-FFF2-40B4-BE49-F238E27FC236}">
                <a16:creationId xmlns:a16="http://schemas.microsoft.com/office/drawing/2014/main" id="{312D7D30-B534-43BC-898B-F60BC4AADD60}"/>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a:extLst>
              <a:ext uri="{FF2B5EF4-FFF2-40B4-BE49-F238E27FC236}">
                <a16:creationId xmlns:a16="http://schemas.microsoft.com/office/drawing/2014/main" id="{282D716C-7761-4FDD-AC4B-D8956634C2D7}"/>
              </a:ext>
            </a:extLst>
          </p:cNvPr>
          <p:cNvSpPr>
            <a:spLocks noGrp="1"/>
          </p:cNvSpPr>
          <p:nvPr>
            <p:ph type="dt" sz="half" idx="10"/>
          </p:nvPr>
        </p:nvSpPr>
        <p:spPr/>
        <p:txBody>
          <a:bodyPr/>
          <a:lstStyle>
            <a:lvl1pPr>
              <a:defRPr/>
            </a:lvl1pPr>
          </a:lstStyle>
          <a:p>
            <a:pPr>
              <a:defRPr/>
            </a:pPr>
            <a:fld id="{975704F4-5CEF-4F3F-AAAE-17528971B928}" type="datetimeFigureOut">
              <a:rPr lang="en-US"/>
              <a:pPr>
                <a:defRPr/>
              </a:pPr>
              <a:t>2/10/2021</a:t>
            </a:fld>
            <a:endParaRPr lang="en-US"/>
          </a:p>
        </p:txBody>
      </p:sp>
      <p:sp>
        <p:nvSpPr>
          <p:cNvPr id="12" name="Footer Placeholder 16">
            <a:extLst>
              <a:ext uri="{FF2B5EF4-FFF2-40B4-BE49-F238E27FC236}">
                <a16:creationId xmlns:a16="http://schemas.microsoft.com/office/drawing/2014/main" id="{73F0E380-366D-4D44-A5C3-A47B0B994321}"/>
              </a:ext>
            </a:extLst>
          </p:cNvPr>
          <p:cNvSpPr>
            <a:spLocks noGrp="1"/>
          </p:cNvSpPr>
          <p:nvPr>
            <p:ph type="ftr" sz="quarter" idx="11"/>
          </p:nvPr>
        </p:nvSpPr>
        <p:spPr/>
        <p:txBody>
          <a:bodyPr/>
          <a:lstStyle>
            <a:lvl1pPr>
              <a:defRPr/>
            </a:lvl1pPr>
          </a:lstStyle>
          <a:p>
            <a:pPr>
              <a:defRPr/>
            </a:pPr>
            <a:endParaRPr lang="en-US"/>
          </a:p>
        </p:txBody>
      </p:sp>
      <p:sp>
        <p:nvSpPr>
          <p:cNvPr id="13" name="Slide Number Placeholder 28">
            <a:extLst>
              <a:ext uri="{FF2B5EF4-FFF2-40B4-BE49-F238E27FC236}">
                <a16:creationId xmlns:a16="http://schemas.microsoft.com/office/drawing/2014/main" id="{91ECDD30-215D-466B-ADFB-727EF2DEACE5}"/>
              </a:ext>
            </a:extLst>
          </p:cNvPr>
          <p:cNvSpPr>
            <a:spLocks noGrp="1"/>
          </p:cNvSpPr>
          <p:nvPr>
            <p:ph type="sldNum" sz="quarter" idx="12"/>
          </p:nvPr>
        </p:nvSpPr>
        <p:spPr/>
        <p:txBody>
          <a:bodyPr/>
          <a:lstStyle>
            <a:lvl1pPr>
              <a:defRPr/>
            </a:lvl1pPr>
          </a:lstStyle>
          <a:p>
            <a:fld id="{209F05E7-A0BD-4B9E-90F3-1AB6FC601E2B}" type="slidenum">
              <a:rPr lang="en-US" altLang="en-US"/>
              <a:pPr/>
              <a:t>‹#›</a:t>
            </a:fld>
            <a:endParaRPr lang="en-US" altLang="en-US"/>
          </a:p>
        </p:txBody>
      </p:sp>
    </p:spTree>
    <p:extLst>
      <p:ext uri="{BB962C8B-B14F-4D97-AF65-F5344CB8AC3E}">
        <p14:creationId xmlns:p14="http://schemas.microsoft.com/office/powerpoint/2010/main" val="334703147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0A123D15-78E8-4BE5-A8F2-B84EAD6CE83D}"/>
              </a:ext>
            </a:extLst>
          </p:cNvPr>
          <p:cNvSpPr>
            <a:spLocks noGrp="1"/>
          </p:cNvSpPr>
          <p:nvPr>
            <p:ph type="dt" sz="half" idx="10"/>
          </p:nvPr>
        </p:nvSpPr>
        <p:spPr/>
        <p:txBody>
          <a:bodyPr/>
          <a:lstStyle>
            <a:lvl1pPr>
              <a:defRPr/>
            </a:lvl1pPr>
          </a:lstStyle>
          <a:p>
            <a:pPr>
              <a:defRPr/>
            </a:pPr>
            <a:fld id="{6F9A7FA7-6771-44B7-BD7E-E4D0B9B170E4}" type="datetimeFigureOut">
              <a:rPr lang="en-US"/>
              <a:pPr>
                <a:defRPr/>
              </a:pPr>
              <a:t>2/10/2021</a:t>
            </a:fld>
            <a:endParaRPr lang="en-US"/>
          </a:p>
        </p:txBody>
      </p:sp>
      <p:sp>
        <p:nvSpPr>
          <p:cNvPr id="5" name="Footer Placeholder 2">
            <a:extLst>
              <a:ext uri="{FF2B5EF4-FFF2-40B4-BE49-F238E27FC236}">
                <a16:creationId xmlns:a16="http://schemas.microsoft.com/office/drawing/2014/main" id="{0FD53814-A89A-4CD7-B2D7-B6C2AEAF36C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BDE3673E-A965-4ADE-BA4F-0032B0D496EF}"/>
              </a:ext>
            </a:extLst>
          </p:cNvPr>
          <p:cNvSpPr>
            <a:spLocks noGrp="1"/>
          </p:cNvSpPr>
          <p:nvPr>
            <p:ph type="sldNum" sz="quarter" idx="12"/>
          </p:nvPr>
        </p:nvSpPr>
        <p:spPr/>
        <p:txBody>
          <a:bodyPr/>
          <a:lstStyle>
            <a:lvl1pPr>
              <a:defRPr/>
            </a:lvl1pPr>
          </a:lstStyle>
          <a:p>
            <a:fld id="{DD9DA4FE-68AF-4BA1-BAE2-89A2FB9B6469}" type="slidenum">
              <a:rPr lang="en-US" altLang="en-US"/>
              <a:pPr/>
              <a:t>‹#›</a:t>
            </a:fld>
            <a:endParaRPr lang="en-US" altLang="en-US"/>
          </a:p>
        </p:txBody>
      </p:sp>
    </p:spTree>
    <p:extLst>
      <p:ext uri="{BB962C8B-B14F-4D97-AF65-F5344CB8AC3E}">
        <p14:creationId xmlns:p14="http://schemas.microsoft.com/office/powerpoint/2010/main" val="1297934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2228F2-2539-4F8E-AE55-D1BCF5780885}"/>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Rounded Rectangle 10">
            <a:extLst>
              <a:ext uri="{FF2B5EF4-FFF2-40B4-BE49-F238E27FC236}">
                <a16:creationId xmlns:a16="http://schemas.microsoft.com/office/drawing/2014/main" id="{371CFDB5-EB9E-4CBC-AB07-59A5EB6195B9}"/>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D57EB047-4745-4230-8A25-E2DD0AFA247E}"/>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404DE514-862E-4CC7-A7D3-F33EB3264ACA}"/>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81444368-A1DC-4109-A287-A46665BC42FC}"/>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157C927E-6188-41AE-A97B-CE8F9C95232B}"/>
              </a:ext>
            </a:extLst>
          </p:cNvPr>
          <p:cNvSpPr>
            <a:spLocks noGrp="1"/>
          </p:cNvSpPr>
          <p:nvPr>
            <p:ph type="dt" sz="half" idx="10"/>
          </p:nvPr>
        </p:nvSpPr>
        <p:spPr/>
        <p:txBody>
          <a:bodyPr/>
          <a:lstStyle>
            <a:lvl1pPr>
              <a:defRPr/>
            </a:lvl1pPr>
          </a:lstStyle>
          <a:p>
            <a:pPr>
              <a:defRPr/>
            </a:pPr>
            <a:fld id="{2AD8810B-492F-49D9-BBEA-C5CE36B3249F}" type="datetimeFigureOut">
              <a:rPr lang="en-US"/>
              <a:pPr>
                <a:defRPr/>
              </a:pPr>
              <a:t>2/10/2021</a:t>
            </a:fld>
            <a:endParaRPr lang="en-US"/>
          </a:p>
        </p:txBody>
      </p:sp>
      <p:sp>
        <p:nvSpPr>
          <p:cNvPr id="10" name="Footer Placeholder 4">
            <a:extLst>
              <a:ext uri="{FF2B5EF4-FFF2-40B4-BE49-F238E27FC236}">
                <a16:creationId xmlns:a16="http://schemas.microsoft.com/office/drawing/2014/main" id="{A5E0D9E3-415E-4B67-BB04-74AAEF114426}"/>
              </a:ext>
            </a:extLst>
          </p:cNvPr>
          <p:cNvSpPr>
            <a:spLocks noGrp="1"/>
          </p:cNvSpPr>
          <p:nvPr>
            <p:ph type="ftr" sz="quarter" idx="11"/>
          </p:nvPr>
        </p:nvSpPr>
        <p:spPr>
          <a:xfrm>
            <a:off x="800100" y="6172200"/>
            <a:ext cx="4000500" cy="457200"/>
          </a:xfrm>
        </p:spPr>
        <p:txBody>
          <a:bodyPr/>
          <a:lstStyle>
            <a:lvl1pPr>
              <a:defRPr/>
            </a:lvl1pPr>
          </a:lstStyle>
          <a:p>
            <a:pPr>
              <a:defRPr/>
            </a:pPr>
            <a:endParaRPr lang="en-US"/>
          </a:p>
        </p:txBody>
      </p:sp>
      <p:sp>
        <p:nvSpPr>
          <p:cNvPr id="11" name="Slide Number Placeholder 5">
            <a:extLst>
              <a:ext uri="{FF2B5EF4-FFF2-40B4-BE49-F238E27FC236}">
                <a16:creationId xmlns:a16="http://schemas.microsoft.com/office/drawing/2014/main" id="{9E047940-D2A2-406E-8BD7-E95B12C9527A}"/>
              </a:ext>
            </a:extLst>
          </p:cNvPr>
          <p:cNvSpPr>
            <a:spLocks noGrp="1"/>
          </p:cNvSpPr>
          <p:nvPr>
            <p:ph type="sldNum" sz="quarter" idx="12"/>
          </p:nvPr>
        </p:nvSpPr>
        <p:spPr>
          <a:xfrm>
            <a:off x="146050" y="6208713"/>
            <a:ext cx="457200" cy="457200"/>
          </a:xfrm>
        </p:spPr>
        <p:txBody>
          <a:bodyPr/>
          <a:lstStyle>
            <a:lvl1pPr>
              <a:defRPr/>
            </a:lvl1pPr>
          </a:lstStyle>
          <a:p>
            <a:fld id="{72F5EE98-AC09-4548-BBC0-51B857E16A3C}" type="slidenum">
              <a:rPr lang="en-US" altLang="en-US"/>
              <a:pPr/>
              <a:t>‹#›</a:t>
            </a:fld>
            <a:endParaRPr lang="en-US" altLang="en-US"/>
          </a:p>
        </p:txBody>
      </p:sp>
    </p:spTree>
    <p:extLst>
      <p:ext uri="{BB962C8B-B14F-4D97-AF65-F5344CB8AC3E}">
        <p14:creationId xmlns:p14="http://schemas.microsoft.com/office/powerpoint/2010/main" val="272531446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7D52EEEF-9DB5-4978-BA03-B691985172C6}"/>
              </a:ext>
            </a:extLst>
          </p:cNvPr>
          <p:cNvSpPr>
            <a:spLocks noGrp="1"/>
          </p:cNvSpPr>
          <p:nvPr>
            <p:ph type="dt" sz="half" idx="10"/>
          </p:nvPr>
        </p:nvSpPr>
        <p:spPr/>
        <p:txBody>
          <a:bodyPr/>
          <a:lstStyle>
            <a:lvl1pPr>
              <a:defRPr/>
            </a:lvl1pPr>
          </a:lstStyle>
          <a:p>
            <a:pPr>
              <a:defRPr/>
            </a:pPr>
            <a:fld id="{09B6C1DB-9D13-4C22-A771-50163C91FD3C}" type="datetimeFigureOut">
              <a:rPr lang="en-US"/>
              <a:pPr>
                <a:defRPr/>
              </a:pPr>
              <a:t>2/10/2021</a:t>
            </a:fld>
            <a:endParaRPr lang="en-US"/>
          </a:p>
        </p:txBody>
      </p:sp>
      <p:sp>
        <p:nvSpPr>
          <p:cNvPr id="6" name="Footer Placeholder 2">
            <a:extLst>
              <a:ext uri="{FF2B5EF4-FFF2-40B4-BE49-F238E27FC236}">
                <a16:creationId xmlns:a16="http://schemas.microsoft.com/office/drawing/2014/main" id="{6022F5DC-8D39-448D-A234-654DC407892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DBD2CD7D-34DF-4CF2-9CE7-5266DB323FFC}"/>
              </a:ext>
            </a:extLst>
          </p:cNvPr>
          <p:cNvSpPr>
            <a:spLocks noGrp="1"/>
          </p:cNvSpPr>
          <p:nvPr>
            <p:ph type="sldNum" sz="quarter" idx="12"/>
          </p:nvPr>
        </p:nvSpPr>
        <p:spPr/>
        <p:txBody>
          <a:bodyPr/>
          <a:lstStyle>
            <a:lvl1pPr>
              <a:defRPr/>
            </a:lvl1pPr>
          </a:lstStyle>
          <a:p>
            <a:fld id="{7FC73F7E-2A73-4517-AF1F-6677C041E2E7}" type="slidenum">
              <a:rPr lang="en-US" altLang="en-US"/>
              <a:pPr/>
              <a:t>‹#›</a:t>
            </a:fld>
            <a:endParaRPr lang="en-US" altLang="en-US"/>
          </a:p>
        </p:txBody>
      </p:sp>
    </p:spTree>
    <p:extLst>
      <p:ext uri="{BB962C8B-B14F-4D97-AF65-F5344CB8AC3E}">
        <p14:creationId xmlns:p14="http://schemas.microsoft.com/office/powerpoint/2010/main" val="1654688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a:extLst>
              <a:ext uri="{FF2B5EF4-FFF2-40B4-BE49-F238E27FC236}">
                <a16:creationId xmlns:a16="http://schemas.microsoft.com/office/drawing/2014/main" id="{8E57DBC6-1038-4CB8-A37A-F898F1759F34}"/>
              </a:ext>
            </a:extLst>
          </p:cNvPr>
          <p:cNvSpPr>
            <a:spLocks noGrp="1"/>
          </p:cNvSpPr>
          <p:nvPr>
            <p:ph type="dt" sz="half" idx="10"/>
          </p:nvPr>
        </p:nvSpPr>
        <p:spPr/>
        <p:txBody>
          <a:bodyPr/>
          <a:lstStyle>
            <a:lvl1pPr>
              <a:defRPr/>
            </a:lvl1pPr>
          </a:lstStyle>
          <a:p>
            <a:pPr>
              <a:defRPr/>
            </a:pPr>
            <a:fld id="{5F850278-FB71-4AAF-A04D-F43E3A95F56D}" type="datetimeFigureOut">
              <a:rPr lang="en-US"/>
              <a:pPr>
                <a:defRPr/>
              </a:pPr>
              <a:t>2/10/2021</a:t>
            </a:fld>
            <a:endParaRPr lang="en-US"/>
          </a:p>
        </p:txBody>
      </p:sp>
      <p:sp>
        <p:nvSpPr>
          <p:cNvPr id="8" name="Footer Placeholder 2">
            <a:extLst>
              <a:ext uri="{FF2B5EF4-FFF2-40B4-BE49-F238E27FC236}">
                <a16:creationId xmlns:a16="http://schemas.microsoft.com/office/drawing/2014/main" id="{0368EE6A-753A-4F34-BC8E-7E559090D235}"/>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22">
            <a:extLst>
              <a:ext uri="{FF2B5EF4-FFF2-40B4-BE49-F238E27FC236}">
                <a16:creationId xmlns:a16="http://schemas.microsoft.com/office/drawing/2014/main" id="{7DD82D3E-7463-4BBB-B3CF-3D26BB396585}"/>
              </a:ext>
            </a:extLst>
          </p:cNvPr>
          <p:cNvSpPr>
            <a:spLocks noGrp="1"/>
          </p:cNvSpPr>
          <p:nvPr>
            <p:ph type="sldNum" sz="quarter" idx="12"/>
          </p:nvPr>
        </p:nvSpPr>
        <p:spPr/>
        <p:txBody>
          <a:bodyPr/>
          <a:lstStyle>
            <a:lvl1pPr>
              <a:defRPr/>
            </a:lvl1pPr>
          </a:lstStyle>
          <a:p>
            <a:fld id="{DC625FFD-905D-4263-98F5-DF44D78076C3}" type="slidenum">
              <a:rPr lang="en-US" altLang="en-US"/>
              <a:pPr/>
              <a:t>‹#›</a:t>
            </a:fld>
            <a:endParaRPr lang="en-US" altLang="en-US"/>
          </a:p>
        </p:txBody>
      </p:sp>
    </p:spTree>
    <p:extLst>
      <p:ext uri="{BB962C8B-B14F-4D97-AF65-F5344CB8AC3E}">
        <p14:creationId xmlns:p14="http://schemas.microsoft.com/office/powerpoint/2010/main" val="1604474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22F23681-88B8-4D88-AB18-D688993C2FFD}"/>
              </a:ext>
            </a:extLst>
          </p:cNvPr>
          <p:cNvSpPr>
            <a:spLocks noGrp="1"/>
          </p:cNvSpPr>
          <p:nvPr>
            <p:ph type="dt" sz="half" idx="10"/>
          </p:nvPr>
        </p:nvSpPr>
        <p:spPr/>
        <p:txBody>
          <a:bodyPr/>
          <a:lstStyle>
            <a:lvl1pPr>
              <a:defRPr/>
            </a:lvl1pPr>
          </a:lstStyle>
          <a:p>
            <a:pPr>
              <a:defRPr/>
            </a:pPr>
            <a:fld id="{C14F596D-D55F-4E9F-86E1-F99D47C4D0BB}" type="datetimeFigureOut">
              <a:rPr lang="en-US"/>
              <a:pPr>
                <a:defRPr/>
              </a:pPr>
              <a:t>2/10/2021</a:t>
            </a:fld>
            <a:endParaRPr lang="en-US"/>
          </a:p>
        </p:txBody>
      </p:sp>
      <p:sp>
        <p:nvSpPr>
          <p:cNvPr id="4" name="Footer Placeholder 2">
            <a:extLst>
              <a:ext uri="{FF2B5EF4-FFF2-40B4-BE49-F238E27FC236}">
                <a16:creationId xmlns:a16="http://schemas.microsoft.com/office/drawing/2014/main" id="{AAE8A0D0-EC6D-4D29-B9E0-CEFBB52D00A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5FDD7541-EE63-4CC9-AD39-E22CD72B44AF}"/>
              </a:ext>
            </a:extLst>
          </p:cNvPr>
          <p:cNvSpPr>
            <a:spLocks noGrp="1"/>
          </p:cNvSpPr>
          <p:nvPr>
            <p:ph type="sldNum" sz="quarter" idx="12"/>
          </p:nvPr>
        </p:nvSpPr>
        <p:spPr/>
        <p:txBody>
          <a:bodyPr/>
          <a:lstStyle>
            <a:lvl1pPr>
              <a:defRPr/>
            </a:lvl1pPr>
          </a:lstStyle>
          <a:p>
            <a:fld id="{87435DE7-4F8D-4DA1-933B-19BA215A021D}" type="slidenum">
              <a:rPr lang="en-US" altLang="en-US"/>
              <a:pPr/>
              <a:t>‹#›</a:t>
            </a:fld>
            <a:endParaRPr lang="en-US" altLang="en-US"/>
          </a:p>
        </p:txBody>
      </p:sp>
    </p:spTree>
    <p:extLst>
      <p:ext uri="{BB962C8B-B14F-4D97-AF65-F5344CB8AC3E}">
        <p14:creationId xmlns:p14="http://schemas.microsoft.com/office/powerpoint/2010/main" val="3922045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3798E147-2A99-4C16-AA87-21E62AF826DE}"/>
              </a:ext>
            </a:extLst>
          </p:cNvPr>
          <p:cNvSpPr>
            <a:spLocks noGrp="1"/>
          </p:cNvSpPr>
          <p:nvPr>
            <p:ph type="dt" sz="half" idx="10"/>
          </p:nvPr>
        </p:nvSpPr>
        <p:spPr/>
        <p:txBody>
          <a:bodyPr/>
          <a:lstStyle>
            <a:lvl1pPr>
              <a:defRPr/>
            </a:lvl1pPr>
          </a:lstStyle>
          <a:p>
            <a:pPr>
              <a:defRPr/>
            </a:pPr>
            <a:fld id="{F758E0D2-1238-492C-B0B5-F7EED68A0240}" type="datetimeFigureOut">
              <a:rPr lang="en-US"/>
              <a:pPr>
                <a:defRPr/>
              </a:pPr>
              <a:t>2/10/2021</a:t>
            </a:fld>
            <a:endParaRPr lang="en-US"/>
          </a:p>
        </p:txBody>
      </p:sp>
      <p:sp>
        <p:nvSpPr>
          <p:cNvPr id="3" name="Footer Placeholder 2">
            <a:extLst>
              <a:ext uri="{FF2B5EF4-FFF2-40B4-BE49-F238E27FC236}">
                <a16:creationId xmlns:a16="http://schemas.microsoft.com/office/drawing/2014/main" id="{0E26D29F-E1ED-45EA-B92F-36281176640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BB959ACD-AC02-4741-A658-0678C0835DC0}"/>
              </a:ext>
            </a:extLst>
          </p:cNvPr>
          <p:cNvSpPr>
            <a:spLocks noGrp="1"/>
          </p:cNvSpPr>
          <p:nvPr>
            <p:ph type="sldNum" sz="quarter" idx="12"/>
          </p:nvPr>
        </p:nvSpPr>
        <p:spPr/>
        <p:txBody>
          <a:bodyPr/>
          <a:lstStyle>
            <a:lvl1pPr>
              <a:defRPr/>
            </a:lvl1pPr>
          </a:lstStyle>
          <a:p>
            <a:fld id="{A4D67E31-A11A-4EFE-B658-BC3F1810162B}" type="slidenum">
              <a:rPr lang="en-US" altLang="en-US"/>
              <a:pPr/>
              <a:t>‹#›</a:t>
            </a:fld>
            <a:endParaRPr lang="en-US" altLang="en-US"/>
          </a:p>
        </p:txBody>
      </p:sp>
    </p:spTree>
    <p:extLst>
      <p:ext uri="{BB962C8B-B14F-4D97-AF65-F5344CB8AC3E}">
        <p14:creationId xmlns:p14="http://schemas.microsoft.com/office/powerpoint/2010/main" val="577065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B88E9AB-3885-46D5-B47B-147AAF135A83}"/>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6" name="Rounded Rectangle 10">
            <a:extLst>
              <a:ext uri="{FF2B5EF4-FFF2-40B4-BE49-F238E27FC236}">
                <a16:creationId xmlns:a16="http://schemas.microsoft.com/office/drawing/2014/main" id="{84F39EAB-503F-436D-A4C0-ADCDA192C4A9}"/>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A18C9E65-00EE-4D9A-9280-68446BF382D5}"/>
              </a:ext>
            </a:extLst>
          </p:cNvPr>
          <p:cNvSpPr>
            <a:spLocks noGrp="1"/>
          </p:cNvSpPr>
          <p:nvPr>
            <p:ph type="dt" sz="half" idx="10"/>
          </p:nvPr>
        </p:nvSpPr>
        <p:spPr/>
        <p:txBody>
          <a:bodyPr/>
          <a:lstStyle>
            <a:lvl1pPr>
              <a:defRPr/>
            </a:lvl1pPr>
          </a:lstStyle>
          <a:p>
            <a:pPr>
              <a:defRPr/>
            </a:pPr>
            <a:fld id="{CBEB8D8E-0090-430A-A38E-947CDBB757EE}" type="datetimeFigureOut">
              <a:rPr lang="en-US"/>
              <a:pPr>
                <a:defRPr/>
              </a:pPr>
              <a:t>2/10/2021</a:t>
            </a:fld>
            <a:endParaRPr lang="en-US"/>
          </a:p>
        </p:txBody>
      </p:sp>
      <p:sp>
        <p:nvSpPr>
          <p:cNvPr id="8" name="Footer Placeholder 5">
            <a:extLst>
              <a:ext uri="{FF2B5EF4-FFF2-40B4-BE49-F238E27FC236}">
                <a16:creationId xmlns:a16="http://schemas.microsoft.com/office/drawing/2014/main" id="{52994781-7C5C-4AB4-B8A1-7A4EE67E919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44821859-97B0-4F55-91CE-9C21B3DFACA7}"/>
              </a:ext>
            </a:extLst>
          </p:cNvPr>
          <p:cNvSpPr>
            <a:spLocks noGrp="1"/>
          </p:cNvSpPr>
          <p:nvPr>
            <p:ph type="sldNum" sz="quarter" idx="12"/>
          </p:nvPr>
        </p:nvSpPr>
        <p:spPr/>
        <p:txBody>
          <a:bodyPr/>
          <a:lstStyle>
            <a:lvl1pPr>
              <a:defRPr/>
            </a:lvl1pPr>
          </a:lstStyle>
          <a:p>
            <a:fld id="{87932F0D-3C68-4692-9AF8-18DDBF7B1030}" type="slidenum">
              <a:rPr lang="en-US" altLang="en-US"/>
              <a:pPr/>
              <a:t>‹#›</a:t>
            </a:fld>
            <a:endParaRPr lang="en-US" altLang="en-US"/>
          </a:p>
        </p:txBody>
      </p:sp>
    </p:spTree>
    <p:extLst>
      <p:ext uri="{BB962C8B-B14F-4D97-AF65-F5344CB8AC3E}">
        <p14:creationId xmlns:p14="http://schemas.microsoft.com/office/powerpoint/2010/main" val="2424911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9919B8-92ED-4FE1-B33E-C4724F4FB834}"/>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D10EF88A-3AC4-42A6-B1BE-FFE0ACF3709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4AAB6E74-ADF5-4EFA-801F-6A35C9AA70C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4627BE-5F0F-4BFB-B1E9-3B9817434CC4}"/>
              </a:ext>
            </a:extLst>
          </p:cNvPr>
          <p:cNvSpPr>
            <a:spLocks noGrp="1"/>
          </p:cNvSpPr>
          <p:nvPr>
            <p:ph type="dt" sz="half" idx="10"/>
          </p:nvPr>
        </p:nvSpPr>
        <p:spPr/>
        <p:txBody>
          <a:bodyPr/>
          <a:lstStyle>
            <a:lvl1pPr>
              <a:defRPr/>
            </a:lvl1pPr>
          </a:lstStyle>
          <a:p>
            <a:pPr>
              <a:defRPr/>
            </a:pPr>
            <a:fld id="{2F042309-0DEB-4317-9948-0974ABC9E97A}" type="datetimeFigureOut">
              <a:rPr lang="en-US"/>
              <a:pPr>
                <a:defRPr/>
              </a:pPr>
              <a:t>2/10/2021</a:t>
            </a:fld>
            <a:endParaRPr lang="en-US"/>
          </a:p>
        </p:txBody>
      </p:sp>
      <p:sp>
        <p:nvSpPr>
          <p:cNvPr id="9" name="Footer Placeholder 5">
            <a:extLst>
              <a:ext uri="{FF2B5EF4-FFF2-40B4-BE49-F238E27FC236}">
                <a16:creationId xmlns:a16="http://schemas.microsoft.com/office/drawing/2014/main" id="{1A0FB422-9450-4E21-BCD2-02D0A6E06EA4}"/>
              </a:ext>
            </a:extLst>
          </p:cNvPr>
          <p:cNvSpPr>
            <a:spLocks noGrp="1"/>
          </p:cNvSpPr>
          <p:nvPr>
            <p:ph type="ftr" sz="quarter" idx="11"/>
          </p:nvPr>
        </p:nvSpPr>
        <p:spPr>
          <a:xfrm>
            <a:off x="914400" y="6172200"/>
            <a:ext cx="3886200" cy="457200"/>
          </a:xfrm>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061873E2-3FF5-44F7-A323-76FADF040CD4}"/>
              </a:ext>
            </a:extLst>
          </p:cNvPr>
          <p:cNvSpPr>
            <a:spLocks noGrp="1"/>
          </p:cNvSpPr>
          <p:nvPr>
            <p:ph type="sldNum" sz="quarter" idx="12"/>
          </p:nvPr>
        </p:nvSpPr>
        <p:spPr>
          <a:xfrm>
            <a:off x="146050" y="6208713"/>
            <a:ext cx="457200" cy="457200"/>
          </a:xfrm>
        </p:spPr>
        <p:txBody>
          <a:bodyPr/>
          <a:lstStyle>
            <a:lvl1pPr>
              <a:defRPr/>
            </a:lvl1pPr>
          </a:lstStyle>
          <a:p>
            <a:fld id="{A878015B-2402-4AE9-AE8A-7DE2DBCCAC5D}" type="slidenum">
              <a:rPr lang="en-US" altLang="en-US"/>
              <a:pPr/>
              <a:t>‹#›</a:t>
            </a:fld>
            <a:endParaRPr lang="en-US" altLang="en-US"/>
          </a:p>
        </p:txBody>
      </p:sp>
    </p:spTree>
    <p:extLst>
      <p:ext uri="{BB962C8B-B14F-4D97-AF65-F5344CB8AC3E}">
        <p14:creationId xmlns:p14="http://schemas.microsoft.com/office/powerpoint/2010/main" val="3520726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CF60275A-B76C-4804-AF7F-17A2DA70256A}"/>
              </a:ext>
            </a:extLst>
          </p:cNvPr>
          <p:cNvSpPr>
            <a:spLocks noGrp="1"/>
          </p:cNvSpPr>
          <p:nvPr>
            <p:ph type="dt" sz="half" idx="10"/>
          </p:nvPr>
        </p:nvSpPr>
        <p:spPr/>
        <p:txBody>
          <a:bodyPr/>
          <a:lstStyle>
            <a:lvl1pPr>
              <a:defRPr/>
            </a:lvl1pPr>
          </a:lstStyle>
          <a:p>
            <a:pPr>
              <a:defRPr/>
            </a:pPr>
            <a:fld id="{4AE81F86-080C-4835-95B9-298BA1F95F61}" type="datetimeFigureOut">
              <a:rPr lang="en-US"/>
              <a:pPr>
                <a:defRPr/>
              </a:pPr>
              <a:t>2/10/2021</a:t>
            </a:fld>
            <a:endParaRPr lang="en-US"/>
          </a:p>
        </p:txBody>
      </p:sp>
      <p:sp>
        <p:nvSpPr>
          <p:cNvPr id="5" name="Footer Placeholder 2">
            <a:extLst>
              <a:ext uri="{FF2B5EF4-FFF2-40B4-BE49-F238E27FC236}">
                <a16:creationId xmlns:a16="http://schemas.microsoft.com/office/drawing/2014/main" id="{E49DB9BB-3B12-451B-91E4-DD487F7F01E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5D3DE9D8-B0AB-4ED8-88CB-2D2892FC089D}"/>
              </a:ext>
            </a:extLst>
          </p:cNvPr>
          <p:cNvSpPr>
            <a:spLocks noGrp="1"/>
          </p:cNvSpPr>
          <p:nvPr>
            <p:ph type="sldNum" sz="quarter" idx="12"/>
          </p:nvPr>
        </p:nvSpPr>
        <p:spPr/>
        <p:txBody>
          <a:bodyPr/>
          <a:lstStyle>
            <a:lvl1pPr>
              <a:defRPr/>
            </a:lvl1pPr>
          </a:lstStyle>
          <a:p>
            <a:fld id="{7B28798A-D8D1-4D4C-B311-23840A24FEA1}" type="slidenum">
              <a:rPr lang="en-US" altLang="en-US"/>
              <a:pPr/>
              <a:t>‹#›</a:t>
            </a:fld>
            <a:endParaRPr lang="en-US" altLang="en-US"/>
          </a:p>
        </p:txBody>
      </p:sp>
    </p:spTree>
    <p:extLst>
      <p:ext uri="{BB962C8B-B14F-4D97-AF65-F5344CB8AC3E}">
        <p14:creationId xmlns:p14="http://schemas.microsoft.com/office/powerpoint/2010/main" val="1996174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BCA3F30C-3E72-4C23-B7FA-BCBDA1C5383E}"/>
              </a:ext>
            </a:extLst>
          </p:cNvPr>
          <p:cNvSpPr>
            <a:spLocks noGrp="1"/>
          </p:cNvSpPr>
          <p:nvPr>
            <p:ph type="dt" sz="half" idx="10"/>
          </p:nvPr>
        </p:nvSpPr>
        <p:spPr/>
        <p:txBody>
          <a:bodyPr/>
          <a:lstStyle>
            <a:lvl1pPr>
              <a:defRPr/>
            </a:lvl1pPr>
          </a:lstStyle>
          <a:p>
            <a:pPr>
              <a:defRPr/>
            </a:pPr>
            <a:fld id="{46B63401-2357-473F-AF0D-1D9DFD6FEE05}" type="datetimeFigureOut">
              <a:rPr lang="en-US"/>
              <a:pPr>
                <a:defRPr/>
              </a:pPr>
              <a:t>2/10/2021</a:t>
            </a:fld>
            <a:endParaRPr lang="en-US"/>
          </a:p>
        </p:txBody>
      </p:sp>
      <p:sp>
        <p:nvSpPr>
          <p:cNvPr id="5" name="Footer Placeholder 2">
            <a:extLst>
              <a:ext uri="{FF2B5EF4-FFF2-40B4-BE49-F238E27FC236}">
                <a16:creationId xmlns:a16="http://schemas.microsoft.com/office/drawing/2014/main" id="{1A8725D2-E664-4D5B-84A3-9562664654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FC41FC1B-F6CD-4766-8978-2C02E4580BB9}"/>
              </a:ext>
            </a:extLst>
          </p:cNvPr>
          <p:cNvSpPr>
            <a:spLocks noGrp="1"/>
          </p:cNvSpPr>
          <p:nvPr>
            <p:ph type="sldNum" sz="quarter" idx="12"/>
          </p:nvPr>
        </p:nvSpPr>
        <p:spPr/>
        <p:txBody>
          <a:bodyPr/>
          <a:lstStyle>
            <a:lvl1pPr>
              <a:defRPr/>
            </a:lvl1pPr>
          </a:lstStyle>
          <a:p>
            <a:fld id="{1EBD9F0B-3234-443B-8BB2-A99026FF0CEB}" type="slidenum">
              <a:rPr lang="en-US" altLang="en-US"/>
              <a:pPr/>
              <a:t>‹#›</a:t>
            </a:fld>
            <a:endParaRPr lang="en-US" altLang="en-US"/>
          </a:p>
        </p:txBody>
      </p:sp>
    </p:spTree>
    <p:extLst>
      <p:ext uri="{BB962C8B-B14F-4D97-AF65-F5344CB8AC3E}">
        <p14:creationId xmlns:p14="http://schemas.microsoft.com/office/powerpoint/2010/main" val="2954752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050FB98-A31A-43AB-968B-DFA8150394E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8" name="Rounded Rectangle 7">
            <a:extLst>
              <a:ext uri="{FF2B5EF4-FFF2-40B4-BE49-F238E27FC236}">
                <a16:creationId xmlns:a16="http://schemas.microsoft.com/office/drawing/2014/main" id="{D06150A4-3508-4B33-9B9D-96922736040C}"/>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1028" name="Title Placeholder 21">
            <a:extLst>
              <a:ext uri="{FF2B5EF4-FFF2-40B4-BE49-F238E27FC236}">
                <a16:creationId xmlns:a16="http://schemas.microsoft.com/office/drawing/2014/main" id="{CD7AEF78-8836-4D2D-A31D-BA12FCE5DA38}"/>
              </a:ext>
            </a:extLst>
          </p:cNvPr>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1029" name="Text Placeholder 12">
            <a:extLst>
              <a:ext uri="{FF2B5EF4-FFF2-40B4-BE49-F238E27FC236}">
                <a16:creationId xmlns:a16="http://schemas.microsoft.com/office/drawing/2014/main" id="{1A708DBB-1EF1-4C24-89C4-D41AF9E9743C}"/>
              </a:ext>
            </a:extLst>
          </p:cNvPr>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922AEA23-074C-461E-9D8F-E26D106477A9}"/>
              </a:ext>
            </a:extLst>
          </p:cNvPr>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latin typeface="Arial" charset="0"/>
              </a:defRPr>
            </a:lvl1pPr>
          </a:lstStyle>
          <a:p>
            <a:pPr>
              <a:defRPr/>
            </a:pPr>
            <a:fld id="{D144B3EE-21D4-461E-9C42-7A118735455E}" type="datetimeFigureOut">
              <a:rPr lang="en-US"/>
              <a:pPr>
                <a:defRPr/>
              </a:pPr>
              <a:t>2/10/2021</a:t>
            </a:fld>
            <a:endParaRPr lang="en-US"/>
          </a:p>
        </p:txBody>
      </p:sp>
      <p:sp>
        <p:nvSpPr>
          <p:cNvPr id="3" name="Footer Placeholder 2">
            <a:extLst>
              <a:ext uri="{FF2B5EF4-FFF2-40B4-BE49-F238E27FC236}">
                <a16:creationId xmlns:a16="http://schemas.microsoft.com/office/drawing/2014/main" id="{A1C7DF7E-6B14-4D31-8A68-6A6CFEB55C5E}"/>
              </a:ext>
            </a:extLst>
          </p:cNvPr>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latin typeface="Arial" charset="0"/>
              </a:defRPr>
            </a:lvl1pPr>
          </a:lstStyle>
          <a:p>
            <a:pPr>
              <a:defRPr/>
            </a:pPr>
            <a:endParaRPr lang="en-US"/>
          </a:p>
        </p:txBody>
      </p:sp>
      <p:sp>
        <p:nvSpPr>
          <p:cNvPr id="23" name="Slide Number Placeholder 22">
            <a:extLst>
              <a:ext uri="{FF2B5EF4-FFF2-40B4-BE49-F238E27FC236}">
                <a16:creationId xmlns:a16="http://schemas.microsoft.com/office/drawing/2014/main" id="{D0E10F1F-B04A-477E-AAC3-313B49A15FA7}"/>
              </a:ext>
            </a:extLst>
          </p:cNvPr>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a:defRPr sz="1400">
                <a:solidFill>
                  <a:srgbClr val="FFFFFF"/>
                </a:solidFill>
                <a:latin typeface="Franklin Gothic Book" panose="020B0503020102020204" pitchFamily="34" charset="0"/>
              </a:defRPr>
            </a:lvl1pPr>
          </a:lstStyle>
          <a:p>
            <a:fld id="{6FD4FBA9-5B60-48C1-9324-05CCB0094D7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54" r:id="rId1"/>
    <p:sldLayoutId id="2147483747" r:id="rId2"/>
    <p:sldLayoutId id="2147483755" r:id="rId3"/>
    <p:sldLayoutId id="2147483748" r:id="rId4"/>
    <p:sldLayoutId id="2147483749" r:id="rId5"/>
    <p:sldLayoutId id="2147483750" r:id="rId6"/>
    <p:sldLayoutId id="2147483751" r:id="rId7"/>
    <p:sldLayoutId id="2147483756" r:id="rId8"/>
    <p:sldLayoutId id="2147483757" r:id="rId9"/>
    <p:sldLayoutId id="2147483752" r:id="rId10"/>
    <p:sldLayoutId id="2147483753" r:id="rId11"/>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tourism.gov.in/TourismDivision/PageView.aspx?Name=Publicity%20and%20Marketing&amp;PageID=2" TargetMode="External"/><Relationship Id="rId7" Type="http://schemas.openxmlformats.org/officeDocument/2006/relationships/hyperlink" Target="http://tourism.gov.in/TourismDivision/PageView.aspx?Name=Publicity%20and%20Marketing&amp;PageID=6" TargetMode="External"/><Relationship Id="rId2" Type="http://schemas.openxmlformats.org/officeDocument/2006/relationships/hyperlink" Target="http://tourism.gov.in/TourismDivision/PageView.aspx?Name=Publicity%20and%20Marketing&amp;PageID=1" TargetMode="External"/><Relationship Id="rId1" Type="http://schemas.openxmlformats.org/officeDocument/2006/relationships/slideLayout" Target="../slideLayouts/slideLayout2.xml"/><Relationship Id="rId6" Type="http://schemas.openxmlformats.org/officeDocument/2006/relationships/hyperlink" Target="http://tourism.gov.in/TourismDivision/PageView.aspx?Name=Publicity%20and%20Marketing&amp;PageID=5" TargetMode="External"/><Relationship Id="rId5" Type="http://schemas.openxmlformats.org/officeDocument/2006/relationships/hyperlink" Target="http://tourism.gov.in/TourismDivision/PageView.aspx?Name=Publicity%20and%20Marketing&amp;PageID=4" TargetMode="External"/><Relationship Id="rId4" Type="http://schemas.openxmlformats.org/officeDocument/2006/relationships/hyperlink" Target="http://tourism.gov.in/TourismDivision/PageView.aspx?Name=Publicity%20and%20Marketing&amp;PageID=3"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tourism.gov.in/TourismDivision/PageView.aspx?Name=Publicity%20and%20Marketing&amp;PageID=5"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tourism.gov.in/TourismDivision/PageView.aspx?Name=Publicity%20and%20Marketing&amp;PageID=6"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www.ttdconline.com/tourname.do?title=Rail%20Tour" TargetMode="External"/><Relationship Id="rId7" Type="http://schemas.openxmlformats.org/officeDocument/2006/relationships/hyperlink" Target="http://www.ttdconline.com/PreponeTour.do" TargetMode="External"/><Relationship Id="rId2" Type="http://schemas.openxmlformats.org/officeDocument/2006/relationships/hyperlink" Target="http://www.ttdconline.com/tourname.do?title=Package" TargetMode="External"/><Relationship Id="rId1" Type="http://schemas.openxmlformats.org/officeDocument/2006/relationships/slideLayout" Target="../slideLayouts/slideLayout2.xml"/><Relationship Id="rId6" Type="http://schemas.openxmlformats.org/officeDocument/2006/relationships/hyperlink" Target="http://www.ttdconline.com/cancelTour.do" TargetMode="External"/><Relationship Id="rId5" Type="http://schemas.openxmlformats.org/officeDocument/2006/relationships/hyperlink" Target="http://www.ttdconline.com/tourname.do?title=SPECIAL" TargetMode="External"/><Relationship Id="rId4" Type="http://schemas.openxmlformats.org/officeDocument/2006/relationships/hyperlink" Target="http://www.ttdconline.com/tourname.do?title=LTC"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6146" name="Subtitle 2">
            <a:extLst>
              <a:ext uri="{FF2B5EF4-FFF2-40B4-BE49-F238E27FC236}">
                <a16:creationId xmlns:a16="http://schemas.microsoft.com/office/drawing/2014/main" id="{BE81DEC8-A3C2-446E-8FC6-4950C17C7B28}"/>
              </a:ext>
            </a:extLst>
          </p:cNvPr>
          <p:cNvSpPr>
            <a:spLocks noGrp="1"/>
          </p:cNvSpPr>
          <p:nvPr>
            <p:ph type="subTitle" idx="1"/>
          </p:nvPr>
        </p:nvSpPr>
        <p:spPr>
          <a:xfrm>
            <a:off x="2438400" y="6324600"/>
            <a:ext cx="6400800" cy="533400"/>
          </a:xfrm>
        </p:spPr>
        <p:txBody>
          <a:bodyPr/>
          <a:lstStyle/>
          <a:p>
            <a:pPr algn="r" eaLnBrk="1" hangingPunct="1"/>
            <a:r>
              <a:rPr lang="en-US" altLang="en-US" b="1">
                <a:solidFill>
                  <a:srgbClr val="0070C0"/>
                </a:solidFill>
              </a:rPr>
              <a:t>S. Manikandan</a:t>
            </a:r>
          </a:p>
        </p:txBody>
      </p:sp>
      <p:sp>
        <p:nvSpPr>
          <p:cNvPr id="6147" name="TextBox 4">
            <a:extLst>
              <a:ext uri="{FF2B5EF4-FFF2-40B4-BE49-F238E27FC236}">
                <a16:creationId xmlns:a16="http://schemas.microsoft.com/office/drawing/2014/main" id="{3DFAA56D-D79C-4C42-977C-D6F4013DF50D}"/>
              </a:ext>
            </a:extLst>
          </p:cNvPr>
          <p:cNvSpPr txBox="1">
            <a:spLocks noChangeArrowheads="1"/>
          </p:cNvSpPr>
          <p:nvPr/>
        </p:nvSpPr>
        <p:spPr bwMode="auto">
          <a:xfrm>
            <a:off x="914400" y="1752600"/>
            <a:ext cx="7162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5400" b="1">
                <a:solidFill>
                  <a:srgbClr val="002060"/>
                </a:solidFill>
              </a:rPr>
              <a:t>Tourism Marketing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0F9B18C4-2E0C-4609-8B9C-66939EB143FC}"/>
              </a:ext>
            </a:extLst>
          </p:cNvPr>
          <p:cNvSpPr>
            <a:spLocks noGrp="1"/>
          </p:cNvSpPr>
          <p:nvPr>
            <p:ph type="title"/>
          </p:nvPr>
        </p:nvSpPr>
        <p:spPr/>
        <p:txBody>
          <a:bodyPr/>
          <a:lstStyle/>
          <a:p>
            <a:pPr algn="ctr" eaLnBrk="1" hangingPunct="1"/>
            <a:r>
              <a:rPr lang="en-US" altLang="en-US" sz="4800" b="1">
                <a:solidFill>
                  <a:srgbClr val="C00000"/>
                </a:solidFill>
              </a:rPr>
              <a:t>Tourism</a:t>
            </a:r>
          </a:p>
        </p:txBody>
      </p:sp>
      <p:sp>
        <p:nvSpPr>
          <p:cNvPr id="7171" name="Content Placeholder 2">
            <a:extLst>
              <a:ext uri="{FF2B5EF4-FFF2-40B4-BE49-F238E27FC236}">
                <a16:creationId xmlns:a16="http://schemas.microsoft.com/office/drawing/2014/main" id="{59B0476F-1C5B-4F9A-BD1E-BA9A7A867E0A}"/>
              </a:ext>
            </a:extLst>
          </p:cNvPr>
          <p:cNvSpPr>
            <a:spLocks noGrp="1"/>
          </p:cNvSpPr>
          <p:nvPr>
            <p:ph sz="quarter" idx="1"/>
          </p:nvPr>
        </p:nvSpPr>
        <p:spPr>
          <a:xfrm>
            <a:off x="685800" y="1371600"/>
            <a:ext cx="7772400" cy="4572000"/>
          </a:xfrm>
        </p:spPr>
        <p:txBody>
          <a:bodyPr/>
          <a:lstStyle/>
          <a:p>
            <a:pPr eaLnBrk="1" hangingPunct="1">
              <a:buFont typeface="Arial" panose="020B0604020202020204" pitchFamily="34" charset="0"/>
              <a:buChar char="•"/>
            </a:pPr>
            <a:r>
              <a:rPr lang="en-US" altLang="en-US" sz="2800"/>
              <a:t>Meaning </a:t>
            </a:r>
          </a:p>
          <a:p>
            <a:pPr eaLnBrk="1" hangingPunct="1">
              <a:buFont typeface="Arial" panose="020B0604020202020204" pitchFamily="34" charset="0"/>
              <a:buNone/>
            </a:pPr>
            <a:endParaRPr lang="en-US" altLang="en-US" sz="2800"/>
          </a:p>
          <a:p>
            <a:pPr eaLnBrk="1" hangingPunct="1">
              <a:buFont typeface="Arial" panose="020B0604020202020204" pitchFamily="34" charset="0"/>
              <a:buNone/>
            </a:pPr>
            <a:r>
              <a:rPr lang="en-US" altLang="en-US" sz="2800"/>
              <a:t>	</a:t>
            </a:r>
            <a:r>
              <a:rPr lang="en-US" altLang="en-US" sz="2800">
                <a:solidFill>
                  <a:srgbClr val="0070C0"/>
                </a:solidFill>
              </a:rPr>
              <a:t>“the commercial organization and operation of holidays and visits to places of interest”</a:t>
            </a:r>
          </a:p>
          <a:p>
            <a:pPr eaLnBrk="1" hangingPunct="1">
              <a:buFont typeface="Arial" panose="020B0604020202020204" pitchFamily="34" charset="0"/>
              <a:buNone/>
            </a:pPr>
            <a:endParaRPr lang="en-US" altLang="en-US" sz="2800"/>
          </a:p>
          <a:p>
            <a:pPr eaLnBrk="1" hangingPunct="1">
              <a:buFont typeface="Arial" panose="020B0604020202020204" pitchFamily="34" charset="0"/>
              <a:buNone/>
            </a:pPr>
            <a:r>
              <a:rPr lang="en-US" altLang="en-US" sz="2800"/>
              <a:t>	</a:t>
            </a:r>
            <a:r>
              <a:rPr lang="en-US" altLang="en-US" sz="2800">
                <a:solidFill>
                  <a:srgbClr val="00B050"/>
                </a:solidFill>
              </a:rPr>
              <a:t>Tourism is recognized as a powerful engine for economic growth and employment generation. The tourism sector is the largest service industry in the country, its importance lies in being an instrument for economic development and employment generation, particularly in the remote parts of the country.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873D341C-506B-43D7-948F-8C9BC50D7BBC}"/>
              </a:ext>
            </a:extLst>
          </p:cNvPr>
          <p:cNvSpPr>
            <a:spLocks noGrp="1"/>
          </p:cNvSpPr>
          <p:nvPr>
            <p:ph sz="quarter" idx="1"/>
          </p:nvPr>
        </p:nvSpPr>
        <p:spPr>
          <a:xfrm>
            <a:off x="304800" y="1295400"/>
            <a:ext cx="8229600" cy="2590800"/>
          </a:xfrm>
        </p:spPr>
        <p:txBody>
          <a:bodyPr/>
          <a:lstStyle/>
          <a:p>
            <a:pPr eaLnBrk="1" hangingPunct="1"/>
            <a:endParaRPr lang="en-US" altLang="en-US"/>
          </a:p>
          <a:p>
            <a:pPr eaLnBrk="1" hangingPunct="1"/>
            <a:endParaRPr lang="en-US" altLang="en-US"/>
          </a:p>
          <a:p>
            <a:pPr eaLnBrk="1" hangingPunct="1"/>
            <a:endParaRPr lang="en-US" altLang="en-US"/>
          </a:p>
          <a:p>
            <a:pPr algn="ctr" eaLnBrk="1" hangingPunct="1">
              <a:buFont typeface="Arial" panose="020B0604020202020204" pitchFamily="34" charset="0"/>
              <a:buNone/>
            </a:pPr>
            <a:r>
              <a:rPr lang="en-US" altLang="en-US" sz="6600" b="1">
                <a:solidFill>
                  <a:srgbClr val="C00000"/>
                </a:solidFill>
              </a:rPr>
              <a:t>Tourism in India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6E7"/>
        </a:solidFill>
        <a:effectLst/>
      </p:bgPr>
    </p:bg>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104C39E-5FE7-4449-BA71-66D455F134E9}"/>
              </a:ext>
            </a:extLst>
          </p:cNvPr>
          <p:cNvSpPr>
            <a:spLocks noGrp="1"/>
          </p:cNvSpPr>
          <p:nvPr>
            <p:ph type="title"/>
          </p:nvPr>
        </p:nvSpPr>
        <p:spPr/>
        <p:txBody>
          <a:bodyPr/>
          <a:lstStyle/>
          <a:p>
            <a:pPr eaLnBrk="1" hangingPunct="1"/>
            <a:r>
              <a:rPr lang="en-US" altLang="en-US" b="1">
                <a:solidFill>
                  <a:srgbClr val="00B050"/>
                </a:solidFill>
              </a:rPr>
              <a:t>Ministry of Tourism (Govt. of India)</a:t>
            </a:r>
          </a:p>
        </p:txBody>
      </p:sp>
      <p:sp>
        <p:nvSpPr>
          <p:cNvPr id="3" name="Content Placeholder 2">
            <a:extLst>
              <a:ext uri="{FF2B5EF4-FFF2-40B4-BE49-F238E27FC236}">
                <a16:creationId xmlns:a16="http://schemas.microsoft.com/office/drawing/2014/main" id="{828C7571-767C-4B13-860A-02087C8C65AB}"/>
              </a:ext>
            </a:extLst>
          </p:cNvPr>
          <p:cNvSpPr>
            <a:spLocks noGrp="1"/>
          </p:cNvSpPr>
          <p:nvPr>
            <p:ph sz="quarter" idx="1"/>
          </p:nvPr>
        </p:nvSpPr>
        <p:spPr/>
        <p:txBody>
          <a:bodyPr rtlCol="0">
            <a:normAutofit lnSpcReduction="10000"/>
          </a:bodyPr>
          <a:lstStyle/>
          <a:p>
            <a:pPr marL="365760" indent="-283464" eaLnBrk="1" fontAlgn="auto" hangingPunct="1">
              <a:spcBef>
                <a:spcPts val="580"/>
              </a:spcBef>
              <a:spcAft>
                <a:spcPts val="0"/>
              </a:spcAft>
              <a:buFont typeface="Wingdings 2"/>
              <a:buChar char=""/>
              <a:defRPr/>
            </a:pPr>
            <a:r>
              <a:rPr lang="en-US" b="1" dirty="0"/>
              <a:t>Dr. Mahesh Sharma</a:t>
            </a:r>
          </a:p>
          <a:p>
            <a:pPr marL="365760" indent="-283464" eaLnBrk="1" fontAlgn="auto" hangingPunct="1">
              <a:spcBef>
                <a:spcPts val="580"/>
              </a:spcBef>
              <a:spcAft>
                <a:spcPts val="0"/>
              </a:spcAft>
              <a:buFont typeface="Wingdings 2"/>
              <a:buChar char=""/>
              <a:defRPr/>
            </a:pPr>
            <a:r>
              <a:rPr lang="en-US" b="1" dirty="0"/>
              <a:t>Minister of State</a:t>
            </a:r>
          </a:p>
          <a:p>
            <a:pPr marL="365760" indent="-283464" eaLnBrk="1" fontAlgn="auto" hangingPunct="1">
              <a:spcBef>
                <a:spcPts val="580"/>
              </a:spcBef>
              <a:spcAft>
                <a:spcPts val="0"/>
              </a:spcAft>
              <a:buFont typeface="Wingdings 2"/>
              <a:buChar char=""/>
              <a:defRPr/>
            </a:pPr>
            <a:r>
              <a:rPr lang="en-US" b="1" dirty="0"/>
              <a:t>(Independent Charge)</a:t>
            </a:r>
          </a:p>
          <a:p>
            <a:pPr marL="365760" indent="-283464" eaLnBrk="1" fontAlgn="auto" hangingPunct="1">
              <a:spcBef>
                <a:spcPts val="580"/>
              </a:spcBef>
              <a:spcAft>
                <a:spcPts val="0"/>
              </a:spcAft>
              <a:buFont typeface="Wingdings 2"/>
              <a:buChar char=""/>
              <a:defRPr/>
            </a:pPr>
            <a:r>
              <a:rPr lang="en-US" b="1" dirty="0"/>
              <a:t>Email Address   :</a:t>
            </a:r>
            <a:endParaRPr lang="en-US" dirty="0"/>
          </a:p>
          <a:p>
            <a:pPr marL="365760" indent="-283464" eaLnBrk="1" fontAlgn="auto" hangingPunct="1">
              <a:spcBef>
                <a:spcPts val="580"/>
              </a:spcBef>
              <a:spcAft>
                <a:spcPts val="0"/>
              </a:spcAft>
              <a:buFont typeface="Wingdings 2"/>
              <a:buChar char=""/>
              <a:defRPr/>
            </a:pPr>
            <a:r>
              <a:rPr lang="en-US" dirty="0"/>
              <a:t>tourismminister@nic.in;</a:t>
            </a:r>
            <a:br>
              <a:rPr lang="en-US" dirty="0"/>
            </a:br>
            <a:r>
              <a:rPr lang="en-US" dirty="0"/>
              <a:t>dr.mahesh@sansad.nic.in</a:t>
            </a:r>
          </a:p>
          <a:p>
            <a:pPr marL="365760" indent="-283464" eaLnBrk="1" fontAlgn="auto" hangingPunct="1">
              <a:spcBef>
                <a:spcPts val="580"/>
              </a:spcBef>
              <a:spcAft>
                <a:spcPts val="0"/>
              </a:spcAft>
              <a:buFont typeface="Wingdings 2"/>
              <a:buChar char=""/>
              <a:defRPr/>
            </a:pPr>
            <a:r>
              <a:rPr lang="en-US" b="1" dirty="0"/>
              <a:t>Mobile</a:t>
            </a:r>
            <a:endParaRPr lang="en-US" dirty="0"/>
          </a:p>
          <a:p>
            <a:pPr marL="365760" indent="-283464" eaLnBrk="1" fontAlgn="auto" hangingPunct="1">
              <a:spcBef>
                <a:spcPts val="580"/>
              </a:spcBef>
              <a:spcAft>
                <a:spcPts val="0"/>
              </a:spcAft>
              <a:buFont typeface="Arial" pitchFamily="34" charset="0"/>
              <a:buNone/>
              <a:defRPr/>
            </a:pPr>
            <a:r>
              <a:rPr lang="en-US" dirty="0"/>
              <a:t>	+91-9873444255 </a:t>
            </a:r>
          </a:p>
          <a:p>
            <a:pPr marL="365760" indent="-283464" eaLnBrk="1" fontAlgn="auto" hangingPunct="1">
              <a:spcBef>
                <a:spcPts val="580"/>
              </a:spcBef>
              <a:spcAft>
                <a:spcPts val="0"/>
              </a:spcAft>
              <a:buFont typeface="Wingdings 2"/>
              <a:buChar char=""/>
              <a:defRPr/>
            </a:pPr>
            <a:r>
              <a:rPr lang="en-US" b="1" dirty="0"/>
              <a:t>Telephone</a:t>
            </a:r>
            <a:endParaRPr lang="en-US" dirty="0"/>
          </a:p>
          <a:p>
            <a:pPr marL="365760" indent="-283464" eaLnBrk="1" fontAlgn="auto" hangingPunct="1">
              <a:spcBef>
                <a:spcPts val="580"/>
              </a:spcBef>
              <a:spcAft>
                <a:spcPts val="0"/>
              </a:spcAft>
              <a:buFont typeface="Arial" pitchFamily="34" charset="0"/>
              <a:buNone/>
              <a:defRPr/>
            </a:pPr>
            <a:r>
              <a:rPr lang="en-US" dirty="0"/>
              <a:t>	0120- 244 44 44, 246 66 66 </a:t>
            </a:r>
          </a:p>
          <a:p>
            <a:pPr marL="365760" indent="-283464" eaLnBrk="1" fontAlgn="auto" hangingPunct="1">
              <a:spcBef>
                <a:spcPts val="580"/>
              </a:spcBef>
              <a:spcAft>
                <a:spcPts val="0"/>
              </a:spcAft>
              <a:buFont typeface="Wingdings 2"/>
              <a:buChar char=""/>
              <a:defRPr/>
            </a:pPr>
            <a:endParaRPr lang="en-US" dirty="0"/>
          </a:p>
        </p:txBody>
      </p:sp>
      <p:pic>
        <p:nvPicPr>
          <p:cNvPr id="9220" name="Picture 2">
            <a:extLst>
              <a:ext uri="{FF2B5EF4-FFF2-40B4-BE49-F238E27FC236}">
                <a16:creationId xmlns:a16="http://schemas.microsoft.com/office/drawing/2014/main" id="{7359FD74-9EBA-4718-BC4E-B1BEF5C95B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1371600"/>
            <a:ext cx="2014538"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9FC75-41B9-4A4F-8F71-113B96E54F6C}"/>
              </a:ext>
            </a:extLst>
          </p:cNvPr>
          <p:cNvSpPr>
            <a:spLocks noGrp="1"/>
          </p:cNvSpPr>
          <p:nvPr>
            <p:ph type="title"/>
          </p:nvPr>
        </p:nvSpPr>
        <p:spPr>
          <a:xfrm>
            <a:off x="457200" y="274638"/>
            <a:ext cx="8229600" cy="639762"/>
          </a:xfrm>
        </p:spPr>
        <p:txBody>
          <a:bodyPr rtlCol="0">
            <a:normAutofit fontScale="90000"/>
          </a:bodyPr>
          <a:lstStyle/>
          <a:p>
            <a:pPr eaLnBrk="1" fontAlgn="auto" hangingPunct="1">
              <a:spcAft>
                <a:spcPts val="0"/>
              </a:spcAft>
              <a:defRPr/>
            </a:pPr>
            <a:r>
              <a:rPr lang="en-US" dirty="0">
                <a:solidFill>
                  <a:srgbClr val="C00000"/>
                </a:solidFill>
              </a:rPr>
              <a:t>Tourism</a:t>
            </a:r>
          </a:p>
        </p:txBody>
      </p:sp>
      <p:sp>
        <p:nvSpPr>
          <p:cNvPr id="10243" name="Content Placeholder 2">
            <a:extLst>
              <a:ext uri="{FF2B5EF4-FFF2-40B4-BE49-F238E27FC236}">
                <a16:creationId xmlns:a16="http://schemas.microsoft.com/office/drawing/2014/main" id="{FAEC0F41-AE9F-418E-8B96-0A1D32EA93C9}"/>
              </a:ext>
            </a:extLst>
          </p:cNvPr>
          <p:cNvSpPr>
            <a:spLocks noGrp="1"/>
          </p:cNvSpPr>
          <p:nvPr>
            <p:ph sz="quarter" idx="1"/>
          </p:nvPr>
        </p:nvSpPr>
        <p:spPr>
          <a:xfrm>
            <a:off x="457200" y="1143000"/>
            <a:ext cx="8229600" cy="5334000"/>
          </a:xfrm>
        </p:spPr>
        <p:txBody>
          <a:bodyPr/>
          <a:lstStyle/>
          <a:p>
            <a:pPr eaLnBrk="1" hangingPunct="1">
              <a:buFont typeface="Arial" panose="020B0604020202020204" pitchFamily="34" charset="0"/>
              <a:buChar char="•"/>
            </a:pPr>
            <a:r>
              <a:rPr lang="en-US" altLang="en-US" b="1">
                <a:solidFill>
                  <a:srgbClr val="00B050"/>
                </a:solidFill>
              </a:rPr>
              <a:t>Tourism is the temporary, short-term movement of people to destination outside the places where they normally live and work and their activities during the stay at each destination. It includes movements for all purposes. </a:t>
            </a:r>
          </a:p>
          <a:p>
            <a:pPr eaLnBrk="1" hangingPunct="1">
              <a:buFont typeface="Arial" panose="020B0604020202020204" pitchFamily="34" charset="0"/>
              <a:buChar char="•"/>
            </a:pPr>
            <a:r>
              <a:rPr lang="en-US" altLang="en-US" b="1">
                <a:solidFill>
                  <a:srgbClr val="00B050"/>
                </a:solidFill>
              </a:rPr>
              <a:t>India is poised to emerge as the 2nd fastest growing (8.8%) tourism economy in the world over 2005-14 according to the World Travel &amp;Tourism</a:t>
            </a:r>
          </a:p>
          <a:p>
            <a:pPr eaLnBrk="1" hangingPunct="1">
              <a:buFont typeface="Arial" panose="020B0604020202020204" pitchFamily="34" charset="0"/>
              <a:buChar char="•"/>
            </a:pPr>
            <a:r>
              <a:rPr lang="en-US" altLang="en-US" b="1">
                <a:solidFill>
                  <a:srgbClr val="00B050"/>
                </a:solidFill>
              </a:rPr>
              <a:t>India is now recognized as a year round destination</a:t>
            </a:r>
          </a:p>
          <a:p>
            <a:pPr eaLnBrk="1" hangingPunct="1">
              <a:buFont typeface="Arial" panose="020B0604020202020204" pitchFamily="34" charset="0"/>
              <a:buChar char="•"/>
            </a:pPr>
            <a:r>
              <a:rPr lang="en-US" altLang="en-US" b="1">
                <a:solidFill>
                  <a:srgbClr val="00B050"/>
                </a:solidFill>
              </a:rPr>
              <a:t>According to World Tourism Organization estimates, India will lead in South Asia with 8.9 million arrivals by 2020</a:t>
            </a:r>
          </a:p>
          <a:p>
            <a:pPr eaLnBrk="1" hangingPunct="1">
              <a:buFont typeface="Arial" panose="020B0604020202020204" pitchFamily="34" charset="0"/>
              <a:buChar char="•"/>
            </a:pP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9DA41-197D-4D55-A293-8C4020966D14}"/>
              </a:ext>
            </a:extLst>
          </p:cNvPr>
          <p:cNvSpPr>
            <a:spLocks noGrp="1"/>
          </p:cNvSpPr>
          <p:nvPr>
            <p:ph type="title"/>
          </p:nvPr>
        </p:nvSpPr>
        <p:spPr>
          <a:xfrm>
            <a:off x="0" y="533400"/>
            <a:ext cx="9144000" cy="838200"/>
          </a:xfrm>
        </p:spPr>
        <p:txBody>
          <a:bodyPr rtlCol="0">
            <a:normAutofit fontScale="90000"/>
          </a:bodyPr>
          <a:lstStyle/>
          <a:p>
            <a:pPr algn="ctr" eaLnBrk="1" fontAlgn="auto" hangingPunct="1">
              <a:spcAft>
                <a:spcPts val="0"/>
              </a:spcAft>
              <a:defRPr/>
            </a:pPr>
            <a:r>
              <a:rPr lang="en-US" dirty="0">
                <a:solidFill>
                  <a:srgbClr val="C00000"/>
                </a:solidFill>
              </a:rPr>
              <a:t>Government Policies, Goals and Objectives</a:t>
            </a:r>
            <a:br>
              <a:rPr lang="en-US" dirty="0"/>
            </a:br>
            <a:endParaRPr lang="en-US" dirty="0"/>
          </a:p>
        </p:txBody>
      </p:sp>
      <p:sp>
        <p:nvSpPr>
          <p:cNvPr id="11267" name="Content Placeholder 2">
            <a:extLst>
              <a:ext uri="{FF2B5EF4-FFF2-40B4-BE49-F238E27FC236}">
                <a16:creationId xmlns:a16="http://schemas.microsoft.com/office/drawing/2014/main" id="{36F61DDE-91E6-4005-BA63-1304527DA277}"/>
              </a:ext>
            </a:extLst>
          </p:cNvPr>
          <p:cNvSpPr>
            <a:spLocks noGrp="1"/>
          </p:cNvSpPr>
          <p:nvPr>
            <p:ph sz="quarter" idx="1"/>
          </p:nvPr>
        </p:nvSpPr>
        <p:spPr>
          <a:xfrm>
            <a:off x="0" y="1219200"/>
            <a:ext cx="9144000" cy="5486400"/>
          </a:xfrm>
        </p:spPr>
        <p:txBody>
          <a:bodyPr/>
          <a:lstStyle/>
          <a:p>
            <a:pPr eaLnBrk="1" hangingPunct="1">
              <a:buFont typeface="Arial" panose="020B0604020202020204" pitchFamily="34" charset="0"/>
              <a:buChar char="•"/>
            </a:pPr>
            <a:r>
              <a:rPr lang="en-US" altLang="en-US" sz="2400">
                <a:solidFill>
                  <a:srgbClr val="0070C0"/>
                </a:solidFill>
              </a:rPr>
              <a:t>To increase the share in international tourist arrivals, which is estimated at around 0.5 %.</a:t>
            </a:r>
          </a:p>
          <a:p>
            <a:pPr eaLnBrk="1" hangingPunct="1">
              <a:buFont typeface="Arial" panose="020B0604020202020204" pitchFamily="34" charset="0"/>
              <a:buChar char="•"/>
            </a:pPr>
            <a:r>
              <a:rPr lang="en-US" altLang="en-US" sz="2400">
                <a:solidFill>
                  <a:srgbClr val="0070C0"/>
                </a:solidFill>
              </a:rPr>
              <a:t>To have active participation and investment from private sector in tourism industry.</a:t>
            </a:r>
          </a:p>
          <a:p>
            <a:pPr eaLnBrk="1" hangingPunct="1">
              <a:buFont typeface="Arial" panose="020B0604020202020204" pitchFamily="34" charset="0"/>
              <a:buChar char="•"/>
            </a:pPr>
            <a:r>
              <a:rPr lang="en-US" altLang="en-US" sz="2400">
                <a:solidFill>
                  <a:srgbClr val="0070C0"/>
                </a:solidFill>
              </a:rPr>
              <a:t>Special attention for infrastructure development in North East India and Jammu &amp; Kashmir</a:t>
            </a:r>
          </a:p>
          <a:p>
            <a:pPr eaLnBrk="1" hangingPunct="1">
              <a:buFont typeface="Arial" panose="020B0604020202020204" pitchFamily="34" charset="0"/>
              <a:buChar char="•"/>
            </a:pPr>
            <a:r>
              <a:rPr lang="en-US" altLang="en-US" sz="2400">
                <a:solidFill>
                  <a:srgbClr val="0070C0"/>
                </a:solidFill>
              </a:rPr>
              <a:t>To have improvement and environmental up-gradation of the protected monuments</a:t>
            </a:r>
          </a:p>
          <a:p>
            <a:pPr eaLnBrk="1" hangingPunct="1">
              <a:buFont typeface="Arial" panose="020B0604020202020204" pitchFamily="34" charset="0"/>
              <a:buChar char="•"/>
            </a:pPr>
            <a:r>
              <a:rPr lang="en-US" altLang="en-US" sz="2400">
                <a:solidFill>
                  <a:srgbClr val="0070C0"/>
                </a:solidFill>
              </a:rPr>
              <a:t>To give greater focus to rural tourism with the objective of eliminating poverty and creating employment, with specific emphasis on the status of the women and to encourage tribal and local crafts</a:t>
            </a:r>
          </a:p>
          <a:p>
            <a:pPr eaLnBrk="1" hangingPunct="1">
              <a:buFont typeface="Arial" panose="020B0604020202020204" pitchFamily="34" charset="0"/>
              <a:buChar char="•"/>
            </a:pPr>
            <a:r>
              <a:rPr lang="en-US" altLang="en-US" sz="2400">
                <a:solidFill>
                  <a:srgbClr val="0070C0"/>
                </a:solidFill>
              </a:rPr>
              <a:t>To impart a special thrust to eco tourism in all developmental activities</a:t>
            </a:r>
          </a:p>
          <a:p>
            <a:pPr eaLnBrk="1" hangingPunct="1">
              <a:buFont typeface="Arial" panose="020B0604020202020204" pitchFamily="34" charset="0"/>
              <a:buChar char="•"/>
            </a:pPr>
            <a:endParaRPr lang="en-US" altLang="en-US" sz="1400">
              <a:solidFill>
                <a:srgbClr val="0070C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8A70E4-990F-4F2A-B783-301F19DD4FF4}"/>
              </a:ext>
            </a:extLst>
          </p:cNvPr>
          <p:cNvSpPr>
            <a:spLocks noGrp="1"/>
          </p:cNvSpPr>
          <p:nvPr>
            <p:ph sz="quarter" idx="1"/>
          </p:nvPr>
        </p:nvSpPr>
        <p:spPr>
          <a:xfrm>
            <a:off x="304800" y="685800"/>
            <a:ext cx="8534400" cy="5943600"/>
          </a:xfrm>
        </p:spPr>
        <p:txBody>
          <a:bodyPr rtlCol="0">
            <a:normAutofit lnSpcReduction="10000"/>
          </a:bodyPr>
          <a:lstStyle/>
          <a:p>
            <a:pPr marL="274320" indent="-274320" eaLnBrk="1" fontAlgn="auto" hangingPunct="1">
              <a:spcBef>
                <a:spcPts val="580"/>
              </a:spcBef>
              <a:spcAft>
                <a:spcPts val="0"/>
              </a:spcAft>
              <a:buFont typeface="Arial" pitchFamily="34" charset="0"/>
              <a:buChar char="•"/>
              <a:defRPr/>
            </a:pPr>
            <a:r>
              <a:rPr lang="en-US" dirty="0">
                <a:solidFill>
                  <a:srgbClr val="00B050"/>
                </a:solidFill>
              </a:rPr>
              <a:t>To give due importance to domestic tourism, particularly tourism connected with pilgrimages.</a:t>
            </a:r>
          </a:p>
          <a:p>
            <a:pPr marL="274320" indent="-274320" eaLnBrk="1" fontAlgn="auto" hangingPunct="1">
              <a:spcBef>
                <a:spcPts val="580"/>
              </a:spcBef>
              <a:spcAft>
                <a:spcPts val="0"/>
              </a:spcAft>
              <a:buFont typeface="Arial" pitchFamily="34" charset="0"/>
              <a:buChar char="•"/>
              <a:defRPr/>
            </a:pPr>
            <a:r>
              <a:rPr lang="en-US" dirty="0">
                <a:solidFill>
                  <a:srgbClr val="00B050"/>
                </a:solidFill>
              </a:rPr>
              <a:t>To encourage Adventure Tourism for the new class of young tourists, having marked preference for adventure sports and distant destinations.</a:t>
            </a:r>
          </a:p>
          <a:p>
            <a:pPr marL="274320" indent="-274320" eaLnBrk="1" fontAlgn="auto" hangingPunct="1">
              <a:spcBef>
                <a:spcPts val="580"/>
              </a:spcBef>
              <a:spcAft>
                <a:spcPts val="0"/>
              </a:spcAft>
              <a:buFont typeface="Arial" pitchFamily="34" charset="0"/>
              <a:buChar char="•"/>
              <a:defRPr/>
            </a:pPr>
            <a:r>
              <a:rPr lang="en-US" dirty="0">
                <a:solidFill>
                  <a:srgbClr val="00B050"/>
                </a:solidFill>
              </a:rPr>
              <a:t>To effectively encourage special products that can attract tourists i.e. Yoga, </a:t>
            </a:r>
            <a:r>
              <a:rPr lang="en-US" dirty="0" err="1">
                <a:solidFill>
                  <a:srgbClr val="00B050"/>
                </a:solidFill>
              </a:rPr>
              <a:t>Siddha</a:t>
            </a:r>
            <a:r>
              <a:rPr lang="en-US" dirty="0">
                <a:solidFill>
                  <a:srgbClr val="00B050"/>
                </a:solidFill>
              </a:rPr>
              <a:t> , </a:t>
            </a:r>
            <a:r>
              <a:rPr lang="en-US" dirty="0" err="1">
                <a:solidFill>
                  <a:srgbClr val="00B050"/>
                </a:solidFill>
              </a:rPr>
              <a:t>Ayurveda</a:t>
            </a:r>
            <a:r>
              <a:rPr lang="en-US" dirty="0">
                <a:solidFill>
                  <a:srgbClr val="00B050"/>
                </a:solidFill>
              </a:rPr>
              <a:t>, Indian cuisine etc.</a:t>
            </a:r>
          </a:p>
          <a:p>
            <a:pPr marL="274320" indent="-274320" eaLnBrk="1" fontAlgn="auto" hangingPunct="1">
              <a:spcBef>
                <a:spcPts val="580"/>
              </a:spcBef>
              <a:spcAft>
                <a:spcPts val="0"/>
              </a:spcAft>
              <a:buFont typeface="Arial" pitchFamily="34" charset="0"/>
              <a:buChar char="•"/>
              <a:defRPr/>
            </a:pPr>
            <a:r>
              <a:rPr lang="en-US" dirty="0">
                <a:solidFill>
                  <a:srgbClr val="00B050"/>
                </a:solidFill>
              </a:rPr>
              <a:t>To conduct effective training </a:t>
            </a:r>
            <a:r>
              <a:rPr lang="en-US" dirty="0" err="1">
                <a:solidFill>
                  <a:srgbClr val="00B050"/>
                </a:solidFill>
              </a:rPr>
              <a:t>programmes</a:t>
            </a:r>
            <a:r>
              <a:rPr lang="en-US" dirty="0">
                <a:solidFill>
                  <a:srgbClr val="00B050"/>
                </a:solidFill>
              </a:rPr>
              <a:t> for capacity building of tourism service providers and to increase employability of existing tourism service providers.</a:t>
            </a:r>
          </a:p>
          <a:p>
            <a:pPr marL="274320" indent="-274320" eaLnBrk="1" fontAlgn="auto" hangingPunct="1">
              <a:spcBef>
                <a:spcPts val="580"/>
              </a:spcBef>
              <a:spcAft>
                <a:spcPts val="0"/>
              </a:spcAft>
              <a:buFont typeface="Arial" pitchFamily="34" charset="0"/>
              <a:buChar char="•"/>
              <a:defRPr/>
            </a:pPr>
            <a:r>
              <a:rPr lang="en-US" dirty="0">
                <a:solidFill>
                  <a:srgbClr val="00B050"/>
                </a:solidFill>
              </a:rPr>
              <a:t>Training of State Police to act as „Tourist Police.‟</a:t>
            </a:r>
          </a:p>
          <a:p>
            <a:pPr marL="274320" indent="-274320" eaLnBrk="1" fontAlgn="auto" hangingPunct="1">
              <a:spcBef>
                <a:spcPts val="580"/>
              </a:spcBef>
              <a:spcAft>
                <a:spcPts val="0"/>
              </a:spcAft>
              <a:buFont typeface="Arial" pitchFamily="34" charset="0"/>
              <a:buChar char="•"/>
              <a:defRPr/>
            </a:pPr>
            <a:r>
              <a:rPr lang="en-US" dirty="0">
                <a:solidFill>
                  <a:srgbClr val="00B050"/>
                </a:solidFill>
              </a:rPr>
              <a:t>To actively participate in activities of international organizations related to tourism such as UN World Tourism Organization and World Tourism and Travel Council</a:t>
            </a:r>
          </a:p>
          <a:p>
            <a:pPr marL="274320" indent="-274320" eaLnBrk="1" fontAlgn="auto" hangingPunct="1">
              <a:spcBef>
                <a:spcPts val="580"/>
              </a:spcBef>
              <a:spcAft>
                <a:spcPts val="0"/>
              </a:spcAft>
              <a:buFont typeface="Arial" pitchFamily="34" charset="0"/>
              <a:buChar char="•"/>
              <a:defRPr/>
            </a:pPr>
            <a:endParaRPr lang="en-US" dirty="0">
              <a:solidFill>
                <a:srgbClr val="00B05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67036-314D-42A7-A9CB-2C8DD5A8B1F4}"/>
              </a:ext>
            </a:extLst>
          </p:cNvPr>
          <p:cNvSpPr>
            <a:spLocks noGrp="1"/>
          </p:cNvSpPr>
          <p:nvPr>
            <p:ph type="title"/>
          </p:nvPr>
        </p:nvSpPr>
        <p:spPr>
          <a:xfrm>
            <a:off x="381000" y="0"/>
            <a:ext cx="8229600" cy="685800"/>
          </a:xfrm>
        </p:spPr>
        <p:txBody>
          <a:bodyPr rtlCol="0">
            <a:normAutofit fontScale="90000"/>
          </a:bodyPr>
          <a:lstStyle/>
          <a:p>
            <a:pPr algn="ctr" eaLnBrk="1" fontAlgn="auto" hangingPunct="1">
              <a:spcAft>
                <a:spcPts val="0"/>
              </a:spcAft>
              <a:defRPr/>
            </a:pPr>
            <a:r>
              <a:rPr lang="en-US" b="1" dirty="0">
                <a:solidFill>
                  <a:srgbClr val="00B050"/>
                </a:solidFill>
              </a:rPr>
              <a:t>Various Targets for Tourism Sector</a:t>
            </a:r>
            <a:endParaRPr lang="en-US" dirty="0">
              <a:solidFill>
                <a:srgbClr val="00B050"/>
              </a:solidFill>
            </a:endParaRPr>
          </a:p>
        </p:txBody>
      </p:sp>
      <p:sp>
        <p:nvSpPr>
          <p:cNvPr id="3" name="Content Placeholder 2">
            <a:extLst>
              <a:ext uri="{FF2B5EF4-FFF2-40B4-BE49-F238E27FC236}">
                <a16:creationId xmlns:a16="http://schemas.microsoft.com/office/drawing/2014/main" id="{B2B21A7B-2F39-4D5B-BC48-CE3A9E8DDD9D}"/>
              </a:ext>
            </a:extLst>
          </p:cNvPr>
          <p:cNvSpPr>
            <a:spLocks noGrp="1"/>
          </p:cNvSpPr>
          <p:nvPr>
            <p:ph sz="quarter" idx="1"/>
          </p:nvPr>
        </p:nvSpPr>
        <p:spPr>
          <a:xfrm>
            <a:off x="0" y="1143000"/>
            <a:ext cx="9144000" cy="5715000"/>
          </a:xfrm>
        </p:spPr>
        <p:txBody>
          <a:bodyPr rtlCol="0">
            <a:normAutofit fontScale="70000" lnSpcReduction="20000"/>
          </a:bodyPr>
          <a:lstStyle/>
          <a:p>
            <a:pPr marL="365760" indent="-283464" eaLnBrk="1" fontAlgn="auto" hangingPunct="1">
              <a:spcBef>
                <a:spcPts val="580"/>
              </a:spcBef>
              <a:spcAft>
                <a:spcPts val="0"/>
              </a:spcAft>
              <a:buFont typeface="Wingdings 2"/>
              <a:buChar char=""/>
              <a:defRPr/>
            </a:pPr>
            <a:r>
              <a:rPr lang="en-US" sz="3700" dirty="0">
                <a:solidFill>
                  <a:srgbClr val="0070C0"/>
                </a:solidFill>
              </a:rPr>
              <a:t>As Tourism Sector is one of the major component of the service sector in India, its  growth targets have to be linked with the targeted growth of service sector during the 12th  Five Year Plan.  For the projected growth of 9 to 9.5% of Indian economy during 12th Plan Period, tourism sector may have to match the projected growth of 12% Plan Period, tourism sector may have to match the projected  growth of 12% for the services sector as against the current growth of 9%.  </a:t>
            </a:r>
          </a:p>
          <a:p>
            <a:pPr marL="365760" indent="-283464" eaLnBrk="1" fontAlgn="auto" hangingPunct="1">
              <a:spcBef>
                <a:spcPts val="580"/>
              </a:spcBef>
              <a:spcAft>
                <a:spcPts val="0"/>
              </a:spcAft>
              <a:buFont typeface="Wingdings 2"/>
              <a:buChar char=""/>
              <a:defRPr/>
            </a:pPr>
            <a:r>
              <a:rPr lang="en-US" sz="3700" dirty="0">
                <a:solidFill>
                  <a:srgbClr val="0070C0"/>
                </a:solidFill>
              </a:rPr>
              <a:t>To realize this growth target, tourism sector may have to achieve the following:-</a:t>
            </a:r>
            <a:br>
              <a:rPr lang="en-US" sz="3700" dirty="0">
                <a:solidFill>
                  <a:srgbClr val="0070C0"/>
                </a:solidFill>
              </a:rPr>
            </a:br>
            <a:r>
              <a:rPr lang="en-US" sz="3700" dirty="0">
                <a:solidFill>
                  <a:srgbClr val="0070C0"/>
                </a:solidFill>
              </a:rPr>
              <a:t>Increase India’s share of International Tourist arrivals to at least 1% by end of XII Plan- requiring annual growth of 12.38% during 2011 and 2016.</a:t>
            </a:r>
          </a:p>
          <a:p>
            <a:pPr marL="365760" indent="-283464" eaLnBrk="1" fontAlgn="auto" hangingPunct="1">
              <a:spcBef>
                <a:spcPts val="580"/>
              </a:spcBef>
              <a:spcAft>
                <a:spcPts val="0"/>
              </a:spcAft>
              <a:buFont typeface="Wingdings 2"/>
              <a:buChar char=""/>
              <a:defRPr/>
            </a:pPr>
            <a:r>
              <a:rPr lang="en-US" sz="3700" dirty="0">
                <a:solidFill>
                  <a:srgbClr val="0070C0"/>
                </a:solidFill>
              </a:rPr>
              <a:t>Provide adequate facilities for domestic tourism to sustain the growth of 12.16% (witnessed in recent years) during 12th Plan (2011-16)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7002A261-7B23-45FD-8679-8D1E1B98B331}"/>
              </a:ext>
            </a:extLst>
          </p:cNvPr>
          <p:cNvSpPr>
            <a:spLocks noGrp="1"/>
          </p:cNvSpPr>
          <p:nvPr>
            <p:ph sz="quarter" idx="1"/>
          </p:nvPr>
        </p:nvSpPr>
        <p:spPr>
          <a:xfrm>
            <a:off x="304800" y="381000"/>
            <a:ext cx="8382000" cy="5943600"/>
          </a:xfrm>
        </p:spPr>
        <p:txBody>
          <a:bodyPr/>
          <a:lstStyle/>
          <a:p>
            <a:pPr marL="365125" indent="-282575" eaLnBrk="1" hangingPunct="1"/>
            <a:r>
              <a:rPr lang="en-US" altLang="en-US" b="1">
                <a:solidFill>
                  <a:srgbClr val="C00000"/>
                </a:solidFill>
              </a:rPr>
              <a:t>Implications of the targets:</a:t>
            </a:r>
            <a:br>
              <a:rPr lang="en-US" altLang="en-US" b="1"/>
            </a:br>
            <a:r>
              <a:rPr lang="en-US" altLang="en-US" b="1">
                <a:solidFill>
                  <a:srgbClr val="002060"/>
                </a:solidFill>
              </a:rPr>
              <a:t>Foreign Tourist Arrivals (FTAs):</a:t>
            </a:r>
            <a:br>
              <a:rPr lang="en-US" altLang="en-US"/>
            </a:br>
            <a:r>
              <a:rPr lang="en-US" altLang="en-US">
                <a:solidFill>
                  <a:srgbClr val="00B050"/>
                </a:solidFill>
              </a:rPr>
              <a:t>Number of FTAs and Foreign Tourist Visits (FTVs) in 2016 is estimated to be 11.24 million and 35.95 million respectively.</a:t>
            </a:r>
          </a:p>
          <a:p>
            <a:pPr marL="365125" indent="-282575" eaLnBrk="1" hangingPunct="1"/>
            <a:r>
              <a:rPr lang="en-US" altLang="en-US" b="1">
                <a:solidFill>
                  <a:srgbClr val="002060"/>
                </a:solidFill>
              </a:rPr>
              <a:t>Domestic Tourism:</a:t>
            </a:r>
            <a:br>
              <a:rPr lang="en-US" altLang="en-US"/>
            </a:br>
            <a:r>
              <a:rPr lang="en-US" altLang="en-US">
                <a:solidFill>
                  <a:srgbClr val="00B050"/>
                </a:solidFill>
              </a:rPr>
              <a:t>Number of Domestic Tourist Visits (DTVs) in 2016 is projected to be 1451.46 million.</a:t>
            </a:r>
          </a:p>
          <a:p>
            <a:pPr marL="365125" indent="-282575" eaLnBrk="1" hangingPunct="1"/>
            <a:r>
              <a:rPr lang="en-US" altLang="en-US">
                <a:solidFill>
                  <a:srgbClr val="00B050"/>
                </a:solidFill>
              </a:rPr>
              <a:t>Additional Foreign Exchange Earnings (FEE) from tourism is likely to increase from Rs. 64889 crore (US$ 14.19 Billion) in 2010 to Rs. 134383 crore (US $ 30.3 Billion) in 2016.  </a:t>
            </a:r>
          </a:p>
          <a:p>
            <a:pPr marL="365125" indent="-282575" eaLnBrk="1" hangingPunct="1"/>
            <a:r>
              <a:rPr lang="en-US" altLang="en-US">
                <a:solidFill>
                  <a:srgbClr val="00B050"/>
                </a:solidFill>
              </a:rPr>
              <a:t>Additional FEE from Tourism during 2010-16 is estimated to be Rs. 69494 crore (US $ 15.7 Billion).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D449EDD5-AFB5-4BC5-B4A7-B1C38D371FB8}"/>
              </a:ext>
            </a:extLst>
          </p:cNvPr>
          <p:cNvSpPr>
            <a:spLocks noGrp="1"/>
          </p:cNvSpPr>
          <p:nvPr>
            <p:ph sz="quarter" idx="1"/>
          </p:nvPr>
        </p:nvSpPr>
        <p:spPr>
          <a:xfrm>
            <a:off x="0" y="152400"/>
            <a:ext cx="9144000" cy="6705600"/>
          </a:xfrm>
        </p:spPr>
        <p:txBody>
          <a:bodyPr/>
          <a:lstStyle/>
          <a:p>
            <a:pPr marL="365125" indent="-282575" eaLnBrk="1" hangingPunct="1"/>
            <a:r>
              <a:rPr lang="en-US" altLang="en-US" sz="2400" b="1">
                <a:solidFill>
                  <a:srgbClr val="00B050"/>
                </a:solidFill>
              </a:rPr>
              <a:t>Employment Generation</a:t>
            </a:r>
            <a:br>
              <a:rPr lang="en-US" altLang="en-US" sz="2400"/>
            </a:br>
            <a:r>
              <a:rPr lang="en-US" altLang="en-US" sz="2400">
                <a:solidFill>
                  <a:srgbClr val="7030A0"/>
                </a:solidFill>
              </a:rPr>
              <a:t>Using the data on share of tourism in the total jobs in the country available from Tourism Satellite Accounts (TSA) for 2002-03 and estimated for years till 2007-08, the total number of jobs (direct and indirect) in the tourism sector in 2016 is likely to be 77.5 million as compared to 53 million in 2010.  Therefore, an additional employment of 24.5 million (direct and indirect) may be created during 2010 to 2016.</a:t>
            </a:r>
          </a:p>
          <a:p>
            <a:pPr marL="365125" indent="-282575" eaLnBrk="1" hangingPunct="1"/>
            <a:r>
              <a:rPr lang="en-US" altLang="en-US" sz="2400" b="1">
                <a:solidFill>
                  <a:srgbClr val="00B050"/>
                </a:solidFill>
              </a:rPr>
              <a:t>Initiatives to achieve the target</a:t>
            </a:r>
            <a:br>
              <a:rPr lang="en-US" altLang="en-US" sz="2400" b="1"/>
            </a:br>
            <a:r>
              <a:rPr lang="en-US" altLang="en-US" sz="2400"/>
              <a:t>To achieve various targets and address the challenges involved in the tourism sector during 12th Five Year Plan, following initiatives are proposed to be undertaken:</a:t>
            </a:r>
          </a:p>
          <a:p>
            <a:pPr marL="639763" lvl="1" indent="-282575" eaLnBrk="1" hangingPunct="1">
              <a:spcBef>
                <a:spcPts val="575"/>
              </a:spcBef>
            </a:pPr>
            <a:r>
              <a:rPr lang="en-US" altLang="en-US" sz="2200" b="1">
                <a:solidFill>
                  <a:srgbClr val="0070C0"/>
                </a:solidFill>
              </a:rPr>
              <a:t>Skill Development</a:t>
            </a:r>
            <a:br>
              <a:rPr lang="en-US" altLang="en-US" sz="2200">
                <a:solidFill>
                  <a:srgbClr val="0070C0"/>
                </a:solidFill>
              </a:rPr>
            </a:br>
            <a:r>
              <a:rPr lang="en-US" altLang="en-US" sz="2200">
                <a:solidFill>
                  <a:srgbClr val="0070C0"/>
                </a:solidFill>
              </a:rPr>
              <a:t>Enhancing the institutional infrastructure of Hospitality Education by</a:t>
            </a:r>
            <a:br>
              <a:rPr lang="en-US" altLang="en-US" sz="2200">
                <a:solidFill>
                  <a:srgbClr val="0070C0"/>
                </a:solidFill>
              </a:rPr>
            </a:br>
            <a:r>
              <a:rPr lang="en-US" altLang="en-US" sz="2200">
                <a:solidFill>
                  <a:srgbClr val="0070C0"/>
                </a:solidFill>
              </a:rPr>
              <a:t>Opening new Institutes of Hotel Management (IHM) and Food Crafts Institutes (FCI)</a:t>
            </a:r>
          </a:p>
          <a:p>
            <a:pPr marL="639763" lvl="1" indent="-282575" eaLnBrk="1" hangingPunct="1">
              <a:spcBef>
                <a:spcPts val="575"/>
              </a:spcBef>
            </a:pPr>
            <a:r>
              <a:rPr lang="en-US" altLang="en-US" sz="2200" b="1">
                <a:solidFill>
                  <a:srgbClr val="0070C0"/>
                </a:solidFill>
              </a:rPr>
              <a:t>Augmenting the capacity of existing IHM/FCI</a:t>
            </a:r>
          </a:p>
          <a:p>
            <a:pPr marL="639763" lvl="1" indent="-282575" eaLnBrk="1" hangingPunct="1">
              <a:spcBef>
                <a:spcPts val="575"/>
              </a:spcBef>
            </a:pPr>
            <a:r>
              <a:rPr lang="en-US" altLang="en-US" sz="2200" b="1">
                <a:solidFill>
                  <a:srgbClr val="0070C0"/>
                </a:solidFill>
              </a:rPr>
              <a:t>Facilitating private sector investment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21F36ECB-2A08-4E8D-9E57-D70CA96491BC}"/>
              </a:ext>
            </a:extLst>
          </p:cNvPr>
          <p:cNvSpPr>
            <a:spLocks noGrp="1"/>
          </p:cNvSpPr>
          <p:nvPr>
            <p:ph sz="quarter" idx="1"/>
          </p:nvPr>
        </p:nvSpPr>
        <p:spPr>
          <a:xfrm>
            <a:off x="228600" y="381000"/>
            <a:ext cx="8915400" cy="6324600"/>
          </a:xfrm>
        </p:spPr>
        <p:txBody>
          <a:bodyPr/>
          <a:lstStyle/>
          <a:p>
            <a:pPr marL="365125" indent="-282575" eaLnBrk="1" hangingPunct="1"/>
            <a:r>
              <a:rPr lang="en-US" altLang="en-US" b="1">
                <a:solidFill>
                  <a:srgbClr val="0070C0"/>
                </a:solidFill>
              </a:rPr>
              <a:t>Hospitality Education to be broad based to cover</a:t>
            </a:r>
            <a:br>
              <a:rPr lang="en-US" altLang="en-US"/>
            </a:br>
            <a:r>
              <a:rPr lang="en-US" altLang="en-US">
                <a:solidFill>
                  <a:srgbClr val="7030A0"/>
                </a:solidFill>
              </a:rPr>
              <a:t>Universities/Colleges</a:t>
            </a:r>
          </a:p>
          <a:p>
            <a:pPr marL="365125" indent="-282575" eaLnBrk="1" hangingPunct="1">
              <a:buFont typeface="Arial" panose="020B0604020202020204" pitchFamily="34" charset="0"/>
              <a:buNone/>
            </a:pPr>
            <a:r>
              <a:rPr lang="en-US" altLang="en-US">
                <a:solidFill>
                  <a:srgbClr val="7030A0"/>
                </a:solidFill>
              </a:rPr>
              <a:t>	Polytechnics</a:t>
            </a:r>
          </a:p>
          <a:p>
            <a:pPr marL="365125" indent="-282575" eaLnBrk="1" hangingPunct="1">
              <a:buFont typeface="Arial" panose="020B0604020202020204" pitchFamily="34" charset="0"/>
              <a:buNone/>
            </a:pPr>
            <a:r>
              <a:rPr lang="en-US" altLang="en-US">
                <a:solidFill>
                  <a:srgbClr val="7030A0"/>
                </a:solidFill>
              </a:rPr>
              <a:t>	Industrial Training Institutes</a:t>
            </a:r>
          </a:p>
          <a:p>
            <a:pPr marL="365125" indent="-282575" eaLnBrk="1" hangingPunct="1">
              <a:buFont typeface="Arial" panose="020B0604020202020204" pitchFamily="34" charset="0"/>
              <a:buNone/>
            </a:pPr>
            <a:r>
              <a:rPr lang="en-US" altLang="en-US">
                <a:solidFill>
                  <a:srgbClr val="7030A0"/>
                </a:solidFill>
              </a:rPr>
              <a:t>	Vocational Education at  +2 level through CBSE and other State Level Boards</a:t>
            </a:r>
          </a:p>
          <a:p>
            <a:pPr marL="365125" indent="-282575" eaLnBrk="1" hangingPunct="1"/>
            <a:r>
              <a:rPr lang="en-US" altLang="en-US" b="1">
                <a:solidFill>
                  <a:srgbClr val="0070C0"/>
                </a:solidFill>
              </a:rPr>
              <a:t>Skill development through </a:t>
            </a:r>
            <a:br>
              <a:rPr lang="en-US" altLang="en-US"/>
            </a:br>
            <a:r>
              <a:rPr lang="en-US" altLang="en-US">
                <a:solidFill>
                  <a:srgbClr val="7030A0"/>
                </a:solidFill>
              </a:rPr>
              <a:t>Educational/training institutions mentioned above</a:t>
            </a:r>
          </a:p>
          <a:p>
            <a:pPr marL="365125" indent="-282575" eaLnBrk="1" hangingPunct="1">
              <a:buFont typeface="Arial" panose="020B0604020202020204" pitchFamily="34" charset="0"/>
              <a:buNone/>
            </a:pPr>
            <a:r>
              <a:rPr lang="en-US" altLang="en-US">
                <a:solidFill>
                  <a:srgbClr val="7030A0"/>
                </a:solidFill>
              </a:rPr>
              <a:t>	Classified Star category hotels</a:t>
            </a:r>
          </a:p>
          <a:p>
            <a:pPr marL="365125" indent="-282575" eaLnBrk="1" hangingPunct="1">
              <a:buFont typeface="Arial" panose="020B0604020202020204" pitchFamily="34" charset="0"/>
              <a:buNone/>
            </a:pPr>
            <a:r>
              <a:rPr lang="en-US" altLang="en-US">
                <a:solidFill>
                  <a:srgbClr val="7030A0"/>
                </a:solidFill>
              </a:rPr>
              <a:t>	Skills of existing  Service Providers to be certified through a stringent process to enhance their employability new sectors to be identified.</a:t>
            </a:r>
          </a:p>
          <a:p>
            <a:pPr marL="365125" indent="-282575" eaLnBrk="1" hangingPunct="1">
              <a:buFont typeface="Arial" panose="020B0604020202020204" pitchFamily="34" charset="0"/>
              <a:buNone/>
            </a:pPr>
            <a:r>
              <a:rPr lang="en-US" altLang="en-US"/>
              <a:t>	</a:t>
            </a:r>
            <a:r>
              <a:rPr lang="en-US" altLang="en-US">
                <a:solidFill>
                  <a:srgbClr val="00B050"/>
                </a:solidFill>
              </a:rPr>
              <a:t>E.g. Restoration workers of heritage bulking Convergence with Planning Commission, Ministries of HRD, Labour &amp; Rural Development.</a:t>
            </a:r>
          </a:p>
          <a:p>
            <a:pPr marL="365125" indent="-282575" eaLnBrk="1" hangingPunct="1">
              <a:buFont typeface="Arial" panose="020B0604020202020204" pitchFamily="34" charset="0"/>
              <a:buNone/>
            </a:pPr>
            <a:endParaRPr lang="en-US" altLang="en-US"/>
          </a:p>
          <a:p>
            <a:pPr marL="365125" indent="-282575" eaLnBrk="1" hangingPunct="1"/>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29CA69-1096-4254-87B4-8A49D5538BD1}"/>
              </a:ext>
            </a:extLst>
          </p:cNvPr>
          <p:cNvSpPr>
            <a:spLocks noGrp="1"/>
          </p:cNvSpPr>
          <p:nvPr>
            <p:ph sz="quarter" idx="1"/>
          </p:nvPr>
        </p:nvSpPr>
        <p:spPr>
          <a:xfrm>
            <a:off x="457200" y="304800"/>
            <a:ext cx="8229600" cy="6553200"/>
          </a:xfrm>
        </p:spPr>
        <p:txBody>
          <a:bodyPr rtlCol="0">
            <a:normAutofit/>
          </a:bodyPr>
          <a:lstStyle/>
          <a:p>
            <a:pPr marL="365760" indent="-283464" eaLnBrk="1" fontAlgn="auto" hangingPunct="1">
              <a:spcBef>
                <a:spcPts val="580"/>
              </a:spcBef>
              <a:spcAft>
                <a:spcPts val="0"/>
              </a:spcAft>
              <a:buFont typeface="Wingdings 2"/>
              <a:buChar char=""/>
              <a:defRPr/>
            </a:pPr>
            <a:r>
              <a:rPr lang="en-US" b="1" dirty="0">
                <a:solidFill>
                  <a:srgbClr val="0070C0"/>
                </a:solidFill>
              </a:rPr>
              <a:t>Infrastructure Development</a:t>
            </a:r>
          </a:p>
          <a:p>
            <a:pPr marL="365760" indent="-283464" eaLnBrk="1" fontAlgn="auto" hangingPunct="1">
              <a:spcBef>
                <a:spcPts val="580"/>
              </a:spcBef>
              <a:spcAft>
                <a:spcPts val="0"/>
              </a:spcAft>
              <a:buFont typeface="Arial" charset="0"/>
              <a:buNone/>
              <a:defRPr/>
            </a:pPr>
            <a:br>
              <a:rPr lang="en-US" dirty="0"/>
            </a:br>
            <a:r>
              <a:rPr lang="en-US" dirty="0">
                <a:solidFill>
                  <a:srgbClr val="00B050"/>
                </a:solidFill>
              </a:rPr>
              <a:t>Identify major Circuits/Destinations having potential to attract large number of visitors for development in Mission Mode</a:t>
            </a:r>
          </a:p>
          <a:p>
            <a:pPr marL="365760" indent="-283464" eaLnBrk="1" fontAlgn="auto" hangingPunct="1">
              <a:spcBef>
                <a:spcPts val="580"/>
              </a:spcBef>
              <a:spcAft>
                <a:spcPts val="0"/>
              </a:spcAft>
              <a:buFont typeface="Wingdings 2"/>
              <a:buChar char=""/>
              <a:defRPr/>
            </a:pPr>
            <a:endParaRPr lang="en-US" dirty="0">
              <a:solidFill>
                <a:srgbClr val="00B050"/>
              </a:solidFill>
            </a:endParaRPr>
          </a:p>
          <a:p>
            <a:pPr marL="365760" indent="-283464" eaLnBrk="1" fontAlgn="auto" hangingPunct="1">
              <a:spcBef>
                <a:spcPts val="580"/>
              </a:spcBef>
              <a:spcAft>
                <a:spcPts val="0"/>
              </a:spcAft>
              <a:buFont typeface="Arial" charset="0"/>
              <a:buNone/>
              <a:defRPr/>
            </a:pPr>
            <a:r>
              <a:rPr lang="en-US" dirty="0">
                <a:solidFill>
                  <a:srgbClr val="00B050"/>
                </a:solidFill>
              </a:rPr>
              <a:t>	Develop Tourism Parks to be located in developed/underdeveloped/unexplored area of tourist interest</a:t>
            </a:r>
          </a:p>
          <a:p>
            <a:pPr marL="365760" indent="-283464" eaLnBrk="1" fontAlgn="auto" hangingPunct="1">
              <a:spcBef>
                <a:spcPts val="580"/>
              </a:spcBef>
              <a:spcAft>
                <a:spcPts val="0"/>
              </a:spcAft>
              <a:buFont typeface="Arial" charset="0"/>
              <a:buNone/>
              <a:defRPr/>
            </a:pPr>
            <a:endParaRPr lang="en-US" dirty="0">
              <a:solidFill>
                <a:srgbClr val="00B050"/>
              </a:solidFill>
            </a:endParaRPr>
          </a:p>
          <a:p>
            <a:pPr marL="365760" indent="-283464" eaLnBrk="1" fontAlgn="auto" hangingPunct="1">
              <a:spcBef>
                <a:spcPts val="580"/>
              </a:spcBef>
              <a:spcAft>
                <a:spcPts val="0"/>
              </a:spcAft>
              <a:buFont typeface="Arial" charset="0"/>
              <a:buNone/>
              <a:defRPr/>
            </a:pPr>
            <a:r>
              <a:rPr lang="en-US" dirty="0">
                <a:solidFill>
                  <a:srgbClr val="00B050"/>
                </a:solidFill>
              </a:rPr>
              <a:t>	Identify clusters of villages having unique craft, ethnic art form for development as Tourism Products</a:t>
            </a:r>
          </a:p>
          <a:p>
            <a:pPr marL="365760" indent="-283464" eaLnBrk="1" fontAlgn="auto" hangingPunct="1">
              <a:spcBef>
                <a:spcPts val="580"/>
              </a:spcBef>
              <a:spcAft>
                <a:spcPts val="0"/>
              </a:spcAft>
              <a:buFont typeface="Arial" charset="0"/>
              <a:buNone/>
              <a:defRPr/>
            </a:pPr>
            <a:endParaRPr lang="en-US" dirty="0">
              <a:solidFill>
                <a:srgbClr val="00B050"/>
              </a:solidFill>
            </a:endParaRPr>
          </a:p>
          <a:p>
            <a:pPr marL="365760" indent="-283464" eaLnBrk="1" fontAlgn="auto" hangingPunct="1">
              <a:spcBef>
                <a:spcPts val="580"/>
              </a:spcBef>
              <a:spcAft>
                <a:spcPts val="0"/>
              </a:spcAft>
              <a:buFont typeface="Arial" charset="0"/>
              <a:buNone/>
              <a:defRPr/>
            </a:pPr>
            <a:r>
              <a:rPr lang="en-US" dirty="0">
                <a:solidFill>
                  <a:srgbClr val="00B050"/>
                </a:solidFill>
              </a:rPr>
              <a:t>	Development of existing circuits/destinations to be continued under </a:t>
            </a:r>
            <a:r>
              <a:rPr lang="en-US" dirty="0" err="1">
                <a:solidFill>
                  <a:srgbClr val="00B050"/>
                </a:solidFill>
              </a:rPr>
              <a:t>MoTs</a:t>
            </a:r>
            <a:r>
              <a:rPr lang="en-US" dirty="0">
                <a:solidFill>
                  <a:srgbClr val="00B050"/>
                </a:solidFill>
              </a:rPr>
              <a:t> current scheme.</a:t>
            </a:r>
          </a:p>
          <a:p>
            <a:pPr marL="274320" indent="-274320" eaLnBrk="1" fontAlgn="auto" hangingPunct="1">
              <a:spcBef>
                <a:spcPts val="580"/>
              </a:spcBef>
              <a:spcAft>
                <a:spcPts val="0"/>
              </a:spcAft>
              <a:buFont typeface="Arial" pitchFamily="34" charset="0"/>
              <a:buChar char="•"/>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7A95BC-2928-471B-B63D-3DA0562847AA}"/>
              </a:ext>
            </a:extLst>
          </p:cNvPr>
          <p:cNvSpPr>
            <a:spLocks noGrp="1"/>
          </p:cNvSpPr>
          <p:nvPr>
            <p:ph sz="quarter" idx="1"/>
          </p:nvPr>
        </p:nvSpPr>
        <p:spPr>
          <a:xfrm>
            <a:off x="228600" y="304800"/>
            <a:ext cx="8686800" cy="6553200"/>
          </a:xfrm>
        </p:spPr>
        <p:txBody>
          <a:bodyPr rtlCol="0">
            <a:normAutofit fontScale="55000" lnSpcReduction="20000"/>
          </a:bodyPr>
          <a:lstStyle/>
          <a:p>
            <a:pPr marL="365760" indent="-283464" eaLnBrk="1" fontAlgn="auto" hangingPunct="1">
              <a:spcBef>
                <a:spcPts val="580"/>
              </a:spcBef>
              <a:spcAft>
                <a:spcPts val="0"/>
              </a:spcAft>
              <a:buFont typeface="Wingdings 2"/>
              <a:buChar char=""/>
              <a:defRPr/>
            </a:pPr>
            <a:r>
              <a:rPr lang="en-US" sz="3800" b="1" dirty="0">
                <a:solidFill>
                  <a:srgbClr val="00B050"/>
                </a:solidFill>
              </a:rPr>
              <a:t>Hygiene and Sanitation</a:t>
            </a:r>
          </a:p>
          <a:p>
            <a:pPr marL="365760" indent="-283464" eaLnBrk="1" fontAlgn="auto" hangingPunct="1">
              <a:spcBef>
                <a:spcPts val="580"/>
              </a:spcBef>
              <a:spcAft>
                <a:spcPts val="0"/>
              </a:spcAft>
              <a:buFont typeface="Arial" charset="0"/>
              <a:buNone/>
              <a:defRPr/>
            </a:pPr>
            <a:br>
              <a:rPr lang="en-US" sz="3800" dirty="0"/>
            </a:br>
            <a:r>
              <a:rPr lang="en-US" sz="3800" dirty="0">
                <a:solidFill>
                  <a:srgbClr val="7030A0"/>
                </a:solidFill>
              </a:rPr>
              <a:t>Sanitation, solid waste management and clean water major concerns for tourists</a:t>
            </a:r>
          </a:p>
          <a:p>
            <a:pPr marL="365760" indent="-283464" eaLnBrk="1" fontAlgn="auto" hangingPunct="1">
              <a:spcBef>
                <a:spcPts val="580"/>
              </a:spcBef>
              <a:spcAft>
                <a:spcPts val="0"/>
              </a:spcAft>
              <a:buFont typeface="Arial" charset="0"/>
              <a:buNone/>
              <a:defRPr/>
            </a:pPr>
            <a:r>
              <a:rPr lang="en-US" sz="3800" dirty="0">
                <a:solidFill>
                  <a:srgbClr val="7030A0"/>
                </a:solidFill>
              </a:rPr>
              <a:t>	Sensitizing and awareness generation of  all stakeholders required</a:t>
            </a:r>
          </a:p>
          <a:p>
            <a:pPr marL="365760" indent="-283464" eaLnBrk="1" fontAlgn="auto" hangingPunct="1">
              <a:spcBef>
                <a:spcPts val="580"/>
              </a:spcBef>
              <a:spcAft>
                <a:spcPts val="0"/>
              </a:spcAft>
              <a:buFont typeface="Arial" charset="0"/>
              <a:buNone/>
              <a:defRPr/>
            </a:pPr>
            <a:r>
              <a:rPr lang="en-US" sz="3800" dirty="0">
                <a:solidFill>
                  <a:srgbClr val="7030A0"/>
                </a:solidFill>
              </a:rPr>
              <a:t>	Ministry to undertake major social awareness campaign under initiative</a:t>
            </a:r>
          </a:p>
          <a:p>
            <a:pPr marL="365760" indent="-283464" eaLnBrk="1" fontAlgn="auto" hangingPunct="1">
              <a:spcBef>
                <a:spcPts val="580"/>
              </a:spcBef>
              <a:spcAft>
                <a:spcPts val="0"/>
              </a:spcAft>
              <a:buFont typeface="Arial" pitchFamily="34" charset="0"/>
              <a:buNone/>
              <a:defRPr/>
            </a:pPr>
            <a:endParaRPr lang="en-US" sz="3800" dirty="0"/>
          </a:p>
          <a:p>
            <a:pPr marL="365760" indent="-283464" eaLnBrk="1" fontAlgn="auto" hangingPunct="1">
              <a:spcBef>
                <a:spcPts val="580"/>
              </a:spcBef>
              <a:spcAft>
                <a:spcPts val="0"/>
              </a:spcAft>
              <a:buFont typeface="Wingdings 2"/>
              <a:buChar char=""/>
              <a:defRPr/>
            </a:pPr>
            <a:r>
              <a:rPr lang="en-US" sz="3800" b="1" dirty="0">
                <a:solidFill>
                  <a:srgbClr val="00B050"/>
                </a:solidFill>
              </a:rPr>
              <a:t>Marketing, Branding &amp; Promotion</a:t>
            </a:r>
          </a:p>
          <a:p>
            <a:pPr marL="365760" indent="-283464" eaLnBrk="1" fontAlgn="auto" hangingPunct="1">
              <a:spcBef>
                <a:spcPts val="580"/>
              </a:spcBef>
              <a:spcAft>
                <a:spcPts val="0"/>
              </a:spcAft>
              <a:buFont typeface="Arial" charset="0"/>
              <a:buNone/>
              <a:defRPr/>
            </a:pPr>
            <a:br>
              <a:rPr lang="en-US" sz="3800" dirty="0"/>
            </a:br>
            <a:r>
              <a:rPr lang="en-US" sz="3800" dirty="0">
                <a:solidFill>
                  <a:srgbClr val="7030A0"/>
                </a:solidFill>
              </a:rPr>
              <a:t>Developing new markets CIS (Commonwealth Independent States), ASEAN, Middle East and African countries</a:t>
            </a:r>
          </a:p>
          <a:p>
            <a:pPr marL="365760" indent="-283464" eaLnBrk="1" fontAlgn="auto" hangingPunct="1">
              <a:spcBef>
                <a:spcPts val="580"/>
              </a:spcBef>
              <a:spcAft>
                <a:spcPts val="0"/>
              </a:spcAft>
              <a:buFont typeface="Arial" charset="0"/>
              <a:buNone/>
              <a:defRPr/>
            </a:pPr>
            <a:r>
              <a:rPr lang="en-US" sz="3800" dirty="0">
                <a:solidFill>
                  <a:srgbClr val="7030A0"/>
                </a:solidFill>
              </a:rPr>
              <a:t>	Opening new representative offices overseas for wider reach</a:t>
            </a:r>
          </a:p>
          <a:p>
            <a:pPr marL="365760" indent="-283464" eaLnBrk="1" fontAlgn="auto" hangingPunct="1">
              <a:spcBef>
                <a:spcPts val="580"/>
              </a:spcBef>
              <a:spcAft>
                <a:spcPts val="0"/>
              </a:spcAft>
              <a:buFont typeface="Arial" charset="0"/>
              <a:buNone/>
              <a:defRPr/>
            </a:pPr>
            <a:r>
              <a:rPr lang="en-US" sz="3800" dirty="0">
                <a:solidFill>
                  <a:srgbClr val="7030A0"/>
                </a:solidFill>
              </a:rPr>
              <a:t>	Developing and promoting new tourism products</a:t>
            </a:r>
          </a:p>
          <a:p>
            <a:pPr marL="365760" indent="-283464" eaLnBrk="1" fontAlgn="auto" hangingPunct="1">
              <a:spcBef>
                <a:spcPts val="580"/>
              </a:spcBef>
              <a:spcAft>
                <a:spcPts val="0"/>
              </a:spcAft>
              <a:buFont typeface="Arial" charset="0"/>
              <a:buNone/>
              <a:defRPr/>
            </a:pPr>
            <a:r>
              <a:rPr lang="en-US" sz="3800" dirty="0">
                <a:solidFill>
                  <a:srgbClr val="7030A0"/>
                </a:solidFill>
              </a:rPr>
              <a:t>	Golf Polo, Wellness &amp; Medical, MICE (Meeting, Incentives, Conferencing and Exhibition) Caravan, Cruise, Adventure and Wildlife tourism.</a:t>
            </a:r>
          </a:p>
          <a:p>
            <a:pPr marL="365760" indent="-283464" eaLnBrk="1" fontAlgn="auto" hangingPunct="1">
              <a:spcBef>
                <a:spcPts val="580"/>
              </a:spcBef>
              <a:spcAft>
                <a:spcPts val="0"/>
              </a:spcAft>
              <a:buFont typeface="Arial" pitchFamily="34" charset="0"/>
              <a:buNone/>
              <a:defRPr/>
            </a:pPr>
            <a:endParaRPr lang="en-US" sz="3800" dirty="0"/>
          </a:p>
          <a:p>
            <a:pPr marL="365760" indent="-283464" eaLnBrk="1" fontAlgn="auto" hangingPunct="1">
              <a:spcBef>
                <a:spcPts val="580"/>
              </a:spcBef>
              <a:spcAft>
                <a:spcPts val="0"/>
              </a:spcAft>
              <a:buFont typeface="Arial" charset="0"/>
              <a:buNone/>
              <a:defRPr/>
            </a:pPr>
            <a:r>
              <a:rPr lang="en-US" sz="3800" b="1" dirty="0"/>
              <a:t>	</a:t>
            </a:r>
            <a:r>
              <a:rPr lang="en-US" sz="3800" b="1" dirty="0">
                <a:solidFill>
                  <a:srgbClr val="00B050"/>
                </a:solidFill>
              </a:rPr>
              <a:t>Taxation</a:t>
            </a:r>
          </a:p>
          <a:p>
            <a:pPr marL="365760" indent="-283464" eaLnBrk="1" fontAlgn="auto" hangingPunct="1">
              <a:spcBef>
                <a:spcPts val="580"/>
              </a:spcBef>
              <a:spcAft>
                <a:spcPts val="0"/>
              </a:spcAft>
              <a:buFont typeface="Arial" charset="0"/>
              <a:buNone/>
              <a:defRPr/>
            </a:pPr>
            <a:br>
              <a:rPr lang="en-US" sz="3800" dirty="0"/>
            </a:br>
            <a:r>
              <a:rPr lang="en-US" sz="3800" dirty="0">
                <a:solidFill>
                  <a:srgbClr val="7030A0"/>
                </a:solidFill>
              </a:rPr>
              <a:t>Currently the taxes levied on tourism sector are very high.  To get the maximum dividends from tourism taxes levied on tourism industry should be unified, rationalized and made globally competitive.</a:t>
            </a:r>
            <a:br>
              <a:rPr lang="en-US" sz="3800" dirty="0"/>
            </a:br>
            <a:br>
              <a:rPr lang="en-US" dirty="0"/>
            </a:b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A6C877-49C2-40DF-95A8-2EF9CCB5B32E}"/>
              </a:ext>
            </a:extLst>
          </p:cNvPr>
          <p:cNvSpPr>
            <a:spLocks noGrp="1"/>
          </p:cNvSpPr>
          <p:nvPr>
            <p:ph sz="quarter" idx="1"/>
          </p:nvPr>
        </p:nvSpPr>
        <p:spPr>
          <a:xfrm>
            <a:off x="228600" y="381000"/>
            <a:ext cx="8686800" cy="6019800"/>
          </a:xfrm>
        </p:spPr>
        <p:txBody>
          <a:bodyPr rtlCol="0">
            <a:normAutofit fontScale="92500"/>
          </a:bodyPr>
          <a:lstStyle/>
          <a:p>
            <a:pPr marL="365760" indent="-283464" eaLnBrk="1" fontAlgn="auto" hangingPunct="1">
              <a:spcBef>
                <a:spcPts val="580"/>
              </a:spcBef>
              <a:spcAft>
                <a:spcPts val="0"/>
              </a:spcAft>
              <a:buFont typeface="Wingdings 2"/>
              <a:buChar char=""/>
              <a:defRPr/>
            </a:pPr>
            <a:r>
              <a:rPr lang="en-US" b="1" dirty="0">
                <a:solidFill>
                  <a:srgbClr val="00B050"/>
                </a:solidFill>
              </a:rPr>
              <a:t>Convergence</a:t>
            </a:r>
          </a:p>
          <a:p>
            <a:pPr marL="365760" indent="-283464" eaLnBrk="1" fontAlgn="auto" hangingPunct="1">
              <a:spcBef>
                <a:spcPts val="580"/>
              </a:spcBef>
              <a:spcAft>
                <a:spcPts val="0"/>
              </a:spcAft>
              <a:buFont typeface="Wingdings 2" panose="05020102010507070707" pitchFamily="18" charset="2"/>
              <a:buNone/>
              <a:defRPr/>
            </a:pPr>
            <a:r>
              <a:rPr lang="en-US" dirty="0"/>
              <a:t>	</a:t>
            </a:r>
            <a:r>
              <a:rPr lang="en-US" dirty="0">
                <a:solidFill>
                  <a:srgbClr val="0070C0"/>
                </a:solidFill>
              </a:rPr>
              <a:t>As tourism is a multi-</a:t>
            </a:r>
            <a:r>
              <a:rPr lang="en-US" dirty="0" err="1">
                <a:solidFill>
                  <a:srgbClr val="0070C0"/>
                </a:solidFill>
              </a:rPr>
              <a:t>sectoral</a:t>
            </a:r>
            <a:r>
              <a:rPr lang="en-US" dirty="0">
                <a:solidFill>
                  <a:srgbClr val="0070C0"/>
                </a:solidFill>
              </a:rPr>
              <a:t> activity, active convergence in the resources of various  sectors involved in promotion of tourism at Central and State level is necessary for achieving the optimum results.</a:t>
            </a:r>
            <a:r>
              <a:rPr lang="en-US" dirty="0"/>
              <a:t>  </a:t>
            </a:r>
          </a:p>
          <a:p>
            <a:pPr marL="365760" indent="-283464" eaLnBrk="1" fontAlgn="auto" hangingPunct="1">
              <a:spcBef>
                <a:spcPts val="580"/>
              </a:spcBef>
              <a:spcAft>
                <a:spcPts val="0"/>
              </a:spcAft>
              <a:buFont typeface="Wingdings 2" panose="05020102010507070707" pitchFamily="18" charset="2"/>
              <a:buNone/>
              <a:defRPr/>
            </a:pPr>
            <a:r>
              <a:rPr lang="en-US" dirty="0"/>
              <a:t>	</a:t>
            </a:r>
          </a:p>
          <a:p>
            <a:pPr marL="365760" indent="-283464" eaLnBrk="1" fontAlgn="auto" hangingPunct="1">
              <a:spcBef>
                <a:spcPts val="580"/>
              </a:spcBef>
              <a:spcAft>
                <a:spcPts val="0"/>
              </a:spcAft>
              <a:buFont typeface="Wingdings 2" panose="05020102010507070707" pitchFamily="18" charset="2"/>
              <a:buNone/>
              <a:defRPr/>
            </a:pPr>
            <a:r>
              <a:rPr lang="en-US" dirty="0">
                <a:solidFill>
                  <a:srgbClr val="7030A0"/>
                </a:solidFill>
              </a:rPr>
              <a:t>For achieving the best results in Convergence, following measures will be required:-</a:t>
            </a:r>
            <a:br>
              <a:rPr lang="en-US" dirty="0"/>
            </a:br>
            <a:r>
              <a:rPr lang="en-US" dirty="0">
                <a:solidFill>
                  <a:srgbClr val="0070C0"/>
                </a:solidFill>
              </a:rPr>
              <a:t>A Committee may be constituted under the Chairmanship of Prime Minister with members from concerned Ministries such as Culture, Civil Aviation, Road Transport &amp; Highways, Urban Development  etc.</a:t>
            </a:r>
          </a:p>
          <a:p>
            <a:pPr marL="365760" indent="-283464" eaLnBrk="1" fontAlgn="auto" hangingPunct="1">
              <a:spcBef>
                <a:spcPts val="580"/>
              </a:spcBef>
              <a:spcAft>
                <a:spcPts val="0"/>
              </a:spcAft>
              <a:buFont typeface="Wingdings 2" panose="05020102010507070707" pitchFamily="18" charset="2"/>
              <a:buNone/>
              <a:defRPr/>
            </a:pPr>
            <a:r>
              <a:rPr lang="en-US" dirty="0">
                <a:solidFill>
                  <a:srgbClr val="0070C0"/>
                </a:solidFill>
              </a:rPr>
              <a:t>	</a:t>
            </a:r>
          </a:p>
          <a:p>
            <a:pPr marL="365760" indent="-283464" eaLnBrk="1" fontAlgn="auto" hangingPunct="1">
              <a:spcBef>
                <a:spcPts val="580"/>
              </a:spcBef>
              <a:spcAft>
                <a:spcPts val="0"/>
              </a:spcAft>
              <a:buFont typeface="Wingdings 2" panose="05020102010507070707" pitchFamily="18" charset="2"/>
              <a:buNone/>
              <a:defRPr/>
            </a:pPr>
            <a:r>
              <a:rPr lang="en-US" dirty="0">
                <a:solidFill>
                  <a:srgbClr val="0070C0"/>
                </a:solidFill>
              </a:rPr>
              <a:t>	A Committee may be constituted in each State/UTs  under the Chairmanship of  Chief Ministers/Administrator with members from concerned Ministries of the State Government/UT Administrations.</a:t>
            </a:r>
          </a:p>
          <a:p>
            <a:pPr marL="274320" indent="-274320" eaLnBrk="1" fontAlgn="auto" hangingPunct="1">
              <a:spcBef>
                <a:spcPts val="580"/>
              </a:spcBef>
              <a:spcAft>
                <a:spcPts val="0"/>
              </a:spcAft>
              <a:buFont typeface="Arial" pitchFamily="34" charset="0"/>
              <a:buChar char="•"/>
              <a:defRPr/>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E45DA7-114A-4DB6-A0EC-74A65F6ED746}"/>
              </a:ext>
            </a:extLst>
          </p:cNvPr>
          <p:cNvSpPr>
            <a:spLocks noGrp="1"/>
          </p:cNvSpPr>
          <p:nvPr>
            <p:ph sz="quarter" idx="1"/>
          </p:nvPr>
        </p:nvSpPr>
        <p:spPr>
          <a:xfrm>
            <a:off x="152400" y="152400"/>
            <a:ext cx="8686800" cy="6553200"/>
          </a:xfrm>
        </p:spPr>
        <p:txBody>
          <a:bodyPr rtlCol="0">
            <a:normAutofit fontScale="85000" lnSpcReduction="20000"/>
          </a:bodyPr>
          <a:lstStyle/>
          <a:p>
            <a:pPr marL="365760" indent="-283464" eaLnBrk="1" fontAlgn="auto" hangingPunct="1">
              <a:spcBef>
                <a:spcPts val="580"/>
              </a:spcBef>
              <a:spcAft>
                <a:spcPts val="0"/>
              </a:spcAft>
              <a:buFont typeface="Wingdings 2"/>
              <a:buChar char=""/>
              <a:defRPr/>
            </a:pPr>
            <a:r>
              <a:rPr lang="en-US" b="1" dirty="0">
                <a:solidFill>
                  <a:srgbClr val="C00000"/>
                </a:solidFill>
              </a:rPr>
              <a:t>Involvement  of States/UTs in Tourism Development</a:t>
            </a:r>
          </a:p>
          <a:p>
            <a:pPr marL="365760" indent="-283464" eaLnBrk="1" fontAlgn="auto" hangingPunct="1">
              <a:spcBef>
                <a:spcPts val="580"/>
              </a:spcBef>
              <a:spcAft>
                <a:spcPts val="0"/>
              </a:spcAft>
              <a:buFont typeface="Arial" charset="0"/>
              <a:buNone/>
              <a:defRPr/>
            </a:pPr>
            <a:br>
              <a:rPr lang="en-US" dirty="0"/>
            </a:br>
            <a:r>
              <a:rPr lang="en-US" dirty="0">
                <a:solidFill>
                  <a:srgbClr val="00B050"/>
                </a:solidFill>
              </a:rPr>
              <a:t>Active involvement of States pre-requisite for integrated tourism development  through  convergence</a:t>
            </a:r>
          </a:p>
          <a:p>
            <a:pPr marL="365760" indent="-283464" eaLnBrk="1" fontAlgn="auto" hangingPunct="1">
              <a:spcBef>
                <a:spcPts val="580"/>
              </a:spcBef>
              <a:spcAft>
                <a:spcPts val="0"/>
              </a:spcAft>
              <a:buFont typeface="Wingdings 2" panose="05020102010507070707" pitchFamily="18" charset="2"/>
              <a:buNone/>
              <a:defRPr/>
            </a:pPr>
            <a:r>
              <a:rPr lang="en-US" dirty="0">
                <a:solidFill>
                  <a:srgbClr val="00B050"/>
                </a:solidFill>
              </a:rPr>
              <a:t>	</a:t>
            </a:r>
            <a:r>
              <a:rPr lang="en-US" dirty="0" err="1">
                <a:solidFill>
                  <a:srgbClr val="00B050"/>
                </a:solidFill>
              </a:rPr>
              <a:t>MoT</a:t>
            </a:r>
            <a:r>
              <a:rPr lang="en-US" dirty="0">
                <a:solidFill>
                  <a:srgbClr val="00B050"/>
                </a:solidFill>
              </a:rPr>
              <a:t> in association with ASSOCHAM, (CII, FICCI, PHDCCI, ICC) to undertake efforts to increase State’s awareness of potential of tourism in economic development and employment generation.</a:t>
            </a:r>
          </a:p>
          <a:p>
            <a:pPr marL="365760" indent="-283464" eaLnBrk="1" fontAlgn="auto" hangingPunct="1">
              <a:spcBef>
                <a:spcPts val="580"/>
              </a:spcBef>
              <a:spcAft>
                <a:spcPts val="0"/>
              </a:spcAft>
              <a:buFont typeface="Wingdings 2" panose="05020102010507070707" pitchFamily="18" charset="2"/>
              <a:buNone/>
              <a:defRPr/>
            </a:pPr>
            <a:r>
              <a:rPr lang="en-US" dirty="0">
                <a:solidFill>
                  <a:srgbClr val="00B050"/>
                </a:solidFill>
              </a:rPr>
              <a:t>	States to identify infrastructure gaps for tourist destination and ensure intervention at CM level making it a political  agenda</a:t>
            </a:r>
          </a:p>
          <a:p>
            <a:pPr marL="365760" indent="-283464" eaLnBrk="1" fontAlgn="auto" hangingPunct="1">
              <a:spcBef>
                <a:spcPts val="580"/>
              </a:spcBef>
              <a:spcAft>
                <a:spcPts val="0"/>
              </a:spcAft>
              <a:buFont typeface="Wingdings 2" panose="05020102010507070707" pitchFamily="18" charset="2"/>
              <a:buNone/>
              <a:defRPr/>
            </a:pPr>
            <a:r>
              <a:rPr lang="en-US" dirty="0">
                <a:solidFill>
                  <a:srgbClr val="00B050"/>
                </a:solidFill>
              </a:rPr>
              <a:t>	States should promote sustainable, safe and honorarium tourism.</a:t>
            </a:r>
          </a:p>
          <a:p>
            <a:pPr marL="365760" indent="-283464" eaLnBrk="1" fontAlgn="auto" hangingPunct="1">
              <a:spcBef>
                <a:spcPts val="580"/>
              </a:spcBef>
              <a:spcAft>
                <a:spcPts val="0"/>
              </a:spcAft>
              <a:buFont typeface="Arial" pitchFamily="34" charset="0"/>
              <a:buNone/>
              <a:defRPr/>
            </a:pPr>
            <a:endParaRPr lang="en-US" dirty="0"/>
          </a:p>
          <a:p>
            <a:pPr marL="365760" indent="-283464" eaLnBrk="1" fontAlgn="auto" hangingPunct="1">
              <a:spcBef>
                <a:spcPts val="580"/>
              </a:spcBef>
              <a:spcAft>
                <a:spcPts val="0"/>
              </a:spcAft>
              <a:buFont typeface="Wingdings 2"/>
              <a:buChar char=""/>
              <a:defRPr/>
            </a:pPr>
            <a:r>
              <a:rPr lang="en-US" b="1" dirty="0">
                <a:solidFill>
                  <a:srgbClr val="C00000"/>
                </a:solidFill>
              </a:rPr>
              <a:t>Land for Tourism Sector</a:t>
            </a:r>
            <a:br>
              <a:rPr lang="en-US" dirty="0"/>
            </a:br>
            <a:r>
              <a:rPr lang="en-US" dirty="0">
                <a:solidFill>
                  <a:srgbClr val="00B050"/>
                </a:solidFill>
              </a:rPr>
              <a:t>Land required for</a:t>
            </a:r>
          </a:p>
          <a:p>
            <a:pPr marL="365760" indent="-283464" eaLnBrk="1" fontAlgn="auto" hangingPunct="1">
              <a:spcBef>
                <a:spcPts val="580"/>
              </a:spcBef>
              <a:spcAft>
                <a:spcPts val="0"/>
              </a:spcAft>
              <a:buFont typeface="Arial" charset="0"/>
              <a:buNone/>
              <a:defRPr/>
            </a:pPr>
            <a:r>
              <a:rPr lang="en-US" dirty="0">
                <a:solidFill>
                  <a:srgbClr val="00B050"/>
                </a:solidFill>
              </a:rPr>
              <a:t>	o   Hotels</a:t>
            </a:r>
            <a:br>
              <a:rPr lang="en-US" dirty="0">
                <a:solidFill>
                  <a:srgbClr val="00B050"/>
                </a:solidFill>
              </a:rPr>
            </a:br>
            <a:r>
              <a:rPr lang="en-US" dirty="0">
                <a:solidFill>
                  <a:srgbClr val="00B050"/>
                </a:solidFill>
              </a:rPr>
              <a:t>o   Convention/Exhibition </a:t>
            </a:r>
            <a:r>
              <a:rPr lang="en-US" dirty="0" err="1">
                <a:solidFill>
                  <a:srgbClr val="00B050"/>
                </a:solidFill>
              </a:rPr>
              <a:t>Centres</a:t>
            </a:r>
            <a:br>
              <a:rPr lang="en-US" dirty="0">
                <a:solidFill>
                  <a:srgbClr val="00B050"/>
                </a:solidFill>
              </a:rPr>
            </a:br>
            <a:r>
              <a:rPr lang="en-US" dirty="0">
                <a:solidFill>
                  <a:srgbClr val="00B050"/>
                </a:solidFill>
              </a:rPr>
              <a:t>o   Theme parks</a:t>
            </a:r>
            <a:br>
              <a:rPr lang="en-US" dirty="0">
                <a:solidFill>
                  <a:srgbClr val="00B050"/>
                </a:solidFill>
              </a:rPr>
            </a:br>
            <a:r>
              <a:rPr lang="en-US" dirty="0">
                <a:solidFill>
                  <a:srgbClr val="00B050"/>
                </a:solidFill>
              </a:rPr>
              <a:t>o   Composite Heats</a:t>
            </a:r>
            <a:br>
              <a:rPr lang="en-US" dirty="0"/>
            </a:br>
            <a:endParaRPr lang="en-US" dirty="0"/>
          </a:p>
          <a:p>
            <a:pPr marL="365760" indent="-283464" eaLnBrk="1" fontAlgn="auto" hangingPunct="1">
              <a:spcBef>
                <a:spcPts val="580"/>
              </a:spcBef>
              <a:spcAft>
                <a:spcPts val="0"/>
              </a:spcAft>
              <a:buFont typeface="Arial" charset="0"/>
              <a:buNone/>
              <a:defRPr/>
            </a:pPr>
            <a:r>
              <a:rPr lang="en-US" dirty="0"/>
              <a:t>	</a:t>
            </a:r>
            <a:r>
              <a:rPr lang="en-US" dirty="0">
                <a:solidFill>
                  <a:srgbClr val="0070C0"/>
                </a:solidFill>
              </a:rPr>
              <a:t>On the pattern of land allotted to industry</a:t>
            </a:r>
          </a:p>
          <a:p>
            <a:pPr marL="365760" indent="-283464" eaLnBrk="1" fontAlgn="auto" hangingPunct="1">
              <a:spcBef>
                <a:spcPts val="580"/>
              </a:spcBef>
              <a:spcAft>
                <a:spcPts val="0"/>
              </a:spcAft>
              <a:buFont typeface="Arial" charset="0"/>
              <a:buNone/>
              <a:defRPr/>
            </a:pPr>
            <a:r>
              <a:rPr lang="en-US" dirty="0">
                <a:solidFill>
                  <a:srgbClr val="0070C0"/>
                </a:solidFill>
              </a:rPr>
              <a:t>		Land be given on Revenue Sharing basis</a:t>
            </a:r>
          </a:p>
          <a:p>
            <a:pPr marL="365760" indent="-283464" eaLnBrk="1" fontAlgn="auto" hangingPunct="1">
              <a:spcBef>
                <a:spcPts val="580"/>
              </a:spcBef>
              <a:spcAft>
                <a:spcPts val="0"/>
              </a:spcAft>
              <a:buFont typeface="Arial" charset="0"/>
              <a:buNone/>
              <a:defRPr/>
            </a:pPr>
            <a:r>
              <a:rPr lang="en-US" dirty="0">
                <a:solidFill>
                  <a:srgbClr val="0070C0"/>
                </a:solidFill>
              </a:rPr>
              <a:t>		Higher FAR (Floor Area Ratio) for hotels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9A85C-38F7-45F9-9052-BD16A2A6A37A}"/>
              </a:ext>
            </a:extLst>
          </p:cNvPr>
          <p:cNvSpPr>
            <a:spLocks noGrp="1"/>
          </p:cNvSpPr>
          <p:nvPr>
            <p:ph type="title"/>
          </p:nvPr>
        </p:nvSpPr>
        <p:spPr>
          <a:xfrm>
            <a:off x="914400" y="914400"/>
            <a:ext cx="7497763" cy="838200"/>
          </a:xfrm>
        </p:spPr>
        <p:txBody>
          <a:bodyPr rtlCol="0">
            <a:normAutofit fontScale="90000"/>
          </a:bodyPr>
          <a:lstStyle/>
          <a:p>
            <a:pPr algn="ctr" eaLnBrk="1" fontAlgn="auto" hangingPunct="1">
              <a:spcAft>
                <a:spcPts val="0"/>
              </a:spcAft>
              <a:defRPr/>
            </a:pPr>
            <a:br>
              <a:rPr lang="en-US" b="1" dirty="0">
                <a:solidFill>
                  <a:srgbClr val="00B050"/>
                </a:solidFill>
              </a:rPr>
            </a:br>
            <a:br>
              <a:rPr lang="en-US" b="1" dirty="0">
                <a:solidFill>
                  <a:srgbClr val="00B050"/>
                </a:solidFill>
              </a:rPr>
            </a:br>
            <a:br>
              <a:rPr lang="en-US" b="1" dirty="0">
                <a:solidFill>
                  <a:srgbClr val="00B050"/>
                </a:solidFill>
              </a:rPr>
            </a:br>
            <a:r>
              <a:rPr lang="en-US" b="1" dirty="0">
                <a:solidFill>
                  <a:srgbClr val="00B050"/>
                </a:solidFill>
              </a:rPr>
              <a:t>Tamil Nadu Tourism </a:t>
            </a:r>
            <a:br>
              <a:rPr lang="en-US" b="1" dirty="0">
                <a:solidFill>
                  <a:srgbClr val="00B050"/>
                </a:solidFill>
              </a:rPr>
            </a:br>
            <a:endParaRPr lang="en-US" b="1" dirty="0">
              <a:solidFill>
                <a:srgbClr val="00B050"/>
              </a:solidFill>
            </a:endParaRPr>
          </a:p>
        </p:txBody>
      </p:sp>
      <p:sp>
        <p:nvSpPr>
          <p:cNvPr id="21507" name="Content Placeholder 2">
            <a:extLst>
              <a:ext uri="{FF2B5EF4-FFF2-40B4-BE49-F238E27FC236}">
                <a16:creationId xmlns:a16="http://schemas.microsoft.com/office/drawing/2014/main" id="{47E5E763-155C-4A52-A573-5A2190DD385C}"/>
              </a:ext>
            </a:extLst>
          </p:cNvPr>
          <p:cNvSpPr>
            <a:spLocks noGrp="1"/>
          </p:cNvSpPr>
          <p:nvPr>
            <p:ph sz="quarter" idx="1"/>
          </p:nvPr>
        </p:nvSpPr>
        <p:spPr>
          <a:xfrm>
            <a:off x="914400" y="1676400"/>
            <a:ext cx="7772400" cy="4343400"/>
          </a:xfrm>
        </p:spPr>
        <p:txBody>
          <a:bodyPr/>
          <a:lstStyle/>
          <a:p>
            <a:pPr eaLnBrk="1" hangingPunct="1"/>
            <a:r>
              <a:rPr lang="en-US" altLang="en-US" b="1"/>
              <a:t>Mr. Vallamandi Nadarajan  </a:t>
            </a:r>
            <a:endParaRPr lang="en-US" altLang="en-US"/>
          </a:p>
          <a:p>
            <a:pPr eaLnBrk="1" hangingPunct="1"/>
            <a:r>
              <a:rPr lang="en-US" altLang="en-US" b="1"/>
              <a:t>Tourism, Tourism Development Corporation</a:t>
            </a:r>
          </a:p>
          <a:p>
            <a:pPr eaLnBrk="1" hangingPunct="1">
              <a:buFont typeface="Arial" panose="020B0604020202020204" pitchFamily="34" charset="0"/>
              <a:buNone/>
            </a:pPr>
            <a:r>
              <a:rPr lang="en-US" altLang="en-US"/>
              <a:t>	Phone : 25671021(O) Extn-5421</a:t>
            </a:r>
          </a:p>
          <a:p>
            <a:pPr eaLnBrk="1" hangingPunct="1"/>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90F34246-ADB5-4CB5-87FA-240E572A8ABE}"/>
              </a:ext>
            </a:extLst>
          </p:cNvPr>
          <p:cNvSpPr>
            <a:spLocks noGrp="1"/>
          </p:cNvSpPr>
          <p:nvPr>
            <p:ph type="title"/>
          </p:nvPr>
        </p:nvSpPr>
        <p:spPr>
          <a:xfrm>
            <a:off x="457200" y="0"/>
            <a:ext cx="8229600" cy="838200"/>
          </a:xfrm>
        </p:spPr>
        <p:txBody>
          <a:bodyPr/>
          <a:lstStyle/>
          <a:p>
            <a:pPr algn="ctr" eaLnBrk="1" hangingPunct="1"/>
            <a:r>
              <a:rPr lang="en-US" altLang="en-US" b="1">
                <a:solidFill>
                  <a:srgbClr val="00B050"/>
                </a:solidFill>
              </a:rPr>
              <a:t>Tourism in Tamil Nadu</a:t>
            </a:r>
          </a:p>
        </p:txBody>
      </p:sp>
      <p:sp>
        <p:nvSpPr>
          <p:cNvPr id="3" name="Content Placeholder 2">
            <a:extLst>
              <a:ext uri="{FF2B5EF4-FFF2-40B4-BE49-F238E27FC236}">
                <a16:creationId xmlns:a16="http://schemas.microsoft.com/office/drawing/2014/main" id="{BD682005-8868-4A39-8004-7664D0089C90}"/>
              </a:ext>
            </a:extLst>
          </p:cNvPr>
          <p:cNvSpPr>
            <a:spLocks noGrp="1"/>
          </p:cNvSpPr>
          <p:nvPr>
            <p:ph sz="quarter" idx="1"/>
          </p:nvPr>
        </p:nvSpPr>
        <p:spPr>
          <a:xfrm>
            <a:off x="457200" y="838200"/>
            <a:ext cx="8229600" cy="6019800"/>
          </a:xfrm>
        </p:spPr>
        <p:txBody>
          <a:bodyPr rtlCol="0">
            <a:normAutofit fontScale="92500"/>
          </a:bodyPr>
          <a:lstStyle/>
          <a:p>
            <a:pPr marL="365760" indent="-283464" eaLnBrk="1" fontAlgn="auto" hangingPunct="1">
              <a:spcBef>
                <a:spcPts val="580"/>
              </a:spcBef>
              <a:spcAft>
                <a:spcPts val="0"/>
              </a:spcAft>
              <a:buFont typeface="Wingdings 2"/>
              <a:buChar char=""/>
              <a:defRPr/>
            </a:pPr>
            <a:r>
              <a:rPr lang="en-US" dirty="0">
                <a:solidFill>
                  <a:srgbClr val="C00000"/>
                </a:solidFill>
              </a:rPr>
              <a:t>Tamil Nadu Tourism - An Overview </a:t>
            </a:r>
            <a:br>
              <a:rPr lang="en-US" dirty="0">
                <a:solidFill>
                  <a:srgbClr val="0070C0"/>
                </a:solidFill>
              </a:rPr>
            </a:br>
            <a:br>
              <a:rPr lang="en-US" dirty="0">
                <a:solidFill>
                  <a:srgbClr val="0070C0"/>
                </a:solidFill>
              </a:rPr>
            </a:br>
            <a:r>
              <a:rPr lang="en-US" dirty="0">
                <a:solidFill>
                  <a:srgbClr val="0070C0"/>
                </a:solidFill>
              </a:rPr>
              <a:t>Tourist expenditure generates multiple effects with extensive outreach along its value chain. Adding to the demand for a variety of goods and services, tourism offers potential to exploit synergies across a large number of sectors such as agriculture, horticulture, poultry, handicrafts, transport, construction ? the sectors, where growth of income has </a:t>
            </a:r>
            <a:r>
              <a:rPr lang="en-US" dirty="0" err="1">
                <a:solidFill>
                  <a:srgbClr val="0070C0"/>
                </a:solidFill>
              </a:rPr>
              <a:t>favourable</a:t>
            </a:r>
            <a:r>
              <a:rPr lang="en-US" dirty="0">
                <a:solidFill>
                  <a:srgbClr val="0070C0"/>
                </a:solidFill>
              </a:rPr>
              <a:t> impact on poverty alleviation. </a:t>
            </a:r>
            <a:br>
              <a:rPr lang="en-US" dirty="0">
                <a:solidFill>
                  <a:srgbClr val="0070C0"/>
                </a:solidFill>
              </a:rPr>
            </a:br>
            <a:br>
              <a:rPr lang="en-US" dirty="0">
                <a:solidFill>
                  <a:srgbClr val="0070C0"/>
                </a:solidFill>
              </a:rPr>
            </a:br>
            <a:r>
              <a:rPr lang="en-US" dirty="0">
                <a:solidFill>
                  <a:srgbClr val="0070C0"/>
                </a:solidFill>
              </a:rPr>
              <a:t>Tourism enhances the performance of the tourism sector in an environmentally and culturally sustainable and socially inclusive manner. This would be reflected in: </a:t>
            </a:r>
          </a:p>
          <a:p>
            <a:pPr marL="365760" indent="-283464" eaLnBrk="1" fontAlgn="auto" hangingPunct="1">
              <a:spcBef>
                <a:spcPts val="580"/>
              </a:spcBef>
              <a:spcAft>
                <a:spcPts val="0"/>
              </a:spcAft>
              <a:buFont typeface="Wingdings 2"/>
              <a:buChar char=""/>
              <a:defRPr/>
            </a:pPr>
            <a:r>
              <a:rPr lang="en-US" dirty="0">
                <a:solidFill>
                  <a:srgbClr val="0070C0"/>
                </a:solidFill>
              </a:rPr>
              <a:t>Increase in the duration of stay, </a:t>
            </a:r>
          </a:p>
          <a:p>
            <a:pPr marL="365760" indent="-283464" eaLnBrk="1" fontAlgn="auto" hangingPunct="1">
              <a:spcBef>
                <a:spcPts val="580"/>
              </a:spcBef>
              <a:spcAft>
                <a:spcPts val="0"/>
              </a:spcAft>
              <a:buFont typeface="Wingdings 2"/>
              <a:buChar char=""/>
              <a:defRPr/>
            </a:pPr>
            <a:r>
              <a:rPr lang="en-US" dirty="0">
                <a:solidFill>
                  <a:srgbClr val="0070C0"/>
                </a:solidFill>
              </a:rPr>
              <a:t>Distribution of income and benefits from tourism and </a:t>
            </a:r>
          </a:p>
          <a:p>
            <a:pPr marL="365760" indent="-283464" eaLnBrk="1" fontAlgn="auto" hangingPunct="1">
              <a:spcBef>
                <a:spcPts val="580"/>
              </a:spcBef>
              <a:spcAft>
                <a:spcPts val="0"/>
              </a:spcAft>
              <a:buFont typeface="Wingdings 2"/>
              <a:buChar char=""/>
              <a:defRPr/>
            </a:pPr>
            <a:r>
              <a:rPr lang="en-US" dirty="0">
                <a:solidFill>
                  <a:srgbClr val="0070C0"/>
                </a:solidFill>
              </a:rPr>
              <a:t>Enhancement of management of natural and cultural heritage sites.</a:t>
            </a:r>
          </a:p>
          <a:p>
            <a:pPr marL="365760" indent="-283464" eaLnBrk="1" fontAlgn="auto" hangingPunct="1">
              <a:spcBef>
                <a:spcPts val="580"/>
              </a:spcBef>
              <a:spcAft>
                <a:spcPts val="0"/>
              </a:spcAft>
              <a:buFont typeface="Wingdings 2"/>
              <a:buChar char=""/>
              <a:defRPr/>
            </a:pPr>
            <a:endParaRPr lang="en-US" dirty="0">
              <a:solidFill>
                <a:srgbClr val="0070C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85FD31-7730-427B-978E-00F2748EA24A}"/>
              </a:ext>
            </a:extLst>
          </p:cNvPr>
          <p:cNvSpPr>
            <a:spLocks noGrp="1"/>
          </p:cNvSpPr>
          <p:nvPr>
            <p:ph sz="quarter" idx="1"/>
          </p:nvPr>
        </p:nvSpPr>
        <p:spPr>
          <a:xfrm>
            <a:off x="457200" y="609600"/>
            <a:ext cx="8229600" cy="5516563"/>
          </a:xfrm>
        </p:spPr>
        <p:txBody>
          <a:bodyPr rtlCol="0">
            <a:normAutofit fontScale="92500" lnSpcReduction="10000"/>
          </a:bodyPr>
          <a:lstStyle/>
          <a:p>
            <a:pPr marL="365760" indent="-283464" eaLnBrk="1" fontAlgn="auto" hangingPunct="1">
              <a:spcBef>
                <a:spcPts val="580"/>
              </a:spcBef>
              <a:spcAft>
                <a:spcPts val="0"/>
              </a:spcAft>
              <a:buFont typeface="Wingdings 2"/>
              <a:buChar char=""/>
              <a:defRPr/>
            </a:pPr>
            <a:r>
              <a:rPr lang="en-US" b="1" dirty="0">
                <a:solidFill>
                  <a:srgbClr val="C00000"/>
                </a:solidFill>
              </a:rPr>
              <a:t>It results in:</a:t>
            </a:r>
            <a:r>
              <a:rPr lang="en-US" dirty="0">
                <a:solidFill>
                  <a:srgbClr val="C00000"/>
                </a:solidFill>
              </a:rPr>
              <a:t> </a:t>
            </a:r>
            <a:r>
              <a:rPr lang="en-US" dirty="0">
                <a:solidFill>
                  <a:srgbClr val="00B050"/>
                </a:solidFill>
              </a:rPr>
              <a:t>integrated development of high-priority tourism infrastructure in high potential tourism circuits, </a:t>
            </a:r>
          </a:p>
          <a:p>
            <a:pPr marL="365760" indent="-283464" eaLnBrk="1" fontAlgn="auto" hangingPunct="1">
              <a:spcBef>
                <a:spcPts val="580"/>
              </a:spcBef>
              <a:spcAft>
                <a:spcPts val="0"/>
              </a:spcAft>
              <a:buFont typeface="Wingdings 2"/>
              <a:buChar char=""/>
              <a:defRPr/>
            </a:pPr>
            <a:r>
              <a:rPr lang="en-US" dirty="0">
                <a:solidFill>
                  <a:srgbClr val="00B050"/>
                </a:solidFill>
              </a:rPr>
              <a:t>enhanced connectivity and improved environment, utilities, and tourist services, </a:t>
            </a:r>
          </a:p>
          <a:p>
            <a:pPr marL="365760" indent="-283464" eaLnBrk="1" fontAlgn="auto" hangingPunct="1">
              <a:spcBef>
                <a:spcPts val="580"/>
              </a:spcBef>
              <a:spcAft>
                <a:spcPts val="0"/>
              </a:spcAft>
              <a:buFont typeface="Wingdings 2"/>
              <a:buChar char=""/>
              <a:defRPr/>
            </a:pPr>
            <a:r>
              <a:rPr lang="en-US" dirty="0">
                <a:solidFill>
                  <a:srgbClr val="00B050"/>
                </a:solidFill>
              </a:rPr>
              <a:t>improvement of institutional and regulatory frameworks that will ensure coordinated efforts of multiple agencies,</a:t>
            </a:r>
          </a:p>
          <a:p>
            <a:pPr marL="365760" indent="-283464" eaLnBrk="1" fontAlgn="auto" hangingPunct="1">
              <a:spcBef>
                <a:spcPts val="580"/>
              </a:spcBef>
              <a:spcAft>
                <a:spcPts val="0"/>
              </a:spcAft>
              <a:buFont typeface="Wingdings 2"/>
              <a:buChar char=""/>
              <a:defRPr/>
            </a:pPr>
            <a:r>
              <a:rPr lang="en-US" dirty="0">
                <a:solidFill>
                  <a:srgbClr val="00B050"/>
                </a:solidFill>
              </a:rPr>
              <a:t>promotion of environmentally and culturally sustainable and socially inclusive tourism development, </a:t>
            </a:r>
          </a:p>
          <a:p>
            <a:pPr marL="365760" indent="-283464" eaLnBrk="1" fontAlgn="auto" hangingPunct="1">
              <a:spcBef>
                <a:spcPts val="580"/>
              </a:spcBef>
              <a:spcAft>
                <a:spcPts val="0"/>
              </a:spcAft>
              <a:buFont typeface="Wingdings 2"/>
              <a:buChar char=""/>
              <a:defRPr/>
            </a:pPr>
            <a:r>
              <a:rPr lang="en-US" dirty="0">
                <a:solidFill>
                  <a:srgbClr val="00B050"/>
                </a:solidFill>
              </a:rPr>
              <a:t>encouragement of private sector and community participation in tourism, and </a:t>
            </a:r>
          </a:p>
          <a:p>
            <a:pPr marL="365760" indent="-283464" eaLnBrk="1" fontAlgn="auto" hangingPunct="1">
              <a:spcBef>
                <a:spcPts val="580"/>
              </a:spcBef>
              <a:spcAft>
                <a:spcPts val="0"/>
              </a:spcAft>
              <a:buFont typeface="Wingdings 2"/>
              <a:buChar char=""/>
              <a:defRPr/>
            </a:pPr>
            <a:r>
              <a:rPr lang="en-US" dirty="0">
                <a:solidFill>
                  <a:srgbClr val="00B050"/>
                </a:solidFill>
              </a:rPr>
              <a:t>capacity building and human resources development for sustainable tourism and destination management through employment generation, poverty alleviation, environmental regeneration, advancement of women and disadvantaged groups.</a:t>
            </a:r>
          </a:p>
          <a:p>
            <a:pPr marL="365760" indent="-283464" eaLnBrk="1" fontAlgn="auto" hangingPunct="1">
              <a:spcBef>
                <a:spcPts val="580"/>
              </a:spcBef>
              <a:spcAft>
                <a:spcPts val="0"/>
              </a:spcAft>
              <a:buFont typeface="Wingdings 2"/>
              <a:buChar char=""/>
              <a:defRP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821E6-7E29-4FAA-9DC1-0240E70022E4}"/>
              </a:ext>
            </a:extLst>
          </p:cNvPr>
          <p:cNvSpPr>
            <a:spLocks noGrp="1"/>
          </p:cNvSpPr>
          <p:nvPr>
            <p:ph type="title"/>
          </p:nvPr>
        </p:nvSpPr>
        <p:spPr>
          <a:xfrm>
            <a:off x="533400" y="0"/>
            <a:ext cx="8229600" cy="685800"/>
          </a:xfrm>
        </p:spPr>
        <p:txBody>
          <a:bodyPr rtlCol="0">
            <a:normAutofit fontScale="90000"/>
          </a:bodyPr>
          <a:lstStyle/>
          <a:p>
            <a:pPr algn="ctr" eaLnBrk="1" fontAlgn="auto" hangingPunct="1">
              <a:spcAft>
                <a:spcPts val="0"/>
              </a:spcAft>
              <a:defRPr/>
            </a:pPr>
            <a:r>
              <a:rPr lang="en-US" b="1" dirty="0">
                <a:solidFill>
                  <a:srgbClr val="00B050"/>
                </a:solidFill>
              </a:rPr>
              <a:t>Scenario in Tamil Nadu </a:t>
            </a:r>
          </a:p>
        </p:txBody>
      </p:sp>
      <p:sp>
        <p:nvSpPr>
          <p:cNvPr id="3" name="Content Placeholder 2">
            <a:extLst>
              <a:ext uri="{FF2B5EF4-FFF2-40B4-BE49-F238E27FC236}">
                <a16:creationId xmlns:a16="http://schemas.microsoft.com/office/drawing/2014/main" id="{51027951-F784-47DF-8D1A-DC635C3217A7}"/>
              </a:ext>
            </a:extLst>
          </p:cNvPr>
          <p:cNvSpPr>
            <a:spLocks noGrp="1"/>
          </p:cNvSpPr>
          <p:nvPr>
            <p:ph sz="quarter" idx="1"/>
          </p:nvPr>
        </p:nvSpPr>
        <p:spPr>
          <a:xfrm>
            <a:off x="0" y="609600"/>
            <a:ext cx="9144000" cy="6248400"/>
          </a:xfrm>
        </p:spPr>
        <p:txBody>
          <a:bodyPr rtlCol="0">
            <a:normAutofit fontScale="77500" lnSpcReduction="20000"/>
          </a:bodyPr>
          <a:lstStyle/>
          <a:p>
            <a:pPr marL="365760" indent="-283464" eaLnBrk="1" fontAlgn="auto" hangingPunct="1">
              <a:spcBef>
                <a:spcPts val="580"/>
              </a:spcBef>
              <a:spcAft>
                <a:spcPts val="0"/>
              </a:spcAft>
              <a:buFont typeface="Wingdings 2"/>
              <a:buChar char=""/>
              <a:defRPr/>
            </a:pPr>
            <a:r>
              <a:rPr lang="en-US" sz="2900" dirty="0">
                <a:solidFill>
                  <a:srgbClr val="0070C0"/>
                </a:solidFill>
              </a:rPr>
              <a:t>Tamil Nadu: distinguished tourism genre</a:t>
            </a:r>
          </a:p>
          <a:p>
            <a:pPr marL="365760" indent="-283464" eaLnBrk="1" fontAlgn="auto" hangingPunct="1">
              <a:spcBef>
                <a:spcPts val="580"/>
              </a:spcBef>
              <a:spcAft>
                <a:spcPts val="0"/>
              </a:spcAft>
              <a:buFont typeface="Wingdings 2"/>
              <a:buChar char=""/>
              <a:defRPr/>
            </a:pPr>
            <a:r>
              <a:rPr lang="en-US" sz="2900" dirty="0">
                <a:solidFill>
                  <a:srgbClr val="0070C0"/>
                </a:solidFill>
              </a:rPr>
              <a:t>Mountains, verdant vegetations, sandy beaches, mammoth monuments, timeless temples, fabulous wildlife, scintillating sculptures and reverberating rural life. It has picturesque spots, continuing heritage, cultural confluence and aesthetic magnificence. </a:t>
            </a:r>
            <a:br>
              <a:rPr lang="en-US" sz="2900" dirty="0"/>
            </a:br>
            <a:br>
              <a:rPr lang="en-US" sz="2900" dirty="0"/>
            </a:br>
            <a:r>
              <a:rPr lang="en-US" sz="2900" b="1" dirty="0">
                <a:solidFill>
                  <a:srgbClr val="C00000"/>
                </a:solidFill>
              </a:rPr>
              <a:t>Hill stations </a:t>
            </a:r>
            <a:r>
              <a:rPr lang="en-US" sz="2900" dirty="0">
                <a:solidFill>
                  <a:srgbClr val="0070C0"/>
                </a:solidFill>
              </a:rPr>
              <a:t>like </a:t>
            </a:r>
            <a:r>
              <a:rPr lang="en-US" sz="2900" dirty="0" err="1">
                <a:solidFill>
                  <a:srgbClr val="0070C0"/>
                </a:solidFill>
              </a:rPr>
              <a:t>Ooty</a:t>
            </a:r>
            <a:r>
              <a:rPr lang="en-US" sz="2900" dirty="0">
                <a:solidFill>
                  <a:srgbClr val="0070C0"/>
                </a:solidFill>
              </a:rPr>
              <a:t>, </a:t>
            </a:r>
            <a:r>
              <a:rPr lang="en-US" sz="2900" dirty="0" err="1">
                <a:solidFill>
                  <a:srgbClr val="0070C0"/>
                </a:solidFill>
              </a:rPr>
              <a:t>Kodaikanal</a:t>
            </a:r>
            <a:r>
              <a:rPr lang="en-US" sz="2900" dirty="0">
                <a:solidFill>
                  <a:srgbClr val="0070C0"/>
                </a:solidFill>
              </a:rPr>
              <a:t>, </a:t>
            </a:r>
            <a:r>
              <a:rPr lang="en-US" sz="2900" dirty="0" err="1">
                <a:solidFill>
                  <a:srgbClr val="0070C0"/>
                </a:solidFill>
              </a:rPr>
              <a:t>Yercaud</a:t>
            </a:r>
            <a:r>
              <a:rPr lang="en-US" sz="2900" dirty="0">
                <a:solidFill>
                  <a:srgbClr val="0070C0"/>
                </a:solidFill>
              </a:rPr>
              <a:t>, </a:t>
            </a:r>
            <a:r>
              <a:rPr lang="en-US" sz="2900" dirty="0" err="1">
                <a:solidFill>
                  <a:srgbClr val="0070C0"/>
                </a:solidFill>
              </a:rPr>
              <a:t>Elagiri</a:t>
            </a:r>
            <a:r>
              <a:rPr lang="en-US" sz="2900" dirty="0">
                <a:solidFill>
                  <a:srgbClr val="0070C0"/>
                </a:solidFill>
              </a:rPr>
              <a:t>, </a:t>
            </a:r>
            <a:r>
              <a:rPr lang="en-US" sz="2900" dirty="0" err="1">
                <a:solidFill>
                  <a:srgbClr val="0070C0"/>
                </a:solidFill>
              </a:rPr>
              <a:t>Javvadhu</a:t>
            </a:r>
            <a:r>
              <a:rPr lang="en-US" sz="2900" dirty="0">
                <a:solidFill>
                  <a:srgbClr val="0070C0"/>
                </a:solidFill>
              </a:rPr>
              <a:t> Hills, </a:t>
            </a:r>
            <a:r>
              <a:rPr lang="en-US" sz="2900" dirty="0" err="1">
                <a:solidFill>
                  <a:srgbClr val="0070C0"/>
                </a:solidFill>
              </a:rPr>
              <a:t>Kolli</a:t>
            </a:r>
            <a:r>
              <a:rPr lang="en-US" sz="2900" dirty="0">
                <a:solidFill>
                  <a:srgbClr val="0070C0"/>
                </a:solidFill>
              </a:rPr>
              <a:t> Hills, </a:t>
            </a:r>
            <a:r>
              <a:rPr lang="en-US" sz="2900" dirty="0" err="1">
                <a:solidFill>
                  <a:srgbClr val="0070C0"/>
                </a:solidFill>
              </a:rPr>
              <a:t>Sirumalai</a:t>
            </a:r>
            <a:r>
              <a:rPr lang="en-US" sz="2900" dirty="0">
                <a:solidFill>
                  <a:srgbClr val="0070C0"/>
                </a:solidFill>
              </a:rPr>
              <a:t> Hills, </a:t>
            </a:r>
            <a:r>
              <a:rPr lang="en-US" sz="2900" dirty="0" err="1">
                <a:solidFill>
                  <a:srgbClr val="0070C0"/>
                </a:solidFill>
              </a:rPr>
              <a:t>Valparai</a:t>
            </a:r>
            <a:r>
              <a:rPr lang="en-US" sz="2900" dirty="0">
                <a:solidFill>
                  <a:srgbClr val="0070C0"/>
                </a:solidFill>
              </a:rPr>
              <a:t>, </a:t>
            </a:r>
            <a:r>
              <a:rPr lang="en-US" sz="2900" dirty="0" err="1">
                <a:solidFill>
                  <a:srgbClr val="0070C0"/>
                </a:solidFill>
              </a:rPr>
              <a:t>Topslip</a:t>
            </a:r>
            <a:r>
              <a:rPr lang="en-US" sz="2900" dirty="0">
                <a:solidFill>
                  <a:srgbClr val="0070C0"/>
                </a:solidFill>
              </a:rPr>
              <a:t>, </a:t>
            </a:r>
            <a:r>
              <a:rPr lang="en-US" sz="2900" dirty="0" err="1">
                <a:solidFill>
                  <a:srgbClr val="0070C0"/>
                </a:solidFill>
              </a:rPr>
              <a:t>Parvathamalai</a:t>
            </a:r>
            <a:r>
              <a:rPr lang="en-US" sz="2900" dirty="0">
                <a:solidFill>
                  <a:srgbClr val="0070C0"/>
                </a:solidFill>
              </a:rPr>
              <a:t> Hills and </a:t>
            </a:r>
            <a:r>
              <a:rPr lang="en-US" sz="2900" dirty="0" err="1">
                <a:solidFill>
                  <a:srgbClr val="0070C0"/>
                </a:solidFill>
              </a:rPr>
              <a:t>Pachamalai</a:t>
            </a:r>
            <a:r>
              <a:rPr lang="en-US" sz="2900" dirty="0">
                <a:solidFill>
                  <a:srgbClr val="0070C0"/>
                </a:solidFill>
              </a:rPr>
              <a:t> Hills. It has silvery cascades in </a:t>
            </a:r>
            <a:r>
              <a:rPr lang="en-US" sz="2900" dirty="0" err="1">
                <a:solidFill>
                  <a:srgbClr val="0070C0"/>
                </a:solidFill>
              </a:rPr>
              <a:t>Courtallam</a:t>
            </a:r>
            <a:r>
              <a:rPr lang="en-US" sz="2900" dirty="0">
                <a:solidFill>
                  <a:srgbClr val="0070C0"/>
                </a:solidFill>
              </a:rPr>
              <a:t>, </a:t>
            </a:r>
            <a:r>
              <a:rPr lang="en-US" sz="2900" dirty="0" err="1">
                <a:solidFill>
                  <a:srgbClr val="0070C0"/>
                </a:solidFill>
              </a:rPr>
              <a:t>Hogenakkal</a:t>
            </a:r>
            <a:r>
              <a:rPr lang="en-US" sz="2900" dirty="0">
                <a:solidFill>
                  <a:srgbClr val="0070C0"/>
                </a:solidFill>
              </a:rPr>
              <a:t>, </a:t>
            </a:r>
            <a:r>
              <a:rPr lang="en-US" sz="2900" dirty="0" err="1">
                <a:solidFill>
                  <a:srgbClr val="0070C0"/>
                </a:solidFill>
              </a:rPr>
              <a:t>Thiruparappu</a:t>
            </a:r>
            <a:r>
              <a:rPr lang="en-US" sz="2900" dirty="0">
                <a:solidFill>
                  <a:srgbClr val="0070C0"/>
                </a:solidFill>
              </a:rPr>
              <a:t>, Monkey falls, </a:t>
            </a:r>
            <a:r>
              <a:rPr lang="en-US" sz="2900" dirty="0" err="1">
                <a:solidFill>
                  <a:srgbClr val="0070C0"/>
                </a:solidFill>
              </a:rPr>
              <a:t>Thirumurthi</a:t>
            </a:r>
            <a:r>
              <a:rPr lang="en-US" sz="2900" dirty="0">
                <a:solidFill>
                  <a:srgbClr val="0070C0"/>
                </a:solidFill>
              </a:rPr>
              <a:t> </a:t>
            </a:r>
            <a:r>
              <a:rPr lang="en-US" sz="2900" dirty="0" err="1">
                <a:solidFill>
                  <a:srgbClr val="0070C0"/>
                </a:solidFill>
              </a:rPr>
              <a:t>Malai</a:t>
            </a:r>
            <a:r>
              <a:rPr lang="en-US" sz="2900" dirty="0">
                <a:solidFill>
                  <a:srgbClr val="0070C0"/>
                </a:solidFill>
              </a:rPr>
              <a:t>, </a:t>
            </a:r>
            <a:r>
              <a:rPr lang="en-US" sz="2900" dirty="0" err="1">
                <a:solidFill>
                  <a:srgbClr val="0070C0"/>
                </a:solidFill>
              </a:rPr>
              <a:t>Akasa</a:t>
            </a:r>
            <a:r>
              <a:rPr lang="en-US" sz="2900" dirty="0">
                <a:solidFill>
                  <a:srgbClr val="0070C0"/>
                </a:solidFill>
              </a:rPr>
              <a:t> </a:t>
            </a:r>
            <a:r>
              <a:rPr lang="en-US" sz="2900" dirty="0" err="1">
                <a:solidFill>
                  <a:srgbClr val="0070C0"/>
                </a:solidFill>
              </a:rPr>
              <a:t>Gangai</a:t>
            </a:r>
            <a:r>
              <a:rPr lang="en-US" sz="2900" dirty="0">
                <a:solidFill>
                  <a:srgbClr val="0070C0"/>
                </a:solidFill>
              </a:rPr>
              <a:t> and </a:t>
            </a:r>
            <a:r>
              <a:rPr lang="en-US" sz="2900" dirty="0" err="1">
                <a:solidFill>
                  <a:srgbClr val="0070C0"/>
                </a:solidFill>
              </a:rPr>
              <a:t>Papanasam</a:t>
            </a:r>
            <a:r>
              <a:rPr lang="en-US" sz="2900" dirty="0">
                <a:solidFill>
                  <a:srgbClr val="0070C0"/>
                </a:solidFill>
              </a:rPr>
              <a:t>. It has excellent National Parks like </a:t>
            </a:r>
            <a:r>
              <a:rPr lang="en-US" sz="2900" dirty="0" err="1">
                <a:solidFill>
                  <a:srgbClr val="0070C0"/>
                </a:solidFill>
              </a:rPr>
              <a:t>Guindy</a:t>
            </a:r>
            <a:r>
              <a:rPr lang="en-US" sz="2900" dirty="0">
                <a:solidFill>
                  <a:srgbClr val="0070C0"/>
                </a:solidFill>
              </a:rPr>
              <a:t> National Park and </a:t>
            </a:r>
            <a:r>
              <a:rPr lang="en-US" sz="2900" dirty="0" err="1">
                <a:solidFill>
                  <a:srgbClr val="0070C0"/>
                </a:solidFill>
              </a:rPr>
              <a:t>Anamalai</a:t>
            </a:r>
            <a:r>
              <a:rPr lang="en-US" sz="2900" dirty="0">
                <a:solidFill>
                  <a:srgbClr val="0070C0"/>
                </a:solidFill>
              </a:rPr>
              <a:t> National Park. It has wildlife sanctuaries in </a:t>
            </a:r>
            <a:r>
              <a:rPr lang="en-US" sz="2900" dirty="0" err="1">
                <a:solidFill>
                  <a:srgbClr val="0070C0"/>
                </a:solidFill>
              </a:rPr>
              <a:t>Mudumalai</a:t>
            </a:r>
            <a:r>
              <a:rPr lang="en-US" sz="2900" dirty="0">
                <a:solidFill>
                  <a:srgbClr val="0070C0"/>
                </a:solidFill>
              </a:rPr>
              <a:t>, </a:t>
            </a:r>
            <a:r>
              <a:rPr lang="en-US" sz="2900" dirty="0" err="1">
                <a:solidFill>
                  <a:srgbClr val="0070C0"/>
                </a:solidFill>
              </a:rPr>
              <a:t>Kodiakarai</a:t>
            </a:r>
            <a:r>
              <a:rPr lang="en-US" sz="2900" dirty="0">
                <a:solidFill>
                  <a:srgbClr val="0070C0"/>
                </a:solidFill>
              </a:rPr>
              <a:t>, </a:t>
            </a:r>
            <a:r>
              <a:rPr lang="en-US" sz="2900" dirty="0" err="1">
                <a:solidFill>
                  <a:srgbClr val="0070C0"/>
                </a:solidFill>
              </a:rPr>
              <a:t>Kalakkad</a:t>
            </a:r>
            <a:r>
              <a:rPr lang="en-US" sz="2900" dirty="0">
                <a:solidFill>
                  <a:srgbClr val="0070C0"/>
                </a:solidFill>
              </a:rPr>
              <a:t>, </a:t>
            </a:r>
            <a:r>
              <a:rPr lang="en-US" sz="2900" dirty="0" err="1">
                <a:solidFill>
                  <a:srgbClr val="0070C0"/>
                </a:solidFill>
              </a:rPr>
              <a:t>Mundanthurai</a:t>
            </a:r>
            <a:r>
              <a:rPr lang="en-US" sz="2900" dirty="0">
                <a:solidFill>
                  <a:srgbClr val="0070C0"/>
                </a:solidFill>
              </a:rPr>
              <a:t> and </a:t>
            </a:r>
            <a:r>
              <a:rPr lang="en-US" sz="2900" dirty="0" err="1">
                <a:solidFill>
                  <a:srgbClr val="0070C0"/>
                </a:solidFill>
              </a:rPr>
              <a:t>Berijam</a:t>
            </a:r>
            <a:r>
              <a:rPr lang="en-US" sz="2900" dirty="0">
                <a:solidFill>
                  <a:srgbClr val="0070C0"/>
                </a:solidFill>
              </a:rPr>
              <a:t>. It has Botanic Gardens in </a:t>
            </a:r>
            <a:r>
              <a:rPr lang="en-US" sz="2900" dirty="0" err="1">
                <a:solidFill>
                  <a:srgbClr val="0070C0"/>
                </a:solidFill>
              </a:rPr>
              <a:t>Ooty</a:t>
            </a:r>
            <a:r>
              <a:rPr lang="en-US" sz="2900" dirty="0">
                <a:solidFill>
                  <a:srgbClr val="0070C0"/>
                </a:solidFill>
              </a:rPr>
              <a:t>, </a:t>
            </a:r>
            <a:r>
              <a:rPr lang="en-US" sz="2900" dirty="0" err="1">
                <a:solidFill>
                  <a:srgbClr val="0070C0"/>
                </a:solidFill>
              </a:rPr>
              <a:t>Kodaikanal</a:t>
            </a:r>
            <a:r>
              <a:rPr lang="en-US" sz="2900" dirty="0">
                <a:solidFill>
                  <a:srgbClr val="0070C0"/>
                </a:solidFill>
              </a:rPr>
              <a:t> and Coimbatore. It has UNESCO declared monuments like living </a:t>
            </a:r>
            <a:r>
              <a:rPr lang="en-US" sz="2900" dirty="0" err="1">
                <a:solidFill>
                  <a:srgbClr val="0070C0"/>
                </a:solidFill>
              </a:rPr>
              <a:t>Chola</a:t>
            </a:r>
            <a:r>
              <a:rPr lang="en-US" sz="2900" dirty="0">
                <a:solidFill>
                  <a:srgbClr val="0070C0"/>
                </a:solidFill>
              </a:rPr>
              <a:t> temples at </a:t>
            </a:r>
            <a:r>
              <a:rPr lang="en-US" sz="2900" dirty="0" err="1">
                <a:solidFill>
                  <a:srgbClr val="0070C0"/>
                </a:solidFill>
              </a:rPr>
              <a:t>Thanjavur</a:t>
            </a:r>
            <a:r>
              <a:rPr lang="en-US" sz="2900" dirty="0">
                <a:solidFill>
                  <a:srgbClr val="0070C0"/>
                </a:solidFill>
              </a:rPr>
              <a:t>, </a:t>
            </a:r>
            <a:r>
              <a:rPr lang="en-US" sz="2900" dirty="0" err="1">
                <a:solidFill>
                  <a:srgbClr val="0070C0"/>
                </a:solidFill>
              </a:rPr>
              <a:t>Darasuram</a:t>
            </a:r>
            <a:r>
              <a:rPr lang="en-US" sz="2900" dirty="0">
                <a:solidFill>
                  <a:srgbClr val="0070C0"/>
                </a:solidFill>
              </a:rPr>
              <a:t> and </a:t>
            </a:r>
            <a:r>
              <a:rPr lang="en-US" sz="2900" dirty="0" err="1">
                <a:solidFill>
                  <a:srgbClr val="0070C0"/>
                </a:solidFill>
              </a:rPr>
              <a:t>Gangaikondacholapuram</a:t>
            </a:r>
            <a:r>
              <a:rPr lang="en-US" sz="2900" dirty="0">
                <a:solidFill>
                  <a:srgbClr val="0070C0"/>
                </a:solidFill>
              </a:rPr>
              <a:t>, monuments at </a:t>
            </a:r>
            <a:r>
              <a:rPr lang="en-US" sz="2900" dirty="0" err="1">
                <a:solidFill>
                  <a:srgbClr val="0070C0"/>
                </a:solidFill>
              </a:rPr>
              <a:t>Mamallapuram</a:t>
            </a:r>
            <a:r>
              <a:rPr lang="en-US" sz="2900" dirty="0">
                <a:solidFill>
                  <a:srgbClr val="0070C0"/>
                </a:solidFill>
              </a:rPr>
              <a:t> and </a:t>
            </a:r>
            <a:r>
              <a:rPr lang="en-US" sz="2900" dirty="0" err="1">
                <a:solidFill>
                  <a:srgbClr val="0070C0"/>
                </a:solidFill>
              </a:rPr>
              <a:t>Nilgiris</a:t>
            </a:r>
            <a:r>
              <a:rPr lang="en-US" sz="2900" dirty="0">
                <a:solidFill>
                  <a:srgbClr val="0070C0"/>
                </a:solidFill>
              </a:rPr>
              <a:t> Heritage Train. The vast coastline of Tamil Nadu has many silvery beaches like the Marina, </a:t>
            </a:r>
            <a:r>
              <a:rPr lang="en-US" sz="2900" dirty="0" err="1">
                <a:solidFill>
                  <a:srgbClr val="0070C0"/>
                </a:solidFill>
              </a:rPr>
              <a:t>Elliots</a:t>
            </a:r>
            <a:r>
              <a:rPr lang="en-US" sz="2900" dirty="0">
                <a:solidFill>
                  <a:srgbClr val="0070C0"/>
                </a:solidFill>
              </a:rPr>
              <a:t>, </a:t>
            </a:r>
            <a:r>
              <a:rPr lang="en-US" sz="2900" dirty="0" err="1">
                <a:solidFill>
                  <a:srgbClr val="0070C0"/>
                </a:solidFill>
              </a:rPr>
              <a:t>Thiruvanmiyur</a:t>
            </a:r>
            <a:r>
              <a:rPr lang="en-US" sz="2900" dirty="0">
                <a:solidFill>
                  <a:srgbClr val="0070C0"/>
                </a:solidFill>
              </a:rPr>
              <a:t>, </a:t>
            </a:r>
            <a:r>
              <a:rPr lang="en-US" sz="2900" dirty="0" err="1">
                <a:solidFill>
                  <a:srgbClr val="0070C0"/>
                </a:solidFill>
              </a:rPr>
              <a:t>Tiruchendur</a:t>
            </a:r>
            <a:r>
              <a:rPr lang="en-US" sz="2900" dirty="0">
                <a:solidFill>
                  <a:srgbClr val="0070C0"/>
                </a:solidFill>
              </a:rPr>
              <a:t>, </a:t>
            </a:r>
            <a:r>
              <a:rPr lang="en-US" sz="2900" dirty="0" err="1">
                <a:solidFill>
                  <a:srgbClr val="0070C0"/>
                </a:solidFill>
              </a:rPr>
              <a:t>Rameswaram</a:t>
            </a:r>
            <a:r>
              <a:rPr lang="en-US" sz="2900" dirty="0">
                <a:solidFill>
                  <a:srgbClr val="0070C0"/>
                </a:solidFill>
              </a:rPr>
              <a:t> and </a:t>
            </a:r>
            <a:r>
              <a:rPr lang="en-US" sz="2900" dirty="0" err="1">
                <a:solidFill>
                  <a:srgbClr val="0070C0"/>
                </a:solidFill>
              </a:rPr>
              <a:t>Kanniyakumari</a:t>
            </a:r>
            <a:r>
              <a:rPr lang="en-US" sz="2900" dirty="0">
                <a:solidFill>
                  <a:srgbClr val="0070C0"/>
                </a:solidFill>
              </a:rPr>
              <a:t>. The temples of Tamil Nadu reverberate with spirituality and music. Madurai, </a:t>
            </a:r>
            <a:r>
              <a:rPr lang="en-US" sz="2900" dirty="0" err="1">
                <a:solidFill>
                  <a:srgbClr val="0070C0"/>
                </a:solidFill>
              </a:rPr>
              <a:t>Rameswaram</a:t>
            </a:r>
            <a:r>
              <a:rPr lang="en-US" sz="2900" dirty="0">
                <a:solidFill>
                  <a:srgbClr val="0070C0"/>
                </a:solidFill>
              </a:rPr>
              <a:t>, </a:t>
            </a:r>
            <a:r>
              <a:rPr lang="en-US" sz="2900" dirty="0" err="1">
                <a:solidFill>
                  <a:srgbClr val="0070C0"/>
                </a:solidFill>
              </a:rPr>
              <a:t>Kumbakonam</a:t>
            </a:r>
            <a:r>
              <a:rPr lang="en-US" sz="2900" dirty="0">
                <a:solidFill>
                  <a:srgbClr val="0070C0"/>
                </a:solidFill>
              </a:rPr>
              <a:t>, Chidambaram, </a:t>
            </a:r>
            <a:r>
              <a:rPr lang="en-US" sz="2900" dirty="0" err="1">
                <a:solidFill>
                  <a:srgbClr val="0070C0"/>
                </a:solidFill>
              </a:rPr>
              <a:t>Thanjavur</a:t>
            </a:r>
            <a:r>
              <a:rPr lang="en-US" sz="2900" dirty="0">
                <a:solidFill>
                  <a:srgbClr val="0070C0"/>
                </a:solidFill>
              </a:rPr>
              <a:t> and Tiruchirappalli have innumerable temples with different deities. The finely hewn grandeur sculptures reflect artistic excellence and cultural </a:t>
            </a:r>
            <a:r>
              <a:rPr lang="en-US" sz="2900" dirty="0" err="1">
                <a:solidFill>
                  <a:srgbClr val="0070C0"/>
                </a:solidFill>
              </a:rPr>
              <a:t>splendour</a:t>
            </a:r>
            <a:r>
              <a:rPr lang="en-US" sz="2900" dirty="0">
                <a:solidFill>
                  <a:srgbClr val="0070C0"/>
                </a:solidFill>
              </a:rPr>
              <a:t>. </a:t>
            </a:r>
            <a:br>
              <a:rPr lang="en-US" sz="3400" dirty="0">
                <a:solidFill>
                  <a:srgbClr val="0070C0"/>
                </a:solidFill>
              </a:rPr>
            </a:br>
            <a:br>
              <a:rPr lang="en-US" sz="3400" dirty="0"/>
            </a:b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C7938B99-DF6C-46B1-8237-22415299904B}"/>
              </a:ext>
            </a:extLst>
          </p:cNvPr>
          <p:cNvSpPr>
            <a:spLocks noGrp="1"/>
          </p:cNvSpPr>
          <p:nvPr>
            <p:ph sz="quarter" idx="1"/>
          </p:nvPr>
        </p:nvSpPr>
        <p:spPr>
          <a:xfrm>
            <a:off x="457200" y="762000"/>
            <a:ext cx="8458200" cy="5364163"/>
          </a:xfrm>
        </p:spPr>
        <p:txBody>
          <a:bodyPr/>
          <a:lstStyle/>
          <a:p>
            <a:pPr eaLnBrk="1" hangingPunct="1"/>
            <a:r>
              <a:rPr lang="en-US" altLang="en-US" sz="3200" b="1">
                <a:solidFill>
                  <a:srgbClr val="C00000"/>
                </a:solidFill>
              </a:rPr>
              <a:t>Its unique culture </a:t>
            </a:r>
            <a:r>
              <a:rPr lang="en-US" altLang="en-US" sz="3200">
                <a:solidFill>
                  <a:srgbClr val="00B050"/>
                </a:solidFill>
              </a:rPr>
              <a:t>and abundant tourism potential, tourists from upcountry and abroad flock the tourist spots throughout the year. </a:t>
            </a:r>
          </a:p>
          <a:p>
            <a:pPr eaLnBrk="1" hangingPunct="1"/>
            <a:r>
              <a:rPr lang="en-US" altLang="en-US" sz="3200">
                <a:solidFill>
                  <a:srgbClr val="00B050"/>
                </a:solidFill>
              </a:rPr>
              <a:t>The spots get over-crowded during the seasons. </a:t>
            </a:r>
          </a:p>
          <a:p>
            <a:pPr eaLnBrk="1" hangingPunct="1"/>
            <a:r>
              <a:rPr lang="en-US" altLang="en-US" sz="3200">
                <a:solidFill>
                  <a:srgbClr val="00B050"/>
                </a:solidFill>
              </a:rPr>
              <a:t>To facilitate the tourists, Tamil Nadu Tourism has been taking enduring efforts to promote tourist places by providing basic infrastructure like public convenience, rest shed, drinking water, road improvement, car parking, etc. </a:t>
            </a:r>
          </a:p>
          <a:p>
            <a:pPr eaLnBrk="1" hangingPunct="1"/>
            <a:endParaRPr lang="en-US" altLang="en-US" sz="3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FF7D56-56A5-4782-B20B-762628772F36}"/>
              </a:ext>
            </a:extLst>
          </p:cNvPr>
          <p:cNvSpPr>
            <a:spLocks noGrp="1"/>
          </p:cNvSpPr>
          <p:nvPr>
            <p:ph sz="quarter" idx="1"/>
          </p:nvPr>
        </p:nvSpPr>
        <p:spPr>
          <a:xfrm>
            <a:off x="457200" y="914400"/>
            <a:ext cx="8229600" cy="5211763"/>
          </a:xfrm>
        </p:spPr>
        <p:txBody>
          <a:bodyPr rtlCol="0">
            <a:normAutofit fontScale="92500" lnSpcReduction="10000"/>
          </a:bodyPr>
          <a:lstStyle/>
          <a:p>
            <a:pPr marL="365760" indent="-283464" eaLnBrk="1" fontAlgn="auto" hangingPunct="1">
              <a:spcBef>
                <a:spcPts val="580"/>
              </a:spcBef>
              <a:spcAft>
                <a:spcPts val="0"/>
              </a:spcAft>
              <a:buFont typeface="Wingdings 2"/>
              <a:buChar char=""/>
              <a:defRPr/>
            </a:pPr>
            <a:r>
              <a:rPr lang="en-US" dirty="0">
                <a:solidFill>
                  <a:srgbClr val="00B050"/>
                </a:solidFill>
              </a:rPr>
              <a:t>Tamil Nadu Tourism comprises Tourism Department in the Secretariat, and a </a:t>
            </a:r>
            <a:r>
              <a:rPr lang="en-US" dirty="0" err="1">
                <a:solidFill>
                  <a:srgbClr val="00B050"/>
                </a:solidFill>
              </a:rPr>
              <a:t>Commissionerate</a:t>
            </a:r>
            <a:r>
              <a:rPr lang="en-US" dirty="0">
                <a:solidFill>
                  <a:srgbClr val="00B050"/>
                </a:solidFill>
              </a:rPr>
              <a:t> of Tourism functioning to formulate policies and implement </a:t>
            </a:r>
            <a:r>
              <a:rPr lang="en-US" dirty="0" err="1">
                <a:solidFill>
                  <a:srgbClr val="00B050"/>
                </a:solidFill>
              </a:rPr>
              <a:t>programmes</a:t>
            </a:r>
            <a:r>
              <a:rPr lang="en-US" dirty="0">
                <a:solidFill>
                  <a:srgbClr val="00B050"/>
                </a:solidFill>
              </a:rPr>
              <a:t> for the development of tourism sector in the State. </a:t>
            </a:r>
          </a:p>
          <a:p>
            <a:pPr marL="365760" indent="-283464" eaLnBrk="1" fontAlgn="auto" hangingPunct="1">
              <a:spcBef>
                <a:spcPts val="580"/>
              </a:spcBef>
              <a:spcAft>
                <a:spcPts val="0"/>
              </a:spcAft>
              <a:buFont typeface="Wingdings 2"/>
              <a:buChar char=""/>
              <a:defRPr/>
            </a:pPr>
            <a:r>
              <a:rPr lang="en-US" dirty="0">
                <a:solidFill>
                  <a:srgbClr val="00B050"/>
                </a:solidFill>
              </a:rPr>
              <a:t>Tamil Nadu Tourism Development Corporation is a state owned public sector undertaking to initiate novel ventures and innovate new schemes for providing demonstration effect to the private sector. </a:t>
            </a:r>
          </a:p>
          <a:p>
            <a:pPr marL="365760" indent="-283464" eaLnBrk="1" fontAlgn="auto" hangingPunct="1">
              <a:spcBef>
                <a:spcPts val="580"/>
              </a:spcBef>
              <a:spcAft>
                <a:spcPts val="0"/>
              </a:spcAft>
              <a:buFont typeface="Wingdings 2"/>
              <a:buChar char=""/>
              <a:defRPr/>
            </a:pPr>
            <a:r>
              <a:rPr lang="en-US" dirty="0">
                <a:solidFill>
                  <a:srgbClr val="00B050"/>
                </a:solidFill>
              </a:rPr>
              <a:t>In performing this role, Tamil Nadu Tourism coordinates the activities of various other Government Departments / agencies and the private sector. </a:t>
            </a:r>
          </a:p>
          <a:p>
            <a:pPr marL="365760" indent="-283464" eaLnBrk="1" fontAlgn="auto" hangingPunct="1">
              <a:spcBef>
                <a:spcPts val="580"/>
              </a:spcBef>
              <a:spcAft>
                <a:spcPts val="0"/>
              </a:spcAft>
              <a:buFont typeface="Wingdings 2"/>
              <a:buChar char=""/>
              <a:defRPr/>
            </a:pPr>
            <a:r>
              <a:rPr lang="en-US" dirty="0">
                <a:solidFill>
                  <a:srgbClr val="00B050"/>
                </a:solidFill>
              </a:rPr>
              <a:t>Tamil Nadu Tourism Development Corporation (TTDC) has been operating Hotels, Youth Hostels, Restaurants, Tours, Boat houses, Telescope houses as a forerunner for the private sector to follow as new area of business proposition.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860C9-263C-464F-8959-24045DA9B327}"/>
              </a:ext>
            </a:extLst>
          </p:cNvPr>
          <p:cNvSpPr>
            <a:spLocks noGrp="1"/>
          </p:cNvSpPr>
          <p:nvPr>
            <p:ph type="title"/>
          </p:nvPr>
        </p:nvSpPr>
        <p:spPr>
          <a:xfrm>
            <a:off x="914400" y="609600"/>
            <a:ext cx="7772400" cy="685800"/>
          </a:xfrm>
        </p:spPr>
        <p:txBody>
          <a:bodyPr rtlCol="0">
            <a:normAutofit fontScale="90000"/>
          </a:bodyPr>
          <a:lstStyle/>
          <a:p>
            <a:pPr algn="ctr" eaLnBrk="1" fontAlgn="auto" hangingPunct="1">
              <a:spcAft>
                <a:spcPts val="0"/>
              </a:spcAft>
              <a:defRPr/>
            </a:pPr>
            <a:r>
              <a:rPr lang="en-US" b="1" dirty="0">
                <a:solidFill>
                  <a:srgbClr val="00B050"/>
                </a:solidFill>
              </a:rPr>
              <a:t>Customers</a:t>
            </a:r>
            <a:br>
              <a:rPr lang="en-US" b="1" dirty="0">
                <a:solidFill>
                  <a:srgbClr val="00B050"/>
                </a:solidFill>
              </a:rPr>
            </a:br>
            <a:endParaRPr lang="en-US" b="1" dirty="0">
              <a:solidFill>
                <a:srgbClr val="00B050"/>
              </a:solidFill>
            </a:endParaRPr>
          </a:p>
        </p:txBody>
      </p:sp>
      <p:sp>
        <p:nvSpPr>
          <p:cNvPr id="27651" name="Content Placeholder 2">
            <a:extLst>
              <a:ext uri="{FF2B5EF4-FFF2-40B4-BE49-F238E27FC236}">
                <a16:creationId xmlns:a16="http://schemas.microsoft.com/office/drawing/2014/main" id="{6907630E-9409-493D-8D62-209B7F6C7B5F}"/>
              </a:ext>
            </a:extLst>
          </p:cNvPr>
          <p:cNvSpPr>
            <a:spLocks noGrp="1"/>
          </p:cNvSpPr>
          <p:nvPr>
            <p:ph sz="quarter" idx="1"/>
          </p:nvPr>
        </p:nvSpPr>
        <p:spPr>
          <a:xfrm>
            <a:off x="457200" y="1143000"/>
            <a:ext cx="8229600" cy="4983163"/>
          </a:xfrm>
        </p:spPr>
        <p:txBody>
          <a:bodyPr/>
          <a:lstStyle/>
          <a:p>
            <a:pPr eaLnBrk="1" hangingPunct="1">
              <a:buFont typeface="Arial" panose="020B0604020202020204" pitchFamily="34" charset="0"/>
              <a:buChar char="•"/>
            </a:pPr>
            <a:r>
              <a:rPr lang="en-US" altLang="en-US" sz="3200">
                <a:solidFill>
                  <a:srgbClr val="0070C0"/>
                </a:solidFill>
              </a:rPr>
              <a:t>In tourism, customers are </a:t>
            </a:r>
            <a:r>
              <a:rPr lang="en-US" altLang="en-US" sz="3200">
                <a:solidFill>
                  <a:schemeClr val="accent2"/>
                </a:solidFill>
              </a:rPr>
              <a:t>TOURISTS</a:t>
            </a:r>
            <a:r>
              <a:rPr lang="en-US" altLang="en-US" sz="3200">
                <a:solidFill>
                  <a:srgbClr val="0070C0"/>
                </a:solidFill>
              </a:rPr>
              <a:t>, the purview of tourists does not only include ‘foreign’ tourists but also tourists from within India.</a:t>
            </a:r>
          </a:p>
          <a:p>
            <a:pPr eaLnBrk="1" hangingPunct="1">
              <a:buFont typeface="Wingdings 2" panose="05020102010507070707" pitchFamily="18" charset="2"/>
              <a:buNone/>
            </a:pPr>
            <a:endParaRPr lang="en-US" altLang="en-US" sz="3200">
              <a:solidFill>
                <a:srgbClr val="0070C0"/>
              </a:solidFill>
            </a:endParaRPr>
          </a:p>
          <a:p>
            <a:pPr eaLnBrk="1" hangingPunct="1">
              <a:buFont typeface="Arial" panose="020B0604020202020204" pitchFamily="34" charset="0"/>
              <a:buChar char="•"/>
            </a:pPr>
            <a:r>
              <a:rPr lang="en-US" altLang="en-US" sz="3200">
                <a:solidFill>
                  <a:srgbClr val="0070C0"/>
                </a:solidFill>
              </a:rPr>
              <a:t>It has become a challenge to please customers. With extreme availability of information and variety of options, it has become even more difficult to please customers in tourism industry. </a:t>
            </a:r>
          </a:p>
          <a:p>
            <a:pPr eaLnBrk="1" hangingPunct="1">
              <a:buFont typeface="Arial" panose="020B0604020202020204" pitchFamily="34" charset="0"/>
              <a:buChar char="•"/>
            </a:pPr>
            <a:endParaRPr lang="en-US" altLang="en-US" sz="3200">
              <a:solidFill>
                <a:srgbClr val="0070C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AE2C1BE6-F88F-4FB5-AB82-E1073BA38AFD}"/>
              </a:ext>
            </a:extLst>
          </p:cNvPr>
          <p:cNvSpPr>
            <a:spLocks noGrp="1"/>
          </p:cNvSpPr>
          <p:nvPr>
            <p:ph sz="quarter" idx="1"/>
          </p:nvPr>
        </p:nvSpPr>
        <p:spPr>
          <a:xfrm>
            <a:off x="304800" y="609600"/>
            <a:ext cx="8458200" cy="5791200"/>
          </a:xfrm>
        </p:spPr>
        <p:txBody>
          <a:bodyPr/>
          <a:lstStyle/>
          <a:p>
            <a:pPr eaLnBrk="1" hangingPunct="1">
              <a:buFont typeface="Arial" panose="020B0604020202020204" pitchFamily="34" charset="0"/>
              <a:buNone/>
            </a:pPr>
            <a:r>
              <a:rPr lang="en-US" altLang="en-US" sz="2800">
                <a:solidFill>
                  <a:schemeClr val="accent2"/>
                </a:solidFill>
              </a:rPr>
              <a:t>The customer satisfaction can be gauged on these parameters:</a:t>
            </a:r>
          </a:p>
          <a:p>
            <a:pPr eaLnBrk="1" hangingPunct="1">
              <a:buFont typeface="Arial" panose="020B0604020202020204" pitchFamily="34" charset="0"/>
              <a:buNone/>
            </a:pPr>
            <a:r>
              <a:rPr lang="en-US" altLang="en-US">
                <a:solidFill>
                  <a:srgbClr val="00B050"/>
                </a:solidFill>
              </a:rPr>
              <a:t>1. Infrastructural factors:</a:t>
            </a:r>
          </a:p>
          <a:p>
            <a:pPr eaLnBrk="1" hangingPunct="1">
              <a:buFont typeface="Arial" panose="020B0604020202020204" pitchFamily="34" charset="0"/>
              <a:buNone/>
            </a:pPr>
            <a:r>
              <a:rPr lang="en-US" altLang="en-US">
                <a:solidFill>
                  <a:srgbClr val="00B050"/>
                </a:solidFill>
              </a:rPr>
              <a:t>	</a:t>
            </a:r>
            <a:r>
              <a:rPr lang="en-US" altLang="en-US">
                <a:solidFill>
                  <a:srgbClr val="0070C0"/>
                </a:solidFill>
              </a:rPr>
              <a:t>• Accommodation• Transport• Accessibility• Shopping facilities• Informative</a:t>
            </a:r>
          </a:p>
          <a:p>
            <a:pPr eaLnBrk="1" hangingPunct="1">
              <a:buFont typeface="Arial" panose="020B0604020202020204" pitchFamily="34" charset="0"/>
              <a:buNone/>
            </a:pPr>
            <a:r>
              <a:rPr lang="en-US" altLang="en-US">
                <a:solidFill>
                  <a:srgbClr val="00B050"/>
                </a:solidFill>
              </a:rPr>
              <a:t>2. Services and Safety factors:</a:t>
            </a:r>
          </a:p>
          <a:p>
            <a:pPr eaLnBrk="1" hangingPunct="1">
              <a:buFont typeface="Arial" panose="020B0604020202020204" pitchFamily="34" charset="0"/>
              <a:buNone/>
            </a:pPr>
            <a:r>
              <a:rPr lang="en-US" altLang="en-US">
                <a:solidFill>
                  <a:srgbClr val="00B050"/>
                </a:solidFill>
              </a:rPr>
              <a:t>	</a:t>
            </a:r>
            <a:r>
              <a:rPr lang="en-US" altLang="en-US">
                <a:solidFill>
                  <a:srgbClr val="0070C0"/>
                </a:solidFill>
              </a:rPr>
              <a:t>• Catering• Entertainment• Local people• Safety</a:t>
            </a:r>
          </a:p>
          <a:p>
            <a:pPr eaLnBrk="1" hangingPunct="1">
              <a:buFont typeface="Arial" panose="020B0604020202020204" pitchFamily="34" charset="0"/>
              <a:buNone/>
            </a:pPr>
            <a:r>
              <a:rPr lang="en-US" altLang="en-US">
                <a:solidFill>
                  <a:srgbClr val="00B050"/>
                </a:solidFill>
              </a:rPr>
              <a:t>3. Necessities:</a:t>
            </a:r>
          </a:p>
          <a:p>
            <a:pPr eaLnBrk="1" hangingPunct="1">
              <a:buFont typeface="Arial" panose="020B0604020202020204" pitchFamily="34" charset="0"/>
              <a:buNone/>
            </a:pPr>
            <a:r>
              <a:rPr lang="en-US" altLang="en-US">
                <a:solidFill>
                  <a:srgbClr val="00B050"/>
                </a:solidFill>
              </a:rPr>
              <a:t>	</a:t>
            </a:r>
            <a:r>
              <a:rPr lang="en-US" altLang="en-US">
                <a:solidFill>
                  <a:srgbClr val="0070C0"/>
                </a:solidFill>
              </a:rPr>
              <a:t>• Food• Water • Amenities</a:t>
            </a:r>
          </a:p>
          <a:p>
            <a:pPr eaLnBrk="1" hangingPunct="1">
              <a:buFont typeface="Arial" panose="020B0604020202020204" pitchFamily="34" charset="0"/>
              <a:buNone/>
            </a:pPr>
            <a:r>
              <a:rPr lang="en-US" altLang="en-US">
                <a:solidFill>
                  <a:srgbClr val="00B050"/>
                </a:solidFill>
              </a:rPr>
              <a:t>4. Cost related factors:</a:t>
            </a:r>
          </a:p>
          <a:p>
            <a:pPr eaLnBrk="1" hangingPunct="1">
              <a:buFont typeface="Arial" panose="020B0604020202020204" pitchFamily="34" charset="0"/>
              <a:buNone/>
            </a:pPr>
            <a:r>
              <a:rPr lang="en-US" altLang="en-US">
                <a:solidFill>
                  <a:srgbClr val="00B050"/>
                </a:solidFill>
              </a:rPr>
              <a:t>	</a:t>
            </a:r>
            <a:r>
              <a:rPr lang="en-US" altLang="en-US">
                <a:solidFill>
                  <a:srgbClr val="0070C0"/>
                </a:solidFill>
              </a:rPr>
              <a:t>• Prices• Value for money</a:t>
            </a:r>
          </a:p>
          <a:p>
            <a:pPr eaLnBrk="1" hangingPunct="1">
              <a:buFont typeface="Arial" panose="020B0604020202020204" pitchFamily="34" charset="0"/>
              <a:buNone/>
            </a:pPr>
            <a:r>
              <a:rPr lang="en-US" altLang="en-US">
                <a:solidFill>
                  <a:srgbClr val="00B050"/>
                </a:solidFill>
              </a:rPr>
              <a:t>5. Natural or unique factors:</a:t>
            </a:r>
          </a:p>
          <a:p>
            <a:pPr eaLnBrk="1" hangingPunct="1">
              <a:buFont typeface="Arial" panose="020B0604020202020204" pitchFamily="34" charset="0"/>
              <a:buNone/>
            </a:pPr>
            <a:r>
              <a:rPr lang="en-US" altLang="en-US">
                <a:solidFill>
                  <a:srgbClr val="00B050"/>
                </a:solidFill>
              </a:rPr>
              <a:t>	</a:t>
            </a:r>
            <a:r>
              <a:rPr lang="en-US" altLang="en-US">
                <a:solidFill>
                  <a:srgbClr val="0070C0"/>
                </a:solidFill>
              </a:rPr>
              <a:t>• Scenery• Climate• Overall satisfaction</a:t>
            </a:r>
          </a:p>
          <a:p>
            <a:pPr eaLnBrk="1" hangingPunct="1">
              <a:buFont typeface="Arial" panose="020B0604020202020204" pitchFamily="34" charset="0"/>
              <a:buChar char="•"/>
            </a:pPr>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244D8-3F4F-4F96-9D64-C33A9728DE2F}"/>
              </a:ext>
            </a:extLst>
          </p:cNvPr>
          <p:cNvSpPr>
            <a:spLocks noGrp="1"/>
          </p:cNvSpPr>
          <p:nvPr>
            <p:ph type="title"/>
          </p:nvPr>
        </p:nvSpPr>
        <p:spPr/>
        <p:txBody>
          <a:bodyPr rtlCol="0">
            <a:normAutofit/>
          </a:bodyPr>
          <a:lstStyle/>
          <a:p>
            <a:pPr algn="ctr" eaLnBrk="1" fontAlgn="auto" hangingPunct="1">
              <a:spcAft>
                <a:spcPts val="0"/>
              </a:spcAft>
              <a:defRPr/>
            </a:pPr>
            <a:r>
              <a:rPr lang="en-US" b="1" dirty="0">
                <a:solidFill>
                  <a:srgbClr val="00B050"/>
                </a:solidFill>
              </a:rPr>
              <a:t>Marketing</a:t>
            </a:r>
            <a:r>
              <a:rPr lang="en-US" dirty="0">
                <a:solidFill>
                  <a:schemeClr val="tx2">
                    <a:satMod val="130000"/>
                  </a:schemeClr>
                </a:solidFill>
              </a:rPr>
              <a:t> </a:t>
            </a:r>
          </a:p>
        </p:txBody>
      </p:sp>
      <p:sp>
        <p:nvSpPr>
          <p:cNvPr id="29699" name="Content Placeholder 2">
            <a:extLst>
              <a:ext uri="{FF2B5EF4-FFF2-40B4-BE49-F238E27FC236}">
                <a16:creationId xmlns:a16="http://schemas.microsoft.com/office/drawing/2014/main" id="{93B8BA0E-9BEC-4ADA-B2DB-5D9B28C242F7}"/>
              </a:ext>
            </a:extLst>
          </p:cNvPr>
          <p:cNvSpPr>
            <a:spLocks noGrp="1"/>
          </p:cNvSpPr>
          <p:nvPr>
            <p:ph sz="quarter" idx="1"/>
          </p:nvPr>
        </p:nvSpPr>
        <p:spPr/>
        <p:txBody>
          <a:bodyPr/>
          <a:lstStyle/>
          <a:p>
            <a:pPr eaLnBrk="1" hangingPunct="1"/>
            <a:endParaRPr lang="en-US" altLang="en-US" sz="3200"/>
          </a:p>
          <a:p>
            <a:pPr eaLnBrk="1" hangingPunct="1"/>
            <a:r>
              <a:rPr lang="en-US" altLang="en-US" sz="3200">
                <a:solidFill>
                  <a:srgbClr val="0070C0"/>
                </a:solidFill>
              </a:rPr>
              <a:t>Meaning</a:t>
            </a:r>
            <a:r>
              <a:rPr lang="en-US" altLang="en-US" sz="3200"/>
              <a:t> </a:t>
            </a:r>
          </a:p>
          <a:p>
            <a:pPr eaLnBrk="1" hangingPunct="1"/>
            <a:endParaRPr lang="en-US" altLang="en-US" sz="3200"/>
          </a:p>
          <a:p>
            <a:pPr eaLnBrk="1" hangingPunct="1">
              <a:buFont typeface="Arial" panose="020B0604020202020204" pitchFamily="34" charset="0"/>
              <a:buNone/>
            </a:pPr>
            <a:r>
              <a:rPr lang="en-US" altLang="en-US" sz="3200"/>
              <a:t>	</a:t>
            </a:r>
            <a:r>
              <a:rPr lang="en-US" altLang="en-US" sz="3200">
                <a:solidFill>
                  <a:schemeClr val="accent2"/>
                </a:solidFill>
              </a:rPr>
              <a:t>“the action or business of promoting and selling products or services, including market research and advertising”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4A637-0696-4CBE-AF18-8E43368FBBCE}"/>
              </a:ext>
            </a:extLst>
          </p:cNvPr>
          <p:cNvSpPr>
            <a:spLocks noGrp="1"/>
          </p:cNvSpPr>
          <p:nvPr>
            <p:ph type="title"/>
          </p:nvPr>
        </p:nvSpPr>
        <p:spPr/>
        <p:txBody>
          <a:bodyPr rtlCol="0">
            <a:normAutofit fontScale="90000"/>
          </a:bodyPr>
          <a:lstStyle/>
          <a:p>
            <a:pPr algn="ctr" eaLnBrk="1" fontAlgn="auto" hangingPunct="1">
              <a:spcAft>
                <a:spcPts val="0"/>
              </a:spcAft>
              <a:defRPr/>
            </a:pPr>
            <a:r>
              <a:rPr lang="en-US" b="1" dirty="0">
                <a:solidFill>
                  <a:srgbClr val="00B050"/>
                </a:solidFill>
              </a:rPr>
              <a:t>What is marketing?</a:t>
            </a:r>
            <a:br>
              <a:rPr lang="en-US" dirty="0">
                <a:solidFill>
                  <a:srgbClr val="00B050"/>
                </a:solidFill>
              </a:rPr>
            </a:br>
            <a:endParaRPr lang="en-US" dirty="0">
              <a:solidFill>
                <a:srgbClr val="00B050"/>
              </a:solidFill>
            </a:endParaRPr>
          </a:p>
        </p:txBody>
      </p:sp>
      <p:sp>
        <p:nvSpPr>
          <p:cNvPr id="30723" name="Content Placeholder 2">
            <a:extLst>
              <a:ext uri="{FF2B5EF4-FFF2-40B4-BE49-F238E27FC236}">
                <a16:creationId xmlns:a16="http://schemas.microsoft.com/office/drawing/2014/main" id="{6869ECDF-FDA6-45B4-9C4F-966C604B750A}"/>
              </a:ext>
            </a:extLst>
          </p:cNvPr>
          <p:cNvSpPr>
            <a:spLocks noGrp="1"/>
          </p:cNvSpPr>
          <p:nvPr>
            <p:ph sz="quarter" idx="1"/>
          </p:nvPr>
        </p:nvSpPr>
        <p:spPr>
          <a:xfrm>
            <a:off x="381000" y="1066800"/>
            <a:ext cx="8534400" cy="5181600"/>
          </a:xfrm>
        </p:spPr>
        <p:txBody>
          <a:bodyPr/>
          <a:lstStyle/>
          <a:p>
            <a:pPr eaLnBrk="1" hangingPunct="1"/>
            <a:r>
              <a:rPr lang="en-US" altLang="en-US" sz="2400" b="1"/>
              <a:t> </a:t>
            </a:r>
            <a:r>
              <a:rPr lang="en-US" altLang="en-US" sz="2800">
                <a:solidFill>
                  <a:schemeClr val="accent2"/>
                </a:solidFill>
              </a:rPr>
              <a:t>Marketing is the management process through which </a:t>
            </a:r>
            <a:r>
              <a:rPr lang="en-US" altLang="en-US" sz="2800" b="1">
                <a:solidFill>
                  <a:schemeClr val="accent2"/>
                </a:solidFill>
              </a:rPr>
              <a:t>goods and services </a:t>
            </a:r>
            <a:r>
              <a:rPr lang="en-US" altLang="en-US" sz="2800">
                <a:solidFill>
                  <a:schemeClr val="accent2"/>
                </a:solidFill>
              </a:rPr>
              <a:t>move from </a:t>
            </a:r>
            <a:r>
              <a:rPr lang="en-US" altLang="en-US" sz="2800" b="1">
                <a:solidFill>
                  <a:schemeClr val="accent2"/>
                </a:solidFill>
              </a:rPr>
              <a:t>concept</a:t>
            </a:r>
            <a:r>
              <a:rPr lang="en-US" altLang="en-US" sz="2800">
                <a:solidFill>
                  <a:schemeClr val="accent2"/>
                </a:solidFill>
              </a:rPr>
              <a:t> to </a:t>
            </a:r>
            <a:r>
              <a:rPr lang="en-US" altLang="en-US" sz="2800" b="1">
                <a:solidFill>
                  <a:schemeClr val="accent2"/>
                </a:solidFill>
              </a:rPr>
              <a:t>customer</a:t>
            </a:r>
            <a:r>
              <a:rPr lang="en-US" altLang="en-US" sz="2800">
                <a:solidFill>
                  <a:schemeClr val="accent2"/>
                </a:solidFill>
              </a:rPr>
              <a:t>. It includes the coordination of four elements called the </a:t>
            </a:r>
            <a:br>
              <a:rPr lang="en-US" altLang="en-US" sz="2800">
                <a:solidFill>
                  <a:schemeClr val="accent2"/>
                </a:solidFill>
              </a:rPr>
            </a:br>
            <a:r>
              <a:rPr lang="en-US" altLang="en-US" sz="2800">
                <a:solidFill>
                  <a:schemeClr val="accent2"/>
                </a:solidFill>
              </a:rPr>
              <a:t>4 P’s of marketing:</a:t>
            </a:r>
          </a:p>
          <a:p>
            <a:pPr lvl="1" eaLnBrk="1" hangingPunct="1"/>
            <a:r>
              <a:rPr lang="en-US" altLang="en-US">
                <a:solidFill>
                  <a:srgbClr val="0070C0"/>
                </a:solidFill>
              </a:rPr>
              <a:t>Product</a:t>
            </a:r>
          </a:p>
          <a:p>
            <a:pPr lvl="1" eaLnBrk="1" hangingPunct="1"/>
            <a:r>
              <a:rPr lang="en-US" altLang="en-US">
                <a:solidFill>
                  <a:srgbClr val="0070C0"/>
                </a:solidFill>
              </a:rPr>
              <a:t>Price</a:t>
            </a:r>
          </a:p>
          <a:p>
            <a:pPr lvl="1" eaLnBrk="1" hangingPunct="1"/>
            <a:r>
              <a:rPr lang="en-US" altLang="en-US">
                <a:solidFill>
                  <a:srgbClr val="0070C0"/>
                </a:solidFill>
              </a:rPr>
              <a:t>Place</a:t>
            </a:r>
          </a:p>
          <a:p>
            <a:pPr lvl="1" eaLnBrk="1" hangingPunct="1"/>
            <a:r>
              <a:rPr lang="en-US" altLang="en-US">
                <a:solidFill>
                  <a:srgbClr val="0070C0"/>
                </a:solidFill>
              </a:rPr>
              <a:t>Promotional strategy</a:t>
            </a:r>
          </a:p>
          <a:p>
            <a:pPr lvl="1" eaLnBrk="1" hangingPunct="1">
              <a:buFont typeface="Arial" panose="020B0604020202020204" pitchFamily="34" charset="0"/>
              <a:buNone/>
            </a:pPr>
            <a:endParaRPr lang="en-US" altLang="en-US"/>
          </a:p>
          <a:p>
            <a:pPr eaLnBrk="1" hangingPunct="1"/>
            <a:r>
              <a:rPr lang="en-US" altLang="en-US" sz="2800">
                <a:solidFill>
                  <a:schemeClr val="accent2"/>
                </a:solidFill>
              </a:rPr>
              <a:t> Marketing is based on thinking about the business in terms of </a:t>
            </a:r>
            <a:r>
              <a:rPr lang="en-US" altLang="en-US" sz="2800" b="1">
                <a:solidFill>
                  <a:schemeClr val="accent2"/>
                </a:solidFill>
              </a:rPr>
              <a:t>customer needs</a:t>
            </a:r>
            <a:r>
              <a:rPr lang="en-US" altLang="en-US" sz="2800">
                <a:solidFill>
                  <a:schemeClr val="accent2"/>
                </a:solidFill>
              </a:rPr>
              <a:t> and their satisfaction</a:t>
            </a:r>
            <a:r>
              <a:rPr lang="en-US" altLang="en-US" sz="280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a:extLst>
              <a:ext uri="{FF2B5EF4-FFF2-40B4-BE49-F238E27FC236}">
                <a16:creationId xmlns:a16="http://schemas.microsoft.com/office/drawing/2014/main" id="{AF6BD9E1-CC2B-47A9-BFE4-2BE085F71822}"/>
              </a:ext>
            </a:extLst>
          </p:cNvPr>
          <p:cNvSpPr>
            <a:spLocks noGrp="1"/>
          </p:cNvSpPr>
          <p:nvPr>
            <p:ph sz="quarter" idx="1"/>
          </p:nvPr>
        </p:nvSpPr>
        <p:spPr>
          <a:xfrm>
            <a:off x="381000" y="304800"/>
            <a:ext cx="8458200" cy="6248400"/>
          </a:xfrm>
        </p:spPr>
        <p:txBody>
          <a:bodyPr/>
          <a:lstStyle/>
          <a:p>
            <a:pPr eaLnBrk="1" hangingPunct="1">
              <a:buFont typeface="Arial" panose="020B0604020202020204" pitchFamily="34" charset="0"/>
              <a:buChar char="•"/>
            </a:pPr>
            <a:r>
              <a:rPr lang="en-US" altLang="en-US" sz="3200"/>
              <a:t> </a:t>
            </a:r>
            <a:r>
              <a:rPr lang="en-US" altLang="en-US" sz="3200">
                <a:solidFill>
                  <a:srgbClr val="00B050"/>
                </a:solidFill>
              </a:rPr>
              <a:t>Marketing view the entire business process as an integrated effort to discover, create and satisfy customer needs  </a:t>
            </a:r>
          </a:p>
          <a:p>
            <a:pPr eaLnBrk="1" hangingPunct="1">
              <a:buFont typeface="Arial" panose="020B0604020202020204" pitchFamily="34" charset="0"/>
              <a:buChar char="•"/>
            </a:pPr>
            <a:r>
              <a:rPr lang="en-US" altLang="en-US" sz="3200">
                <a:solidFill>
                  <a:srgbClr val="00B050"/>
                </a:solidFill>
              </a:rPr>
              <a:t> </a:t>
            </a:r>
            <a:r>
              <a:rPr lang="en-US" altLang="en-US" sz="3200" b="1">
                <a:solidFill>
                  <a:srgbClr val="00B050"/>
                </a:solidFill>
              </a:rPr>
              <a:t>Marketing really is the total planning of how to run a business- where are the customers, what do they want, how do we provide it for them, how do we get them to buy?</a:t>
            </a:r>
            <a:endParaRPr lang="en-US" altLang="en-US" sz="3200">
              <a:solidFill>
                <a:srgbClr val="00B050"/>
              </a:solidFill>
            </a:endParaRPr>
          </a:p>
          <a:p>
            <a:pPr eaLnBrk="1" hangingPunct="1">
              <a:buFont typeface="Arial" panose="020B0604020202020204" pitchFamily="34" charset="0"/>
              <a:buChar char="•"/>
            </a:pPr>
            <a:r>
              <a:rPr lang="en-US" altLang="en-US" sz="3200" b="1">
                <a:solidFill>
                  <a:srgbClr val="00B050"/>
                </a:solidFill>
              </a:rPr>
              <a:t> </a:t>
            </a:r>
            <a:r>
              <a:rPr lang="en-US" altLang="en-US" sz="3200">
                <a:solidFill>
                  <a:srgbClr val="00B050"/>
                </a:solidFill>
              </a:rPr>
              <a:t>In the modern world, a well thought out marketing plan is essential for success in any business.</a:t>
            </a:r>
          </a:p>
          <a:p>
            <a:pPr eaLnBrk="1" hangingPunct="1">
              <a:buFont typeface="Arial" panose="020B0604020202020204" pitchFamily="34" charset="0"/>
              <a:buChar char="•"/>
            </a:pPr>
            <a:r>
              <a:rPr lang="en-US" altLang="en-US" sz="3200" b="1">
                <a:solidFill>
                  <a:srgbClr val="00B050"/>
                </a:solidFill>
              </a:rPr>
              <a:t> </a:t>
            </a:r>
            <a:r>
              <a:rPr lang="en-US" altLang="en-US" sz="3200">
                <a:solidFill>
                  <a:srgbClr val="00B050"/>
                </a:solidFill>
              </a:rPr>
              <a:t>Marketing is simply customer orientation – looking at your business from the customer point of view.</a:t>
            </a:r>
          </a:p>
          <a:p>
            <a:pPr eaLnBrk="1" hangingPunct="1">
              <a:buFont typeface="Arial" panose="020B0604020202020204" pitchFamily="34" charset="0"/>
              <a:buChar char="•"/>
            </a:pPr>
            <a:endParaRPr lang="en-US" altLang="en-US" sz="3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3C98A8BA-03B7-46E6-B256-E60E60600347}"/>
              </a:ext>
            </a:extLst>
          </p:cNvPr>
          <p:cNvSpPr>
            <a:spLocks noGrp="1"/>
          </p:cNvSpPr>
          <p:nvPr>
            <p:ph type="title"/>
          </p:nvPr>
        </p:nvSpPr>
        <p:spPr>
          <a:xfrm>
            <a:off x="762000" y="304800"/>
            <a:ext cx="7772400" cy="762000"/>
          </a:xfrm>
        </p:spPr>
        <p:txBody>
          <a:bodyPr/>
          <a:lstStyle/>
          <a:p>
            <a:pPr algn="ctr" eaLnBrk="1" hangingPunct="1"/>
            <a:r>
              <a:rPr lang="en-US" altLang="en-US" b="1">
                <a:solidFill>
                  <a:srgbClr val="00B050"/>
                </a:solidFill>
              </a:rPr>
              <a:t>Tourism Marketing </a:t>
            </a:r>
          </a:p>
        </p:txBody>
      </p:sp>
      <p:sp>
        <p:nvSpPr>
          <p:cNvPr id="32771" name="Content Placeholder 2">
            <a:extLst>
              <a:ext uri="{FF2B5EF4-FFF2-40B4-BE49-F238E27FC236}">
                <a16:creationId xmlns:a16="http://schemas.microsoft.com/office/drawing/2014/main" id="{1AFEF952-275B-4979-BB95-CB97D7428B48}"/>
              </a:ext>
            </a:extLst>
          </p:cNvPr>
          <p:cNvSpPr>
            <a:spLocks noGrp="1"/>
          </p:cNvSpPr>
          <p:nvPr>
            <p:ph sz="quarter" idx="1"/>
          </p:nvPr>
        </p:nvSpPr>
        <p:spPr>
          <a:xfrm>
            <a:off x="533400" y="1447800"/>
            <a:ext cx="8153400" cy="4572000"/>
          </a:xfrm>
        </p:spPr>
        <p:txBody>
          <a:bodyPr/>
          <a:lstStyle/>
          <a:p>
            <a:pPr eaLnBrk="1" hangingPunct="1"/>
            <a:r>
              <a:rPr lang="en-US" altLang="en-US" sz="3200" b="1">
                <a:solidFill>
                  <a:schemeClr val="accent2"/>
                </a:solidFill>
              </a:rPr>
              <a:t>Definition:</a:t>
            </a:r>
            <a:endParaRPr lang="en-US" altLang="en-US" sz="3200">
              <a:solidFill>
                <a:schemeClr val="accent2"/>
              </a:solidFill>
            </a:endParaRPr>
          </a:p>
          <a:p>
            <a:pPr eaLnBrk="1" hangingPunct="1">
              <a:buFont typeface="Arial" panose="020B0604020202020204" pitchFamily="34" charset="0"/>
              <a:buNone/>
            </a:pPr>
            <a:r>
              <a:rPr lang="en-US" altLang="en-US" sz="3200" b="1"/>
              <a:t>	</a:t>
            </a:r>
          </a:p>
          <a:p>
            <a:pPr eaLnBrk="1" hangingPunct="1">
              <a:buFont typeface="Arial" panose="020B0604020202020204" pitchFamily="34" charset="0"/>
              <a:buNone/>
            </a:pPr>
            <a:r>
              <a:rPr lang="en-US" altLang="en-US" sz="3200" b="1">
                <a:solidFill>
                  <a:srgbClr val="7030A0"/>
                </a:solidFill>
              </a:rPr>
              <a:t>Tourism marketing can be defined as the </a:t>
            </a:r>
          </a:p>
          <a:p>
            <a:pPr eaLnBrk="1" hangingPunct="1">
              <a:buFont typeface="Arial" panose="020B0604020202020204" pitchFamily="34" charset="0"/>
              <a:buNone/>
            </a:pPr>
            <a:r>
              <a:rPr lang="en-US" altLang="en-US" sz="3200" b="1"/>
              <a:t>	</a:t>
            </a:r>
            <a:r>
              <a:rPr lang="en-US" altLang="en-US" sz="3200" b="1">
                <a:solidFill>
                  <a:srgbClr val="0070C0"/>
                </a:solidFill>
              </a:rPr>
              <a:t>“systematic and coordinated efforts undertaken by tourist organization at international, national and local levels to optimize the satisfaction of tourist in view of the sustained growth”.</a:t>
            </a:r>
            <a:endParaRPr lang="en-US" altLang="en-US" sz="3200">
              <a:solidFill>
                <a:srgbClr val="0070C0"/>
              </a:solidFill>
            </a:endParaRPr>
          </a:p>
          <a:p>
            <a:pPr eaLnBrk="1" hangingPunct="1"/>
            <a:endParaRPr lang="en-US" altLang="en-US" sz="3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FF2DB9CD-15BF-42B2-B0F1-24F0F33CD3CB}"/>
              </a:ext>
            </a:extLst>
          </p:cNvPr>
          <p:cNvSpPr>
            <a:spLocks noGrp="1"/>
          </p:cNvSpPr>
          <p:nvPr>
            <p:ph type="title"/>
          </p:nvPr>
        </p:nvSpPr>
        <p:spPr>
          <a:xfrm>
            <a:off x="914400" y="228600"/>
            <a:ext cx="7772400" cy="762000"/>
          </a:xfrm>
        </p:spPr>
        <p:txBody>
          <a:bodyPr/>
          <a:lstStyle/>
          <a:p>
            <a:pPr eaLnBrk="1" hangingPunct="1"/>
            <a:r>
              <a:rPr lang="en-US" altLang="en-US">
                <a:solidFill>
                  <a:srgbClr val="00B050"/>
                </a:solidFill>
              </a:rPr>
              <a:t>According to krippendort …</a:t>
            </a:r>
          </a:p>
        </p:txBody>
      </p:sp>
      <p:sp>
        <p:nvSpPr>
          <p:cNvPr id="33795" name="Content Placeholder 2">
            <a:extLst>
              <a:ext uri="{FF2B5EF4-FFF2-40B4-BE49-F238E27FC236}">
                <a16:creationId xmlns:a16="http://schemas.microsoft.com/office/drawing/2014/main" id="{8588DAB0-B881-407E-A000-D5765311180D}"/>
              </a:ext>
            </a:extLst>
          </p:cNvPr>
          <p:cNvSpPr>
            <a:spLocks noGrp="1"/>
          </p:cNvSpPr>
          <p:nvPr>
            <p:ph sz="quarter" idx="1"/>
          </p:nvPr>
        </p:nvSpPr>
        <p:spPr>
          <a:xfrm>
            <a:off x="457200" y="1143000"/>
            <a:ext cx="8229600" cy="5410200"/>
          </a:xfrm>
        </p:spPr>
        <p:txBody>
          <a:bodyPr/>
          <a:lstStyle/>
          <a:p>
            <a:pPr eaLnBrk="1" hangingPunct="1"/>
            <a:r>
              <a:rPr lang="en-US" altLang="en-US" sz="2800">
                <a:solidFill>
                  <a:srgbClr val="0070C0"/>
                </a:solidFill>
              </a:rPr>
              <a:t>“Tourism marketing is to be understood as the systematic and coordinated execution of business policy by tourist undertakings whether private or state owned at local, regional , national or international level to achieve the optimal satisfaction of the needs of identifiable consumer groups, and in doing so to achieve an appropriate return.”</a:t>
            </a:r>
          </a:p>
          <a:p>
            <a:pPr eaLnBrk="1" hangingPunct="1">
              <a:buFont typeface="Wingdings 2" panose="05020102010507070707" pitchFamily="18" charset="2"/>
              <a:buNone/>
            </a:pPr>
            <a:r>
              <a:rPr lang="en-US" altLang="en-US" sz="2800">
                <a:solidFill>
                  <a:srgbClr val="0070C0"/>
                </a:solidFill>
              </a:rPr>
              <a:t> </a:t>
            </a:r>
          </a:p>
          <a:p>
            <a:pPr eaLnBrk="1" hangingPunct="1"/>
            <a:r>
              <a:rPr lang="en-US" altLang="en-US" sz="2800">
                <a:solidFill>
                  <a:srgbClr val="0070C0"/>
                </a:solidFill>
              </a:rPr>
              <a:t>Marketing is an essential part of running a business. In case of tourism marketing, it involves all managerial activities of services firm or organizations are perform with the customer in mind and treating him as the hub of the firm. </a:t>
            </a:r>
          </a:p>
          <a:p>
            <a:pPr eaLnBrk="1" hangingPunct="1"/>
            <a:endParaRPr lang="en-US" altLang="en-US" sz="2800">
              <a:solidFill>
                <a:srgbClr val="0070C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C4FDFBE0-5D93-4557-A8A4-07611BCB1FEC}"/>
              </a:ext>
            </a:extLst>
          </p:cNvPr>
          <p:cNvSpPr>
            <a:spLocks noGrp="1"/>
          </p:cNvSpPr>
          <p:nvPr>
            <p:ph type="title"/>
          </p:nvPr>
        </p:nvSpPr>
        <p:spPr>
          <a:xfrm>
            <a:off x="609600" y="274638"/>
            <a:ext cx="8077200" cy="1143000"/>
          </a:xfrm>
        </p:spPr>
        <p:txBody>
          <a:bodyPr/>
          <a:lstStyle/>
          <a:p>
            <a:r>
              <a:rPr lang="en-US" altLang="en-US"/>
              <a:t>Cont…</a:t>
            </a:r>
          </a:p>
        </p:txBody>
      </p:sp>
      <p:sp>
        <p:nvSpPr>
          <p:cNvPr id="3" name="Content Placeholder 2">
            <a:extLst>
              <a:ext uri="{FF2B5EF4-FFF2-40B4-BE49-F238E27FC236}">
                <a16:creationId xmlns:a16="http://schemas.microsoft.com/office/drawing/2014/main" id="{68FF9EDB-8C94-43BF-A1F7-DDADF7805EBC}"/>
              </a:ext>
            </a:extLst>
          </p:cNvPr>
          <p:cNvSpPr>
            <a:spLocks noGrp="1"/>
          </p:cNvSpPr>
          <p:nvPr>
            <p:ph sz="quarter" idx="1"/>
          </p:nvPr>
        </p:nvSpPr>
        <p:spPr>
          <a:xfrm>
            <a:off x="381000" y="1447800"/>
            <a:ext cx="8382000" cy="4876800"/>
          </a:xfrm>
        </p:spPr>
        <p:txBody>
          <a:bodyPr/>
          <a:lstStyle/>
          <a:p>
            <a:pPr marL="274320" indent="-274320" eaLnBrk="1" fontAlgn="auto" hangingPunct="1">
              <a:spcBef>
                <a:spcPts val="580"/>
              </a:spcBef>
              <a:spcAft>
                <a:spcPts val="0"/>
              </a:spcAft>
              <a:buFont typeface="Wingdings 2"/>
              <a:buChar char=""/>
              <a:defRPr/>
            </a:pPr>
            <a:r>
              <a:rPr lang="en-US" sz="3200" dirty="0">
                <a:solidFill>
                  <a:srgbClr val="0070C0"/>
                </a:solidFill>
              </a:rPr>
              <a:t>The customer’s needs, wants and desires are analyzed and categorized, the service marketer then goes back to his service design centre to develop service offer especially for the customer. </a:t>
            </a:r>
          </a:p>
          <a:p>
            <a:pPr marL="274320" indent="-274320" eaLnBrk="1" fontAlgn="auto" hangingPunct="1">
              <a:spcBef>
                <a:spcPts val="580"/>
              </a:spcBef>
              <a:spcAft>
                <a:spcPts val="0"/>
              </a:spcAft>
              <a:buFont typeface="Wingdings 2"/>
              <a:buChar char=""/>
              <a:defRPr/>
            </a:pPr>
            <a:r>
              <a:rPr lang="en-US" sz="3200" dirty="0">
                <a:solidFill>
                  <a:srgbClr val="0070C0"/>
                </a:solidFill>
              </a:rPr>
              <a:t>The service firm with entire energy then is channeled to appropriately use its marketing mines to produce and delivered. The offer to the customer much better than the compaction.  The offers may be in the form of packages.</a:t>
            </a:r>
          </a:p>
          <a:p>
            <a:pPr>
              <a:defRPr/>
            </a:pP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B47D3587-CF64-4A20-ACF3-D854238C11D5}"/>
              </a:ext>
            </a:extLst>
          </p:cNvPr>
          <p:cNvSpPr>
            <a:spLocks noGrp="1"/>
          </p:cNvSpPr>
          <p:nvPr>
            <p:ph type="title"/>
          </p:nvPr>
        </p:nvSpPr>
        <p:spPr>
          <a:xfrm>
            <a:off x="838200" y="0"/>
            <a:ext cx="7772400" cy="868363"/>
          </a:xfrm>
        </p:spPr>
        <p:txBody>
          <a:bodyPr/>
          <a:lstStyle/>
          <a:p>
            <a:pPr algn="ctr" eaLnBrk="1" hangingPunct="1"/>
            <a:r>
              <a:rPr lang="en-US" altLang="en-US" b="1">
                <a:solidFill>
                  <a:srgbClr val="00B050"/>
                </a:solidFill>
              </a:rPr>
              <a:t>Features</a:t>
            </a:r>
          </a:p>
        </p:txBody>
      </p:sp>
      <p:sp>
        <p:nvSpPr>
          <p:cNvPr id="35843" name="Content Placeholder 2">
            <a:extLst>
              <a:ext uri="{FF2B5EF4-FFF2-40B4-BE49-F238E27FC236}">
                <a16:creationId xmlns:a16="http://schemas.microsoft.com/office/drawing/2014/main" id="{91411151-AA54-459C-A562-890C2A1D44E4}"/>
              </a:ext>
            </a:extLst>
          </p:cNvPr>
          <p:cNvSpPr>
            <a:spLocks noGrp="1"/>
          </p:cNvSpPr>
          <p:nvPr>
            <p:ph sz="quarter" idx="1"/>
          </p:nvPr>
        </p:nvSpPr>
        <p:spPr>
          <a:xfrm>
            <a:off x="381000" y="1295400"/>
            <a:ext cx="8458200" cy="5105400"/>
          </a:xfrm>
        </p:spPr>
        <p:txBody>
          <a:bodyPr/>
          <a:lstStyle/>
          <a:p>
            <a:pPr eaLnBrk="1" hangingPunct="1">
              <a:buFont typeface="Arial" panose="020B0604020202020204" pitchFamily="34" charset="0"/>
              <a:buChar char="•"/>
            </a:pPr>
            <a:r>
              <a:rPr lang="en-US" altLang="en-US" sz="3200" b="1">
                <a:solidFill>
                  <a:srgbClr val="0070C0"/>
                </a:solidFill>
              </a:rPr>
              <a:t>Publicity and Marketing</a:t>
            </a:r>
          </a:p>
          <a:p>
            <a:pPr eaLnBrk="1" hangingPunct="1">
              <a:buFont typeface="Wingdings 2" panose="05020102010507070707" pitchFamily="18" charset="2"/>
              <a:buNone/>
            </a:pPr>
            <a:r>
              <a:rPr lang="en-US" altLang="en-US" sz="3200"/>
              <a:t>	</a:t>
            </a:r>
            <a:r>
              <a:rPr lang="en-US" altLang="en-US" sz="3200">
                <a:solidFill>
                  <a:srgbClr val="7030A0"/>
                </a:solidFill>
              </a:rPr>
              <a:t>All matters pertaining to printing of posters, brochures, banners etc. and release of advertisement (print as well as electronic).</a:t>
            </a:r>
          </a:p>
          <a:p>
            <a:pPr eaLnBrk="1" hangingPunct="1">
              <a:buFont typeface="Wingdings 2" panose="05020102010507070707" pitchFamily="18" charset="2"/>
              <a:buNone/>
            </a:pPr>
            <a:r>
              <a:rPr lang="en-US" altLang="en-US" sz="3200">
                <a:solidFill>
                  <a:srgbClr val="7030A0"/>
                </a:solidFill>
              </a:rPr>
              <a:t>	</a:t>
            </a:r>
          </a:p>
          <a:p>
            <a:pPr eaLnBrk="1" hangingPunct="1">
              <a:buFont typeface="Wingdings 2" panose="05020102010507070707" pitchFamily="18" charset="2"/>
              <a:buNone/>
            </a:pPr>
            <a:r>
              <a:rPr lang="en-US" altLang="en-US" sz="3200">
                <a:solidFill>
                  <a:srgbClr val="7030A0"/>
                </a:solidFill>
              </a:rPr>
              <a:t>	All matters pertaining to organizing events.</a:t>
            </a:r>
          </a:p>
          <a:p>
            <a:pPr eaLnBrk="1" hangingPunct="1">
              <a:buFont typeface="Wingdings 2" panose="05020102010507070707" pitchFamily="18" charset="2"/>
              <a:buNone/>
            </a:pPr>
            <a:r>
              <a:rPr lang="en-US" altLang="en-US" sz="3200">
                <a:solidFill>
                  <a:srgbClr val="7030A0"/>
                </a:solidFill>
              </a:rPr>
              <a:t>	</a:t>
            </a:r>
          </a:p>
          <a:p>
            <a:pPr eaLnBrk="1" hangingPunct="1">
              <a:buFont typeface="Wingdings 2" panose="05020102010507070707" pitchFamily="18" charset="2"/>
              <a:buNone/>
            </a:pPr>
            <a:r>
              <a:rPr lang="en-US" altLang="en-US" sz="3200">
                <a:solidFill>
                  <a:srgbClr val="7030A0"/>
                </a:solidFill>
              </a:rPr>
              <a:t>	All matters pertaining to information technology up gradation thereof.</a:t>
            </a:r>
          </a:p>
          <a:p>
            <a:pPr eaLnBrk="1" hangingPunct="1">
              <a:buFont typeface="Arial" panose="020B0604020202020204" pitchFamily="34" charset="0"/>
              <a:buChar char="•"/>
            </a:pPr>
            <a:endParaRPr lang="en-US" altLang="en-US" sz="3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2FF93053-3C41-45A0-941A-197A4565D143}"/>
              </a:ext>
            </a:extLst>
          </p:cNvPr>
          <p:cNvSpPr>
            <a:spLocks noGrp="1"/>
          </p:cNvSpPr>
          <p:nvPr>
            <p:ph type="title"/>
          </p:nvPr>
        </p:nvSpPr>
        <p:spPr>
          <a:xfrm>
            <a:off x="762000" y="274638"/>
            <a:ext cx="7924800" cy="715962"/>
          </a:xfrm>
        </p:spPr>
        <p:txBody>
          <a:bodyPr/>
          <a:lstStyle/>
          <a:p>
            <a:pPr algn="ctr" eaLnBrk="1" hangingPunct="1"/>
            <a:r>
              <a:rPr lang="en-US" altLang="en-US" b="1">
                <a:solidFill>
                  <a:srgbClr val="0070C0"/>
                </a:solidFill>
              </a:rPr>
              <a:t>Publicity Information Material</a:t>
            </a:r>
            <a:endParaRPr lang="en-US" altLang="en-US">
              <a:solidFill>
                <a:srgbClr val="0070C0"/>
              </a:solidFill>
            </a:endParaRPr>
          </a:p>
        </p:txBody>
      </p:sp>
      <p:sp>
        <p:nvSpPr>
          <p:cNvPr id="3" name="Content Placeholder 2">
            <a:extLst>
              <a:ext uri="{FF2B5EF4-FFF2-40B4-BE49-F238E27FC236}">
                <a16:creationId xmlns:a16="http://schemas.microsoft.com/office/drawing/2014/main" id="{63B737ED-30EB-4796-A961-E704DD85EE93}"/>
              </a:ext>
            </a:extLst>
          </p:cNvPr>
          <p:cNvSpPr>
            <a:spLocks noGrp="1"/>
          </p:cNvSpPr>
          <p:nvPr>
            <p:ph sz="quarter" idx="1"/>
          </p:nvPr>
        </p:nvSpPr>
        <p:spPr>
          <a:xfrm>
            <a:off x="533400" y="1066800"/>
            <a:ext cx="8229600" cy="5181600"/>
          </a:xfrm>
        </p:spPr>
        <p:txBody>
          <a:bodyPr/>
          <a:lstStyle/>
          <a:p>
            <a:pPr marL="274320" indent="-274320" eaLnBrk="1" fontAlgn="auto" hangingPunct="1">
              <a:spcBef>
                <a:spcPts val="580"/>
              </a:spcBef>
              <a:spcAft>
                <a:spcPts val="0"/>
              </a:spcAft>
              <a:buFont typeface="Arial" pitchFamily="34" charset="0"/>
              <a:buChar char="•"/>
              <a:defRPr/>
            </a:pPr>
            <a:r>
              <a:rPr lang="en-US" sz="2800" dirty="0">
                <a:solidFill>
                  <a:srgbClr val="7030A0"/>
                </a:solidFill>
              </a:rPr>
              <a:t>As part of its marketing / publicity activities, the Ministry of Tourism brings out brochures, leaflets, maps, films, CDs, etc. on various topics. </a:t>
            </a:r>
          </a:p>
          <a:p>
            <a:pPr marL="274320" indent="-274320" eaLnBrk="1" fontAlgn="auto" hangingPunct="1">
              <a:spcBef>
                <a:spcPts val="580"/>
              </a:spcBef>
              <a:spcAft>
                <a:spcPts val="0"/>
              </a:spcAft>
              <a:buFont typeface="Arial" pitchFamily="34" charset="0"/>
              <a:buChar char="•"/>
              <a:defRPr/>
            </a:pPr>
            <a:r>
              <a:rPr lang="en-US" sz="2800" dirty="0">
                <a:solidFill>
                  <a:srgbClr val="7030A0"/>
                </a:solidFill>
              </a:rPr>
              <a:t>Each heading given below details the theme on an all India basis, based on availability of the respective products. In case of the destination folders, the leaflet / folder / brochure gives the information about the place or the destination with various facets of the facilities available, sight seeing around the place, important telephone numbers and the contact points of India tourism officers. </a:t>
            </a:r>
          </a:p>
          <a:p>
            <a:pPr marL="274320" indent="-274320" eaLnBrk="1" fontAlgn="auto" hangingPunct="1">
              <a:spcBef>
                <a:spcPts val="580"/>
              </a:spcBef>
              <a:spcAft>
                <a:spcPts val="0"/>
              </a:spcAft>
              <a:buFont typeface="Arial" pitchFamily="34" charset="0"/>
              <a:buChar char="•"/>
              <a:defRPr/>
            </a:pPr>
            <a:r>
              <a:rPr lang="en-US" sz="2800" dirty="0">
                <a:solidFill>
                  <a:srgbClr val="7030A0"/>
                </a:solidFill>
              </a:rPr>
              <a:t>Similarly, the films deal with the subject in its entirety covering all destinations of the country.</a:t>
            </a:r>
          </a:p>
          <a:p>
            <a:pPr marL="274320" indent="-274320" eaLnBrk="1" fontAlgn="auto" hangingPunct="1">
              <a:spcBef>
                <a:spcPts val="580"/>
              </a:spcBef>
              <a:spcAft>
                <a:spcPts val="0"/>
              </a:spcAft>
              <a:buFont typeface="Arial" pitchFamily="34" charset="0"/>
              <a:buChar char="•"/>
              <a:defRPr/>
            </a:pPr>
            <a:endParaRPr lang="en-US" sz="2800" dirty="0">
              <a:solidFill>
                <a:srgbClr val="7030A0"/>
              </a:solidFill>
            </a:endParaRPr>
          </a:p>
          <a:p>
            <a:pPr eaLnBrk="1" hangingPunct="1">
              <a:defRPr/>
            </a:pPr>
            <a:endParaRPr lang="en-US" sz="2800" dirty="0">
              <a:solidFill>
                <a:srgbClr val="7030A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34529D16-2D93-47EC-A263-143A8900B5AF}"/>
              </a:ext>
            </a:extLst>
          </p:cNvPr>
          <p:cNvSpPr>
            <a:spLocks noGrp="1"/>
          </p:cNvSpPr>
          <p:nvPr>
            <p:ph type="title"/>
          </p:nvPr>
        </p:nvSpPr>
        <p:spPr/>
        <p:txBody>
          <a:bodyPr/>
          <a:lstStyle/>
          <a:p>
            <a:pPr eaLnBrk="1" hangingPunct="1"/>
            <a:r>
              <a:rPr lang="en-US" altLang="en-US"/>
              <a:t>Cont…</a:t>
            </a:r>
          </a:p>
        </p:txBody>
      </p:sp>
      <p:sp>
        <p:nvSpPr>
          <p:cNvPr id="37891" name="Content Placeholder 2">
            <a:extLst>
              <a:ext uri="{FF2B5EF4-FFF2-40B4-BE49-F238E27FC236}">
                <a16:creationId xmlns:a16="http://schemas.microsoft.com/office/drawing/2014/main" id="{4A2A2A07-6E0C-4A30-AAFA-FC0451441F82}"/>
              </a:ext>
            </a:extLst>
          </p:cNvPr>
          <p:cNvSpPr>
            <a:spLocks noGrp="1"/>
          </p:cNvSpPr>
          <p:nvPr>
            <p:ph sz="quarter" idx="1"/>
          </p:nvPr>
        </p:nvSpPr>
        <p:spPr>
          <a:xfrm>
            <a:off x="762000" y="1600200"/>
            <a:ext cx="7924800" cy="4419600"/>
          </a:xfrm>
        </p:spPr>
        <p:txBody>
          <a:bodyPr/>
          <a:lstStyle/>
          <a:p>
            <a:pPr eaLnBrk="1" hangingPunct="1">
              <a:buFont typeface="Arial" panose="020B0604020202020204" pitchFamily="34" charset="0"/>
              <a:buChar char="•"/>
            </a:pPr>
            <a:r>
              <a:rPr lang="en-US" altLang="en-US" sz="3200" b="1">
                <a:solidFill>
                  <a:srgbClr val="00B050"/>
                </a:solidFill>
                <a:hlinkClick r:id="rId2" tooltip="Incredible India Theme Brochures"/>
              </a:rPr>
              <a:t>Incredible India Theme Brochures</a:t>
            </a:r>
            <a:endParaRPr lang="en-US" altLang="en-US" sz="3200" b="1">
              <a:solidFill>
                <a:srgbClr val="00B050"/>
              </a:solidFill>
            </a:endParaRPr>
          </a:p>
          <a:p>
            <a:pPr eaLnBrk="1" hangingPunct="1">
              <a:buFont typeface="Arial" panose="020B0604020202020204" pitchFamily="34" charset="0"/>
              <a:buChar char="•"/>
            </a:pPr>
            <a:r>
              <a:rPr lang="en-US" altLang="en-US" sz="3200" b="1">
                <a:solidFill>
                  <a:srgbClr val="00B050"/>
                </a:solidFill>
                <a:hlinkClick r:id="rId3" tooltip="Destination Leaflets"/>
              </a:rPr>
              <a:t>Destination Leaflets</a:t>
            </a:r>
            <a:endParaRPr lang="en-US" altLang="en-US" sz="3200" b="1">
              <a:solidFill>
                <a:srgbClr val="00B050"/>
              </a:solidFill>
            </a:endParaRPr>
          </a:p>
          <a:p>
            <a:pPr eaLnBrk="1" hangingPunct="1">
              <a:buFont typeface="Arial" panose="020B0604020202020204" pitchFamily="34" charset="0"/>
              <a:buChar char="•"/>
            </a:pPr>
            <a:r>
              <a:rPr lang="en-US" altLang="en-US" sz="3200" b="1">
                <a:solidFill>
                  <a:srgbClr val="00B050"/>
                </a:solidFill>
                <a:hlinkClick r:id="rId4" tooltip="Heritage Destination Leaflets"/>
              </a:rPr>
              <a:t>Heritage Destination Leaflets</a:t>
            </a:r>
            <a:endParaRPr lang="en-US" altLang="en-US" sz="3200" b="1">
              <a:solidFill>
                <a:srgbClr val="00B050"/>
              </a:solidFill>
            </a:endParaRPr>
          </a:p>
          <a:p>
            <a:pPr eaLnBrk="1" hangingPunct="1">
              <a:buFont typeface="Arial" panose="020B0604020202020204" pitchFamily="34" charset="0"/>
              <a:buChar char="•"/>
            </a:pPr>
            <a:r>
              <a:rPr lang="en-US" altLang="en-US" sz="3200" b="1">
                <a:solidFill>
                  <a:srgbClr val="00B050"/>
                </a:solidFill>
                <a:hlinkClick r:id="rId5" tooltip="Posters on different subjects &amp; Themes"/>
              </a:rPr>
              <a:t>Posters on Different Subjects &amp; Themes</a:t>
            </a:r>
            <a:endParaRPr lang="en-US" altLang="en-US" sz="3200" b="1">
              <a:solidFill>
                <a:srgbClr val="00B050"/>
              </a:solidFill>
            </a:endParaRPr>
          </a:p>
          <a:p>
            <a:pPr eaLnBrk="1" hangingPunct="1">
              <a:buFont typeface="Arial" panose="020B0604020202020204" pitchFamily="34" charset="0"/>
              <a:buChar char="•"/>
            </a:pPr>
            <a:r>
              <a:rPr lang="en-US" altLang="en-US" sz="3200" b="1">
                <a:solidFill>
                  <a:srgbClr val="00B050"/>
                </a:solidFill>
                <a:hlinkClick r:id="rId6" tooltip="Maps"/>
              </a:rPr>
              <a:t>Maps</a:t>
            </a:r>
            <a:endParaRPr lang="en-US" altLang="en-US" sz="3200" b="1">
              <a:solidFill>
                <a:srgbClr val="00B050"/>
              </a:solidFill>
            </a:endParaRPr>
          </a:p>
          <a:p>
            <a:pPr eaLnBrk="1" hangingPunct="1">
              <a:buFont typeface="Arial" panose="020B0604020202020204" pitchFamily="34" charset="0"/>
              <a:buChar char="•"/>
            </a:pPr>
            <a:r>
              <a:rPr lang="en-US" altLang="en-US" sz="3200" b="1">
                <a:solidFill>
                  <a:srgbClr val="00B050"/>
                </a:solidFill>
                <a:hlinkClick r:id="rId7" tooltip="Films"/>
              </a:rPr>
              <a:t>Films</a:t>
            </a:r>
            <a:endParaRPr lang="en-US" altLang="en-US" sz="3200" b="1">
              <a:solidFill>
                <a:srgbClr val="00B05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D6661-EBCD-465B-B0D4-903232AF9D66}"/>
              </a:ext>
            </a:extLst>
          </p:cNvPr>
          <p:cNvSpPr>
            <a:spLocks noGrp="1"/>
          </p:cNvSpPr>
          <p:nvPr>
            <p:ph type="title"/>
          </p:nvPr>
        </p:nvSpPr>
        <p:spPr/>
        <p:txBody>
          <a:bodyPr rtlCol="0">
            <a:normAutofit fontScale="90000"/>
          </a:bodyPr>
          <a:lstStyle/>
          <a:p>
            <a:pPr eaLnBrk="1" fontAlgn="auto" hangingPunct="1">
              <a:spcAft>
                <a:spcPts val="0"/>
              </a:spcAft>
              <a:defRPr/>
            </a:pPr>
            <a:r>
              <a:rPr lang="en-US" b="1" dirty="0">
                <a:solidFill>
                  <a:srgbClr val="00B050"/>
                </a:solidFill>
              </a:rPr>
              <a:t>Incredible India Theme Brochures</a:t>
            </a:r>
            <a:br>
              <a:rPr lang="en-US" b="1" dirty="0">
                <a:solidFill>
                  <a:srgbClr val="00B050"/>
                </a:solidFill>
              </a:rPr>
            </a:br>
            <a:endParaRPr lang="en-US" dirty="0">
              <a:solidFill>
                <a:srgbClr val="00B050"/>
              </a:solidFill>
            </a:endParaRPr>
          </a:p>
        </p:txBody>
      </p:sp>
      <p:sp>
        <p:nvSpPr>
          <p:cNvPr id="38915" name="Content Placeholder 2">
            <a:extLst>
              <a:ext uri="{FF2B5EF4-FFF2-40B4-BE49-F238E27FC236}">
                <a16:creationId xmlns:a16="http://schemas.microsoft.com/office/drawing/2014/main" id="{1A61CED7-8141-4A30-B09B-11A36C8131F4}"/>
              </a:ext>
            </a:extLst>
          </p:cNvPr>
          <p:cNvSpPr>
            <a:spLocks noGrp="1"/>
          </p:cNvSpPr>
          <p:nvPr>
            <p:ph sz="quarter" idx="1"/>
          </p:nvPr>
        </p:nvSpPr>
        <p:spPr/>
        <p:txBody>
          <a:bodyPr/>
          <a:lstStyle/>
          <a:p>
            <a:pPr eaLnBrk="1" hangingPunct="1"/>
            <a:r>
              <a:rPr lang="en-US" altLang="en-US" sz="3200">
                <a:solidFill>
                  <a:srgbClr val="0070C0"/>
                </a:solidFill>
              </a:rPr>
              <a:t>Museums &amp; Art Galleries</a:t>
            </a:r>
          </a:p>
          <a:p>
            <a:pPr eaLnBrk="1" hangingPunct="1"/>
            <a:r>
              <a:rPr lang="en-US" altLang="en-US" sz="3200">
                <a:solidFill>
                  <a:srgbClr val="0070C0"/>
                </a:solidFill>
              </a:rPr>
              <a:t>Dance &amp; Music</a:t>
            </a:r>
          </a:p>
          <a:p>
            <a:pPr eaLnBrk="1" hangingPunct="1"/>
            <a:r>
              <a:rPr lang="en-US" altLang="en-US" sz="3200">
                <a:solidFill>
                  <a:srgbClr val="0070C0"/>
                </a:solidFill>
              </a:rPr>
              <a:t>Nature &amp; Wildlife</a:t>
            </a:r>
          </a:p>
          <a:p>
            <a:pPr eaLnBrk="1" hangingPunct="1"/>
            <a:r>
              <a:rPr lang="en-US" altLang="en-US" sz="3200">
                <a:solidFill>
                  <a:srgbClr val="0070C0"/>
                </a:solidFill>
              </a:rPr>
              <a:t>Golf Adventure Sports</a:t>
            </a:r>
          </a:p>
          <a:p>
            <a:pPr eaLnBrk="1" hangingPunct="1"/>
            <a:r>
              <a:rPr lang="en-US" altLang="en-US" sz="3200">
                <a:solidFill>
                  <a:srgbClr val="0070C0"/>
                </a:solidFill>
              </a:rPr>
              <a:t>Body Mind &amp; Soul</a:t>
            </a:r>
          </a:p>
          <a:p>
            <a:pPr eaLnBrk="1" hangingPunct="1"/>
            <a:r>
              <a:rPr lang="en-US" altLang="en-US" sz="3200">
                <a:solidFill>
                  <a:srgbClr val="0070C0"/>
                </a:solidFill>
              </a:rPr>
              <a:t>Arts &amp; Crafts</a:t>
            </a:r>
          </a:p>
          <a:p>
            <a:pPr eaLnBrk="1" hangingPunct="1"/>
            <a:r>
              <a:rPr lang="en-US" altLang="en-US" sz="3200">
                <a:solidFill>
                  <a:srgbClr val="0070C0"/>
                </a:solidFill>
              </a:rPr>
              <a:t>Shopping</a:t>
            </a:r>
          </a:p>
          <a:p>
            <a:pPr eaLnBrk="1" hangingPunct="1"/>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8FEEE-ECE1-4DF7-9F90-6C8998C546D7}"/>
              </a:ext>
            </a:extLst>
          </p:cNvPr>
          <p:cNvSpPr>
            <a:spLocks noGrp="1"/>
          </p:cNvSpPr>
          <p:nvPr>
            <p:ph type="title"/>
          </p:nvPr>
        </p:nvSpPr>
        <p:spPr/>
        <p:txBody>
          <a:bodyPr rtlCol="0">
            <a:normAutofit fontScale="90000"/>
          </a:bodyPr>
          <a:lstStyle/>
          <a:p>
            <a:pPr algn="ctr" eaLnBrk="1" fontAlgn="auto" hangingPunct="1">
              <a:spcAft>
                <a:spcPts val="0"/>
              </a:spcAft>
              <a:defRPr/>
            </a:pPr>
            <a:r>
              <a:rPr lang="en-US" b="1" dirty="0">
                <a:solidFill>
                  <a:srgbClr val="00B050"/>
                </a:solidFill>
              </a:rPr>
              <a:t>Destination Leaflets</a:t>
            </a:r>
            <a:br>
              <a:rPr lang="en-US" b="1" dirty="0">
                <a:solidFill>
                  <a:srgbClr val="00B050"/>
                </a:solidFill>
              </a:rPr>
            </a:br>
            <a:endParaRPr lang="en-US" dirty="0">
              <a:solidFill>
                <a:srgbClr val="00B050"/>
              </a:solidFill>
            </a:endParaRPr>
          </a:p>
        </p:txBody>
      </p:sp>
      <p:sp>
        <p:nvSpPr>
          <p:cNvPr id="39939" name="Content Placeholder 2">
            <a:extLst>
              <a:ext uri="{FF2B5EF4-FFF2-40B4-BE49-F238E27FC236}">
                <a16:creationId xmlns:a16="http://schemas.microsoft.com/office/drawing/2014/main" id="{B6F6EB32-FE40-443E-8636-28F1F1B90D94}"/>
              </a:ext>
            </a:extLst>
          </p:cNvPr>
          <p:cNvSpPr>
            <a:spLocks noGrp="1"/>
          </p:cNvSpPr>
          <p:nvPr>
            <p:ph sz="quarter" idx="1"/>
          </p:nvPr>
        </p:nvSpPr>
        <p:spPr/>
        <p:txBody>
          <a:bodyPr/>
          <a:lstStyle/>
          <a:p>
            <a:pPr eaLnBrk="1" hangingPunct="1"/>
            <a:r>
              <a:rPr lang="en-US" altLang="en-US" sz="3200">
                <a:solidFill>
                  <a:srgbClr val="0070C0"/>
                </a:solidFill>
              </a:rPr>
              <a:t>Ladakh- Lahaul-Spiti</a:t>
            </a:r>
          </a:p>
          <a:p>
            <a:pPr eaLnBrk="1" hangingPunct="1"/>
            <a:r>
              <a:rPr lang="en-US" altLang="en-US" sz="3200">
                <a:solidFill>
                  <a:srgbClr val="0070C0"/>
                </a:solidFill>
              </a:rPr>
              <a:t>Tirumala- Tirupati</a:t>
            </a:r>
          </a:p>
          <a:p>
            <a:pPr eaLnBrk="1" hangingPunct="1"/>
            <a:r>
              <a:rPr lang="en-US" altLang="en-US" sz="3200">
                <a:solidFill>
                  <a:srgbClr val="0070C0"/>
                </a:solidFill>
              </a:rPr>
              <a:t>Belur- Halebid</a:t>
            </a:r>
          </a:p>
          <a:p>
            <a:pPr eaLnBrk="1" hangingPunct="1"/>
            <a:r>
              <a:rPr lang="en-US" altLang="en-US" sz="3200">
                <a:solidFill>
                  <a:srgbClr val="0070C0"/>
                </a:solidFill>
              </a:rPr>
              <a:t>Madurai-Tirucharapalli- Rameswaram</a:t>
            </a:r>
          </a:p>
          <a:p>
            <a:pPr eaLnBrk="1" hangingPunct="1"/>
            <a:r>
              <a:rPr lang="en-US" altLang="en-US" sz="3200">
                <a:solidFill>
                  <a:srgbClr val="0070C0"/>
                </a:solidFill>
              </a:rPr>
              <a:t>Thiruvananthapuram-Kollam-Alappuzha</a:t>
            </a:r>
          </a:p>
          <a:p>
            <a:pPr eaLnBrk="1" hangingPunct="1"/>
            <a:r>
              <a:rPr lang="en-US" altLang="en-US" sz="3200">
                <a:solidFill>
                  <a:srgbClr val="0070C0"/>
                </a:solidFill>
              </a:rPr>
              <a:t>Aurangabad-Ajanta-Ellora</a:t>
            </a:r>
          </a:p>
          <a:p>
            <a:pPr eaLnBrk="1" hangingPunct="1"/>
            <a:endParaRPr lang="en-US" altLang="en-US" sz="3200">
              <a:solidFill>
                <a:srgbClr val="0070C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5E913-DC68-479E-BFA6-722BC0D6D8D2}"/>
              </a:ext>
            </a:extLst>
          </p:cNvPr>
          <p:cNvSpPr>
            <a:spLocks noGrp="1"/>
          </p:cNvSpPr>
          <p:nvPr>
            <p:ph type="title"/>
          </p:nvPr>
        </p:nvSpPr>
        <p:spPr/>
        <p:txBody>
          <a:bodyPr rtlCol="0">
            <a:normAutofit fontScale="90000"/>
          </a:bodyPr>
          <a:lstStyle/>
          <a:p>
            <a:pPr algn="ctr" eaLnBrk="1" fontAlgn="auto" hangingPunct="1">
              <a:spcAft>
                <a:spcPts val="0"/>
              </a:spcAft>
              <a:defRPr/>
            </a:pPr>
            <a:r>
              <a:rPr lang="en-US" b="1" dirty="0">
                <a:solidFill>
                  <a:srgbClr val="00B050"/>
                </a:solidFill>
              </a:rPr>
              <a:t>Heritage Destination Leaflets</a:t>
            </a:r>
            <a:br>
              <a:rPr lang="en-US" b="1" dirty="0">
                <a:solidFill>
                  <a:srgbClr val="00B050"/>
                </a:solidFill>
              </a:rPr>
            </a:br>
            <a:endParaRPr lang="en-US" dirty="0">
              <a:solidFill>
                <a:srgbClr val="00B050"/>
              </a:solidFill>
            </a:endParaRPr>
          </a:p>
        </p:txBody>
      </p:sp>
      <p:sp>
        <p:nvSpPr>
          <p:cNvPr id="40963" name="Content Placeholder 2">
            <a:extLst>
              <a:ext uri="{FF2B5EF4-FFF2-40B4-BE49-F238E27FC236}">
                <a16:creationId xmlns:a16="http://schemas.microsoft.com/office/drawing/2014/main" id="{5111DCFB-DB65-4776-A279-C067B8C39C4B}"/>
              </a:ext>
            </a:extLst>
          </p:cNvPr>
          <p:cNvSpPr>
            <a:spLocks noGrp="1"/>
          </p:cNvSpPr>
          <p:nvPr>
            <p:ph sz="quarter" idx="1"/>
          </p:nvPr>
        </p:nvSpPr>
        <p:spPr>
          <a:xfrm>
            <a:off x="381000" y="914400"/>
            <a:ext cx="8534400" cy="5715000"/>
          </a:xfrm>
        </p:spPr>
        <p:txBody>
          <a:bodyPr/>
          <a:lstStyle/>
          <a:p>
            <a:pPr eaLnBrk="1" hangingPunct="1">
              <a:buFont typeface="Arial" panose="020B0604020202020204" pitchFamily="34" charset="0"/>
              <a:buChar char="•"/>
            </a:pPr>
            <a:r>
              <a:rPr lang="en-US" altLang="en-US" sz="3200">
                <a:solidFill>
                  <a:srgbClr val="0070C0"/>
                </a:solidFill>
              </a:rPr>
              <a:t>The Ministry has brought a number of Heritage Destination Leaflets for distribution amongst the tourists through its network of India tourism offices in India and abroad. </a:t>
            </a:r>
          </a:p>
          <a:p>
            <a:pPr eaLnBrk="1" hangingPunct="1">
              <a:buFont typeface="Arial" panose="020B0604020202020204" pitchFamily="34" charset="0"/>
              <a:buChar char="•"/>
            </a:pPr>
            <a:r>
              <a:rPr lang="en-US" altLang="en-US" sz="3200">
                <a:solidFill>
                  <a:srgbClr val="0070C0"/>
                </a:solidFill>
              </a:rPr>
              <a:t>These leaflets contain details of the States where these are situated, history &amp; culture of the destinations, connectivity of the destinations through various means of transport, general information about temperature, rainfall, languages spoken there, clothing requirements, STD code, accommodations, map of the area, etc, and places to see with photographs.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14B6D706-09BC-456A-BEF6-AD52D84F1CF1}"/>
              </a:ext>
            </a:extLst>
          </p:cNvPr>
          <p:cNvSpPr>
            <a:spLocks noGrp="1"/>
          </p:cNvSpPr>
          <p:nvPr>
            <p:ph type="title"/>
          </p:nvPr>
        </p:nvSpPr>
        <p:spPr>
          <a:xfrm>
            <a:off x="914400" y="0"/>
            <a:ext cx="7772400" cy="1112838"/>
          </a:xfrm>
        </p:spPr>
        <p:txBody>
          <a:bodyPr/>
          <a:lstStyle/>
          <a:p>
            <a:pPr eaLnBrk="1" hangingPunct="1"/>
            <a:br>
              <a:rPr lang="en-US" altLang="en-US" sz="2800"/>
            </a:br>
            <a:br>
              <a:rPr lang="en-US" altLang="en-US" sz="2800"/>
            </a:br>
            <a:r>
              <a:rPr lang="en-US" altLang="en-US" sz="2800"/>
              <a:t>Cont…</a:t>
            </a:r>
            <a:br>
              <a:rPr lang="en-US" altLang="en-US" sz="2800"/>
            </a:br>
            <a:r>
              <a:rPr lang="en-US" altLang="en-US" sz="2800">
                <a:solidFill>
                  <a:srgbClr val="0070C0"/>
                </a:solidFill>
              </a:rPr>
              <a:t>The leaflets brought are:</a:t>
            </a:r>
          </a:p>
        </p:txBody>
      </p:sp>
      <p:sp>
        <p:nvSpPr>
          <p:cNvPr id="3" name="Content Placeholder 2">
            <a:extLst>
              <a:ext uri="{FF2B5EF4-FFF2-40B4-BE49-F238E27FC236}">
                <a16:creationId xmlns:a16="http://schemas.microsoft.com/office/drawing/2014/main" id="{1E4B87BF-2A84-48D1-A13E-DD9E9EDAA4FB}"/>
              </a:ext>
            </a:extLst>
          </p:cNvPr>
          <p:cNvSpPr>
            <a:spLocks noGrp="1"/>
          </p:cNvSpPr>
          <p:nvPr>
            <p:ph sz="quarter" idx="1"/>
          </p:nvPr>
        </p:nvSpPr>
        <p:spPr>
          <a:xfrm>
            <a:off x="685800" y="1143000"/>
            <a:ext cx="8001000" cy="5257800"/>
          </a:xfrm>
        </p:spPr>
        <p:txBody>
          <a:bodyPr/>
          <a:lstStyle/>
          <a:p>
            <a:pPr marL="274320" indent="-274320" eaLnBrk="1" fontAlgn="auto" hangingPunct="1">
              <a:spcBef>
                <a:spcPts val="580"/>
              </a:spcBef>
              <a:spcAft>
                <a:spcPts val="0"/>
              </a:spcAft>
              <a:buFont typeface="Arial" pitchFamily="34" charset="0"/>
              <a:buChar char="•"/>
              <a:defRPr/>
            </a:pPr>
            <a:r>
              <a:rPr lang="en-US" dirty="0">
                <a:solidFill>
                  <a:srgbClr val="00B050"/>
                </a:solidFill>
              </a:rPr>
              <a:t>Aurangabad, Ajanta, </a:t>
            </a:r>
            <a:r>
              <a:rPr lang="en-US" dirty="0" err="1">
                <a:solidFill>
                  <a:srgbClr val="00B050"/>
                </a:solidFill>
              </a:rPr>
              <a:t>Ellora</a:t>
            </a:r>
            <a:endParaRPr lang="en-US" dirty="0">
              <a:solidFill>
                <a:srgbClr val="00B050"/>
              </a:solidFill>
            </a:endParaRPr>
          </a:p>
          <a:p>
            <a:pPr marL="274320" indent="-274320" eaLnBrk="1" fontAlgn="auto" hangingPunct="1">
              <a:spcBef>
                <a:spcPts val="580"/>
              </a:spcBef>
              <a:spcAft>
                <a:spcPts val="0"/>
              </a:spcAft>
              <a:buFont typeface="Arial" pitchFamily="34" charset="0"/>
              <a:buChar char="•"/>
              <a:defRPr/>
            </a:pPr>
            <a:r>
              <a:rPr lang="en-US" dirty="0" err="1">
                <a:solidFill>
                  <a:srgbClr val="00B050"/>
                </a:solidFill>
              </a:rPr>
              <a:t>Ladakh</a:t>
            </a:r>
            <a:r>
              <a:rPr lang="en-US" dirty="0">
                <a:solidFill>
                  <a:srgbClr val="00B050"/>
                </a:solidFill>
              </a:rPr>
              <a:t>, </a:t>
            </a:r>
            <a:r>
              <a:rPr lang="en-US" dirty="0" err="1">
                <a:solidFill>
                  <a:srgbClr val="00B050"/>
                </a:solidFill>
              </a:rPr>
              <a:t>Lahaul</a:t>
            </a:r>
            <a:r>
              <a:rPr lang="en-US" dirty="0">
                <a:solidFill>
                  <a:srgbClr val="00B050"/>
                </a:solidFill>
              </a:rPr>
              <a:t> </a:t>
            </a:r>
            <a:r>
              <a:rPr lang="en-US" dirty="0" err="1">
                <a:solidFill>
                  <a:srgbClr val="00B050"/>
                </a:solidFill>
              </a:rPr>
              <a:t>Spiti</a:t>
            </a:r>
            <a:endParaRPr lang="en-US" dirty="0">
              <a:solidFill>
                <a:srgbClr val="00B050"/>
              </a:solidFill>
            </a:endParaRPr>
          </a:p>
          <a:p>
            <a:pPr marL="274320" indent="-274320" eaLnBrk="1" fontAlgn="auto" hangingPunct="1">
              <a:spcBef>
                <a:spcPts val="580"/>
              </a:spcBef>
              <a:spcAft>
                <a:spcPts val="0"/>
              </a:spcAft>
              <a:buFont typeface="Arial" pitchFamily="34" charset="0"/>
              <a:buChar char="•"/>
              <a:defRPr/>
            </a:pPr>
            <a:r>
              <a:rPr lang="en-US" dirty="0" err="1">
                <a:solidFill>
                  <a:srgbClr val="00B050"/>
                </a:solidFill>
              </a:rPr>
              <a:t>Shimla</a:t>
            </a:r>
            <a:r>
              <a:rPr lang="en-US" dirty="0">
                <a:solidFill>
                  <a:srgbClr val="00B050"/>
                </a:solidFill>
              </a:rPr>
              <a:t>, </a:t>
            </a:r>
            <a:r>
              <a:rPr lang="en-US" dirty="0" err="1">
                <a:solidFill>
                  <a:srgbClr val="00B050"/>
                </a:solidFill>
              </a:rPr>
              <a:t>Dhramshala</a:t>
            </a:r>
            <a:r>
              <a:rPr lang="en-US" dirty="0">
                <a:solidFill>
                  <a:srgbClr val="00B050"/>
                </a:solidFill>
              </a:rPr>
              <a:t>, </a:t>
            </a:r>
            <a:r>
              <a:rPr lang="en-US" dirty="0" err="1">
                <a:solidFill>
                  <a:srgbClr val="00B050"/>
                </a:solidFill>
              </a:rPr>
              <a:t>Kullu</a:t>
            </a:r>
            <a:r>
              <a:rPr lang="en-US" dirty="0">
                <a:solidFill>
                  <a:srgbClr val="00B050"/>
                </a:solidFill>
              </a:rPr>
              <a:t>, </a:t>
            </a:r>
            <a:r>
              <a:rPr lang="en-US" dirty="0" err="1">
                <a:solidFill>
                  <a:srgbClr val="00B050"/>
                </a:solidFill>
              </a:rPr>
              <a:t>Manali</a:t>
            </a:r>
            <a:endParaRPr lang="en-US" dirty="0">
              <a:solidFill>
                <a:srgbClr val="00B050"/>
              </a:solidFill>
            </a:endParaRPr>
          </a:p>
          <a:p>
            <a:pPr marL="274320" indent="-274320" eaLnBrk="1" fontAlgn="auto" hangingPunct="1">
              <a:spcBef>
                <a:spcPts val="580"/>
              </a:spcBef>
              <a:spcAft>
                <a:spcPts val="0"/>
              </a:spcAft>
              <a:buFont typeface="Arial" pitchFamily="34" charset="0"/>
              <a:buChar char="•"/>
              <a:defRPr/>
            </a:pPr>
            <a:r>
              <a:rPr lang="en-US" dirty="0" err="1">
                <a:solidFill>
                  <a:srgbClr val="00B050"/>
                </a:solidFill>
              </a:rPr>
              <a:t>Orchha</a:t>
            </a:r>
            <a:r>
              <a:rPr lang="en-US" dirty="0">
                <a:solidFill>
                  <a:srgbClr val="00B050"/>
                </a:solidFill>
              </a:rPr>
              <a:t>, </a:t>
            </a:r>
            <a:r>
              <a:rPr lang="en-US" dirty="0" err="1">
                <a:solidFill>
                  <a:srgbClr val="00B050"/>
                </a:solidFill>
              </a:rPr>
              <a:t>Khajuraho</a:t>
            </a:r>
            <a:endParaRPr lang="en-US" dirty="0">
              <a:solidFill>
                <a:srgbClr val="00B050"/>
              </a:solidFill>
            </a:endParaRPr>
          </a:p>
          <a:p>
            <a:pPr marL="274320" indent="-274320" eaLnBrk="1" fontAlgn="auto" hangingPunct="1">
              <a:spcBef>
                <a:spcPts val="580"/>
              </a:spcBef>
              <a:spcAft>
                <a:spcPts val="0"/>
              </a:spcAft>
              <a:buFont typeface="Arial" pitchFamily="34" charset="0"/>
              <a:buChar char="•"/>
              <a:defRPr/>
            </a:pPr>
            <a:r>
              <a:rPr lang="en-US" dirty="0">
                <a:solidFill>
                  <a:srgbClr val="00B050"/>
                </a:solidFill>
              </a:rPr>
              <a:t>Amritsar, </a:t>
            </a:r>
            <a:r>
              <a:rPr lang="en-US" dirty="0" err="1">
                <a:solidFill>
                  <a:srgbClr val="00B050"/>
                </a:solidFill>
              </a:rPr>
              <a:t>Anandpur</a:t>
            </a:r>
            <a:r>
              <a:rPr lang="en-US" dirty="0">
                <a:solidFill>
                  <a:srgbClr val="00B050"/>
                </a:solidFill>
              </a:rPr>
              <a:t> Sahib</a:t>
            </a:r>
          </a:p>
          <a:p>
            <a:pPr marL="274320" indent="-274320" eaLnBrk="1" fontAlgn="auto" hangingPunct="1">
              <a:spcBef>
                <a:spcPts val="580"/>
              </a:spcBef>
              <a:spcAft>
                <a:spcPts val="0"/>
              </a:spcAft>
              <a:buFont typeface="Arial" pitchFamily="34" charset="0"/>
              <a:buChar char="•"/>
              <a:defRPr/>
            </a:pPr>
            <a:r>
              <a:rPr lang="en-US" dirty="0" err="1">
                <a:solidFill>
                  <a:srgbClr val="00B050"/>
                </a:solidFill>
              </a:rPr>
              <a:t>Palitana</a:t>
            </a:r>
            <a:r>
              <a:rPr lang="en-US" dirty="0">
                <a:solidFill>
                  <a:srgbClr val="00B050"/>
                </a:solidFill>
              </a:rPr>
              <a:t> Temples, Gujarat</a:t>
            </a:r>
          </a:p>
          <a:p>
            <a:pPr marL="274320" indent="-274320" eaLnBrk="1" fontAlgn="auto" hangingPunct="1">
              <a:spcBef>
                <a:spcPts val="580"/>
              </a:spcBef>
              <a:spcAft>
                <a:spcPts val="0"/>
              </a:spcAft>
              <a:buFont typeface="Arial" pitchFamily="34" charset="0"/>
              <a:buChar char="•"/>
              <a:defRPr/>
            </a:pPr>
            <a:r>
              <a:rPr lang="en-US" dirty="0">
                <a:solidFill>
                  <a:srgbClr val="00B050"/>
                </a:solidFill>
              </a:rPr>
              <a:t>Madurai, </a:t>
            </a:r>
            <a:r>
              <a:rPr lang="en-US" dirty="0" err="1">
                <a:solidFill>
                  <a:srgbClr val="00B050"/>
                </a:solidFill>
              </a:rPr>
              <a:t>Tiruchirapalli</a:t>
            </a:r>
            <a:r>
              <a:rPr lang="en-US" dirty="0">
                <a:solidFill>
                  <a:srgbClr val="00B050"/>
                </a:solidFill>
              </a:rPr>
              <a:t>, Rameshwaram</a:t>
            </a:r>
          </a:p>
          <a:p>
            <a:pPr marL="274320" indent="-274320" eaLnBrk="1" fontAlgn="auto" hangingPunct="1">
              <a:spcBef>
                <a:spcPts val="580"/>
              </a:spcBef>
              <a:spcAft>
                <a:spcPts val="0"/>
              </a:spcAft>
              <a:buFont typeface="Arial" pitchFamily="34" charset="0"/>
              <a:buChar char="•"/>
              <a:defRPr/>
            </a:pPr>
            <a:r>
              <a:rPr lang="en-US" dirty="0" err="1">
                <a:solidFill>
                  <a:srgbClr val="00B050"/>
                </a:solidFill>
              </a:rPr>
              <a:t>Belur</a:t>
            </a:r>
            <a:r>
              <a:rPr lang="en-US" dirty="0">
                <a:solidFill>
                  <a:srgbClr val="00B050"/>
                </a:solidFill>
              </a:rPr>
              <a:t>, </a:t>
            </a:r>
            <a:r>
              <a:rPr lang="en-US" dirty="0" err="1">
                <a:solidFill>
                  <a:srgbClr val="00B050"/>
                </a:solidFill>
              </a:rPr>
              <a:t>Halebid</a:t>
            </a:r>
            <a:endParaRPr lang="en-US" dirty="0">
              <a:solidFill>
                <a:srgbClr val="00B050"/>
              </a:solidFill>
            </a:endParaRPr>
          </a:p>
          <a:p>
            <a:pPr marL="274320" indent="-274320" eaLnBrk="1" fontAlgn="auto" hangingPunct="1">
              <a:spcBef>
                <a:spcPts val="580"/>
              </a:spcBef>
              <a:spcAft>
                <a:spcPts val="0"/>
              </a:spcAft>
              <a:buFont typeface="Arial" pitchFamily="34" charset="0"/>
              <a:buChar char="•"/>
              <a:defRPr/>
            </a:pPr>
            <a:r>
              <a:rPr lang="en-US" dirty="0" err="1">
                <a:solidFill>
                  <a:srgbClr val="00B050"/>
                </a:solidFill>
              </a:rPr>
              <a:t>Puri</a:t>
            </a:r>
            <a:r>
              <a:rPr lang="en-US" dirty="0">
                <a:solidFill>
                  <a:srgbClr val="00B050"/>
                </a:solidFill>
              </a:rPr>
              <a:t>, </a:t>
            </a:r>
            <a:r>
              <a:rPr lang="en-US" dirty="0" err="1">
                <a:solidFill>
                  <a:srgbClr val="00B050"/>
                </a:solidFill>
              </a:rPr>
              <a:t>Bhubneswar</a:t>
            </a:r>
            <a:r>
              <a:rPr lang="en-US" dirty="0">
                <a:solidFill>
                  <a:srgbClr val="00B050"/>
                </a:solidFill>
              </a:rPr>
              <a:t>, </a:t>
            </a:r>
            <a:r>
              <a:rPr lang="en-US" dirty="0" err="1">
                <a:solidFill>
                  <a:srgbClr val="00B050"/>
                </a:solidFill>
              </a:rPr>
              <a:t>Konark</a:t>
            </a:r>
            <a:endParaRPr lang="en-US" dirty="0">
              <a:solidFill>
                <a:srgbClr val="00B050"/>
              </a:solidFill>
            </a:endParaRPr>
          </a:p>
          <a:p>
            <a:pPr marL="274320" indent="-274320" eaLnBrk="1" fontAlgn="auto" hangingPunct="1">
              <a:spcBef>
                <a:spcPts val="580"/>
              </a:spcBef>
              <a:spcAft>
                <a:spcPts val="0"/>
              </a:spcAft>
              <a:buFont typeface="Arial" pitchFamily="34" charset="0"/>
              <a:buChar char="•"/>
              <a:defRPr/>
            </a:pPr>
            <a:r>
              <a:rPr lang="en-US" dirty="0" err="1">
                <a:solidFill>
                  <a:srgbClr val="00B050"/>
                </a:solidFill>
              </a:rPr>
              <a:t>Bhimbetka</a:t>
            </a:r>
            <a:r>
              <a:rPr lang="en-US" dirty="0">
                <a:solidFill>
                  <a:srgbClr val="00B050"/>
                </a:solidFill>
              </a:rPr>
              <a:t>, Madhya Pradesh</a:t>
            </a:r>
          </a:p>
          <a:p>
            <a:pPr marL="274320" indent="-274320" eaLnBrk="1" fontAlgn="auto" hangingPunct="1">
              <a:spcBef>
                <a:spcPts val="580"/>
              </a:spcBef>
              <a:spcAft>
                <a:spcPts val="0"/>
              </a:spcAft>
              <a:buFont typeface="Arial" pitchFamily="34" charset="0"/>
              <a:buChar char="•"/>
              <a:defRPr/>
            </a:pPr>
            <a:r>
              <a:rPr lang="en-US" dirty="0" err="1">
                <a:solidFill>
                  <a:srgbClr val="00B050"/>
                </a:solidFill>
              </a:rPr>
              <a:t>Chardham</a:t>
            </a:r>
            <a:endParaRPr lang="en-US" dirty="0">
              <a:solidFill>
                <a:srgbClr val="00B050"/>
              </a:solidFill>
            </a:endParaRPr>
          </a:p>
          <a:p>
            <a:pPr eaLnBrk="1" hangingPunct="1">
              <a:defRPr/>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95ED1-D3A4-43DE-9DD7-A67D66360CC4}"/>
              </a:ext>
            </a:extLst>
          </p:cNvPr>
          <p:cNvSpPr>
            <a:spLocks noGrp="1"/>
          </p:cNvSpPr>
          <p:nvPr>
            <p:ph type="title"/>
          </p:nvPr>
        </p:nvSpPr>
        <p:spPr>
          <a:xfrm>
            <a:off x="457200" y="0"/>
            <a:ext cx="8229600" cy="914400"/>
          </a:xfrm>
        </p:spPr>
        <p:txBody>
          <a:bodyPr rtlCol="0">
            <a:normAutofit fontScale="90000"/>
          </a:bodyPr>
          <a:lstStyle/>
          <a:p>
            <a:pPr algn="ctr" eaLnBrk="1" fontAlgn="auto" hangingPunct="1">
              <a:spcAft>
                <a:spcPts val="0"/>
              </a:spcAft>
              <a:defRPr/>
            </a:pPr>
            <a:r>
              <a:rPr lang="en-US" b="1" dirty="0">
                <a:solidFill>
                  <a:srgbClr val="00B050"/>
                </a:solidFill>
              </a:rPr>
              <a:t>Posters on different subjects and themes</a:t>
            </a:r>
            <a:endParaRPr lang="en-US" dirty="0">
              <a:solidFill>
                <a:srgbClr val="00B050"/>
              </a:solidFill>
            </a:endParaRPr>
          </a:p>
        </p:txBody>
      </p:sp>
      <p:sp>
        <p:nvSpPr>
          <p:cNvPr id="3" name="Content Placeholder 2">
            <a:extLst>
              <a:ext uri="{FF2B5EF4-FFF2-40B4-BE49-F238E27FC236}">
                <a16:creationId xmlns:a16="http://schemas.microsoft.com/office/drawing/2014/main" id="{B1EE1C1F-3626-497F-A359-2B7FCC3EB07F}"/>
              </a:ext>
            </a:extLst>
          </p:cNvPr>
          <p:cNvSpPr>
            <a:spLocks noGrp="1"/>
          </p:cNvSpPr>
          <p:nvPr>
            <p:ph sz="quarter" idx="1"/>
          </p:nvPr>
        </p:nvSpPr>
        <p:spPr>
          <a:xfrm>
            <a:off x="609600" y="1295400"/>
            <a:ext cx="8229600" cy="5029200"/>
          </a:xfrm>
        </p:spPr>
        <p:txBody>
          <a:bodyPr rtlCol="0">
            <a:normAutofit fontScale="92500" lnSpcReduction="10000"/>
          </a:bodyPr>
          <a:lstStyle/>
          <a:p>
            <a:pPr marL="274320" indent="-274320" eaLnBrk="1" fontAlgn="auto" hangingPunct="1">
              <a:spcBef>
                <a:spcPts val="580"/>
              </a:spcBef>
              <a:spcAft>
                <a:spcPts val="0"/>
              </a:spcAft>
              <a:buFont typeface="Arial" pitchFamily="34" charset="0"/>
              <a:buChar char="•"/>
              <a:defRPr/>
            </a:pPr>
            <a:r>
              <a:rPr lang="en-US" b="1" dirty="0">
                <a:solidFill>
                  <a:srgbClr val="0070C0"/>
                </a:solidFill>
              </a:rPr>
              <a:t>DVDs consisting of following films and TVCs</a:t>
            </a:r>
          </a:p>
          <a:p>
            <a:pPr marL="274320" indent="-274320" eaLnBrk="1" fontAlgn="auto" hangingPunct="1">
              <a:spcBef>
                <a:spcPts val="580"/>
              </a:spcBef>
              <a:spcAft>
                <a:spcPts val="0"/>
              </a:spcAft>
              <a:buFont typeface="Arial" pitchFamily="34" charset="0"/>
              <a:buChar char="•"/>
              <a:defRPr/>
            </a:pPr>
            <a:r>
              <a:rPr lang="en-US" dirty="0">
                <a:solidFill>
                  <a:srgbClr val="0070C0"/>
                </a:solidFill>
              </a:rPr>
              <a:t>Timeless India</a:t>
            </a:r>
          </a:p>
          <a:p>
            <a:pPr marL="274320" indent="-274320" eaLnBrk="1" fontAlgn="auto" hangingPunct="1">
              <a:spcBef>
                <a:spcPts val="580"/>
              </a:spcBef>
              <a:spcAft>
                <a:spcPts val="0"/>
              </a:spcAft>
              <a:buFont typeface="Arial" pitchFamily="34" charset="0"/>
              <a:buChar char="•"/>
              <a:defRPr/>
            </a:pPr>
            <a:r>
              <a:rPr lang="en-US" dirty="0">
                <a:solidFill>
                  <a:srgbClr val="0070C0"/>
                </a:solidFill>
              </a:rPr>
              <a:t>The Great Indian Camel Band</a:t>
            </a:r>
          </a:p>
          <a:p>
            <a:pPr marL="274320" indent="-274320" eaLnBrk="1" fontAlgn="auto" hangingPunct="1">
              <a:spcBef>
                <a:spcPts val="580"/>
              </a:spcBef>
              <a:spcAft>
                <a:spcPts val="0"/>
              </a:spcAft>
              <a:buFont typeface="Arial" pitchFamily="34" charset="0"/>
              <a:buChar char="•"/>
              <a:defRPr/>
            </a:pPr>
            <a:r>
              <a:rPr lang="en-US" dirty="0" err="1">
                <a:solidFill>
                  <a:srgbClr val="0070C0"/>
                </a:solidFill>
              </a:rPr>
              <a:t>Raghurajpur</a:t>
            </a:r>
            <a:r>
              <a:rPr lang="en-US" dirty="0">
                <a:solidFill>
                  <a:srgbClr val="0070C0"/>
                </a:solidFill>
              </a:rPr>
              <a:t> Village- A rural tourism project in Orissa</a:t>
            </a:r>
          </a:p>
          <a:p>
            <a:pPr marL="274320" indent="-274320" eaLnBrk="1" fontAlgn="auto" hangingPunct="1">
              <a:spcBef>
                <a:spcPts val="580"/>
              </a:spcBef>
              <a:spcAft>
                <a:spcPts val="0"/>
              </a:spcAft>
              <a:buFont typeface="Arial" pitchFamily="34" charset="0"/>
              <a:buChar char="•"/>
              <a:defRPr/>
            </a:pPr>
            <a:r>
              <a:rPr lang="en-US" dirty="0">
                <a:solidFill>
                  <a:srgbClr val="0070C0"/>
                </a:solidFill>
              </a:rPr>
              <a:t>The Himalayan orchids of Sikkim</a:t>
            </a:r>
          </a:p>
          <a:p>
            <a:pPr marL="274320" indent="-274320" eaLnBrk="1" fontAlgn="auto" hangingPunct="1">
              <a:spcBef>
                <a:spcPts val="580"/>
              </a:spcBef>
              <a:spcAft>
                <a:spcPts val="0"/>
              </a:spcAft>
              <a:buFont typeface="Arial" pitchFamily="34" charset="0"/>
              <a:buChar char="•"/>
              <a:defRPr/>
            </a:pPr>
            <a:r>
              <a:rPr lang="en-US" dirty="0">
                <a:solidFill>
                  <a:srgbClr val="0070C0"/>
                </a:solidFill>
              </a:rPr>
              <a:t>The mask dance, </a:t>
            </a:r>
            <a:r>
              <a:rPr lang="en-US" dirty="0" err="1">
                <a:solidFill>
                  <a:srgbClr val="0070C0"/>
                </a:solidFill>
              </a:rPr>
              <a:t>Hemis</a:t>
            </a:r>
            <a:r>
              <a:rPr lang="en-US" dirty="0">
                <a:solidFill>
                  <a:srgbClr val="0070C0"/>
                </a:solidFill>
              </a:rPr>
              <a:t> </a:t>
            </a:r>
            <a:r>
              <a:rPr lang="en-US" dirty="0" err="1">
                <a:solidFill>
                  <a:srgbClr val="0070C0"/>
                </a:solidFill>
              </a:rPr>
              <a:t>Monastry</a:t>
            </a:r>
            <a:r>
              <a:rPr lang="en-US" dirty="0">
                <a:solidFill>
                  <a:srgbClr val="0070C0"/>
                </a:solidFill>
              </a:rPr>
              <a:t>, </a:t>
            </a:r>
            <a:r>
              <a:rPr lang="en-US" dirty="0" err="1">
                <a:solidFill>
                  <a:srgbClr val="0070C0"/>
                </a:solidFill>
              </a:rPr>
              <a:t>Ladakh</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rPr>
              <a:t>The floating vegetables market at </a:t>
            </a:r>
            <a:r>
              <a:rPr lang="en-US" dirty="0" err="1">
                <a:solidFill>
                  <a:srgbClr val="0070C0"/>
                </a:solidFill>
              </a:rPr>
              <a:t>Dal</a:t>
            </a:r>
            <a:r>
              <a:rPr lang="en-US" dirty="0">
                <a:solidFill>
                  <a:srgbClr val="0070C0"/>
                </a:solidFill>
              </a:rPr>
              <a:t> lake, Kashmir</a:t>
            </a:r>
          </a:p>
          <a:p>
            <a:pPr marL="274320" indent="-274320" eaLnBrk="1" fontAlgn="auto" hangingPunct="1">
              <a:spcBef>
                <a:spcPts val="580"/>
              </a:spcBef>
              <a:spcAft>
                <a:spcPts val="0"/>
              </a:spcAft>
              <a:buFont typeface="Arial" pitchFamily="34" charset="0"/>
              <a:buChar char="•"/>
              <a:defRPr/>
            </a:pPr>
            <a:r>
              <a:rPr lang="en-US" dirty="0">
                <a:solidFill>
                  <a:srgbClr val="0070C0"/>
                </a:solidFill>
              </a:rPr>
              <a:t>The Toy train of </a:t>
            </a:r>
            <a:r>
              <a:rPr lang="en-US" dirty="0" err="1">
                <a:solidFill>
                  <a:srgbClr val="0070C0"/>
                </a:solidFill>
              </a:rPr>
              <a:t>Ooty</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rPr>
              <a:t>The </a:t>
            </a:r>
            <a:r>
              <a:rPr lang="en-US" dirty="0" err="1">
                <a:solidFill>
                  <a:srgbClr val="0070C0"/>
                </a:solidFill>
              </a:rPr>
              <a:t>Mahabodhi</a:t>
            </a:r>
            <a:r>
              <a:rPr lang="en-US" dirty="0">
                <a:solidFill>
                  <a:srgbClr val="0070C0"/>
                </a:solidFill>
              </a:rPr>
              <a:t> Tree at </a:t>
            </a:r>
            <a:r>
              <a:rPr lang="en-US" dirty="0" err="1">
                <a:solidFill>
                  <a:srgbClr val="0070C0"/>
                </a:solidFill>
              </a:rPr>
              <a:t>Bothgaya</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err="1">
                <a:solidFill>
                  <a:srgbClr val="0070C0"/>
                </a:solidFill>
              </a:rPr>
              <a:t>Hola</a:t>
            </a:r>
            <a:r>
              <a:rPr lang="en-US" dirty="0">
                <a:solidFill>
                  <a:srgbClr val="0070C0"/>
                </a:solidFill>
              </a:rPr>
              <a:t> </a:t>
            </a:r>
            <a:r>
              <a:rPr lang="en-US" dirty="0" err="1">
                <a:solidFill>
                  <a:srgbClr val="0070C0"/>
                </a:solidFill>
              </a:rPr>
              <a:t>Mohalla</a:t>
            </a:r>
            <a:r>
              <a:rPr lang="en-US" dirty="0">
                <a:solidFill>
                  <a:srgbClr val="0070C0"/>
                </a:solidFill>
              </a:rPr>
              <a:t> celebration at </a:t>
            </a:r>
            <a:r>
              <a:rPr lang="en-US" dirty="0" err="1">
                <a:solidFill>
                  <a:srgbClr val="0070C0"/>
                </a:solidFill>
              </a:rPr>
              <a:t>Anandpursahib</a:t>
            </a:r>
            <a:r>
              <a:rPr lang="en-US" dirty="0">
                <a:solidFill>
                  <a:srgbClr val="0070C0"/>
                </a:solidFill>
              </a:rPr>
              <a:t>, Punjab</a:t>
            </a:r>
          </a:p>
          <a:p>
            <a:pPr marL="274320" indent="-274320" eaLnBrk="1" fontAlgn="auto" hangingPunct="1">
              <a:spcBef>
                <a:spcPts val="580"/>
              </a:spcBef>
              <a:spcAft>
                <a:spcPts val="0"/>
              </a:spcAft>
              <a:buFont typeface="Arial" pitchFamily="34" charset="0"/>
              <a:buChar char="•"/>
              <a:defRPr/>
            </a:pPr>
            <a:r>
              <a:rPr lang="en-US" dirty="0">
                <a:solidFill>
                  <a:srgbClr val="0070C0"/>
                </a:solidFill>
              </a:rPr>
              <a:t>Festivals &amp; celebration</a:t>
            </a:r>
          </a:p>
          <a:p>
            <a:pPr marL="274320" indent="-274320" eaLnBrk="1" fontAlgn="auto" hangingPunct="1">
              <a:spcBef>
                <a:spcPts val="580"/>
              </a:spcBef>
              <a:spcAft>
                <a:spcPts val="0"/>
              </a:spcAft>
              <a:buFont typeface="Arial" pitchFamily="34" charset="0"/>
              <a:buChar char="•"/>
              <a:defRPr/>
            </a:pPr>
            <a:r>
              <a:rPr lang="en-US" dirty="0">
                <a:solidFill>
                  <a:srgbClr val="0070C0"/>
                </a:solidFill>
              </a:rPr>
              <a:t>Tea tourism with famous personalities</a:t>
            </a:r>
          </a:p>
          <a:p>
            <a:pPr marL="274320" indent="-274320" eaLnBrk="1" fontAlgn="auto" hangingPunct="1">
              <a:spcBef>
                <a:spcPts val="580"/>
              </a:spcBef>
              <a:spcAft>
                <a:spcPts val="0"/>
              </a:spcAft>
              <a:buFont typeface="Arial" pitchFamily="34" charset="0"/>
              <a:buChar char="•"/>
              <a:defRPr/>
            </a:pPr>
            <a:endParaRPr lang="en-US" dirty="0">
              <a:solidFill>
                <a:srgbClr val="0070C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BF3B7173-CCF9-4E63-B8AB-28C76B4100F3}"/>
              </a:ext>
            </a:extLst>
          </p:cNvPr>
          <p:cNvSpPr>
            <a:spLocks noGrp="1"/>
          </p:cNvSpPr>
          <p:nvPr>
            <p:ph type="title"/>
          </p:nvPr>
        </p:nvSpPr>
        <p:spPr>
          <a:xfrm>
            <a:off x="914400" y="274638"/>
            <a:ext cx="7772400" cy="487362"/>
          </a:xfrm>
        </p:spPr>
        <p:txBody>
          <a:bodyPr/>
          <a:lstStyle/>
          <a:p>
            <a:pPr eaLnBrk="1" hangingPunct="1"/>
            <a:r>
              <a:rPr lang="en-US" altLang="en-US" sz="3600">
                <a:solidFill>
                  <a:srgbClr val="00B050"/>
                </a:solidFill>
              </a:rPr>
              <a:t>Cont…</a:t>
            </a:r>
          </a:p>
        </p:txBody>
      </p:sp>
      <p:sp>
        <p:nvSpPr>
          <p:cNvPr id="44035" name="Content Placeholder 2">
            <a:extLst>
              <a:ext uri="{FF2B5EF4-FFF2-40B4-BE49-F238E27FC236}">
                <a16:creationId xmlns:a16="http://schemas.microsoft.com/office/drawing/2014/main" id="{87F9FAAC-DAA3-420D-A95E-ADF35C351DB5}"/>
              </a:ext>
            </a:extLst>
          </p:cNvPr>
          <p:cNvSpPr>
            <a:spLocks noGrp="1"/>
          </p:cNvSpPr>
          <p:nvPr>
            <p:ph sz="quarter" idx="1"/>
          </p:nvPr>
        </p:nvSpPr>
        <p:spPr>
          <a:xfrm>
            <a:off x="914400" y="838200"/>
            <a:ext cx="7772400" cy="5181600"/>
          </a:xfrm>
        </p:spPr>
        <p:txBody>
          <a:bodyPr/>
          <a:lstStyle/>
          <a:p>
            <a:pPr eaLnBrk="1" hangingPunct="1">
              <a:buFont typeface="Arial" panose="020B0604020202020204" pitchFamily="34" charset="0"/>
              <a:buChar char="•"/>
            </a:pPr>
            <a:r>
              <a:rPr lang="en-US" altLang="en-US" sz="2400">
                <a:solidFill>
                  <a:srgbClr val="0070C0"/>
                </a:solidFill>
              </a:rPr>
              <a:t>Gourmet tourism with Mr. Mati Small</a:t>
            </a:r>
          </a:p>
          <a:p>
            <a:pPr eaLnBrk="1" hangingPunct="1">
              <a:buFont typeface="Arial" panose="020B0604020202020204" pitchFamily="34" charset="0"/>
              <a:buChar char="•"/>
            </a:pPr>
            <a:r>
              <a:rPr lang="en-US" altLang="en-US" sz="2400">
                <a:solidFill>
                  <a:srgbClr val="0070C0"/>
                </a:solidFill>
              </a:rPr>
              <a:t>Wildlife with Mr. Romulus Whitaker</a:t>
            </a:r>
          </a:p>
          <a:p>
            <a:pPr eaLnBrk="1" hangingPunct="1">
              <a:buFont typeface="Arial" panose="020B0604020202020204" pitchFamily="34" charset="0"/>
              <a:buChar char="•"/>
            </a:pPr>
            <a:r>
              <a:rPr lang="en-US" altLang="en-US" sz="2400">
                <a:solidFill>
                  <a:srgbClr val="0070C0"/>
                </a:solidFill>
              </a:rPr>
              <a:t>Festival with Mr. Steve Mccurry</a:t>
            </a:r>
          </a:p>
          <a:p>
            <a:pPr eaLnBrk="1" hangingPunct="1">
              <a:buFont typeface="Arial" panose="020B0604020202020204" pitchFamily="34" charset="0"/>
              <a:buChar char="•"/>
            </a:pPr>
            <a:r>
              <a:rPr lang="en-US" altLang="en-US" sz="2400">
                <a:solidFill>
                  <a:srgbClr val="0070C0"/>
                </a:solidFill>
              </a:rPr>
              <a:t>Backwater with Mr. Ayesha Dharkar</a:t>
            </a:r>
          </a:p>
          <a:p>
            <a:pPr eaLnBrk="1" hangingPunct="1">
              <a:buFont typeface="Arial" panose="020B0604020202020204" pitchFamily="34" charset="0"/>
              <a:buChar char="•"/>
            </a:pPr>
            <a:r>
              <a:rPr lang="en-US" altLang="en-US" sz="2400">
                <a:solidFill>
                  <a:srgbClr val="0070C0"/>
                </a:solidFill>
              </a:rPr>
              <a:t>Yoga and wellness with Mr. Shiva Rea</a:t>
            </a:r>
          </a:p>
          <a:p>
            <a:pPr eaLnBrk="1" hangingPunct="1">
              <a:buFont typeface="Arial" panose="020B0604020202020204" pitchFamily="34" charset="0"/>
              <a:buChar char="•"/>
            </a:pPr>
            <a:r>
              <a:rPr lang="en-US" altLang="en-US" sz="2400">
                <a:solidFill>
                  <a:srgbClr val="0070C0"/>
                </a:solidFill>
              </a:rPr>
              <a:t>International TVC-2007-08</a:t>
            </a:r>
          </a:p>
          <a:p>
            <a:pPr eaLnBrk="1" hangingPunct="1">
              <a:buFont typeface="Arial" panose="020B0604020202020204" pitchFamily="34" charset="0"/>
              <a:buChar char="•"/>
            </a:pPr>
            <a:r>
              <a:rPr lang="en-US" altLang="en-US" sz="2400">
                <a:solidFill>
                  <a:srgbClr val="0070C0"/>
                </a:solidFill>
              </a:rPr>
              <a:t>Sare Jehan Se Achcha commercial</a:t>
            </a:r>
          </a:p>
          <a:p>
            <a:pPr eaLnBrk="1" hangingPunct="1">
              <a:buFont typeface="Arial" panose="020B0604020202020204" pitchFamily="34" charset="0"/>
              <a:buChar char="•"/>
            </a:pPr>
            <a:r>
              <a:rPr lang="en-US" altLang="en-US" sz="2400">
                <a:solidFill>
                  <a:srgbClr val="0070C0"/>
                </a:solidFill>
              </a:rPr>
              <a:t>Atithi Devo Bhavah</a:t>
            </a:r>
          </a:p>
          <a:p>
            <a:pPr eaLnBrk="1" hangingPunct="1">
              <a:buFont typeface="Arial" panose="020B0604020202020204" pitchFamily="34" charset="0"/>
              <a:buChar char="•"/>
            </a:pPr>
            <a:r>
              <a:rPr lang="en-US" altLang="en-US" sz="2400">
                <a:solidFill>
                  <a:srgbClr val="0070C0"/>
                </a:solidFill>
              </a:rPr>
              <a:t>Adventure tourism TVC</a:t>
            </a:r>
          </a:p>
          <a:p>
            <a:pPr eaLnBrk="1" hangingPunct="1">
              <a:buFont typeface="Arial" panose="020B0604020202020204" pitchFamily="34" charset="0"/>
              <a:buChar char="•"/>
            </a:pPr>
            <a:r>
              <a:rPr lang="en-US" altLang="en-US" sz="2400">
                <a:solidFill>
                  <a:srgbClr val="0070C0"/>
                </a:solidFill>
              </a:rPr>
              <a:t>Wildlife TVC</a:t>
            </a:r>
          </a:p>
          <a:p>
            <a:pPr eaLnBrk="1" hangingPunct="1">
              <a:buFont typeface="Arial" panose="020B0604020202020204" pitchFamily="34" charset="0"/>
              <a:buChar char="•"/>
            </a:pPr>
            <a:r>
              <a:rPr lang="en-US" altLang="en-US" sz="2400">
                <a:solidFill>
                  <a:srgbClr val="0070C0"/>
                </a:solidFill>
              </a:rPr>
              <a:t>Northeast TVC</a:t>
            </a:r>
          </a:p>
          <a:p>
            <a:pPr eaLnBrk="1" hangingPunct="1">
              <a:buFont typeface="Arial" panose="020B0604020202020204" pitchFamily="34" charset="0"/>
              <a:buChar char="•"/>
            </a:pPr>
            <a:r>
              <a:rPr lang="en-US" altLang="en-US" sz="2400">
                <a:solidFill>
                  <a:srgbClr val="0070C0"/>
                </a:solidFill>
              </a:rPr>
              <a:t>Jammu &amp; Kashmir TVC</a:t>
            </a:r>
          </a:p>
          <a:p>
            <a:pPr eaLnBrk="1" hangingPunct="1">
              <a:buFont typeface="Arial" panose="020B0604020202020204" pitchFamily="34" charset="0"/>
              <a:buChar char="•"/>
            </a:pPr>
            <a:r>
              <a:rPr lang="en-US" altLang="en-US" sz="2400">
                <a:solidFill>
                  <a:srgbClr val="0070C0"/>
                </a:solidFill>
              </a:rPr>
              <a:t>Rural Tourism TVC</a:t>
            </a:r>
          </a:p>
          <a:p>
            <a:pPr eaLnBrk="1" hangingPunct="1"/>
            <a:endParaRPr lang="en-US" altLang="en-US" sz="2400">
              <a:solidFill>
                <a:srgbClr val="0070C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DE449-490F-4B06-9F0B-A138795E69F2}"/>
              </a:ext>
            </a:extLst>
          </p:cNvPr>
          <p:cNvSpPr>
            <a:spLocks noGrp="1"/>
          </p:cNvSpPr>
          <p:nvPr>
            <p:ph type="title"/>
          </p:nvPr>
        </p:nvSpPr>
        <p:spPr/>
        <p:txBody>
          <a:bodyPr rtlCol="0">
            <a:normAutofit fontScale="90000"/>
          </a:bodyPr>
          <a:lstStyle/>
          <a:p>
            <a:pPr algn="ctr" eaLnBrk="1" fontAlgn="auto" hangingPunct="1">
              <a:spcAft>
                <a:spcPts val="0"/>
              </a:spcAft>
              <a:defRPr/>
            </a:pPr>
            <a:r>
              <a:rPr lang="en-US" b="1" dirty="0">
                <a:solidFill>
                  <a:srgbClr val="00B050"/>
                </a:solidFill>
              </a:rPr>
              <a:t>Map Guides</a:t>
            </a:r>
            <a:br>
              <a:rPr lang="en-US" b="1" dirty="0">
                <a:solidFill>
                  <a:srgbClr val="00B050"/>
                </a:solidFill>
              </a:rPr>
            </a:br>
            <a:endParaRPr lang="en-US" dirty="0">
              <a:solidFill>
                <a:srgbClr val="00B050"/>
              </a:solidFill>
            </a:endParaRPr>
          </a:p>
        </p:txBody>
      </p:sp>
      <p:sp>
        <p:nvSpPr>
          <p:cNvPr id="3" name="Content Placeholder 2">
            <a:extLst>
              <a:ext uri="{FF2B5EF4-FFF2-40B4-BE49-F238E27FC236}">
                <a16:creationId xmlns:a16="http://schemas.microsoft.com/office/drawing/2014/main" id="{4129620C-BB00-4C03-A85B-C995B7231978}"/>
              </a:ext>
            </a:extLst>
          </p:cNvPr>
          <p:cNvSpPr>
            <a:spLocks noGrp="1"/>
          </p:cNvSpPr>
          <p:nvPr>
            <p:ph sz="quarter" idx="1"/>
          </p:nvPr>
        </p:nvSpPr>
        <p:spPr>
          <a:xfrm>
            <a:off x="685800" y="990600"/>
            <a:ext cx="8001000" cy="5638800"/>
          </a:xfrm>
        </p:spPr>
        <p:txBody>
          <a:bodyPr rtlCol="0">
            <a:normAutofit fontScale="85000" lnSpcReduction="20000"/>
          </a:bodyPr>
          <a:lstStyle/>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Timeless India"/>
              </a:rPr>
              <a:t>New Delhi</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Mumdai"/>
              </a:rPr>
              <a:t>Mumbai</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Kolkata"/>
              </a:rPr>
              <a:t>Kolkata</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Chennai"/>
              </a:rPr>
              <a:t>Chennai</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Hyderabad"/>
              </a:rPr>
              <a:t>Hyderabad</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Bangalore"/>
              </a:rPr>
              <a:t>Bangalore</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Agra"/>
              </a:rPr>
              <a:t>Agra</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err="1">
                <a:solidFill>
                  <a:srgbClr val="0070C0"/>
                </a:solidFill>
                <a:hlinkClick r:id="rId2" tooltip="Jaipur"/>
              </a:rPr>
              <a:t>Jaipur</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err="1">
                <a:solidFill>
                  <a:srgbClr val="0070C0"/>
                </a:solidFill>
                <a:hlinkClick r:id="rId2" tooltip="Thiruvananthapuram"/>
              </a:rPr>
              <a:t>Thiruvananthapuram</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endParaRPr lang="en-US" b="1" dirty="0">
              <a:solidFill>
                <a:srgbClr val="0070C0"/>
              </a:solidFill>
            </a:endParaRPr>
          </a:p>
          <a:p>
            <a:pPr marL="274320" indent="-274320" eaLnBrk="1" fontAlgn="auto" hangingPunct="1">
              <a:spcBef>
                <a:spcPts val="580"/>
              </a:spcBef>
              <a:spcAft>
                <a:spcPts val="0"/>
              </a:spcAft>
              <a:buFont typeface="Wingdings 2" panose="05020102010507070707" pitchFamily="18" charset="2"/>
              <a:buNone/>
              <a:defRPr/>
            </a:pPr>
            <a:r>
              <a:rPr lang="en-US" b="1" dirty="0">
                <a:solidFill>
                  <a:srgbClr val="0070C0"/>
                </a:solidFill>
              </a:rPr>
              <a:t>Regional Maps</a:t>
            </a:r>
          </a:p>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North"/>
              </a:rPr>
              <a:t>North</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South"/>
              </a:rPr>
              <a:t>South</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East"/>
              </a:rPr>
              <a:t>East</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West"/>
              </a:rPr>
              <a:t>West</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r>
              <a:rPr lang="en-US" dirty="0">
                <a:solidFill>
                  <a:srgbClr val="0070C0"/>
                </a:solidFill>
                <a:hlinkClick r:id="rId2" tooltip="North East"/>
              </a:rPr>
              <a:t>North East</a:t>
            </a:r>
            <a:endParaRPr lang="en-US" dirty="0">
              <a:solidFill>
                <a:srgbClr val="0070C0"/>
              </a:solidFill>
            </a:endParaRPr>
          </a:p>
          <a:p>
            <a:pPr marL="274320" indent="-274320" eaLnBrk="1" fontAlgn="auto" hangingPunct="1">
              <a:spcBef>
                <a:spcPts val="580"/>
              </a:spcBef>
              <a:spcAft>
                <a:spcPts val="0"/>
              </a:spcAft>
              <a:buFont typeface="Arial" pitchFamily="34" charset="0"/>
              <a:buChar char="•"/>
              <a:defRPr/>
            </a:pPr>
            <a:endParaRPr lang="en-US" dirty="0">
              <a:solidFill>
                <a:srgbClr val="0070C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856D1-F4C9-45D3-8672-85A37AC8072D}"/>
              </a:ext>
            </a:extLst>
          </p:cNvPr>
          <p:cNvSpPr>
            <a:spLocks noGrp="1"/>
          </p:cNvSpPr>
          <p:nvPr>
            <p:ph type="title"/>
          </p:nvPr>
        </p:nvSpPr>
        <p:spPr/>
        <p:txBody>
          <a:bodyPr rtlCol="0">
            <a:normAutofit fontScale="90000"/>
          </a:bodyPr>
          <a:lstStyle/>
          <a:p>
            <a:pPr algn="ctr" eaLnBrk="1" fontAlgn="auto" hangingPunct="1">
              <a:spcAft>
                <a:spcPts val="0"/>
              </a:spcAft>
              <a:defRPr/>
            </a:pPr>
            <a:r>
              <a:rPr lang="en-US" b="1" dirty="0">
                <a:solidFill>
                  <a:srgbClr val="00B050"/>
                </a:solidFill>
              </a:rPr>
              <a:t>Film Titles</a:t>
            </a:r>
            <a:br>
              <a:rPr lang="en-US" b="1" dirty="0">
                <a:solidFill>
                  <a:srgbClr val="00B050"/>
                </a:solidFill>
              </a:rPr>
            </a:br>
            <a:endParaRPr lang="en-US" dirty="0">
              <a:solidFill>
                <a:srgbClr val="00B050"/>
              </a:solidFill>
            </a:endParaRPr>
          </a:p>
        </p:txBody>
      </p:sp>
      <p:sp>
        <p:nvSpPr>
          <p:cNvPr id="46083" name="Content Placeholder 2">
            <a:extLst>
              <a:ext uri="{FF2B5EF4-FFF2-40B4-BE49-F238E27FC236}">
                <a16:creationId xmlns:a16="http://schemas.microsoft.com/office/drawing/2014/main" id="{008113D8-50C7-4691-A7F9-B951862F97D6}"/>
              </a:ext>
            </a:extLst>
          </p:cNvPr>
          <p:cNvSpPr>
            <a:spLocks noGrp="1"/>
          </p:cNvSpPr>
          <p:nvPr>
            <p:ph sz="quarter" idx="1"/>
          </p:nvPr>
        </p:nvSpPr>
        <p:spPr/>
        <p:txBody>
          <a:bodyPr/>
          <a:lstStyle/>
          <a:p>
            <a:pPr eaLnBrk="1" hangingPunct="1">
              <a:buFont typeface="Arial" panose="020B0604020202020204" pitchFamily="34" charset="0"/>
              <a:buChar char="•"/>
            </a:pPr>
            <a:r>
              <a:rPr lang="en-US" altLang="en-US">
                <a:hlinkClick r:id="rId2" tooltip="Timeless India"/>
              </a:rPr>
              <a:t>Timeless India</a:t>
            </a:r>
            <a:endParaRPr lang="en-US" altLang="en-US"/>
          </a:p>
          <a:p>
            <a:pPr eaLnBrk="1" hangingPunct="1">
              <a:buFont typeface="Arial" panose="020B0604020202020204" pitchFamily="34" charset="0"/>
              <a:buChar char="•"/>
            </a:pPr>
            <a:r>
              <a:rPr lang="en-US" altLang="en-US">
                <a:hlinkClick r:id="rId2" tooltip="Jewel in The Ages Of Time"/>
              </a:rPr>
              <a:t>Jewel in The Ages Of Time</a:t>
            </a:r>
            <a:endParaRPr lang="en-US" altLang="en-US"/>
          </a:p>
          <a:p>
            <a:pPr eaLnBrk="1" hangingPunct="1">
              <a:buFont typeface="Arial" panose="020B0604020202020204" pitchFamily="34" charset="0"/>
              <a:buChar char="•"/>
            </a:pPr>
            <a:r>
              <a:rPr lang="en-US" altLang="en-US">
                <a:hlinkClick r:id="rId2" tooltip="Jewel in the Lotus"/>
              </a:rPr>
              <a:t>Jewel in the Lotus</a:t>
            </a:r>
            <a:endParaRPr lang="en-US" altLang="en-US"/>
          </a:p>
          <a:p>
            <a:pPr eaLnBrk="1" hangingPunct="1">
              <a:buFont typeface="Arial" panose="020B0604020202020204" pitchFamily="34" charset="0"/>
              <a:buChar char="•"/>
            </a:pPr>
            <a:r>
              <a:rPr lang="en-US" altLang="en-US">
                <a:hlinkClick r:id="rId2" tooltip="Eastern Himalayas"/>
              </a:rPr>
              <a:t>Eastern Himalayas</a:t>
            </a:r>
            <a:endParaRPr lang="en-US" altLang="en-US"/>
          </a:p>
          <a:p>
            <a:pPr eaLnBrk="1" hangingPunct="1">
              <a:buFont typeface="Arial" panose="020B0604020202020204" pitchFamily="34" charset="0"/>
              <a:buChar char="•"/>
            </a:pPr>
            <a:r>
              <a:rPr lang="en-US" altLang="en-US">
                <a:hlinkClick r:id="rId2" tooltip="India’s Northeast"/>
              </a:rPr>
              <a:t>India’s Northeast</a:t>
            </a:r>
            <a:endParaRPr lang="en-US" altLang="en-US"/>
          </a:p>
          <a:p>
            <a:pPr eaLnBrk="1" hangingPunct="1">
              <a:buFont typeface="Arial" panose="020B0604020202020204" pitchFamily="34" charset="0"/>
              <a:buChar char="•"/>
            </a:pPr>
            <a:r>
              <a:rPr lang="en-US" altLang="en-US">
                <a:hlinkClick r:id="rId2" tooltip="India Destination Films"/>
              </a:rPr>
              <a:t>India Destination Films</a:t>
            </a:r>
            <a:endParaRPr lang="en-US" altLang="en-US"/>
          </a:p>
          <a:p>
            <a:pPr eaLnBrk="1" hangingPunct="1">
              <a:buFont typeface="Arial" panose="020B0604020202020204" pitchFamily="34" charset="0"/>
              <a:buChar char="•"/>
            </a:pPr>
            <a:r>
              <a:rPr lang="en-US" altLang="en-US">
                <a:hlinkClick r:id="rId2" tooltip="North East TVC"/>
              </a:rPr>
              <a:t>North East TVC</a:t>
            </a:r>
            <a:endParaRPr lang="en-US" altLang="en-US"/>
          </a:p>
          <a:p>
            <a:pPr eaLnBrk="1" hangingPunct="1">
              <a:buFont typeface="Arial" panose="020B0604020202020204" pitchFamily="34" charset="0"/>
              <a:buChar char="•"/>
            </a:pPr>
            <a:r>
              <a:rPr lang="en-US" altLang="en-US">
                <a:hlinkClick r:id="rId2" tooltip="Incredible India TVC I"/>
              </a:rPr>
              <a:t>Incredible India TVC I</a:t>
            </a:r>
            <a:endParaRPr lang="en-US" altLang="en-US"/>
          </a:p>
          <a:p>
            <a:pPr eaLnBrk="1" hangingPunct="1">
              <a:buFont typeface="Arial" panose="020B0604020202020204" pitchFamily="34" charset="0"/>
              <a:buChar char="•"/>
            </a:pPr>
            <a:r>
              <a:rPr lang="en-US" altLang="en-US">
                <a:hlinkClick r:id="rId2" tooltip="Incredible India TVC II"/>
              </a:rPr>
              <a:t>Incredible India TVC II</a:t>
            </a:r>
            <a:endParaRPr lang="en-US" altLang="en-US"/>
          </a:p>
          <a:p>
            <a:pPr eaLnBrk="1" hangingPunct="1">
              <a:buFont typeface="Arial" panose="020B0604020202020204" pitchFamily="34" charset="0"/>
              <a:buChar char="•"/>
            </a:pPr>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4F74-17FF-4076-B5AD-9E358F1AD074}"/>
              </a:ext>
            </a:extLst>
          </p:cNvPr>
          <p:cNvSpPr>
            <a:spLocks noGrp="1"/>
          </p:cNvSpPr>
          <p:nvPr>
            <p:ph type="title"/>
          </p:nvPr>
        </p:nvSpPr>
        <p:spPr/>
        <p:txBody>
          <a:bodyPr rtlCol="0">
            <a:normAutofit fontScale="90000"/>
          </a:bodyPr>
          <a:lstStyle/>
          <a:p>
            <a:pPr eaLnBrk="1" fontAlgn="auto" hangingPunct="1">
              <a:spcAft>
                <a:spcPts val="0"/>
              </a:spcAft>
              <a:defRPr/>
            </a:pPr>
            <a:r>
              <a:rPr lang="en-US" b="1" dirty="0">
                <a:solidFill>
                  <a:srgbClr val="00B050"/>
                </a:solidFill>
              </a:rPr>
              <a:t>Marketing Needed in Tourism Industry</a:t>
            </a:r>
          </a:p>
        </p:txBody>
      </p:sp>
      <p:sp>
        <p:nvSpPr>
          <p:cNvPr id="47107" name="Content Placeholder 2">
            <a:extLst>
              <a:ext uri="{FF2B5EF4-FFF2-40B4-BE49-F238E27FC236}">
                <a16:creationId xmlns:a16="http://schemas.microsoft.com/office/drawing/2014/main" id="{505C8F2E-5448-457E-B4C3-E430B44A92F9}"/>
              </a:ext>
            </a:extLst>
          </p:cNvPr>
          <p:cNvSpPr>
            <a:spLocks noGrp="1"/>
          </p:cNvSpPr>
          <p:nvPr>
            <p:ph sz="quarter" idx="1"/>
          </p:nvPr>
        </p:nvSpPr>
        <p:spPr>
          <a:xfrm>
            <a:off x="609600" y="1752600"/>
            <a:ext cx="8077200" cy="4267200"/>
          </a:xfrm>
        </p:spPr>
        <p:txBody>
          <a:bodyPr/>
          <a:lstStyle/>
          <a:p>
            <a:pPr eaLnBrk="1" hangingPunct="1"/>
            <a:endParaRPr lang="en-US" altLang="en-US" sz="3200">
              <a:solidFill>
                <a:srgbClr val="0070C0"/>
              </a:solidFill>
            </a:endParaRPr>
          </a:p>
          <a:p>
            <a:pPr eaLnBrk="1" hangingPunct="1"/>
            <a:r>
              <a:rPr lang="en-US" altLang="en-US" sz="3200">
                <a:solidFill>
                  <a:srgbClr val="0070C0"/>
                </a:solidFill>
              </a:rPr>
              <a:t>Tourism industry is having greater potentiality for marketing &amp; marketing related activities. This industry involves various services which necessitated a well planned design, strategies and coordination.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8F129EA0-BC88-4D1B-8AE4-489E69C8C702}"/>
              </a:ext>
            </a:extLst>
          </p:cNvPr>
          <p:cNvSpPr>
            <a:spLocks noGrp="1"/>
          </p:cNvSpPr>
          <p:nvPr>
            <p:ph type="title"/>
          </p:nvPr>
        </p:nvSpPr>
        <p:spPr>
          <a:xfrm>
            <a:off x="914400" y="274638"/>
            <a:ext cx="7772400" cy="715962"/>
          </a:xfrm>
        </p:spPr>
        <p:txBody>
          <a:bodyPr/>
          <a:lstStyle/>
          <a:p>
            <a:pPr algn="ctr" eaLnBrk="1" hangingPunct="1"/>
            <a:r>
              <a:rPr lang="en-US" altLang="en-US" b="1">
                <a:solidFill>
                  <a:srgbClr val="00B050"/>
                </a:solidFill>
              </a:rPr>
              <a:t>Tourism Product</a:t>
            </a:r>
          </a:p>
        </p:txBody>
      </p:sp>
      <p:sp>
        <p:nvSpPr>
          <p:cNvPr id="48131" name="Content Placeholder 2">
            <a:extLst>
              <a:ext uri="{FF2B5EF4-FFF2-40B4-BE49-F238E27FC236}">
                <a16:creationId xmlns:a16="http://schemas.microsoft.com/office/drawing/2014/main" id="{F8FE7C82-6824-4C95-BD51-34303DD892E2}"/>
              </a:ext>
            </a:extLst>
          </p:cNvPr>
          <p:cNvSpPr>
            <a:spLocks noGrp="1"/>
          </p:cNvSpPr>
          <p:nvPr>
            <p:ph sz="quarter" idx="1"/>
          </p:nvPr>
        </p:nvSpPr>
        <p:spPr>
          <a:xfrm>
            <a:off x="457200" y="990600"/>
            <a:ext cx="8305800" cy="5562600"/>
          </a:xfrm>
        </p:spPr>
        <p:txBody>
          <a:bodyPr/>
          <a:lstStyle/>
          <a:p>
            <a:pPr marL="365125" indent="-282575" eaLnBrk="1" hangingPunct="1">
              <a:buFont typeface="Wingdings 2" panose="05020102010507070707" pitchFamily="18" charset="2"/>
              <a:buNone/>
            </a:pPr>
            <a:r>
              <a:rPr lang="en-US" altLang="en-US" sz="3200" b="1">
                <a:solidFill>
                  <a:schemeClr val="accent2"/>
                </a:solidFill>
              </a:rPr>
              <a:t>Charecteristics of Tourism Product</a:t>
            </a:r>
            <a:endParaRPr lang="en-US" altLang="en-US" sz="3200">
              <a:solidFill>
                <a:schemeClr val="accent2"/>
              </a:solidFill>
            </a:endParaRPr>
          </a:p>
          <a:p>
            <a:pPr marL="365125" indent="-282575" eaLnBrk="1" hangingPunct="1"/>
            <a:r>
              <a:rPr lang="en-US" altLang="en-US" sz="3200">
                <a:solidFill>
                  <a:srgbClr val="0070C0"/>
                </a:solidFill>
              </a:rPr>
              <a:t>Tourism Products are Intangible, Perishable and Heterogeneous in nature.</a:t>
            </a:r>
          </a:p>
          <a:p>
            <a:pPr marL="365125" indent="-282575" eaLnBrk="1" hangingPunct="1"/>
            <a:r>
              <a:rPr lang="en-US" altLang="en-US" sz="3200">
                <a:solidFill>
                  <a:srgbClr val="0070C0"/>
                </a:solidFill>
              </a:rPr>
              <a:t>So selling once offerings becomes more challenging and trickier as the proposition is mostly feeling and Touch based. </a:t>
            </a:r>
          </a:p>
          <a:p>
            <a:pPr marL="365125" indent="-282575" eaLnBrk="1" hangingPunct="1"/>
            <a:r>
              <a:rPr lang="en-US" altLang="en-US" sz="3200">
                <a:solidFill>
                  <a:srgbClr val="0070C0"/>
                </a:solidFill>
              </a:rPr>
              <a:t>India being such a diverse country posses big challenge to the destination Marketers as How to Brand and Market India as a unique destination.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D5FA10E3-4FC6-4CFF-BE89-555CD0666F7A}"/>
              </a:ext>
            </a:extLst>
          </p:cNvPr>
          <p:cNvSpPr>
            <a:spLocks noGrp="1"/>
          </p:cNvSpPr>
          <p:nvPr>
            <p:ph type="title"/>
          </p:nvPr>
        </p:nvSpPr>
        <p:spPr/>
        <p:txBody>
          <a:bodyPr/>
          <a:lstStyle/>
          <a:p>
            <a:r>
              <a:rPr lang="en-US" altLang="en-US"/>
              <a:t>Cont…</a:t>
            </a:r>
          </a:p>
        </p:txBody>
      </p:sp>
      <p:sp>
        <p:nvSpPr>
          <p:cNvPr id="3" name="Content Placeholder 2">
            <a:extLst>
              <a:ext uri="{FF2B5EF4-FFF2-40B4-BE49-F238E27FC236}">
                <a16:creationId xmlns:a16="http://schemas.microsoft.com/office/drawing/2014/main" id="{86FA258C-6A77-456B-A40E-E4131704568B}"/>
              </a:ext>
            </a:extLst>
          </p:cNvPr>
          <p:cNvSpPr>
            <a:spLocks noGrp="1"/>
          </p:cNvSpPr>
          <p:nvPr>
            <p:ph sz="quarter" idx="1"/>
          </p:nvPr>
        </p:nvSpPr>
        <p:spPr>
          <a:xfrm>
            <a:off x="533400" y="1447800"/>
            <a:ext cx="8153400" cy="4876800"/>
          </a:xfrm>
        </p:spPr>
        <p:txBody>
          <a:bodyPr/>
          <a:lstStyle/>
          <a:p>
            <a:pPr marL="365760" indent="-283464" eaLnBrk="1" fontAlgn="auto" hangingPunct="1">
              <a:spcBef>
                <a:spcPts val="580"/>
              </a:spcBef>
              <a:spcAft>
                <a:spcPts val="0"/>
              </a:spcAft>
              <a:buFont typeface="Wingdings 2"/>
              <a:buChar char=""/>
              <a:defRPr/>
            </a:pPr>
            <a:r>
              <a:rPr lang="en-US" sz="3200" dirty="0">
                <a:solidFill>
                  <a:srgbClr val="0070C0"/>
                </a:solidFill>
              </a:rPr>
              <a:t>Can it be sold as a single unit or different states branded themselves in their own ways like Kerala branding itself as </a:t>
            </a:r>
            <a:r>
              <a:rPr lang="en-US" sz="3200" i="1" dirty="0">
                <a:solidFill>
                  <a:srgbClr val="0070C0"/>
                </a:solidFill>
              </a:rPr>
              <a:t>Gods own Country </a:t>
            </a:r>
            <a:r>
              <a:rPr lang="en-US" sz="3200" dirty="0">
                <a:solidFill>
                  <a:srgbClr val="0070C0"/>
                </a:solidFill>
              </a:rPr>
              <a:t>and Rajasthan as </a:t>
            </a:r>
            <a:r>
              <a:rPr lang="en-US" sz="3200" i="1" dirty="0" err="1">
                <a:solidFill>
                  <a:srgbClr val="0070C0"/>
                </a:solidFill>
              </a:rPr>
              <a:t>Padharo</a:t>
            </a:r>
            <a:r>
              <a:rPr lang="en-US" sz="3200" i="1" dirty="0">
                <a:solidFill>
                  <a:srgbClr val="0070C0"/>
                </a:solidFill>
              </a:rPr>
              <a:t> </a:t>
            </a:r>
            <a:r>
              <a:rPr lang="en-US" sz="3200" i="1" dirty="0" err="1">
                <a:solidFill>
                  <a:srgbClr val="0070C0"/>
                </a:solidFill>
              </a:rPr>
              <a:t>Mharo</a:t>
            </a:r>
            <a:r>
              <a:rPr lang="en-US" sz="3200" i="1" dirty="0">
                <a:solidFill>
                  <a:srgbClr val="0070C0"/>
                </a:solidFill>
              </a:rPr>
              <a:t> </a:t>
            </a:r>
            <a:r>
              <a:rPr lang="en-US" sz="3200" i="1" dirty="0" err="1">
                <a:solidFill>
                  <a:srgbClr val="0070C0"/>
                </a:solidFill>
              </a:rPr>
              <a:t>Desh</a:t>
            </a:r>
            <a:r>
              <a:rPr lang="en-US" sz="3200" dirty="0">
                <a:solidFill>
                  <a:srgbClr val="0070C0"/>
                </a:solidFill>
              </a:rPr>
              <a:t>.</a:t>
            </a:r>
          </a:p>
          <a:p>
            <a:pPr marL="365760" indent="-283464" eaLnBrk="1" fontAlgn="auto" hangingPunct="1">
              <a:spcBef>
                <a:spcPts val="580"/>
              </a:spcBef>
              <a:spcAft>
                <a:spcPts val="0"/>
              </a:spcAft>
              <a:buFont typeface="Wingdings 2"/>
              <a:buChar char=""/>
              <a:defRPr/>
            </a:pPr>
            <a:r>
              <a:rPr lang="en-US" sz="3200" dirty="0">
                <a:solidFill>
                  <a:srgbClr val="0070C0"/>
                </a:solidFill>
              </a:rPr>
              <a:t>That is why </a:t>
            </a:r>
            <a:r>
              <a:rPr lang="en-US" sz="3200" dirty="0" err="1">
                <a:solidFill>
                  <a:srgbClr val="0070C0"/>
                </a:solidFill>
              </a:rPr>
              <a:t>Amitabh</a:t>
            </a:r>
            <a:r>
              <a:rPr lang="en-US" sz="3200" dirty="0">
                <a:solidFill>
                  <a:srgbClr val="0070C0"/>
                </a:solidFill>
              </a:rPr>
              <a:t> Kant put his efforts to Brand India as an </a:t>
            </a:r>
            <a:r>
              <a:rPr lang="en-US" sz="3200" i="1" dirty="0">
                <a:solidFill>
                  <a:srgbClr val="0070C0"/>
                </a:solidFill>
              </a:rPr>
              <a:t>Incredible</a:t>
            </a:r>
            <a:r>
              <a:rPr lang="en-US" sz="3200" dirty="0">
                <a:solidFill>
                  <a:srgbClr val="0070C0"/>
                </a:solidFill>
              </a:rPr>
              <a:t> destination.</a:t>
            </a:r>
          </a:p>
          <a:p>
            <a:pPr marL="365760" indent="-283464" eaLnBrk="1" fontAlgn="auto" hangingPunct="1">
              <a:spcBef>
                <a:spcPts val="580"/>
              </a:spcBef>
              <a:spcAft>
                <a:spcPts val="0"/>
              </a:spcAft>
              <a:buFont typeface="Wingdings 2"/>
              <a:buChar char=""/>
              <a:defRPr/>
            </a:pPr>
            <a:r>
              <a:rPr lang="en-US" sz="3200" dirty="0">
                <a:solidFill>
                  <a:srgbClr val="0070C0"/>
                </a:solidFill>
              </a:rPr>
              <a:t>Should it be Credible? That is the question, like this every state district posses similar questions in terms of Policy, Planning and Execution.</a:t>
            </a:r>
          </a:p>
          <a:p>
            <a:pPr>
              <a:defRPr/>
            </a:pPr>
            <a:endParaRPr lang="en-US" sz="3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F471B5C0-3882-4EC5-8874-9779AD287FB3}"/>
              </a:ext>
            </a:extLst>
          </p:cNvPr>
          <p:cNvSpPr>
            <a:spLocks noGrp="1"/>
          </p:cNvSpPr>
          <p:nvPr>
            <p:ph type="title"/>
          </p:nvPr>
        </p:nvSpPr>
        <p:spPr>
          <a:xfrm>
            <a:off x="381000" y="228600"/>
            <a:ext cx="8610600" cy="792163"/>
          </a:xfrm>
        </p:spPr>
        <p:txBody>
          <a:bodyPr/>
          <a:lstStyle/>
          <a:p>
            <a:pPr eaLnBrk="1" hangingPunct="1"/>
            <a:r>
              <a:rPr lang="en-US" altLang="en-US" b="1">
                <a:solidFill>
                  <a:schemeClr val="accent2"/>
                </a:solidFill>
              </a:rPr>
              <a:t>Tourism Marketing and its Importance</a:t>
            </a:r>
          </a:p>
        </p:txBody>
      </p:sp>
      <p:sp>
        <p:nvSpPr>
          <p:cNvPr id="50179" name="Content Placeholder 2">
            <a:extLst>
              <a:ext uri="{FF2B5EF4-FFF2-40B4-BE49-F238E27FC236}">
                <a16:creationId xmlns:a16="http://schemas.microsoft.com/office/drawing/2014/main" id="{BB6FA622-ED4A-4329-8850-FC348A4F18D1}"/>
              </a:ext>
            </a:extLst>
          </p:cNvPr>
          <p:cNvSpPr>
            <a:spLocks noGrp="1"/>
          </p:cNvSpPr>
          <p:nvPr>
            <p:ph sz="quarter" idx="1"/>
          </p:nvPr>
        </p:nvSpPr>
        <p:spPr>
          <a:xfrm>
            <a:off x="304800" y="1371600"/>
            <a:ext cx="8610600" cy="5257800"/>
          </a:xfrm>
        </p:spPr>
        <p:txBody>
          <a:bodyPr/>
          <a:lstStyle/>
          <a:p>
            <a:pPr marL="365125" indent="-282575" eaLnBrk="1" hangingPunct="1"/>
            <a:r>
              <a:rPr lang="en-US" altLang="en-US" sz="2800">
                <a:solidFill>
                  <a:srgbClr val="00B050"/>
                </a:solidFill>
              </a:rPr>
              <a:t>All these figures give you an idea of the growing market as well as the role being played by tourism in the economies of the nations. </a:t>
            </a:r>
          </a:p>
          <a:p>
            <a:pPr marL="365125" indent="-282575" eaLnBrk="1" hangingPunct="1"/>
            <a:r>
              <a:rPr lang="en-US" altLang="en-US" sz="2800">
                <a:solidFill>
                  <a:srgbClr val="00B050"/>
                </a:solidFill>
              </a:rPr>
              <a:t>India has still more potential to attract foreign tourists as well as encourage domestic tourism. </a:t>
            </a:r>
          </a:p>
          <a:p>
            <a:pPr marL="365125" indent="-282575" eaLnBrk="1" hangingPunct="1"/>
            <a:r>
              <a:rPr lang="en-US" altLang="en-US" sz="2800">
                <a:solidFill>
                  <a:srgbClr val="00B050"/>
                </a:solidFill>
              </a:rPr>
              <a:t>But this potential can be converted into a reality through vigorous marketing of the tourism products and services. </a:t>
            </a:r>
          </a:p>
          <a:p>
            <a:pPr marL="365125" indent="-282575" eaLnBrk="1" hangingPunct="1"/>
            <a:r>
              <a:rPr lang="en-US" altLang="en-US" sz="2800">
                <a:solidFill>
                  <a:srgbClr val="00B050"/>
                </a:solidFill>
              </a:rPr>
              <a:t>Gradually the tourism market is maturing and competition is already increasing.</a:t>
            </a:r>
          </a:p>
          <a:p>
            <a:pPr marL="365125" indent="-282575" eaLnBrk="1" hangingPunct="1"/>
            <a:r>
              <a:rPr lang="en-US" altLang="en-US" sz="2800">
                <a:solidFill>
                  <a:srgbClr val="00B050"/>
                </a:solidFill>
              </a:rPr>
              <a:t>Marketing provides smart tour packages  to attract the tourists. </a:t>
            </a:r>
          </a:p>
          <a:p>
            <a:pPr marL="365125" indent="-282575" eaLnBrk="1" hangingPunct="1"/>
            <a:endParaRPr lang="en-US" altLang="en-US" sz="2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668806CB-2D03-4D45-9669-706FB3A6AC2D}"/>
              </a:ext>
            </a:extLst>
          </p:cNvPr>
          <p:cNvSpPr>
            <a:spLocks noGrp="1"/>
          </p:cNvSpPr>
          <p:nvPr>
            <p:ph type="title"/>
          </p:nvPr>
        </p:nvSpPr>
        <p:spPr/>
        <p:txBody>
          <a:bodyPr/>
          <a:lstStyle/>
          <a:p>
            <a:pPr algn="ctr" eaLnBrk="1" hangingPunct="1"/>
            <a:r>
              <a:rPr lang="en-US" altLang="en-US" b="1">
                <a:solidFill>
                  <a:srgbClr val="0070C0"/>
                </a:solidFill>
              </a:rPr>
              <a:t>Tour Package</a:t>
            </a:r>
          </a:p>
        </p:txBody>
      </p:sp>
      <p:sp>
        <p:nvSpPr>
          <p:cNvPr id="51203" name="Content Placeholder 2">
            <a:extLst>
              <a:ext uri="{FF2B5EF4-FFF2-40B4-BE49-F238E27FC236}">
                <a16:creationId xmlns:a16="http://schemas.microsoft.com/office/drawing/2014/main" id="{60357C57-BAB7-49A9-806F-6EBE23FDF886}"/>
              </a:ext>
            </a:extLst>
          </p:cNvPr>
          <p:cNvSpPr>
            <a:spLocks noGrp="1"/>
          </p:cNvSpPr>
          <p:nvPr>
            <p:ph sz="quarter" idx="1"/>
          </p:nvPr>
        </p:nvSpPr>
        <p:spPr>
          <a:xfrm>
            <a:off x="914400" y="1447800"/>
            <a:ext cx="7772400" cy="4953000"/>
          </a:xfrm>
        </p:spPr>
        <p:txBody>
          <a:bodyPr/>
          <a:lstStyle/>
          <a:p>
            <a:pPr marL="365125" indent="-282575" eaLnBrk="1" hangingPunct="1"/>
            <a:r>
              <a:rPr lang="fr-FR" altLang="en-US" sz="2800">
                <a:hlinkClick r:id="rId2"/>
              </a:rPr>
              <a:t>General Package Tour </a:t>
            </a:r>
            <a:br>
              <a:rPr lang="fr-FR" altLang="en-US" sz="2800">
                <a:hlinkClick r:id="rId3"/>
              </a:rPr>
            </a:br>
            <a:br>
              <a:rPr lang="fr-FR" altLang="en-US" sz="2800">
                <a:hlinkClick r:id="rId3"/>
              </a:rPr>
            </a:br>
            <a:r>
              <a:rPr lang="fr-FR" altLang="en-US" sz="2800">
                <a:hlinkClick r:id="rId3"/>
              </a:rPr>
              <a:t>Rail Tour</a:t>
            </a:r>
            <a:br>
              <a:rPr lang="fr-FR" altLang="en-US" sz="2800"/>
            </a:br>
            <a:br>
              <a:rPr lang="fr-FR" altLang="en-US" sz="2800">
                <a:hlinkClick r:id="rId4"/>
              </a:rPr>
            </a:br>
            <a:r>
              <a:rPr lang="fr-FR" altLang="en-US" sz="2800">
                <a:hlinkClick r:id="rId4"/>
              </a:rPr>
              <a:t>LTC Tours</a:t>
            </a:r>
            <a:r>
              <a:rPr lang="fr-FR" altLang="en-US" sz="2800"/>
              <a:t> </a:t>
            </a:r>
            <a:br>
              <a:rPr lang="fr-FR" altLang="en-US" sz="2800">
                <a:hlinkClick r:id="rId5"/>
              </a:rPr>
            </a:br>
            <a:br>
              <a:rPr lang="fr-FR" altLang="en-US" sz="2800">
                <a:hlinkClick r:id="rId5"/>
              </a:rPr>
            </a:br>
            <a:r>
              <a:rPr lang="fr-FR" altLang="en-US" sz="2800">
                <a:hlinkClick r:id="rId5"/>
              </a:rPr>
              <a:t>Special Tours</a:t>
            </a:r>
            <a:r>
              <a:rPr lang="fr-FR" altLang="en-US" sz="2800"/>
              <a:t> </a:t>
            </a:r>
            <a:br>
              <a:rPr lang="fr-FR" altLang="en-US" sz="2800">
                <a:hlinkClick r:id="rId6"/>
              </a:rPr>
            </a:br>
            <a:br>
              <a:rPr lang="fr-FR" altLang="en-US" sz="2800">
                <a:hlinkClick r:id="rId6"/>
              </a:rPr>
            </a:br>
            <a:r>
              <a:rPr lang="fr-FR" altLang="en-US" sz="2800">
                <a:hlinkClick r:id="rId6"/>
              </a:rPr>
              <a:t>Cancellation </a:t>
            </a:r>
            <a:br>
              <a:rPr lang="fr-FR" altLang="en-US" sz="2800">
                <a:hlinkClick r:id="rId7"/>
              </a:rPr>
            </a:br>
            <a:br>
              <a:rPr lang="fr-FR" altLang="en-US" sz="2800">
                <a:hlinkClick r:id="rId7"/>
              </a:rPr>
            </a:br>
            <a:r>
              <a:rPr lang="fr-FR" altLang="en-US" sz="2800">
                <a:hlinkClick r:id="rId7"/>
              </a:rPr>
              <a:t>Prepone/Postpone </a:t>
            </a:r>
            <a:br>
              <a:rPr lang="fr-FR" altLang="en-US" sz="2800"/>
            </a:br>
            <a:endParaRPr lang="en-US" altLang="en-US" sz="2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3C5B3-8EF4-4074-AC12-8CB0E3C9B0BE}"/>
              </a:ext>
            </a:extLst>
          </p:cNvPr>
          <p:cNvSpPr>
            <a:spLocks noGrp="1"/>
          </p:cNvSpPr>
          <p:nvPr>
            <p:ph type="title"/>
          </p:nvPr>
        </p:nvSpPr>
        <p:spPr>
          <a:xfrm>
            <a:off x="914400" y="152400"/>
            <a:ext cx="7772400" cy="685800"/>
          </a:xfrm>
        </p:spPr>
        <p:txBody>
          <a:bodyPr rtlCol="0">
            <a:normAutofit fontScale="90000"/>
          </a:bodyPr>
          <a:lstStyle/>
          <a:p>
            <a:pPr algn="ctr" eaLnBrk="1" fontAlgn="auto" hangingPunct="1">
              <a:spcAft>
                <a:spcPts val="0"/>
              </a:spcAft>
              <a:defRPr/>
            </a:pPr>
            <a:r>
              <a:rPr lang="en-US" b="1" dirty="0">
                <a:solidFill>
                  <a:srgbClr val="0070C0"/>
                </a:solidFill>
              </a:rPr>
              <a:t>GENERAL PACKAGE TOURS</a:t>
            </a:r>
            <a:r>
              <a:rPr lang="en-US" dirty="0">
                <a:solidFill>
                  <a:srgbClr val="0070C0"/>
                </a:solidFill>
              </a:rPr>
              <a:t> </a:t>
            </a:r>
          </a:p>
        </p:txBody>
      </p:sp>
      <p:sp>
        <p:nvSpPr>
          <p:cNvPr id="52227" name="Content Placeholder 2">
            <a:extLst>
              <a:ext uri="{FF2B5EF4-FFF2-40B4-BE49-F238E27FC236}">
                <a16:creationId xmlns:a16="http://schemas.microsoft.com/office/drawing/2014/main" id="{22C9296D-6CFC-46AC-881A-1F3599CB0D02}"/>
              </a:ext>
            </a:extLst>
          </p:cNvPr>
          <p:cNvSpPr>
            <a:spLocks noGrp="1"/>
          </p:cNvSpPr>
          <p:nvPr>
            <p:ph sz="quarter" idx="1"/>
          </p:nvPr>
        </p:nvSpPr>
        <p:spPr>
          <a:xfrm>
            <a:off x="685800" y="838200"/>
            <a:ext cx="8153400" cy="5181600"/>
          </a:xfrm>
        </p:spPr>
        <p:txBody>
          <a:bodyPr/>
          <a:lstStyle/>
          <a:p>
            <a:pPr marL="365125" indent="-282575" eaLnBrk="1" hangingPunct="1"/>
            <a:r>
              <a:rPr lang="en-US" altLang="en-US" sz="1800">
                <a:solidFill>
                  <a:srgbClr val="0070C0"/>
                </a:solidFill>
              </a:rPr>
              <a:t>ONE DAY TIRUPATHI TOUR </a:t>
            </a:r>
          </a:p>
          <a:p>
            <a:pPr marL="365125" indent="-282575" eaLnBrk="1" hangingPunct="1"/>
            <a:r>
              <a:rPr lang="en-US" altLang="en-US" sz="1800">
                <a:solidFill>
                  <a:srgbClr val="0070C0"/>
                </a:solidFill>
              </a:rPr>
              <a:t>ONE DAY THIRUVANNAMALAI GIRIVALAM TOUR ONE DAY SWATHI PERUMAL TOUR </a:t>
            </a:r>
          </a:p>
          <a:p>
            <a:pPr marL="365125" indent="-282575" eaLnBrk="1" hangingPunct="1"/>
            <a:r>
              <a:rPr lang="en-US" altLang="en-US" sz="1800">
                <a:solidFill>
                  <a:srgbClr val="0070C0"/>
                </a:solidFill>
              </a:rPr>
              <a:t>ONE DAY SRIPURAM GOLDEN TEMPLE TOUR </a:t>
            </a:r>
          </a:p>
          <a:p>
            <a:pPr marL="365125" indent="-282575" eaLnBrk="1" hangingPunct="1"/>
            <a:r>
              <a:rPr lang="en-US" altLang="en-US" sz="1800">
                <a:solidFill>
                  <a:srgbClr val="0070C0"/>
                </a:solidFill>
              </a:rPr>
              <a:t>ONE DAY SAKTHI TOUR </a:t>
            </a:r>
          </a:p>
          <a:p>
            <a:pPr marL="365125" indent="-282575" eaLnBrk="1" hangingPunct="1"/>
            <a:r>
              <a:rPr lang="en-US" altLang="en-US" sz="1800">
                <a:solidFill>
                  <a:srgbClr val="0070C0"/>
                </a:solidFill>
              </a:rPr>
              <a:t>ONE DAY PONDICHERRY TOUR </a:t>
            </a:r>
          </a:p>
          <a:p>
            <a:pPr marL="365125" indent="-282575" eaLnBrk="1" hangingPunct="1"/>
            <a:r>
              <a:rPr lang="en-US" altLang="en-US" sz="1800">
                <a:solidFill>
                  <a:srgbClr val="0070C0"/>
                </a:solidFill>
              </a:rPr>
              <a:t>ONE DAY KANCHIPURAM MAMALLAPURAM </a:t>
            </a:r>
          </a:p>
          <a:p>
            <a:pPr marL="365125" indent="-282575" eaLnBrk="1" hangingPunct="1"/>
            <a:r>
              <a:rPr lang="en-US" altLang="en-US" sz="1800">
                <a:solidFill>
                  <a:srgbClr val="0070C0"/>
                </a:solidFill>
              </a:rPr>
              <a:t>ONE DAY CHENNAI MAMALLAPURAM TOUR KIRITHIGAI TOUR </a:t>
            </a:r>
          </a:p>
          <a:p>
            <a:pPr marL="365125" indent="-282575" eaLnBrk="1" hangingPunct="1"/>
            <a:r>
              <a:rPr lang="en-US" altLang="en-US" sz="1800">
                <a:solidFill>
                  <a:srgbClr val="0070C0"/>
                </a:solidFill>
              </a:rPr>
              <a:t>HALF DAY CHENNAI CITY SIGHT SEEING TOUR </a:t>
            </a:r>
          </a:p>
          <a:p>
            <a:pPr marL="365125" indent="-282575" eaLnBrk="1" hangingPunct="1"/>
            <a:r>
              <a:rPr lang="en-US" altLang="en-US" sz="1800">
                <a:solidFill>
                  <a:srgbClr val="0070C0"/>
                </a:solidFill>
              </a:rPr>
              <a:t>8 DAYS TAMILNADU TOUR </a:t>
            </a:r>
          </a:p>
          <a:p>
            <a:pPr marL="365125" indent="-282575" eaLnBrk="1" hangingPunct="1"/>
            <a:r>
              <a:rPr lang="en-US" altLang="en-US" sz="1800">
                <a:solidFill>
                  <a:srgbClr val="0070C0"/>
                </a:solidFill>
              </a:rPr>
              <a:t>8 DAYS EAST WEST TOUR </a:t>
            </a:r>
          </a:p>
          <a:p>
            <a:pPr marL="365125" indent="-282575" eaLnBrk="1" hangingPunct="1"/>
            <a:r>
              <a:rPr lang="en-US" altLang="en-US" sz="1800">
                <a:solidFill>
                  <a:srgbClr val="0070C0"/>
                </a:solidFill>
              </a:rPr>
              <a:t>6 DAYS SOUTH INDIA TOUR </a:t>
            </a:r>
          </a:p>
          <a:p>
            <a:pPr marL="365125" indent="-282575" eaLnBrk="1" hangingPunct="1"/>
            <a:r>
              <a:rPr lang="en-US" altLang="en-US" sz="1800">
                <a:solidFill>
                  <a:srgbClr val="0070C0"/>
                </a:solidFill>
              </a:rPr>
              <a:t>5 DAYS 108 AMMAN TEMPLE TOUR </a:t>
            </a:r>
          </a:p>
          <a:p>
            <a:pPr marL="365125" indent="-282575" eaLnBrk="1" hangingPunct="1"/>
            <a:r>
              <a:rPr lang="en-US" altLang="en-US" sz="1800">
                <a:solidFill>
                  <a:srgbClr val="0070C0"/>
                </a:solidFill>
              </a:rPr>
              <a:t>4 DAY ARUPADAI VEEDU TOUR </a:t>
            </a:r>
          </a:p>
          <a:p>
            <a:pPr marL="365125" indent="-282575" eaLnBrk="1" hangingPunct="1"/>
            <a:r>
              <a:rPr lang="en-US" altLang="en-US" sz="1800">
                <a:solidFill>
                  <a:srgbClr val="0070C0"/>
                </a:solidFill>
              </a:rPr>
              <a:t>3 DAYS NAVAGRAGHA TOUR </a:t>
            </a:r>
          </a:p>
          <a:p>
            <a:pPr marL="365125" indent="-282575" eaLnBrk="1" hangingPunct="1"/>
            <a:r>
              <a:rPr lang="en-US" altLang="en-US" sz="1800">
                <a:solidFill>
                  <a:srgbClr val="0070C0"/>
                </a:solidFill>
              </a:rPr>
              <a:t>3 DAYS AMMAVASAI RAMESWARAM TOUR </a:t>
            </a:r>
          </a:p>
          <a:p>
            <a:pPr marL="365125" indent="-282575" eaLnBrk="1" hangingPunct="1"/>
            <a:r>
              <a:rPr lang="en-US" altLang="en-US" sz="1800">
                <a:solidFill>
                  <a:srgbClr val="0070C0"/>
                </a:solidFill>
              </a:rPr>
              <a:t>14 DAYS SUNNY SOUTH TOUR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B75A3E9A-A6AE-4773-BB93-AB2081383CFE}"/>
              </a:ext>
            </a:extLst>
          </p:cNvPr>
          <p:cNvSpPr>
            <a:spLocks noGrp="1"/>
          </p:cNvSpPr>
          <p:nvPr>
            <p:ph type="title"/>
          </p:nvPr>
        </p:nvSpPr>
        <p:spPr/>
        <p:txBody>
          <a:bodyPr/>
          <a:lstStyle/>
          <a:p>
            <a:pPr algn="ctr" eaLnBrk="1" hangingPunct="1"/>
            <a:r>
              <a:rPr lang="en-US" altLang="en-US" b="1">
                <a:solidFill>
                  <a:srgbClr val="0070C0"/>
                </a:solidFill>
              </a:rPr>
              <a:t>ONE DAY TIRUPATHI TOUR </a:t>
            </a:r>
            <a:endParaRPr lang="en-US" altLang="en-US">
              <a:solidFill>
                <a:srgbClr val="0070C0"/>
              </a:solidFill>
            </a:endParaRPr>
          </a:p>
        </p:txBody>
      </p:sp>
      <p:sp>
        <p:nvSpPr>
          <p:cNvPr id="3" name="Content Placeholder 2">
            <a:extLst>
              <a:ext uri="{FF2B5EF4-FFF2-40B4-BE49-F238E27FC236}">
                <a16:creationId xmlns:a16="http://schemas.microsoft.com/office/drawing/2014/main" id="{A34D9671-616D-4C0E-B183-AA781730ABE6}"/>
              </a:ext>
            </a:extLst>
          </p:cNvPr>
          <p:cNvSpPr>
            <a:spLocks noGrp="1"/>
          </p:cNvSpPr>
          <p:nvPr>
            <p:ph sz="quarter" idx="1"/>
          </p:nvPr>
        </p:nvSpPr>
        <p:spPr/>
        <p:txBody>
          <a:bodyPr rtlCol="0">
            <a:normAutofit fontScale="92500"/>
          </a:bodyPr>
          <a:lstStyle/>
          <a:p>
            <a:pPr marL="365760" indent="-283464" eaLnBrk="1" fontAlgn="auto" hangingPunct="1">
              <a:spcBef>
                <a:spcPts val="580"/>
              </a:spcBef>
              <a:spcAft>
                <a:spcPts val="0"/>
              </a:spcAft>
              <a:buFont typeface="Wingdings 2"/>
              <a:buChar char=""/>
              <a:defRPr/>
            </a:pPr>
            <a:r>
              <a:rPr lang="en-US" b="1" dirty="0" err="1">
                <a:solidFill>
                  <a:srgbClr val="00B050"/>
                </a:solidFill>
              </a:rPr>
              <a:t>No.Of</a:t>
            </a:r>
            <a:r>
              <a:rPr lang="en-US" b="1" dirty="0">
                <a:solidFill>
                  <a:srgbClr val="00B050"/>
                </a:solidFill>
              </a:rPr>
              <a:t> Tour Days</a:t>
            </a:r>
            <a:r>
              <a:rPr lang="en-US" dirty="0">
                <a:solidFill>
                  <a:srgbClr val="00B050"/>
                </a:solidFill>
              </a:rPr>
              <a:t> One Day   </a:t>
            </a:r>
          </a:p>
          <a:p>
            <a:pPr marL="365760" indent="-283464" eaLnBrk="1" fontAlgn="auto" hangingPunct="1">
              <a:spcBef>
                <a:spcPts val="580"/>
              </a:spcBef>
              <a:spcAft>
                <a:spcPts val="0"/>
              </a:spcAft>
              <a:buFont typeface="Wingdings 2"/>
              <a:buChar char=""/>
              <a:defRPr/>
            </a:pPr>
            <a:r>
              <a:rPr lang="en-US" b="1" dirty="0">
                <a:solidFill>
                  <a:srgbClr val="00B050"/>
                </a:solidFill>
              </a:rPr>
              <a:t>Description</a:t>
            </a:r>
            <a:r>
              <a:rPr lang="en-US" dirty="0">
                <a:solidFill>
                  <a:srgbClr val="00B050"/>
                </a:solidFill>
              </a:rPr>
              <a:t> Leaves at 5.00 A.M and returns on the same day after </a:t>
            </a:r>
            <a:r>
              <a:rPr lang="en-US" dirty="0" err="1">
                <a:solidFill>
                  <a:srgbClr val="00B050"/>
                </a:solidFill>
              </a:rPr>
              <a:t>darshan</a:t>
            </a:r>
            <a:r>
              <a:rPr lang="en-US" dirty="0">
                <a:solidFill>
                  <a:srgbClr val="00B050"/>
                </a:solidFill>
              </a:rPr>
              <a:t> by 09.00 pm   </a:t>
            </a:r>
          </a:p>
          <a:p>
            <a:pPr marL="365760" indent="-283464" eaLnBrk="1" fontAlgn="auto" hangingPunct="1">
              <a:spcBef>
                <a:spcPts val="580"/>
              </a:spcBef>
              <a:spcAft>
                <a:spcPts val="0"/>
              </a:spcAft>
              <a:buFont typeface="Wingdings 2"/>
              <a:buChar char=""/>
              <a:defRPr/>
            </a:pPr>
            <a:r>
              <a:rPr lang="en-US" b="1" dirty="0">
                <a:solidFill>
                  <a:srgbClr val="00B050"/>
                </a:solidFill>
              </a:rPr>
              <a:t>Places Covered</a:t>
            </a:r>
            <a:r>
              <a:rPr lang="en-US" dirty="0">
                <a:solidFill>
                  <a:srgbClr val="00B050"/>
                </a:solidFill>
              </a:rPr>
              <a:t> </a:t>
            </a:r>
            <a:r>
              <a:rPr lang="en-US" dirty="0" err="1">
                <a:solidFill>
                  <a:srgbClr val="00B050"/>
                </a:solidFill>
              </a:rPr>
              <a:t>Thirumala</a:t>
            </a:r>
            <a:r>
              <a:rPr lang="en-US" dirty="0">
                <a:solidFill>
                  <a:srgbClr val="00B050"/>
                </a:solidFill>
              </a:rPr>
              <a:t>, </a:t>
            </a:r>
            <a:r>
              <a:rPr lang="en-US" dirty="0" err="1">
                <a:solidFill>
                  <a:srgbClr val="00B050"/>
                </a:solidFill>
              </a:rPr>
              <a:t>Thiruchanur</a:t>
            </a:r>
            <a:r>
              <a:rPr lang="en-US" dirty="0">
                <a:solidFill>
                  <a:srgbClr val="00B050"/>
                </a:solidFill>
              </a:rPr>
              <a:t>. [Tourists who book </a:t>
            </a:r>
            <a:r>
              <a:rPr lang="en-US" dirty="0" err="1">
                <a:solidFill>
                  <a:srgbClr val="00B050"/>
                </a:solidFill>
              </a:rPr>
              <a:t>Tirupathi</a:t>
            </a:r>
            <a:r>
              <a:rPr lang="en-US" dirty="0">
                <a:solidFill>
                  <a:srgbClr val="00B050"/>
                </a:solidFill>
              </a:rPr>
              <a:t> Tour are requested to produce any original photo Identity Card at the </a:t>
            </a:r>
            <a:r>
              <a:rPr lang="en-US" dirty="0" err="1">
                <a:solidFill>
                  <a:srgbClr val="00B050"/>
                </a:solidFill>
              </a:rPr>
              <a:t>Vaikuntam</a:t>
            </a:r>
            <a:r>
              <a:rPr lang="en-US" dirty="0">
                <a:solidFill>
                  <a:srgbClr val="00B050"/>
                </a:solidFill>
              </a:rPr>
              <a:t> Q Complex during </a:t>
            </a:r>
            <a:r>
              <a:rPr lang="en-US" dirty="0" err="1">
                <a:solidFill>
                  <a:srgbClr val="00B050"/>
                </a:solidFill>
              </a:rPr>
              <a:t>Darshan</a:t>
            </a:r>
            <a:r>
              <a:rPr lang="en-US" dirty="0">
                <a:solidFill>
                  <a:srgbClr val="00B050"/>
                </a:solidFill>
              </a:rPr>
              <a:t>.] [Dress Code : Men should wear only Dhoti with formal shirt. Ladies should wear only </a:t>
            </a:r>
            <a:r>
              <a:rPr lang="en-US" dirty="0" err="1">
                <a:solidFill>
                  <a:srgbClr val="00B050"/>
                </a:solidFill>
              </a:rPr>
              <a:t>saree</a:t>
            </a:r>
            <a:r>
              <a:rPr lang="en-US" dirty="0">
                <a:solidFill>
                  <a:srgbClr val="00B050"/>
                </a:solidFill>
              </a:rPr>
              <a:t> or </a:t>
            </a:r>
            <a:r>
              <a:rPr lang="en-US" dirty="0" err="1">
                <a:solidFill>
                  <a:srgbClr val="00B050"/>
                </a:solidFill>
              </a:rPr>
              <a:t>chudhidar</a:t>
            </a:r>
            <a:r>
              <a:rPr lang="en-US" dirty="0">
                <a:solidFill>
                  <a:srgbClr val="00B050"/>
                </a:solidFill>
              </a:rPr>
              <a:t> with </a:t>
            </a:r>
            <a:r>
              <a:rPr lang="en-US" dirty="0" err="1">
                <a:solidFill>
                  <a:srgbClr val="00B050"/>
                </a:solidFill>
              </a:rPr>
              <a:t>Dupatta</a:t>
            </a:r>
            <a:r>
              <a:rPr lang="en-US" dirty="0">
                <a:solidFill>
                  <a:srgbClr val="00B050"/>
                </a:solidFill>
              </a:rPr>
              <a:t>.]   </a:t>
            </a:r>
          </a:p>
          <a:p>
            <a:pPr marL="365760" indent="-283464" eaLnBrk="1" fontAlgn="auto" hangingPunct="1">
              <a:spcBef>
                <a:spcPts val="580"/>
              </a:spcBef>
              <a:spcAft>
                <a:spcPts val="0"/>
              </a:spcAft>
              <a:buFont typeface="Wingdings 2"/>
              <a:buChar char=""/>
              <a:defRPr/>
            </a:pPr>
            <a:r>
              <a:rPr lang="en-US" b="1" dirty="0">
                <a:solidFill>
                  <a:srgbClr val="00B050"/>
                </a:solidFill>
              </a:rPr>
              <a:t>Start Time </a:t>
            </a:r>
            <a:r>
              <a:rPr lang="en-US" dirty="0">
                <a:solidFill>
                  <a:srgbClr val="00B050"/>
                </a:solidFill>
              </a:rPr>
              <a:t>5.00 A.M   </a:t>
            </a:r>
          </a:p>
          <a:p>
            <a:pPr marL="365760" indent="-283464" eaLnBrk="1" fontAlgn="auto" hangingPunct="1">
              <a:spcBef>
                <a:spcPts val="580"/>
              </a:spcBef>
              <a:spcAft>
                <a:spcPts val="0"/>
              </a:spcAft>
              <a:buFont typeface="Wingdings 2"/>
              <a:buChar char=""/>
              <a:defRPr/>
            </a:pPr>
            <a:r>
              <a:rPr lang="en-US" b="1" dirty="0">
                <a:solidFill>
                  <a:srgbClr val="00B050"/>
                </a:solidFill>
              </a:rPr>
              <a:t>Remarks</a:t>
            </a:r>
            <a:r>
              <a:rPr lang="en-US" dirty="0">
                <a:solidFill>
                  <a:srgbClr val="00B050"/>
                </a:solidFill>
              </a:rPr>
              <a:t> The fare is inclusive of breakfast, </a:t>
            </a:r>
            <a:r>
              <a:rPr lang="en-US" dirty="0" err="1">
                <a:solidFill>
                  <a:srgbClr val="00B050"/>
                </a:solidFill>
              </a:rPr>
              <a:t>veg</a:t>
            </a:r>
            <a:r>
              <a:rPr lang="en-US" dirty="0">
                <a:solidFill>
                  <a:srgbClr val="00B050"/>
                </a:solidFill>
              </a:rPr>
              <a:t> lunch and Rs.300/- </a:t>
            </a:r>
            <a:r>
              <a:rPr lang="en-US" dirty="0" err="1">
                <a:solidFill>
                  <a:srgbClr val="00B050"/>
                </a:solidFill>
              </a:rPr>
              <a:t>Seegra</a:t>
            </a:r>
            <a:r>
              <a:rPr lang="en-US" dirty="0">
                <a:solidFill>
                  <a:srgbClr val="00B050"/>
                </a:solidFill>
              </a:rPr>
              <a:t> </a:t>
            </a:r>
            <a:r>
              <a:rPr lang="en-US" dirty="0" err="1">
                <a:solidFill>
                  <a:srgbClr val="00B050"/>
                </a:solidFill>
              </a:rPr>
              <a:t>Darshan</a:t>
            </a:r>
            <a:r>
              <a:rPr lang="en-US" dirty="0">
                <a:solidFill>
                  <a:srgbClr val="00B050"/>
                </a:solidFill>
              </a:rPr>
              <a:t> ticket.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1F508399-C297-48D0-81E2-13DD92C58790}"/>
              </a:ext>
            </a:extLst>
          </p:cNvPr>
          <p:cNvSpPr>
            <a:spLocks noGrp="1"/>
          </p:cNvSpPr>
          <p:nvPr>
            <p:ph type="title"/>
          </p:nvPr>
        </p:nvSpPr>
        <p:spPr/>
        <p:txBody>
          <a:bodyPr/>
          <a:lstStyle/>
          <a:p>
            <a:pPr algn="ctr" eaLnBrk="1" hangingPunct="1"/>
            <a:r>
              <a:rPr lang="en-US" altLang="en-US" b="1">
                <a:solidFill>
                  <a:srgbClr val="00B050"/>
                </a:solidFill>
              </a:rPr>
              <a:t>3 DAYS NAVAGRAGHA TOUR </a:t>
            </a:r>
            <a:endParaRPr lang="en-US" altLang="en-US">
              <a:solidFill>
                <a:srgbClr val="00B050"/>
              </a:solidFill>
            </a:endParaRPr>
          </a:p>
        </p:txBody>
      </p:sp>
      <p:sp>
        <p:nvSpPr>
          <p:cNvPr id="54275" name="Content Placeholder 2">
            <a:extLst>
              <a:ext uri="{FF2B5EF4-FFF2-40B4-BE49-F238E27FC236}">
                <a16:creationId xmlns:a16="http://schemas.microsoft.com/office/drawing/2014/main" id="{199CA4BD-533D-46BF-A40F-00D70D3EB4C3}"/>
              </a:ext>
            </a:extLst>
          </p:cNvPr>
          <p:cNvSpPr>
            <a:spLocks noGrp="1"/>
          </p:cNvSpPr>
          <p:nvPr>
            <p:ph sz="quarter" idx="1"/>
          </p:nvPr>
        </p:nvSpPr>
        <p:spPr/>
        <p:txBody>
          <a:bodyPr/>
          <a:lstStyle/>
          <a:p>
            <a:pPr marL="365125" indent="-282575" eaLnBrk="1" hangingPunct="1"/>
            <a:r>
              <a:rPr lang="en-US" altLang="en-US" b="1">
                <a:solidFill>
                  <a:srgbClr val="0070C0"/>
                </a:solidFill>
              </a:rPr>
              <a:t>No. of Tour Days</a:t>
            </a:r>
            <a:r>
              <a:rPr lang="en-US" altLang="en-US">
                <a:solidFill>
                  <a:srgbClr val="0070C0"/>
                </a:solidFill>
              </a:rPr>
              <a:t> 3   </a:t>
            </a:r>
          </a:p>
          <a:p>
            <a:pPr marL="365125" indent="-282575" eaLnBrk="1" hangingPunct="1"/>
            <a:r>
              <a:rPr lang="en-US" altLang="en-US" b="1">
                <a:solidFill>
                  <a:srgbClr val="0070C0"/>
                </a:solidFill>
              </a:rPr>
              <a:t>Description</a:t>
            </a:r>
            <a:r>
              <a:rPr lang="en-US" altLang="en-US">
                <a:solidFill>
                  <a:srgbClr val="0070C0"/>
                </a:solidFill>
              </a:rPr>
              <a:t> Tours leaves on every Friday at 10.30 P.M and will return on Monday by 05:00 am   </a:t>
            </a:r>
          </a:p>
          <a:p>
            <a:pPr marL="365125" indent="-282575" eaLnBrk="1" hangingPunct="1"/>
            <a:r>
              <a:rPr lang="en-US" altLang="en-US" b="1">
                <a:solidFill>
                  <a:srgbClr val="0070C0"/>
                </a:solidFill>
              </a:rPr>
              <a:t>Places Covered</a:t>
            </a:r>
            <a:r>
              <a:rPr lang="en-US" altLang="en-US">
                <a:solidFill>
                  <a:srgbClr val="0070C0"/>
                </a:solidFill>
              </a:rPr>
              <a:t> Vaitheeswararan Koil(Angaraha-Mars), Thiruvengadu(budha-Mercuury), Keezhperumpallam(Kethu), Thirunallur(Sani-Saturn), alangudi(Guru-Jupiter), Thingalur(chandran-moon), thirunagesswaram(raghu), Surianarkoil(Surya-Sun) and Kanchanur(Sukra-Venus)   </a:t>
            </a:r>
          </a:p>
          <a:p>
            <a:pPr marL="365125" indent="-282575" eaLnBrk="1" hangingPunct="1"/>
            <a:r>
              <a:rPr lang="en-US" altLang="en-US" b="1">
                <a:solidFill>
                  <a:srgbClr val="0070C0"/>
                </a:solidFill>
              </a:rPr>
              <a:t>Start Time </a:t>
            </a:r>
            <a:r>
              <a:rPr lang="en-US" altLang="en-US">
                <a:solidFill>
                  <a:srgbClr val="0070C0"/>
                </a:solidFill>
              </a:rPr>
              <a:t>05:00 AM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A135FA7E-9F21-4101-81CF-83C413B38552}"/>
              </a:ext>
            </a:extLst>
          </p:cNvPr>
          <p:cNvSpPr>
            <a:spLocks noGrp="1"/>
          </p:cNvSpPr>
          <p:nvPr>
            <p:ph type="title"/>
          </p:nvPr>
        </p:nvSpPr>
        <p:spPr/>
        <p:txBody>
          <a:bodyPr/>
          <a:lstStyle/>
          <a:p>
            <a:pPr algn="ctr" eaLnBrk="1" hangingPunct="1"/>
            <a:r>
              <a:rPr lang="en-US" altLang="en-US" b="1">
                <a:solidFill>
                  <a:srgbClr val="0070C0"/>
                </a:solidFill>
              </a:rPr>
              <a:t>14 DAYS SUNNY SOUTH TOUR</a:t>
            </a:r>
            <a:endParaRPr lang="en-US" altLang="en-US">
              <a:solidFill>
                <a:srgbClr val="0070C0"/>
              </a:solidFill>
            </a:endParaRPr>
          </a:p>
        </p:txBody>
      </p:sp>
      <p:sp>
        <p:nvSpPr>
          <p:cNvPr id="3" name="Content Placeholder 2">
            <a:extLst>
              <a:ext uri="{FF2B5EF4-FFF2-40B4-BE49-F238E27FC236}">
                <a16:creationId xmlns:a16="http://schemas.microsoft.com/office/drawing/2014/main" id="{37B3FA5B-DAAE-4D61-A981-F2DD76BF9E23}"/>
              </a:ext>
            </a:extLst>
          </p:cNvPr>
          <p:cNvSpPr>
            <a:spLocks noGrp="1"/>
          </p:cNvSpPr>
          <p:nvPr>
            <p:ph sz="quarter" idx="1"/>
          </p:nvPr>
        </p:nvSpPr>
        <p:spPr/>
        <p:txBody>
          <a:bodyPr rtlCol="0">
            <a:normAutofit fontScale="92500" lnSpcReduction="10000"/>
          </a:bodyPr>
          <a:lstStyle/>
          <a:p>
            <a:pPr marL="365760" indent="-283464" eaLnBrk="1" fontAlgn="auto" hangingPunct="1">
              <a:spcBef>
                <a:spcPts val="580"/>
              </a:spcBef>
              <a:spcAft>
                <a:spcPts val="0"/>
              </a:spcAft>
              <a:buFont typeface="Wingdings 2"/>
              <a:buChar char=""/>
              <a:defRPr/>
            </a:pPr>
            <a:r>
              <a:rPr lang="en-US" b="1" dirty="0" err="1">
                <a:solidFill>
                  <a:srgbClr val="00B050"/>
                </a:solidFill>
              </a:rPr>
              <a:t>No.Of</a:t>
            </a:r>
            <a:r>
              <a:rPr lang="en-US" b="1" dirty="0">
                <a:solidFill>
                  <a:srgbClr val="00B050"/>
                </a:solidFill>
              </a:rPr>
              <a:t> Tour Days</a:t>
            </a:r>
            <a:r>
              <a:rPr lang="en-US" dirty="0">
                <a:solidFill>
                  <a:srgbClr val="00B050"/>
                </a:solidFill>
              </a:rPr>
              <a:t> 14   </a:t>
            </a:r>
          </a:p>
          <a:p>
            <a:pPr marL="365760" indent="-283464" eaLnBrk="1" fontAlgn="auto" hangingPunct="1">
              <a:spcBef>
                <a:spcPts val="580"/>
              </a:spcBef>
              <a:spcAft>
                <a:spcPts val="0"/>
              </a:spcAft>
              <a:buFont typeface="Wingdings 2"/>
              <a:buChar char=""/>
              <a:defRPr/>
            </a:pPr>
            <a:r>
              <a:rPr lang="en-US" b="1" dirty="0">
                <a:solidFill>
                  <a:srgbClr val="00B050"/>
                </a:solidFill>
              </a:rPr>
              <a:t>Description</a:t>
            </a:r>
            <a:r>
              <a:rPr lang="en-US" dirty="0">
                <a:solidFill>
                  <a:srgbClr val="00B050"/>
                </a:solidFill>
              </a:rPr>
              <a:t> Leaves Chennai at 7.00 </a:t>
            </a:r>
            <a:r>
              <a:rPr lang="en-US" dirty="0" err="1">
                <a:solidFill>
                  <a:srgbClr val="00B050"/>
                </a:solidFill>
              </a:rPr>
              <a:t>a.m</a:t>
            </a:r>
            <a:r>
              <a:rPr lang="en-US" dirty="0">
                <a:solidFill>
                  <a:srgbClr val="00B050"/>
                </a:solidFill>
              </a:rPr>
              <a:t> every Wednesday and returns on the 14th day </a:t>
            </a:r>
            <a:r>
              <a:rPr lang="en-US" dirty="0" err="1">
                <a:solidFill>
                  <a:srgbClr val="00B050"/>
                </a:solidFill>
              </a:rPr>
              <a:t>eveing</a:t>
            </a:r>
            <a:r>
              <a:rPr lang="en-US" dirty="0">
                <a:solidFill>
                  <a:srgbClr val="00B050"/>
                </a:solidFill>
              </a:rPr>
              <a:t>.   </a:t>
            </a:r>
          </a:p>
          <a:p>
            <a:pPr marL="365760" indent="-283464" eaLnBrk="1" fontAlgn="auto" hangingPunct="1">
              <a:spcBef>
                <a:spcPts val="580"/>
              </a:spcBef>
              <a:spcAft>
                <a:spcPts val="0"/>
              </a:spcAft>
              <a:buFont typeface="Wingdings 2"/>
              <a:buChar char=""/>
              <a:defRPr/>
            </a:pPr>
            <a:r>
              <a:rPr lang="en-US" b="1" dirty="0">
                <a:solidFill>
                  <a:srgbClr val="00B050"/>
                </a:solidFill>
              </a:rPr>
              <a:t>Places Covered</a:t>
            </a:r>
            <a:r>
              <a:rPr lang="en-US" dirty="0">
                <a:solidFill>
                  <a:srgbClr val="00B050"/>
                </a:solidFill>
              </a:rPr>
              <a:t> </a:t>
            </a:r>
            <a:r>
              <a:rPr lang="en-US" dirty="0" err="1">
                <a:solidFill>
                  <a:srgbClr val="00B050"/>
                </a:solidFill>
              </a:rPr>
              <a:t>Thiruthani</a:t>
            </a:r>
            <a:r>
              <a:rPr lang="en-US" dirty="0">
                <a:solidFill>
                  <a:srgbClr val="00B050"/>
                </a:solidFill>
              </a:rPr>
              <a:t>, </a:t>
            </a:r>
            <a:r>
              <a:rPr lang="en-US" dirty="0" err="1">
                <a:solidFill>
                  <a:srgbClr val="00B050"/>
                </a:solidFill>
              </a:rPr>
              <a:t>Thirupathi</a:t>
            </a:r>
            <a:r>
              <a:rPr lang="en-US" dirty="0">
                <a:solidFill>
                  <a:srgbClr val="00B050"/>
                </a:solidFill>
              </a:rPr>
              <a:t>*, </a:t>
            </a:r>
            <a:r>
              <a:rPr lang="en-US" dirty="0" err="1">
                <a:solidFill>
                  <a:srgbClr val="00B050"/>
                </a:solidFill>
              </a:rPr>
              <a:t>Thiruchanur</a:t>
            </a:r>
            <a:r>
              <a:rPr lang="en-US" dirty="0">
                <a:solidFill>
                  <a:srgbClr val="00B050"/>
                </a:solidFill>
              </a:rPr>
              <a:t>, </a:t>
            </a:r>
            <a:r>
              <a:rPr lang="en-US" dirty="0" err="1">
                <a:solidFill>
                  <a:srgbClr val="00B050"/>
                </a:solidFill>
              </a:rPr>
              <a:t>Bengaluru</a:t>
            </a:r>
            <a:r>
              <a:rPr lang="en-US" dirty="0">
                <a:solidFill>
                  <a:srgbClr val="00B050"/>
                </a:solidFill>
              </a:rPr>
              <a:t>, </a:t>
            </a:r>
            <a:r>
              <a:rPr lang="en-US" dirty="0" err="1">
                <a:solidFill>
                  <a:srgbClr val="00B050"/>
                </a:solidFill>
              </a:rPr>
              <a:t>Hosur</a:t>
            </a:r>
            <a:r>
              <a:rPr lang="en-US" dirty="0">
                <a:solidFill>
                  <a:srgbClr val="00B050"/>
                </a:solidFill>
              </a:rPr>
              <a:t>*, Mysore*, </a:t>
            </a:r>
            <a:r>
              <a:rPr lang="en-US" dirty="0" err="1">
                <a:solidFill>
                  <a:srgbClr val="00B050"/>
                </a:solidFill>
              </a:rPr>
              <a:t>Ooty</a:t>
            </a:r>
            <a:r>
              <a:rPr lang="en-US" dirty="0">
                <a:solidFill>
                  <a:srgbClr val="00B050"/>
                </a:solidFill>
              </a:rPr>
              <a:t>*, </a:t>
            </a:r>
            <a:r>
              <a:rPr lang="en-US" dirty="0" err="1">
                <a:solidFill>
                  <a:srgbClr val="00B050"/>
                </a:solidFill>
              </a:rPr>
              <a:t>marudhamalai</a:t>
            </a:r>
            <a:r>
              <a:rPr lang="en-US" dirty="0">
                <a:solidFill>
                  <a:srgbClr val="00B050"/>
                </a:solidFill>
              </a:rPr>
              <a:t>, Coimbatore*, </a:t>
            </a:r>
            <a:r>
              <a:rPr lang="en-US" dirty="0" err="1">
                <a:solidFill>
                  <a:srgbClr val="00B050"/>
                </a:solidFill>
              </a:rPr>
              <a:t>Guruvayur</a:t>
            </a:r>
            <a:r>
              <a:rPr lang="en-US" dirty="0">
                <a:solidFill>
                  <a:srgbClr val="00B050"/>
                </a:solidFill>
              </a:rPr>
              <a:t>, </a:t>
            </a:r>
            <a:r>
              <a:rPr lang="en-US" dirty="0" err="1">
                <a:solidFill>
                  <a:srgbClr val="00B050"/>
                </a:solidFill>
              </a:rPr>
              <a:t>Cohin</a:t>
            </a:r>
            <a:r>
              <a:rPr lang="en-US" dirty="0">
                <a:solidFill>
                  <a:srgbClr val="00B050"/>
                </a:solidFill>
              </a:rPr>
              <a:t>*, </a:t>
            </a:r>
            <a:r>
              <a:rPr lang="en-US" dirty="0" err="1">
                <a:solidFill>
                  <a:srgbClr val="00B050"/>
                </a:solidFill>
              </a:rPr>
              <a:t>Kovalam</a:t>
            </a:r>
            <a:r>
              <a:rPr lang="en-US" dirty="0">
                <a:solidFill>
                  <a:srgbClr val="00B050"/>
                </a:solidFill>
              </a:rPr>
              <a:t>, </a:t>
            </a:r>
            <a:r>
              <a:rPr lang="en-US" dirty="0" err="1">
                <a:solidFill>
                  <a:srgbClr val="00B050"/>
                </a:solidFill>
              </a:rPr>
              <a:t>Tiruvanthapuram</a:t>
            </a:r>
            <a:r>
              <a:rPr lang="en-US" dirty="0">
                <a:solidFill>
                  <a:srgbClr val="00B050"/>
                </a:solidFill>
              </a:rPr>
              <a:t>*, </a:t>
            </a:r>
            <a:r>
              <a:rPr lang="en-US" dirty="0" err="1">
                <a:solidFill>
                  <a:srgbClr val="00B050"/>
                </a:solidFill>
              </a:rPr>
              <a:t>Suchindram</a:t>
            </a:r>
            <a:r>
              <a:rPr lang="en-US" dirty="0">
                <a:solidFill>
                  <a:srgbClr val="00B050"/>
                </a:solidFill>
              </a:rPr>
              <a:t>, </a:t>
            </a:r>
            <a:r>
              <a:rPr lang="en-US" dirty="0" err="1">
                <a:solidFill>
                  <a:srgbClr val="00B050"/>
                </a:solidFill>
              </a:rPr>
              <a:t>Kanniyakumari</a:t>
            </a:r>
            <a:r>
              <a:rPr lang="en-US" dirty="0">
                <a:solidFill>
                  <a:srgbClr val="00B050"/>
                </a:solidFill>
              </a:rPr>
              <a:t>*, </a:t>
            </a:r>
            <a:r>
              <a:rPr lang="en-US" dirty="0" err="1">
                <a:solidFill>
                  <a:srgbClr val="00B050"/>
                </a:solidFill>
              </a:rPr>
              <a:t>Tiruchedur</a:t>
            </a:r>
            <a:r>
              <a:rPr lang="en-US" dirty="0">
                <a:solidFill>
                  <a:srgbClr val="00B050"/>
                </a:solidFill>
              </a:rPr>
              <a:t>, </a:t>
            </a:r>
            <a:r>
              <a:rPr lang="en-US" dirty="0" err="1">
                <a:solidFill>
                  <a:srgbClr val="00B050"/>
                </a:solidFill>
              </a:rPr>
              <a:t>Rameswaram</a:t>
            </a:r>
            <a:r>
              <a:rPr lang="en-US" dirty="0">
                <a:solidFill>
                  <a:srgbClr val="00B050"/>
                </a:solidFill>
              </a:rPr>
              <a:t>*, </a:t>
            </a:r>
            <a:r>
              <a:rPr lang="en-US" dirty="0" err="1">
                <a:solidFill>
                  <a:srgbClr val="00B050"/>
                </a:solidFill>
              </a:rPr>
              <a:t>thiruparamkundrum</a:t>
            </a:r>
            <a:r>
              <a:rPr lang="en-US" dirty="0">
                <a:solidFill>
                  <a:srgbClr val="00B050"/>
                </a:solidFill>
              </a:rPr>
              <a:t>, Madurai*, </a:t>
            </a:r>
            <a:r>
              <a:rPr lang="en-US" dirty="0" err="1">
                <a:solidFill>
                  <a:srgbClr val="00B050"/>
                </a:solidFill>
              </a:rPr>
              <a:t>Palani</a:t>
            </a:r>
            <a:r>
              <a:rPr lang="en-US" dirty="0">
                <a:solidFill>
                  <a:srgbClr val="00B050"/>
                </a:solidFill>
              </a:rPr>
              <a:t>, </a:t>
            </a:r>
            <a:r>
              <a:rPr lang="en-US" dirty="0" err="1">
                <a:solidFill>
                  <a:srgbClr val="00B050"/>
                </a:solidFill>
              </a:rPr>
              <a:t>Tiruchi</a:t>
            </a:r>
            <a:r>
              <a:rPr lang="en-US" dirty="0">
                <a:solidFill>
                  <a:srgbClr val="00B050"/>
                </a:solidFill>
              </a:rPr>
              <a:t>*, </a:t>
            </a:r>
            <a:r>
              <a:rPr lang="en-US" dirty="0" err="1">
                <a:solidFill>
                  <a:srgbClr val="00B050"/>
                </a:solidFill>
              </a:rPr>
              <a:t>Thanjavur</a:t>
            </a:r>
            <a:r>
              <a:rPr lang="en-US" dirty="0">
                <a:solidFill>
                  <a:srgbClr val="00B050"/>
                </a:solidFill>
              </a:rPr>
              <a:t>, </a:t>
            </a:r>
            <a:r>
              <a:rPr lang="en-US" dirty="0" err="1">
                <a:solidFill>
                  <a:srgbClr val="00B050"/>
                </a:solidFill>
              </a:rPr>
              <a:t>Swamimalai</a:t>
            </a:r>
            <a:r>
              <a:rPr lang="en-US" dirty="0">
                <a:solidFill>
                  <a:srgbClr val="00B050"/>
                </a:solidFill>
              </a:rPr>
              <a:t>, </a:t>
            </a:r>
            <a:r>
              <a:rPr lang="en-US" dirty="0" err="1">
                <a:solidFill>
                  <a:srgbClr val="00B050"/>
                </a:solidFill>
              </a:rPr>
              <a:t>Poompuhar</a:t>
            </a:r>
            <a:r>
              <a:rPr lang="en-US" dirty="0">
                <a:solidFill>
                  <a:srgbClr val="00B050"/>
                </a:solidFill>
              </a:rPr>
              <a:t>, Chidambaram*, </a:t>
            </a:r>
            <a:r>
              <a:rPr lang="en-US" dirty="0" err="1">
                <a:solidFill>
                  <a:srgbClr val="00B050"/>
                </a:solidFill>
              </a:rPr>
              <a:t>Vaitheeswarankoil</a:t>
            </a:r>
            <a:r>
              <a:rPr lang="en-US" dirty="0">
                <a:solidFill>
                  <a:srgbClr val="00B050"/>
                </a:solidFill>
              </a:rPr>
              <a:t>, Pondicherry, </a:t>
            </a:r>
            <a:r>
              <a:rPr lang="en-US" dirty="0" err="1">
                <a:solidFill>
                  <a:srgbClr val="00B050"/>
                </a:solidFill>
              </a:rPr>
              <a:t>Mamallapuram</a:t>
            </a:r>
            <a:r>
              <a:rPr lang="en-US" dirty="0">
                <a:solidFill>
                  <a:srgbClr val="00B050"/>
                </a:solidFill>
              </a:rPr>
              <a:t>*, </a:t>
            </a:r>
            <a:r>
              <a:rPr lang="en-US" dirty="0" err="1">
                <a:solidFill>
                  <a:srgbClr val="00B050"/>
                </a:solidFill>
              </a:rPr>
              <a:t>Kancheepuram</a:t>
            </a:r>
            <a:r>
              <a:rPr lang="en-US" dirty="0">
                <a:solidFill>
                  <a:srgbClr val="00B050"/>
                </a:solidFill>
              </a:rPr>
              <a:t>   </a:t>
            </a:r>
          </a:p>
          <a:p>
            <a:pPr marL="365760" indent="-283464" eaLnBrk="1" fontAlgn="auto" hangingPunct="1">
              <a:spcBef>
                <a:spcPts val="580"/>
              </a:spcBef>
              <a:spcAft>
                <a:spcPts val="0"/>
              </a:spcAft>
              <a:buFont typeface="Wingdings 2"/>
              <a:buChar char=""/>
              <a:defRPr/>
            </a:pPr>
            <a:r>
              <a:rPr lang="en-US" b="1" dirty="0">
                <a:solidFill>
                  <a:srgbClr val="00B050"/>
                </a:solidFill>
              </a:rPr>
              <a:t>Start Time </a:t>
            </a:r>
            <a:r>
              <a:rPr lang="en-US" dirty="0">
                <a:solidFill>
                  <a:srgbClr val="00B050"/>
                </a:solidFill>
              </a:rPr>
              <a:t>7.00 A.M   </a:t>
            </a:r>
          </a:p>
          <a:p>
            <a:pPr marL="365760" indent="-283464" eaLnBrk="1" fontAlgn="auto" hangingPunct="1">
              <a:spcBef>
                <a:spcPts val="580"/>
              </a:spcBef>
              <a:spcAft>
                <a:spcPts val="0"/>
              </a:spcAft>
              <a:buFont typeface="Wingdings 2"/>
              <a:buChar char=""/>
              <a:defRPr/>
            </a:pPr>
            <a:r>
              <a:rPr lang="en-US" b="1" dirty="0">
                <a:solidFill>
                  <a:srgbClr val="00B050"/>
                </a:solidFill>
              </a:rPr>
              <a:t>Remarks</a:t>
            </a:r>
            <a:r>
              <a:rPr lang="en-US" dirty="0">
                <a:solidFill>
                  <a:srgbClr val="00B050"/>
                </a:solidFill>
              </a:rPr>
              <a:t> *-Night Halt-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369</TotalTime>
  <Words>3873</Words>
  <Application>Microsoft Office PowerPoint</Application>
  <PresentationFormat>On-screen Show (4:3)</PresentationFormat>
  <Paragraphs>324</Paragraphs>
  <Slides>49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Franklin Gothic Book</vt:lpstr>
      <vt:lpstr>Perpetua</vt:lpstr>
      <vt:lpstr>Wingdings 2</vt:lpstr>
      <vt:lpstr>Calibri</vt:lpstr>
      <vt:lpstr>Equity</vt:lpstr>
      <vt:lpstr>PowerPoint Presentation</vt:lpstr>
      <vt:lpstr>Tourism</vt:lpstr>
      <vt:lpstr>PowerPoint Presentation</vt:lpstr>
      <vt:lpstr>Ministry of Tourism (Govt. of India)</vt:lpstr>
      <vt:lpstr>Tourism</vt:lpstr>
      <vt:lpstr>Government Policies, Goals and Objectives </vt:lpstr>
      <vt:lpstr>PowerPoint Presentation</vt:lpstr>
      <vt:lpstr>Various Targets for Tourism Sector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Tamil Nadu Tourism  </vt:lpstr>
      <vt:lpstr>Tourism in Tamil Nadu</vt:lpstr>
      <vt:lpstr>PowerPoint Presentation</vt:lpstr>
      <vt:lpstr>Scenario in Tamil Nadu </vt:lpstr>
      <vt:lpstr>PowerPoint Presentation</vt:lpstr>
      <vt:lpstr>PowerPoint Presentation</vt:lpstr>
      <vt:lpstr>Customers </vt:lpstr>
      <vt:lpstr>PowerPoint Presentation</vt:lpstr>
      <vt:lpstr>Marketing </vt:lpstr>
      <vt:lpstr>What is marketing? </vt:lpstr>
      <vt:lpstr>PowerPoint Presentation</vt:lpstr>
      <vt:lpstr>Tourism Marketing </vt:lpstr>
      <vt:lpstr>According to krippendort …</vt:lpstr>
      <vt:lpstr>Cont…</vt:lpstr>
      <vt:lpstr>Features</vt:lpstr>
      <vt:lpstr>Publicity Information Material</vt:lpstr>
      <vt:lpstr>Cont…</vt:lpstr>
      <vt:lpstr>Incredible India Theme Brochures </vt:lpstr>
      <vt:lpstr>Destination Leaflets </vt:lpstr>
      <vt:lpstr>Heritage Destination Leaflets </vt:lpstr>
      <vt:lpstr>  Cont… The leaflets brought are:</vt:lpstr>
      <vt:lpstr>Posters on different subjects and themes</vt:lpstr>
      <vt:lpstr>Cont…</vt:lpstr>
      <vt:lpstr>Map Guides </vt:lpstr>
      <vt:lpstr>Film Titles </vt:lpstr>
      <vt:lpstr>Marketing Needed in Tourism Industry</vt:lpstr>
      <vt:lpstr>Tourism Product</vt:lpstr>
      <vt:lpstr>Cont…</vt:lpstr>
      <vt:lpstr>Tourism Marketing and its Importance</vt:lpstr>
      <vt:lpstr>Tour Package</vt:lpstr>
      <vt:lpstr>GENERAL PACKAGE TOURS </vt:lpstr>
      <vt:lpstr>ONE DAY TIRUPATHI TOUR </vt:lpstr>
      <vt:lpstr>3 DAYS NAVAGRAGHA TOUR </vt:lpstr>
      <vt:lpstr>14 DAYS SUNNY SOUTH TOUR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sjc</dc:creator>
  <cp:lastModifiedBy>kiritdani57@gmail.com</cp:lastModifiedBy>
  <cp:revision>49</cp:revision>
  <dcterms:created xsi:type="dcterms:W3CDTF">2015-07-28T12:10:08Z</dcterms:created>
  <dcterms:modified xsi:type="dcterms:W3CDTF">2021-02-10T06:03:26Z</dcterms:modified>
</cp:coreProperties>
</file>